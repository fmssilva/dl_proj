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88"/>
  </p:notesMasterIdLst>
  <p:sldIdLst>
    <p:sldId id="336" r:id="rId3"/>
    <p:sldId id="337" r:id="rId4"/>
    <p:sldId id="338" r:id="rId5"/>
    <p:sldId id="339" r:id="rId6"/>
    <p:sldId id="340" r:id="rId7"/>
    <p:sldId id="258" r:id="rId8"/>
    <p:sldId id="259" r:id="rId9"/>
    <p:sldId id="260" r:id="rId10"/>
    <p:sldId id="261" r:id="rId11"/>
    <p:sldId id="262" r:id="rId12"/>
    <p:sldId id="263" r:id="rId13"/>
    <p:sldId id="282" r:id="rId14"/>
    <p:sldId id="341" r:id="rId15"/>
    <p:sldId id="342" r:id="rId16"/>
    <p:sldId id="343" r:id="rId17"/>
    <p:sldId id="344" r:id="rId18"/>
    <p:sldId id="345" r:id="rId19"/>
    <p:sldId id="346" r:id="rId20"/>
    <p:sldId id="347" r:id="rId21"/>
    <p:sldId id="348" r:id="rId22"/>
    <p:sldId id="349" r:id="rId23"/>
    <p:sldId id="350" r:id="rId24"/>
    <p:sldId id="351" r:id="rId25"/>
    <p:sldId id="352" r:id="rId26"/>
    <p:sldId id="353" r:id="rId27"/>
    <p:sldId id="354" r:id="rId28"/>
    <p:sldId id="355" r:id="rId29"/>
    <p:sldId id="356" r:id="rId30"/>
    <p:sldId id="357" r:id="rId31"/>
    <p:sldId id="358" r:id="rId32"/>
    <p:sldId id="359" r:id="rId33"/>
    <p:sldId id="360" r:id="rId34"/>
    <p:sldId id="301" r:id="rId35"/>
    <p:sldId id="316" r:id="rId36"/>
    <p:sldId id="317" r:id="rId37"/>
    <p:sldId id="318" r:id="rId38"/>
    <p:sldId id="302" r:id="rId39"/>
    <p:sldId id="286" r:id="rId40"/>
    <p:sldId id="319" r:id="rId41"/>
    <p:sldId id="320" r:id="rId42"/>
    <p:sldId id="321" r:id="rId43"/>
    <p:sldId id="322" r:id="rId44"/>
    <p:sldId id="296" r:id="rId45"/>
    <p:sldId id="323" r:id="rId46"/>
    <p:sldId id="324" r:id="rId47"/>
    <p:sldId id="283" r:id="rId48"/>
    <p:sldId id="325" r:id="rId49"/>
    <p:sldId id="273" r:id="rId50"/>
    <p:sldId id="305" r:id="rId51"/>
    <p:sldId id="326" r:id="rId52"/>
    <p:sldId id="327" r:id="rId53"/>
    <p:sldId id="328" r:id="rId54"/>
    <p:sldId id="329" r:id="rId55"/>
    <p:sldId id="330" r:id="rId56"/>
    <p:sldId id="331" r:id="rId57"/>
    <p:sldId id="332" r:id="rId58"/>
    <p:sldId id="333" r:id="rId59"/>
    <p:sldId id="257" r:id="rId60"/>
    <p:sldId id="361" r:id="rId61"/>
    <p:sldId id="281" r:id="rId62"/>
    <p:sldId id="288" r:id="rId63"/>
    <p:sldId id="309" r:id="rId64"/>
    <p:sldId id="285" r:id="rId65"/>
    <p:sldId id="287" r:id="rId66"/>
    <p:sldId id="306" r:id="rId67"/>
    <p:sldId id="295" r:id="rId68"/>
    <p:sldId id="303" r:id="rId69"/>
    <p:sldId id="314" r:id="rId70"/>
    <p:sldId id="307" r:id="rId71"/>
    <p:sldId id="310" r:id="rId72"/>
    <p:sldId id="315" r:id="rId73"/>
    <p:sldId id="313" r:id="rId74"/>
    <p:sldId id="304" r:id="rId75"/>
    <p:sldId id="289" r:id="rId76"/>
    <p:sldId id="284" r:id="rId77"/>
    <p:sldId id="290" r:id="rId78"/>
    <p:sldId id="271" r:id="rId79"/>
    <p:sldId id="293" r:id="rId80"/>
    <p:sldId id="275" r:id="rId81"/>
    <p:sldId id="297" r:id="rId82"/>
    <p:sldId id="298" r:id="rId83"/>
    <p:sldId id="299" r:id="rId84"/>
    <p:sldId id="278" r:id="rId85"/>
    <p:sldId id="279" r:id="rId86"/>
    <p:sldId id="300" r:id="rId87"/>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guel Jose de Melo Ferreira Cangalhas" initials="MJdMFC" lastIdx="1" clrIdx="0">
    <p:extLst>
      <p:ext uri="{19B8F6BF-5375-455C-9EA6-DF929625EA0E}">
        <p15:presenceInfo xmlns:p15="http://schemas.microsoft.com/office/powerpoint/2012/main" userId="S::m.cangalhas@FCT.UNL.PT::1e0500b3-a803-4c7a-b4e4-a78ce357e9d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61B2E9"/>
    <a:srgbClr val="0D1B2A"/>
    <a:srgbClr val="6692AE"/>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968B7-DA67-72A4-3DF0-AEB616358612}" v="7715" dt="2026-03-25T11:10:53.253"/>
    <p1510:client id="{767BBB93-3087-B744-08BA-B89B3F0EEC89}" v="2734" dt="2026-03-25T17:11:20.895"/>
    <p1510:client id="{8CD50E63-8E47-5A93-9879-8D2832121154}" v="1381" dt="2026-03-25T22:05:17.5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210" d="100"/>
          <a:sy n="210" d="100"/>
        </p:scale>
        <p:origin x="150"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commentAuthors" Target="commentAuthor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presProps" Target="pres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AC9F-9936-7C6E-A819-DB47219C5F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51D3E-D52D-FF59-D11E-281D469E7D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EF6B4-167B-8A42-9620-B1EDEF1A68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539C54-05B7-D9F9-397F-A65B8088A1D4}"/>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517330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2ABCA-9518-0045-5444-B76CB3DD40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C0CA0B-5281-281A-8E0D-E5D0CCB41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0D672-9E2E-F6CB-CD83-829CBF72AA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1310D-4636-F8A2-C428-80E772902E1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10576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FAA4-F991-26B2-8A0F-8376B111A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33D0B-4CBD-425B-310A-38E1C38BD4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8C936-3F6C-0B70-6277-E2C337787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0199C-FB5A-9A95-7D7A-3AAFB147A10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52371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4EE5F-BF35-AC8C-20E4-0E6BA6413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6BEA8D-1F48-73F3-8DF9-5864F9A0D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FF275-8897-641E-5BE9-5E03B57B4E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9FDBBA-F7FF-E9DB-FDBE-CBF1120FFF67}"/>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40612723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475A1-DEF6-D10E-8697-72BF654B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07DCD-71D3-A7FA-7B56-6929D2E1C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C87203-1C5F-A086-5121-74702AC085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0D66F-EBA4-DA3B-7ABF-07C608793D13}"/>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5892859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7AF81-1813-59E3-9904-71A4972CD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1D61B-7CAA-3224-FD38-A3F7CCAAF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629DE-A130-EB43-93FC-9C0F3BEF2A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4ADDA-FC97-F300-01FD-08F9FE2FBAB1}"/>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383819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464BF-9438-D55F-DD1C-251869191B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0AC769-3009-FE5D-27DF-67602FA90F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83CC-C5AB-91FB-7B84-1B4309922C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7CB14F-42FC-14E6-AF9A-51879230AB3A}"/>
              </a:ext>
            </a:extLst>
          </p:cNvPr>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2051086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2631D-F7A4-533F-6E3F-B87FBAB9F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6501F-AD7D-19EE-62E7-86FC558D1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722F70-F58F-73A5-1BCE-4E1AEEE5FB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56D381-E069-BB1A-7ABD-615C1BC714F6}"/>
              </a:ext>
            </a:extLst>
          </p:cNvPr>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1156865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4/14/2026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‹nº›</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4/14/2026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8.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6.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20.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2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2" Type="http://schemas.openxmlformats.org/officeDocument/2006/relationships/image" Target="../media/image21.svg"/><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8.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8.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2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5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27.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8.xml"/></Relationships>
</file>

<file path=ppt/slides/_rels/slide5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png"/><Relationship Id="rId1" Type="http://schemas.openxmlformats.org/officeDocument/2006/relationships/slideLayout" Target="../slideLayouts/slideLayout1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5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18.xml"/><Relationship Id="rId4" Type="http://schemas.microsoft.com/office/2007/relationships/hdphoto" Target="../media/hdphoto2.wdp"/></Relationships>
</file>

<file path=ppt/slides/_rels/slide59.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60.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6.xml"/><Relationship Id="rId5" Type="http://schemas.openxmlformats.org/officeDocument/2006/relationships/image" Target="../media/image38.png"/><Relationship Id="rId4" Type="http://schemas.openxmlformats.org/officeDocument/2006/relationships/image" Target="../media/image37.png"/></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6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36.xml"/><Relationship Id="rId5" Type="http://schemas.openxmlformats.org/officeDocument/2006/relationships/image" Target="../media/image41.png"/><Relationship Id="rId4" Type="http://schemas.openxmlformats.org/officeDocument/2006/relationships/image" Target="../media/image40.png"/></Relationships>
</file>

<file path=ppt/slides/_rels/slide6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2.png"/><Relationship Id="rId1" Type="http://schemas.openxmlformats.org/officeDocument/2006/relationships/slideLayout" Target="../slideLayouts/slideLayout36.xml"/><Relationship Id="rId5" Type="http://schemas.openxmlformats.org/officeDocument/2006/relationships/image" Target="../media/image43.png"/><Relationship Id="rId4" Type="http://schemas.openxmlformats.org/officeDocument/2006/relationships/image" Target="../media/image38.png"/></Relationships>
</file>

<file path=ppt/slides/_rels/slide6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36.xml"/><Relationship Id="rId5" Type="http://schemas.openxmlformats.org/officeDocument/2006/relationships/image" Target="../media/image45.png"/><Relationship Id="rId4" Type="http://schemas.openxmlformats.org/officeDocument/2006/relationships/image" Target="../media/image44.png"/></Relationships>
</file>

<file path=ppt/slides/_rels/slide6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36.xml"/><Relationship Id="rId4" Type="http://schemas.openxmlformats.org/officeDocument/2006/relationships/image" Target="../media/image46.png"/></Relationships>
</file>

<file path=ppt/slides/_rels/slide7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36.xml"/><Relationship Id="rId5" Type="http://schemas.openxmlformats.org/officeDocument/2006/relationships/image" Target="../media/image48.png"/><Relationship Id="rId4" Type="http://schemas.openxmlformats.org/officeDocument/2006/relationships/image" Target="../media/image47.png"/></Relationships>
</file>

<file path=ppt/slides/_rels/slide7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36.xml"/><Relationship Id="rId4" Type="http://schemas.openxmlformats.org/officeDocument/2006/relationships/image" Target="../media/image49.png"/></Relationships>
</file>

<file path=ppt/slides/_rels/slide7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36.xml"/><Relationship Id="rId5" Type="http://schemas.openxmlformats.org/officeDocument/2006/relationships/image" Target="../media/image51.png"/><Relationship Id="rId4" Type="http://schemas.openxmlformats.org/officeDocument/2006/relationships/image" Target="../media/image50.png"/></Relationships>
</file>

<file path=ppt/slides/_rels/slide7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36.xml"/><Relationship Id="rId6" Type="http://schemas.openxmlformats.org/officeDocument/2006/relationships/image" Target="../media/image54.png"/><Relationship Id="rId5" Type="http://schemas.openxmlformats.org/officeDocument/2006/relationships/image" Target="../media/image38.png"/><Relationship Id="rId4" Type="http://schemas.openxmlformats.org/officeDocument/2006/relationships/image" Target="../media/image5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7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5.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76.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3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6.xml"/></Relationships>
</file>

<file path=ppt/slides/_rels/slide7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6.xml"/></Relationships>
</file>

<file path=ppt/slides/_rels/slide8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50.png"/><Relationship Id="rId1" Type="http://schemas.openxmlformats.org/officeDocument/2006/relationships/slideLayout" Target="../slideLayouts/slideLayout36.xml"/><Relationship Id="rId5" Type="http://schemas.openxmlformats.org/officeDocument/2006/relationships/image" Target="../media/image58.png"/><Relationship Id="rId4" Type="http://schemas.openxmlformats.org/officeDocument/2006/relationships/image" Target="../media/image57.png"/></Relationships>
</file>

<file path=ppt/slides/_rels/slide8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3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8.xml"/></Relationships>
</file>

<file path=ppt/slides/_rels/slide8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40.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a:t>
            </a:r>
            <a:endParaRPr lang="en-US" sz="1000">
              <a:latin typeface="Calibri"/>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dirty="0">
                <a:solidFill>
                  <a:srgbClr val="7AADCC"/>
                </a:solidFill>
                <a:latin typeface="Calibri"/>
                <a:ea typeface="Calibri"/>
                <a:cs typeface="Calibri"/>
              </a:rPr>
              <a:t>TASK 1 - Multi-Layer Perceptron</a:t>
            </a:r>
          </a:p>
          <a:p>
            <a:r>
              <a:rPr lang="en-US" sz="1600" dirty="0">
                <a:solidFill>
                  <a:srgbClr val="7AADCC"/>
                </a:solidFill>
                <a:latin typeface="Calibri"/>
                <a:ea typeface="Calibri"/>
                <a:cs typeface="Calibri"/>
              </a:rPr>
              <a:t>TASK 2 - Convolutional Neural Network</a:t>
            </a:r>
          </a:p>
          <a:p>
            <a:r>
              <a:rPr lang="en-US" sz="1600" dirty="0">
                <a:solidFill>
                  <a:srgbClr val="7AADCC"/>
                </a:solidFill>
                <a:latin typeface="Calibri"/>
                <a:ea typeface="Calibri"/>
                <a:cs typeface="Calibri"/>
              </a:rPr>
              <a:t>TASK 3 – Transfer Learning and Fine-Tunning</a:t>
            </a: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8F482-FA2E-E043-E1B7-895335605896}"/>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9DE5AB91-C0E5-27C9-AF60-E8745DE77E28}"/>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a:t>
            </a:r>
            <a:endParaRPr lang="en-US" sz="2200" dirty="0"/>
          </a:p>
        </p:txBody>
      </p:sp>
      <p:sp>
        <p:nvSpPr>
          <p:cNvPr id="4" name="Shape 2">
            <a:extLst>
              <a:ext uri="{FF2B5EF4-FFF2-40B4-BE49-F238E27FC236}">
                <a16:creationId xmlns:a16="http://schemas.microsoft.com/office/drawing/2014/main" id="{BCDB373C-68EC-2A02-1B20-C6E3EC15F50E}"/>
              </a:ext>
            </a:extLst>
          </p:cNvPr>
          <p:cNvSpPr/>
          <p:nvPr/>
        </p:nvSpPr>
        <p:spPr>
          <a:xfrm>
            <a:off x="2419285" y="1597876"/>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37EA9330-1775-1220-60DD-7166C260D041}"/>
              </a:ext>
            </a:extLst>
          </p:cNvPr>
          <p:cNvSpPr/>
          <p:nvPr/>
        </p:nvSpPr>
        <p:spPr>
          <a:xfrm>
            <a:off x="2390226" y="1597876"/>
            <a:ext cx="82296" cy="71331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6B2A9046-7C9D-986B-B22B-3CBFA8E64CDD}"/>
              </a:ext>
            </a:extLst>
          </p:cNvPr>
          <p:cNvSpPr/>
          <p:nvPr/>
        </p:nvSpPr>
        <p:spPr>
          <a:xfrm>
            <a:off x="2710344" y="1707604"/>
            <a:ext cx="950124" cy="475488"/>
          </a:xfrm>
          <a:prstGeom prst="rect">
            <a:avLst/>
          </a:prstGeom>
          <a:noFill/>
          <a:ln/>
        </p:spPr>
        <p:txBody>
          <a:bodyPr wrap="square" lIns="0" tIns="0" rIns="0" bIns="0" rtlCol="0" anchor="ctr"/>
          <a:lstStyle/>
          <a:p>
            <a:r>
              <a:rPr lang="en-US" sz="2200" b="1" dirty="0">
                <a:solidFill>
                  <a:srgbClr val="00A896"/>
                </a:solidFill>
                <a:latin typeface="Trebuchet MS"/>
              </a:rPr>
              <a:t>Task 1</a:t>
            </a:r>
          </a:p>
        </p:txBody>
      </p:sp>
      <p:sp>
        <p:nvSpPr>
          <p:cNvPr id="9" name="Text 7">
            <a:extLst>
              <a:ext uri="{FF2B5EF4-FFF2-40B4-BE49-F238E27FC236}">
                <a16:creationId xmlns:a16="http://schemas.microsoft.com/office/drawing/2014/main" id="{5F29795B-AC25-77F4-DDE3-E966AE4287D6}"/>
              </a:ext>
            </a:extLst>
          </p:cNvPr>
          <p:cNvSpPr/>
          <p:nvPr/>
        </p:nvSpPr>
        <p:spPr>
          <a:xfrm>
            <a:off x="3599095" y="1736663"/>
            <a:ext cx="2706391" cy="450226"/>
          </a:xfrm>
          <a:prstGeom prst="rect">
            <a:avLst/>
          </a:prstGeom>
          <a:noFill/>
          <a:ln/>
        </p:spPr>
        <p:txBody>
          <a:bodyPr wrap="square" lIns="0" tIns="0" rIns="0" bIns="0" rtlCol="0" anchor="ctr"/>
          <a:lstStyle/>
          <a:p>
            <a:r>
              <a:rPr lang="en-US" sz="1400" b="1">
                <a:solidFill>
                  <a:srgbClr val="FFFFFF"/>
                </a:solidFill>
                <a:latin typeface="Trebuchet MS"/>
              </a:rPr>
              <a:t>............................... Slide </a:t>
            </a:r>
            <a:r>
              <a:rPr lang="en-US" sz="1400" b="1" dirty="0">
                <a:solidFill>
                  <a:srgbClr val="FFFFFF"/>
                </a:solidFill>
                <a:latin typeface="Trebuchet MS"/>
              </a:rPr>
              <a:t>3</a:t>
            </a:r>
            <a:endParaRPr lang="en-US" dirty="0"/>
          </a:p>
        </p:txBody>
      </p:sp>
      <p:pic>
        <p:nvPicPr>
          <p:cNvPr id="7" name="Picture 8" descr="NOSSA™ | NOVA School of Science &amp; Technology">
            <a:extLst>
              <a:ext uri="{FF2B5EF4-FFF2-40B4-BE49-F238E27FC236}">
                <a16:creationId xmlns:a16="http://schemas.microsoft.com/office/drawing/2014/main" id="{4FE20FB4-711C-4D2C-8AA3-A587288446AE}"/>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Shape 2">
            <a:extLst>
              <a:ext uri="{FF2B5EF4-FFF2-40B4-BE49-F238E27FC236}">
                <a16:creationId xmlns:a16="http://schemas.microsoft.com/office/drawing/2014/main" id="{F8B975BA-0D8B-0CDC-DD24-3872A3652522}"/>
              </a:ext>
            </a:extLst>
          </p:cNvPr>
          <p:cNvSpPr/>
          <p:nvPr/>
        </p:nvSpPr>
        <p:spPr>
          <a:xfrm>
            <a:off x="2419284" y="2847425"/>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3">
            <a:extLst>
              <a:ext uri="{FF2B5EF4-FFF2-40B4-BE49-F238E27FC236}">
                <a16:creationId xmlns:a16="http://schemas.microsoft.com/office/drawing/2014/main" id="{C3B01079-FE5E-D05E-B6EE-3BC955D805F6}"/>
              </a:ext>
            </a:extLst>
          </p:cNvPr>
          <p:cNvSpPr/>
          <p:nvPr/>
        </p:nvSpPr>
        <p:spPr>
          <a:xfrm>
            <a:off x="2390225" y="2847425"/>
            <a:ext cx="82296" cy="713310"/>
          </a:xfrm>
          <a:prstGeom prst="rect">
            <a:avLst/>
          </a:prstGeom>
          <a:solidFill>
            <a:srgbClr val="00A896"/>
          </a:solidFill>
          <a:ln w="12700">
            <a:solidFill>
              <a:srgbClr val="00A896"/>
            </a:solidFill>
            <a:prstDash val="solid"/>
          </a:ln>
        </p:spPr>
        <p:txBody>
          <a:bodyPr/>
          <a:lstStyle/>
          <a:p>
            <a:endParaRPr lang="pt-PT"/>
          </a:p>
        </p:txBody>
      </p:sp>
      <p:sp>
        <p:nvSpPr>
          <p:cNvPr id="14" name="Text 4">
            <a:extLst>
              <a:ext uri="{FF2B5EF4-FFF2-40B4-BE49-F238E27FC236}">
                <a16:creationId xmlns:a16="http://schemas.microsoft.com/office/drawing/2014/main" id="{5C5E3ABA-3B01-4C5B-8256-F04082DB9D63}"/>
              </a:ext>
            </a:extLst>
          </p:cNvPr>
          <p:cNvSpPr/>
          <p:nvPr/>
        </p:nvSpPr>
        <p:spPr>
          <a:xfrm>
            <a:off x="2710343" y="2957153"/>
            <a:ext cx="950124" cy="475488"/>
          </a:xfrm>
          <a:prstGeom prst="rect">
            <a:avLst/>
          </a:prstGeom>
          <a:noFill/>
          <a:ln/>
        </p:spPr>
        <p:txBody>
          <a:bodyPr wrap="square" lIns="0" tIns="0" rIns="0" bIns="0" rtlCol="0" anchor="ctr"/>
          <a:lstStyle/>
          <a:p>
            <a:r>
              <a:rPr lang="en-US" sz="2200" b="1">
                <a:solidFill>
                  <a:srgbClr val="00A896"/>
                </a:solidFill>
                <a:latin typeface="Trebuchet MS"/>
              </a:rPr>
              <a:t>Task 2</a:t>
            </a:r>
            <a:endParaRPr lang="en-US" sz="2200" b="1" dirty="0">
              <a:solidFill>
                <a:srgbClr val="00A896"/>
              </a:solidFill>
              <a:latin typeface="Trebuchet MS"/>
            </a:endParaRPr>
          </a:p>
        </p:txBody>
      </p:sp>
      <p:sp>
        <p:nvSpPr>
          <p:cNvPr id="15" name="Text 7">
            <a:extLst>
              <a:ext uri="{FF2B5EF4-FFF2-40B4-BE49-F238E27FC236}">
                <a16:creationId xmlns:a16="http://schemas.microsoft.com/office/drawing/2014/main" id="{3C4615D6-8492-84FD-E74F-DB76854025BA}"/>
              </a:ext>
            </a:extLst>
          </p:cNvPr>
          <p:cNvSpPr/>
          <p:nvPr/>
        </p:nvSpPr>
        <p:spPr>
          <a:xfrm>
            <a:off x="3657212" y="2957154"/>
            <a:ext cx="2754823" cy="469599"/>
          </a:xfrm>
          <a:prstGeom prst="rect">
            <a:avLst/>
          </a:prstGeom>
          <a:noFill/>
          <a:ln/>
        </p:spPr>
        <p:txBody>
          <a:bodyPr wrap="square" lIns="0" tIns="0" rIns="0" bIns="0" rtlCol="0" anchor="ctr"/>
          <a:lstStyle/>
          <a:p>
            <a:r>
              <a:rPr lang="en-US" sz="1400" b="1">
                <a:solidFill>
                  <a:srgbClr val="FFFFFF"/>
                </a:solidFill>
                <a:latin typeface="Trebuchet MS"/>
              </a:rPr>
              <a:t>............................... Slide 32</a:t>
            </a:r>
            <a:endParaRPr lang="en-US" dirty="0"/>
          </a:p>
        </p:txBody>
      </p:sp>
      <p:sp>
        <p:nvSpPr>
          <p:cNvPr id="10" name="Shape 2">
            <a:extLst>
              <a:ext uri="{FF2B5EF4-FFF2-40B4-BE49-F238E27FC236}">
                <a16:creationId xmlns:a16="http://schemas.microsoft.com/office/drawing/2014/main" id="{A7324424-E643-1D1A-79F4-C8C47CB75733}"/>
              </a:ext>
            </a:extLst>
          </p:cNvPr>
          <p:cNvSpPr/>
          <p:nvPr/>
        </p:nvSpPr>
        <p:spPr>
          <a:xfrm>
            <a:off x="2419285" y="4033782"/>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3">
            <a:extLst>
              <a:ext uri="{FF2B5EF4-FFF2-40B4-BE49-F238E27FC236}">
                <a16:creationId xmlns:a16="http://schemas.microsoft.com/office/drawing/2014/main" id="{1A333C90-8697-66BE-3718-447F2E2DE825}"/>
              </a:ext>
            </a:extLst>
          </p:cNvPr>
          <p:cNvSpPr/>
          <p:nvPr/>
        </p:nvSpPr>
        <p:spPr>
          <a:xfrm>
            <a:off x="2390226" y="4033782"/>
            <a:ext cx="82296" cy="713310"/>
          </a:xfrm>
          <a:prstGeom prst="rect">
            <a:avLst/>
          </a:prstGeom>
          <a:solidFill>
            <a:srgbClr val="00A896"/>
          </a:solidFill>
          <a:ln w="12700">
            <a:solidFill>
              <a:srgbClr val="00A896"/>
            </a:solidFill>
            <a:prstDash val="solid"/>
          </a:ln>
        </p:spPr>
        <p:txBody>
          <a:bodyPr/>
          <a:lstStyle/>
          <a:p>
            <a:endParaRPr lang="pt-PT"/>
          </a:p>
        </p:txBody>
      </p:sp>
      <p:sp>
        <p:nvSpPr>
          <p:cNvPr id="12" name="Text 4">
            <a:extLst>
              <a:ext uri="{FF2B5EF4-FFF2-40B4-BE49-F238E27FC236}">
                <a16:creationId xmlns:a16="http://schemas.microsoft.com/office/drawing/2014/main" id="{D8BDCB14-E37F-8E06-7686-13CCF63D7DAF}"/>
              </a:ext>
            </a:extLst>
          </p:cNvPr>
          <p:cNvSpPr/>
          <p:nvPr/>
        </p:nvSpPr>
        <p:spPr>
          <a:xfrm>
            <a:off x="2710344" y="4143510"/>
            <a:ext cx="950124" cy="475488"/>
          </a:xfrm>
          <a:prstGeom prst="rect">
            <a:avLst/>
          </a:prstGeom>
          <a:noFill/>
          <a:ln/>
        </p:spPr>
        <p:txBody>
          <a:bodyPr wrap="square" lIns="0" tIns="0" rIns="0" bIns="0" rtlCol="0" anchor="ctr"/>
          <a:lstStyle/>
          <a:p>
            <a:r>
              <a:rPr lang="en-US" sz="2200" b="1" dirty="0">
                <a:solidFill>
                  <a:srgbClr val="00A896"/>
                </a:solidFill>
                <a:latin typeface="Trebuchet MS"/>
              </a:rPr>
              <a:t>Task 3</a:t>
            </a:r>
          </a:p>
        </p:txBody>
      </p:sp>
      <p:sp>
        <p:nvSpPr>
          <p:cNvPr id="13" name="Text 7">
            <a:extLst>
              <a:ext uri="{FF2B5EF4-FFF2-40B4-BE49-F238E27FC236}">
                <a16:creationId xmlns:a16="http://schemas.microsoft.com/office/drawing/2014/main" id="{3C8D1E5F-A426-4F48-52C5-F6D58EE1D6F0}"/>
              </a:ext>
            </a:extLst>
          </p:cNvPr>
          <p:cNvSpPr/>
          <p:nvPr/>
        </p:nvSpPr>
        <p:spPr>
          <a:xfrm>
            <a:off x="3599095" y="4172569"/>
            <a:ext cx="2766021" cy="450226"/>
          </a:xfrm>
          <a:prstGeom prst="rect">
            <a:avLst/>
          </a:prstGeom>
          <a:noFill/>
          <a:ln/>
        </p:spPr>
        <p:txBody>
          <a:bodyPr wrap="square" lIns="0" tIns="0" rIns="0" bIns="0" rtlCol="0" anchor="ctr"/>
          <a:lstStyle/>
          <a:p>
            <a:r>
              <a:rPr lang="en-US" sz="1400" b="1" dirty="0">
                <a:solidFill>
                  <a:srgbClr val="FFFFFF"/>
                </a:solidFill>
                <a:latin typeface="Trebuchet MS"/>
              </a:rPr>
              <a:t>............................... Slide 59</a:t>
            </a:r>
            <a:endParaRPr lang="en-US" dirty="0"/>
          </a:p>
        </p:txBody>
      </p:sp>
    </p:spTree>
    <p:extLst>
      <p:ext uri="{BB962C8B-B14F-4D97-AF65-F5344CB8AC3E}">
        <p14:creationId xmlns:p14="http://schemas.microsoft.com/office/powerpoint/2010/main" val="19913958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r>
              <a:rPr lang="en-US" sz="1000" b="1" kern="0" spc="200">
                <a:solidFill>
                  <a:srgbClr val="02C39A"/>
                </a:solidFill>
                <a:latin typeface="Calibri"/>
                <a:ea typeface="Calibri"/>
                <a:cs typeface="Calibri"/>
              </a:rPr>
              <a:t>DEEP LEARNING  ·  ASSIGNMENT 1  ·  TASK 1</a:t>
            </a:r>
            <a:endParaRPr lang="en-US" sz="1000">
              <a:latin typeface="Corbel" panose="020B0503020204020204"/>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1463532" y="2039329"/>
            <a:ext cx="5907749" cy="438912"/>
          </a:xfrm>
          <a:prstGeom prst="rect">
            <a:avLst/>
          </a:prstGeom>
          <a:noFill/>
          <a:ln/>
        </p:spPr>
        <p:txBody>
          <a:bodyPr wrap="square" lIns="0" tIns="0" rIns="0" bIns="0" rtlCol="0" anchor="ctr"/>
          <a:lstStyle/>
          <a:p>
            <a:r>
              <a:rPr lang="en-US" sz="3600">
                <a:solidFill>
                  <a:srgbClr val="7AADCC"/>
                </a:solidFill>
                <a:latin typeface="Calibri"/>
                <a:ea typeface="Calibri"/>
                <a:cs typeface="Calibri"/>
              </a:rPr>
              <a:t>Task 1 - Multi-Layer Perceptron</a:t>
            </a:r>
            <a:endParaRPr lang="en-US" sz="3600">
              <a:latin typeface="Calibri"/>
              <a:ea typeface="Calibri"/>
              <a:cs typeface="Calibri"/>
            </a:endParaRPr>
          </a:p>
        </p:txBody>
      </p:sp>
      <p:sp>
        <p:nvSpPr>
          <p:cNvPr id="8" name="Shape 6"/>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6556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D42F0-8B83-ECDD-FFEF-06C1AE8276F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09EC63B1-7569-1988-093E-D22F38E3F0CB}"/>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1)</a:t>
            </a:r>
            <a:endParaRPr lang="en-US" sz="2200" dirty="0"/>
          </a:p>
        </p:txBody>
      </p:sp>
      <p:sp>
        <p:nvSpPr>
          <p:cNvPr id="4" name="Shape 2">
            <a:extLst>
              <a:ext uri="{FF2B5EF4-FFF2-40B4-BE49-F238E27FC236}">
                <a16:creationId xmlns:a16="http://schemas.microsoft.com/office/drawing/2014/main" id="{2ECE11D6-CA30-8E4B-9E52-FBD225EA1ACF}"/>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C46B83A8-5EE1-F1F3-C5E4-A399A326CDF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1CD1A0C3-D9AC-1BBF-A4B7-521A465D3F20}"/>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1.1</a:t>
            </a:r>
            <a:endParaRPr lang="en-US" sz="2200" dirty="0"/>
          </a:p>
        </p:txBody>
      </p:sp>
      <p:sp>
        <p:nvSpPr>
          <p:cNvPr id="9" name="Text 7">
            <a:extLst>
              <a:ext uri="{FF2B5EF4-FFF2-40B4-BE49-F238E27FC236}">
                <a16:creationId xmlns:a16="http://schemas.microsoft.com/office/drawing/2014/main" id="{9410365B-04AF-129D-51F0-0D29995A65A2}"/>
              </a:ext>
            </a:extLst>
          </p:cNvPr>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Data Exploration &amp; Analysis</a:t>
            </a:r>
            <a:endParaRPr lang="en-US" sz="1400" dirty="0"/>
          </a:p>
        </p:txBody>
      </p:sp>
      <p:sp>
        <p:nvSpPr>
          <p:cNvPr id="10" name="Text 8">
            <a:extLst>
              <a:ext uri="{FF2B5EF4-FFF2-40B4-BE49-F238E27FC236}">
                <a16:creationId xmlns:a16="http://schemas.microsoft.com/office/drawing/2014/main" id="{C6068FB8-0F2E-4592-8CE2-8CE205B9A4FE}"/>
              </a:ext>
            </a:extLst>
          </p:cNvPr>
          <p:cNvSpPr/>
          <p:nvPr/>
        </p:nvSpPr>
        <p:spPr>
          <a:xfrm>
            <a:off x="102717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EDA  ·  class imbalance  ·  pixel stats  ·  t-SNE</a:t>
            </a:r>
            <a:endParaRPr lang="en-US" sz="1400" dirty="0"/>
          </a:p>
        </p:txBody>
      </p:sp>
      <p:sp>
        <p:nvSpPr>
          <p:cNvPr id="11" name="Shape 9">
            <a:extLst>
              <a:ext uri="{FF2B5EF4-FFF2-40B4-BE49-F238E27FC236}">
                <a16:creationId xmlns:a16="http://schemas.microsoft.com/office/drawing/2014/main" id="{CC89E544-BFB6-71B5-5F20-351B6B37C613}"/>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0FB75B18-A729-1E34-F9FC-344460FF21F4}"/>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14ACD319-7E57-B480-A3AE-9BC7CFCB93B9}"/>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1.2</a:t>
            </a:r>
            <a:endParaRPr lang="en-US" sz="2200" dirty="0"/>
          </a:p>
        </p:txBody>
      </p:sp>
      <p:sp>
        <p:nvSpPr>
          <p:cNvPr id="16" name="Text 14">
            <a:extLst>
              <a:ext uri="{FF2B5EF4-FFF2-40B4-BE49-F238E27FC236}">
                <a16:creationId xmlns:a16="http://schemas.microsoft.com/office/drawing/2014/main" id="{CA28C14A-1848-C596-3E55-3449D6D57BE5}"/>
              </a:ext>
            </a:extLst>
          </p:cNvPr>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Model</a:t>
            </a:r>
            <a:r>
              <a:rPr lang="en-US" sz="1400" b="1" dirty="0">
                <a:solidFill>
                  <a:srgbClr val="FFFFFF"/>
                </a:solidFill>
                <a:latin typeface="Trebuchet MS"/>
                <a:ea typeface="Trebuchet MS" pitchFamily="34" charset="-122"/>
                <a:cs typeface="Trebuchet MS" pitchFamily="34" charset="-120"/>
              </a:rPr>
              <a:t> Development</a:t>
            </a:r>
            <a:endParaRPr lang="en-US" sz="1400" dirty="0">
              <a:latin typeface="Corbel"/>
            </a:endParaRPr>
          </a:p>
        </p:txBody>
      </p:sp>
      <p:sp>
        <p:nvSpPr>
          <p:cNvPr id="17" name="Text 15">
            <a:extLst>
              <a:ext uri="{FF2B5EF4-FFF2-40B4-BE49-F238E27FC236}">
                <a16:creationId xmlns:a16="http://schemas.microsoft.com/office/drawing/2014/main" id="{6B68DE6F-57BC-5F7A-CB18-54C7F59E564C}"/>
              </a:ext>
            </a:extLst>
          </p:cNvPr>
          <p:cNvSpPr/>
          <p:nvPr/>
        </p:nvSpPr>
        <p:spPr>
          <a:xfrm>
            <a:off x="541629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a:ea typeface="Calibri"/>
                <a:cs typeface="Calibri"/>
              </a:rPr>
              <a:t>Architecture  ·  19 experiments  ·  </a:t>
            </a:r>
            <a:r>
              <a:rPr lang="en-US" sz="1400">
                <a:solidFill>
                  <a:srgbClr val="7AADCC"/>
                </a:solidFill>
                <a:latin typeface="Calibri"/>
                <a:ea typeface="Calibri"/>
                <a:cs typeface="Calibri"/>
              </a:rPr>
              <a:t>regularization</a:t>
            </a:r>
            <a:endParaRPr lang="en-US" sz="1400" dirty="0"/>
          </a:p>
        </p:txBody>
      </p:sp>
      <p:sp>
        <p:nvSpPr>
          <p:cNvPr id="18" name="Shape 16">
            <a:extLst>
              <a:ext uri="{FF2B5EF4-FFF2-40B4-BE49-F238E27FC236}">
                <a16:creationId xmlns:a16="http://schemas.microsoft.com/office/drawing/2014/main" id="{747F5184-FF90-2575-0FAC-A3A0AEB23821}"/>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92A9AA02-5C81-A62D-E8CD-3AB88A15D44C}"/>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00BA9A67-D016-D398-6BB1-03B8028ECCF4}"/>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1.3</a:t>
            </a:r>
            <a:endParaRPr lang="en-US" sz="2200" dirty="0"/>
          </a:p>
        </p:txBody>
      </p:sp>
      <p:sp>
        <p:nvSpPr>
          <p:cNvPr id="23" name="Text 21">
            <a:extLst>
              <a:ext uri="{FF2B5EF4-FFF2-40B4-BE49-F238E27FC236}">
                <a16:creationId xmlns:a16="http://schemas.microsoft.com/office/drawing/2014/main" id="{02F399B8-765C-A63D-EA47-1CF795E95B56}"/>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Training Efficiency</a:t>
            </a:r>
            <a:endParaRPr lang="en-US" sz="1400">
              <a:latin typeface="Corbel"/>
            </a:endParaRPr>
          </a:p>
        </p:txBody>
      </p:sp>
      <p:sp>
        <p:nvSpPr>
          <p:cNvPr id="24" name="Text 22">
            <a:extLst>
              <a:ext uri="{FF2B5EF4-FFF2-40B4-BE49-F238E27FC236}">
                <a16:creationId xmlns:a16="http://schemas.microsoft.com/office/drawing/2014/main" id="{4AF1C975-0AFB-77E4-A2E5-F57A1392C7DC}"/>
              </a:ext>
            </a:extLst>
          </p:cNvPr>
          <p:cNvSpPr/>
          <p:nvPr/>
        </p:nvSpPr>
        <p:spPr>
          <a:xfrm>
            <a:off x="1027176" y="335584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Early stopping  ·  GPU budget  ·  checkpointing</a:t>
            </a:r>
            <a:endParaRPr lang="en-US" sz="1400" dirty="0"/>
          </a:p>
        </p:txBody>
      </p:sp>
      <p:sp>
        <p:nvSpPr>
          <p:cNvPr id="25" name="Shape 23">
            <a:extLst>
              <a:ext uri="{FF2B5EF4-FFF2-40B4-BE49-F238E27FC236}">
                <a16:creationId xmlns:a16="http://schemas.microsoft.com/office/drawing/2014/main" id="{2CA826F3-CEE3-C2CD-B805-1C406B5FA091}"/>
              </a:ext>
            </a:extLst>
          </p:cNvPr>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a:extLst>
              <a:ext uri="{FF2B5EF4-FFF2-40B4-BE49-F238E27FC236}">
                <a16:creationId xmlns:a16="http://schemas.microsoft.com/office/drawing/2014/main" id="{BFDF1308-A516-6478-8A18-7C4F05820347}"/>
              </a:ext>
            </a:extLst>
          </p:cNvPr>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a:extLst>
              <a:ext uri="{FF2B5EF4-FFF2-40B4-BE49-F238E27FC236}">
                <a16:creationId xmlns:a16="http://schemas.microsoft.com/office/drawing/2014/main" id="{400F658E-8104-F84A-C304-C7A531E41A68}"/>
              </a:ext>
            </a:extLst>
          </p:cNvPr>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1.4</a:t>
            </a:r>
            <a:endParaRPr lang="en-US" sz="2200" dirty="0"/>
          </a:p>
        </p:txBody>
      </p:sp>
      <p:sp>
        <p:nvSpPr>
          <p:cNvPr id="30" name="Text 28">
            <a:extLst>
              <a:ext uri="{FF2B5EF4-FFF2-40B4-BE49-F238E27FC236}">
                <a16:creationId xmlns:a16="http://schemas.microsoft.com/office/drawing/2014/main" id="{E22FB453-0D9F-7841-7E16-18741955E147}"/>
              </a:ext>
            </a:extLst>
          </p:cNvPr>
          <p:cNvSpPr/>
          <p:nvPr/>
        </p:nvSpPr>
        <p:spPr>
          <a:xfrm>
            <a:off x="544068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Performance Evaluation</a:t>
            </a:r>
            <a:endParaRPr lang="en-US" sz="1400">
              <a:latin typeface="Corbel"/>
            </a:endParaRPr>
          </a:p>
        </p:txBody>
      </p:sp>
      <p:sp>
        <p:nvSpPr>
          <p:cNvPr id="31" name="Text 29">
            <a:extLst>
              <a:ext uri="{FF2B5EF4-FFF2-40B4-BE49-F238E27FC236}">
                <a16:creationId xmlns:a16="http://schemas.microsoft.com/office/drawing/2014/main" id="{13A956D1-DDEE-EBA8-8FE7-C219777B111D}"/>
              </a:ext>
            </a:extLst>
          </p:cNvPr>
          <p:cNvSpPr/>
          <p:nvPr/>
        </p:nvSpPr>
        <p:spPr>
          <a:xfrm>
            <a:off x="5416295" y="3355848"/>
            <a:ext cx="3674195"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Macro-F1  ·  per-class  ·  confusion matrix</a:t>
            </a:r>
            <a:endParaRPr lang="en-US" sz="1400" dirty="0"/>
          </a:p>
        </p:txBody>
      </p:sp>
      <p:pic>
        <p:nvPicPr>
          <p:cNvPr id="7" name="Picture 8" descr="NOSSA™ | NOVA School of Science &amp; Technology">
            <a:extLst>
              <a:ext uri="{FF2B5EF4-FFF2-40B4-BE49-F238E27FC236}">
                <a16:creationId xmlns:a16="http://schemas.microsoft.com/office/drawing/2014/main" id="{AD3B7977-F40B-75B4-E51F-F1D43EE49D61}"/>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07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Data Exploration &amp; Analysis</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18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The Dataset at a Glance</a:t>
            </a:r>
            <a:endParaRPr lang="en-US" sz="2200" dirty="0"/>
          </a:p>
        </p:txBody>
      </p:sp>
      <p:sp>
        <p:nvSpPr>
          <p:cNvPr id="6" name="Shape 4"/>
          <p:cNvSpPr/>
          <p:nvPr/>
        </p:nvSpPr>
        <p:spPr>
          <a:xfrm>
            <a:off x="36576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Text 5"/>
          <p:cNvSpPr/>
          <p:nvPr/>
        </p:nvSpPr>
        <p:spPr>
          <a:xfrm>
            <a:off x="36576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3 600</a:t>
            </a:r>
            <a:endParaRPr lang="en-US" sz="2800" dirty="0"/>
          </a:p>
        </p:txBody>
      </p:sp>
      <p:sp>
        <p:nvSpPr>
          <p:cNvPr id="8" name="Text 6"/>
          <p:cNvSpPr/>
          <p:nvPr/>
        </p:nvSpPr>
        <p:spPr>
          <a:xfrm>
            <a:off x="36576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training images</a:t>
            </a:r>
            <a:endParaRPr lang="en-US" sz="1100" dirty="0"/>
          </a:p>
        </p:txBody>
      </p:sp>
      <p:sp>
        <p:nvSpPr>
          <p:cNvPr id="9" name="Shape 7"/>
          <p:cNvSpPr/>
          <p:nvPr/>
        </p:nvSpPr>
        <p:spPr>
          <a:xfrm>
            <a:off x="256032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0" name="Text 8"/>
          <p:cNvSpPr/>
          <p:nvPr/>
        </p:nvSpPr>
        <p:spPr>
          <a:xfrm>
            <a:off x="256032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900</a:t>
            </a:r>
            <a:endParaRPr lang="en-US" sz="2800" dirty="0"/>
          </a:p>
        </p:txBody>
      </p:sp>
      <p:sp>
        <p:nvSpPr>
          <p:cNvPr id="11" name="Text 9"/>
          <p:cNvSpPr/>
          <p:nvPr/>
        </p:nvSpPr>
        <p:spPr>
          <a:xfrm>
            <a:off x="256032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test images</a:t>
            </a:r>
            <a:endParaRPr lang="en-US" sz="1100" dirty="0"/>
          </a:p>
        </p:txBody>
      </p:sp>
      <p:sp>
        <p:nvSpPr>
          <p:cNvPr id="12" name="Shape 10"/>
          <p:cNvSpPr/>
          <p:nvPr/>
        </p:nvSpPr>
        <p:spPr>
          <a:xfrm>
            <a:off x="475488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Text 11"/>
          <p:cNvSpPr/>
          <p:nvPr/>
        </p:nvSpPr>
        <p:spPr>
          <a:xfrm>
            <a:off x="475488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a:t>
            </a:r>
            <a:endParaRPr lang="en-US" sz="2800" dirty="0"/>
          </a:p>
        </p:txBody>
      </p:sp>
      <p:sp>
        <p:nvSpPr>
          <p:cNvPr id="14" name="Text 12"/>
          <p:cNvSpPr/>
          <p:nvPr/>
        </p:nvSpPr>
        <p:spPr>
          <a:xfrm>
            <a:off x="475488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Pokémon types</a:t>
            </a:r>
            <a:endParaRPr lang="en-US" sz="1100" dirty="0"/>
          </a:p>
        </p:txBody>
      </p:sp>
      <p:sp>
        <p:nvSpPr>
          <p:cNvPr id="15" name="Shape 13"/>
          <p:cNvSpPr/>
          <p:nvPr/>
        </p:nvSpPr>
        <p:spPr>
          <a:xfrm>
            <a:off x="694944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6" name="Text 14"/>
          <p:cNvSpPr/>
          <p:nvPr/>
        </p:nvSpPr>
        <p:spPr>
          <a:xfrm>
            <a:off x="6949440" y="822960"/>
            <a:ext cx="2011680" cy="530352"/>
          </a:xfrm>
          <a:prstGeom prst="rect">
            <a:avLst/>
          </a:prstGeom>
          <a:noFill/>
          <a:ln/>
        </p:spPr>
        <p:txBody>
          <a:bodyPr wrap="square" lIns="0" tIns="0" rIns="0" bIns="0" rtlCol="0" anchor="ctr"/>
          <a:lstStyle/>
          <a:p>
            <a:pPr marL="0" indent="0" algn="ctr">
              <a:buNone/>
            </a:pPr>
            <a:r>
              <a:rPr lang="en-US" sz="2800" b="1" dirty="0">
                <a:solidFill>
                  <a:srgbClr val="3D5A73"/>
                </a:solidFill>
                <a:latin typeface="Trebuchet MS" pitchFamily="34" charset="0"/>
                <a:ea typeface="Trebuchet MS" pitchFamily="34" charset="-122"/>
                <a:cs typeface="Trebuchet MS" pitchFamily="34" charset="-120"/>
              </a:rPr>
              <a:t>64x64</a:t>
            </a:r>
            <a:endParaRPr lang="en-US" sz="2800" dirty="0"/>
          </a:p>
        </p:txBody>
      </p:sp>
      <p:sp>
        <p:nvSpPr>
          <p:cNvPr id="17" name="Text 15"/>
          <p:cNvSpPr/>
          <p:nvPr/>
        </p:nvSpPr>
        <p:spPr>
          <a:xfrm>
            <a:off x="694944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px resolution</a:t>
            </a:r>
            <a:endParaRPr lang="en-US" sz="1100" dirty="0"/>
          </a:p>
        </p:txBody>
      </p:sp>
      <p:graphicFrame>
        <p:nvGraphicFramePr>
          <p:cNvPr id="18" name="Table 0"/>
          <p:cNvGraphicFramePr>
            <a:graphicFrameLocks noGrp="1"/>
          </p:cNvGraphicFramePr>
          <p:nvPr/>
        </p:nvGraphicFramePr>
        <p:xfrm>
          <a:off x="365760" y="1920240"/>
          <a:ext cx="4114800"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Count</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 train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Water</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97C35"/>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97C35"/>
                          </a:solidFill>
                          <a:latin typeface="Calibri" pitchFamily="34" charset="0"/>
                          <a:ea typeface="Calibri" pitchFamily="34" charset="-122"/>
                          <a:cs typeface="Calibri" pitchFamily="34" charset="-120"/>
                        </a:rPr>
                        <a:t>18.7%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16.8%</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Poison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467</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Fire</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381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Bug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299</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6"/>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Fighting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Rock</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7.3%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Ground</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74C3C"/>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74C3C"/>
                          </a:solidFill>
                          <a:latin typeface="Calibri" pitchFamily="34" charset="0"/>
                          <a:ea typeface="Calibri" pitchFamily="34" charset="-122"/>
                          <a:cs typeface="Calibri" pitchFamily="34" charset="-120"/>
                        </a:rPr>
                        <a:t>6.8%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9" name="Shape 16"/>
          <p:cNvSpPr/>
          <p:nvPr/>
        </p:nvSpPr>
        <p:spPr>
          <a:xfrm>
            <a:off x="4709160" y="1920240"/>
            <a:ext cx="4114800" cy="1325880"/>
          </a:xfrm>
          <a:prstGeom prst="rect">
            <a:avLst/>
          </a:prstGeom>
          <a:solidFill>
            <a:srgbClr val="FFF8E1"/>
          </a:solidFill>
          <a:ln w="10160">
            <a:solidFill>
              <a:srgbClr val="FFD54F"/>
            </a:solidFill>
            <a:prstDash val="solid"/>
          </a:ln>
        </p:spPr>
        <p:txBody>
          <a:bodyPr/>
          <a:lstStyle/>
          <a:p>
            <a:endParaRPr lang="pt-PT"/>
          </a:p>
        </p:txBody>
      </p:sp>
      <p:sp>
        <p:nvSpPr>
          <p:cNvPr id="20" name="Shape 17"/>
          <p:cNvSpPr/>
          <p:nvPr/>
        </p:nvSpPr>
        <p:spPr>
          <a:xfrm>
            <a:off x="4709160" y="1920239"/>
            <a:ext cx="82296" cy="1325879"/>
          </a:xfrm>
          <a:prstGeom prst="rect">
            <a:avLst/>
          </a:prstGeom>
          <a:solidFill>
            <a:srgbClr val="E97C35"/>
          </a:solidFill>
          <a:ln w="12700">
            <a:solidFill>
              <a:srgbClr val="E97C35"/>
            </a:solidFill>
            <a:prstDash val="solid"/>
          </a:ln>
        </p:spPr>
        <p:txBody>
          <a:bodyPr/>
          <a:lstStyle/>
          <a:p>
            <a:endParaRPr lang="pt-PT"/>
          </a:p>
        </p:txBody>
      </p:sp>
      <p:sp>
        <p:nvSpPr>
          <p:cNvPr id="21" name="Text 18"/>
          <p:cNvSpPr/>
          <p:nvPr/>
        </p:nvSpPr>
        <p:spPr>
          <a:xfrm>
            <a:off x="4846320" y="1965960"/>
            <a:ext cx="3840480" cy="347472"/>
          </a:xfrm>
          <a:prstGeom prst="rect">
            <a:avLst/>
          </a:prstGeom>
          <a:noFill/>
          <a:ln/>
        </p:spPr>
        <p:txBody>
          <a:bodyPr wrap="square" lIns="0" tIns="0" rIns="0" bIns="0" rtlCol="0" anchor="ctr"/>
          <a:lstStyle/>
          <a:p>
            <a:pPr marL="0" indent="0">
              <a:buNone/>
            </a:pPr>
            <a:r>
              <a:rPr lang="en-US" sz="1300" b="1" dirty="0">
                <a:solidFill>
                  <a:srgbClr val="E97C35"/>
                </a:solidFill>
                <a:latin typeface="Trebuchet MS" pitchFamily="34" charset="0"/>
                <a:ea typeface="Trebuchet MS" pitchFamily="34" charset="-122"/>
                <a:cs typeface="Trebuchet MS" pitchFamily="34" charset="-120"/>
              </a:rPr>
              <a:t>Imbalance ratio: 2.76x</a:t>
            </a:r>
            <a:endParaRPr lang="en-US" sz="1300" dirty="0"/>
          </a:p>
        </p:txBody>
      </p:sp>
      <p:sp>
        <p:nvSpPr>
          <p:cNvPr id="22" name="Text 19"/>
          <p:cNvSpPr/>
          <p:nvPr/>
        </p:nvSpPr>
        <p:spPr>
          <a:xfrm>
            <a:off x="4846320" y="2340864"/>
            <a:ext cx="3840480" cy="713232"/>
          </a:xfrm>
          <a:prstGeom prst="rect">
            <a:avLst/>
          </a:prstGeom>
          <a:noFill/>
          <a:ln/>
        </p:spPr>
        <p:txBody>
          <a:bodyPr wrap="square" lIns="0" tIns="0" rIns="0" bIns="0" rtlCol="0" anchor="ctr"/>
          <a:lstStyle/>
          <a:p>
            <a:pPr marL="0" indent="0">
              <a:buNone/>
            </a:pPr>
            <a:r>
              <a:rPr lang="en-US" sz="1100" b="1" dirty="0">
                <a:solidFill>
                  <a:srgbClr val="1A2B3C"/>
                </a:solidFill>
                <a:latin typeface="Calibri" pitchFamily="34" charset="0"/>
                <a:ea typeface="Calibri" pitchFamily="34" charset="-122"/>
                <a:cs typeface="Calibri" pitchFamily="34" charset="-120"/>
              </a:rPr>
              <a:t>Implications: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Predicting "Water" every time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gives 18.7% accuracy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but macro-F1 = 0.021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So accuracy hides the real failure on minority classes.</a:t>
            </a:r>
            <a:endParaRPr lang="en-US" sz="1100" dirty="0"/>
          </a:p>
        </p:txBody>
      </p:sp>
      <p:sp>
        <p:nvSpPr>
          <p:cNvPr id="23" name="Shape 20"/>
          <p:cNvSpPr/>
          <p:nvPr/>
        </p:nvSpPr>
        <p:spPr>
          <a:xfrm>
            <a:off x="4709160" y="3383280"/>
            <a:ext cx="4114800" cy="14630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4" name="Shape 21"/>
          <p:cNvSpPr/>
          <p:nvPr/>
        </p:nvSpPr>
        <p:spPr>
          <a:xfrm>
            <a:off x="4709160" y="3246120"/>
            <a:ext cx="82296" cy="1600200"/>
          </a:xfrm>
          <a:prstGeom prst="rect">
            <a:avLst/>
          </a:prstGeom>
          <a:solidFill>
            <a:srgbClr val="00A896"/>
          </a:solidFill>
          <a:ln w="12700">
            <a:solidFill>
              <a:srgbClr val="00A896"/>
            </a:solidFill>
            <a:prstDash val="solid"/>
          </a:ln>
        </p:spPr>
        <p:txBody>
          <a:bodyPr/>
          <a:lstStyle/>
          <a:p>
            <a:endParaRPr lang="pt-PT"/>
          </a:p>
        </p:txBody>
      </p:sp>
      <p:sp>
        <p:nvSpPr>
          <p:cNvPr id="25" name="Text 22"/>
          <p:cNvSpPr/>
          <p:nvPr/>
        </p:nvSpPr>
        <p:spPr>
          <a:xfrm>
            <a:off x="4846320" y="3483864"/>
            <a:ext cx="3840480" cy="329184"/>
          </a:xfrm>
          <a:prstGeom prst="rect">
            <a:avLst/>
          </a:prstGeom>
          <a:noFill/>
          <a:ln/>
        </p:spPr>
        <p:txBody>
          <a:bodyPr wrap="square" lIns="0" tIns="0" rIns="0" bIns="0" rtlCol="0" anchor="ctr"/>
          <a:lstStyle/>
          <a:p>
            <a:pPr marL="0" indent="0">
              <a:buNone/>
            </a:pPr>
            <a:r>
              <a:rPr lang="en-US" sz="1300" b="1" dirty="0">
                <a:solidFill>
                  <a:srgbClr val="0D1B2A"/>
                </a:solidFill>
                <a:latin typeface="Trebuchet MS" pitchFamily="34" charset="0"/>
                <a:ea typeface="Trebuchet MS" pitchFamily="34" charset="-122"/>
                <a:cs typeface="Trebuchet MS" pitchFamily="34" charset="-120"/>
              </a:rPr>
              <a:t>Solution:</a:t>
            </a:r>
          </a:p>
        </p:txBody>
      </p:sp>
      <p:sp>
        <p:nvSpPr>
          <p:cNvPr id="26" name="Text 23"/>
          <p:cNvSpPr/>
          <p:nvPr/>
        </p:nvSpPr>
        <p:spPr>
          <a:xfrm>
            <a:off x="5638059" y="3330114"/>
            <a:ext cx="3840480" cy="1115568"/>
          </a:xfrm>
          <a:prstGeom prst="rect">
            <a:avLst/>
          </a:prstGeom>
          <a:noFill/>
          <a:ln/>
        </p:spPr>
        <p:txBody>
          <a:bodyPr wrap="square" rtlCol="0" anchor="ctr"/>
          <a:lstStyle/>
          <a:p>
            <a:pPr>
              <a:buSzPct val="100000"/>
            </a:pPr>
            <a:r>
              <a:rPr lang="en-US" sz="1200" b="1" u="sng" dirty="0">
                <a:solidFill>
                  <a:srgbClr val="0D1B2A"/>
                </a:solidFill>
                <a:latin typeface="Trebuchet MS" pitchFamily="34" charset="0"/>
                <a:ea typeface="Trebuchet MS" pitchFamily="34" charset="-122"/>
                <a:cs typeface="Trebuchet MS" pitchFamily="34" charset="-120"/>
              </a:rPr>
              <a:t>macro-averaged F1</a:t>
            </a:r>
            <a:endParaRPr lang="en-US" sz="1200" u="sng" dirty="0"/>
          </a:p>
          <a:p>
            <a:pPr>
              <a:buSzPct val="100000"/>
            </a:pPr>
            <a:endParaRPr lang="en-US" sz="1100" dirty="0">
              <a:solidFill>
                <a:srgbClr val="1A2B3C"/>
              </a:solidFill>
              <a:latin typeface="Calibri" pitchFamily="34" charset="0"/>
              <a:ea typeface="Calibri" pitchFamily="34" charset="-122"/>
              <a:cs typeface="Calibri" pitchFamily="34" charset="-120"/>
            </a:endParaRPr>
          </a:p>
          <a:p>
            <a:pPr>
              <a:buSzPct val="100000"/>
            </a:pPr>
            <a:r>
              <a:rPr lang="en-US" sz="1100" dirty="0">
                <a:solidFill>
                  <a:srgbClr val="1A2B3C"/>
                </a:solidFill>
                <a:latin typeface="Calibri" pitchFamily="34" charset="0"/>
                <a:ea typeface="Calibri" pitchFamily="34" charset="-122"/>
                <a:cs typeface="Calibri" pitchFamily="34" charset="-120"/>
              </a:rPr>
              <a:t>Weights all 9 classes equally</a:t>
            </a:r>
          </a:p>
          <a:p>
            <a:pPr>
              <a:buSzPct val="100000"/>
            </a:pPr>
            <a:r>
              <a:rPr lang="en-US" sz="1100" dirty="0">
                <a:solidFill>
                  <a:srgbClr val="1A2B3C"/>
                </a:solidFill>
                <a:latin typeface="Calibri" pitchFamily="34" charset="0"/>
                <a:ea typeface="Calibri" pitchFamily="34" charset="-122"/>
                <a:cs typeface="Calibri" pitchFamily="34" charset="-120"/>
              </a:rPr>
              <a:t>No advantage for majority classes</a:t>
            </a:r>
            <a:endParaRPr lang="en-US" sz="1100" dirty="0"/>
          </a:p>
        </p:txBody>
      </p:sp>
      <p:sp>
        <p:nvSpPr>
          <p:cNvPr id="30" name="Shape 2">
            <a:extLst>
              <a:ext uri="{FF2B5EF4-FFF2-40B4-BE49-F238E27FC236}">
                <a16:creationId xmlns:a16="http://schemas.microsoft.com/office/drawing/2014/main" id="{1E90EFAE-8972-B0E0-CBA7-CDEF2DB59607}"/>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7" name="Rectangle: Rounded Corners 26">
            <a:extLst>
              <a:ext uri="{FF2B5EF4-FFF2-40B4-BE49-F238E27FC236}">
                <a16:creationId xmlns:a16="http://schemas.microsoft.com/office/drawing/2014/main" id="{2A144D38-9B3B-674D-9016-6CF8AF967FB9}"/>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
        <p:nvSpPr>
          <p:cNvPr id="28" name="TextBox 27">
            <a:extLst>
              <a:ext uri="{FF2B5EF4-FFF2-40B4-BE49-F238E27FC236}">
                <a16:creationId xmlns:a16="http://schemas.microsoft.com/office/drawing/2014/main" id="{00A481E2-A33B-89CB-9618-FA80712A9EAF}"/>
              </a:ext>
            </a:extLst>
          </p:cNvPr>
          <p:cNvSpPr txBox="1"/>
          <p:nvPr/>
        </p:nvSpPr>
        <p:spPr>
          <a:xfrm>
            <a:off x="78154" y="2095937"/>
            <a:ext cx="2173165" cy="2657266"/>
          </a:xfrm>
          <a:prstGeom prst="rect">
            <a:avLst/>
          </a:prstGeom>
          <a:noFill/>
        </p:spPr>
        <p:txBody>
          <a:bodyPr wrap="square">
            <a:spAutoFit/>
          </a:bodyPr>
          <a:lstStyle/>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buNone/>
            </a:pPr>
            <a:r>
              <a:rPr lang="pt-PT" sz="1250" dirty="0">
                <a:solidFill>
                  <a:schemeClr val="bg1"/>
                </a:solidFill>
                <a:latin typeface="Consolas" panose="020B0609020204030204" pitchFamily="49" charset="0"/>
              </a:rPr>
              <a:t>🗿</a:t>
            </a:r>
            <a:endParaRPr lang="pt-PT" sz="1250" b="0" dirty="0">
              <a:solidFill>
                <a:schemeClr val="bg1"/>
              </a:solidFill>
              <a:effectLst/>
              <a:latin typeface="Consolas" panose="020B0609020204030204" pitchFamily="49" charset="0"/>
            </a:endParaRPr>
          </a:p>
          <a:p>
            <a:pPr>
              <a:lnSpc>
                <a:spcPct val="150000"/>
              </a:lnSpc>
            </a:pPr>
            <a:r>
              <a:rPr lang="pt-PT" sz="1250" dirty="0">
                <a:solidFill>
                  <a:schemeClr val="bg1"/>
                </a:solidFill>
                <a:latin typeface="Consolas" panose="020B0609020204030204" pitchFamily="49"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Class Imbalance — Visual Overview</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Class distribution (train set)</a:t>
            </a:r>
            <a:endParaRPr lang="en-US" sz="1200" dirty="0"/>
          </a:p>
        </p:txBody>
      </p:sp>
      <p:sp>
        <p:nvSpPr>
          <p:cNvPr id="8" name="Shape 5"/>
          <p:cNvSpPr/>
          <p:nvPr/>
        </p:nvSpPr>
        <p:spPr>
          <a:xfrm>
            <a:off x="5257800" y="709227"/>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5257800" y="709227"/>
            <a:ext cx="73152" cy="896112"/>
          </a:xfrm>
          <a:prstGeom prst="rect">
            <a:avLst/>
          </a:prstGeom>
          <a:solidFill>
            <a:srgbClr val="E97C35"/>
          </a:solidFill>
          <a:ln w="12700">
            <a:solidFill>
              <a:srgbClr val="E97C35"/>
            </a:solidFill>
            <a:prstDash val="solid"/>
          </a:ln>
        </p:spPr>
        <p:txBody>
          <a:bodyPr/>
          <a:lstStyle/>
          <a:p>
            <a:endParaRPr lang="pt-PT"/>
          </a:p>
        </p:txBody>
      </p:sp>
      <p:sp>
        <p:nvSpPr>
          <p:cNvPr id="10" name="Text 7"/>
          <p:cNvSpPr/>
          <p:nvPr/>
        </p:nvSpPr>
        <p:spPr>
          <a:xfrm>
            <a:off x="5394960" y="745803"/>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2.76×</a:t>
            </a:r>
            <a:endParaRPr lang="en-US" sz="2400" dirty="0"/>
          </a:p>
        </p:txBody>
      </p:sp>
      <p:sp>
        <p:nvSpPr>
          <p:cNvPr id="11" name="Text 8"/>
          <p:cNvSpPr/>
          <p:nvPr/>
        </p:nvSpPr>
        <p:spPr>
          <a:xfrm>
            <a:off x="5394960" y="1221291"/>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 Ground imbalance ratio</a:t>
            </a:r>
            <a:endParaRPr lang="en-US" sz="1400" dirty="0"/>
          </a:p>
        </p:txBody>
      </p:sp>
      <p:sp>
        <p:nvSpPr>
          <p:cNvPr id="12" name="Shape 9"/>
          <p:cNvSpPr/>
          <p:nvPr/>
        </p:nvSpPr>
        <p:spPr>
          <a:xfrm>
            <a:off x="5257800" y="1801746"/>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5257800" y="1801746"/>
            <a:ext cx="73152" cy="896112"/>
          </a:xfrm>
          <a:prstGeom prst="rect">
            <a:avLst/>
          </a:prstGeom>
          <a:solidFill>
            <a:srgbClr val="E97C35"/>
          </a:solidFill>
          <a:ln w="12700">
            <a:solidFill>
              <a:srgbClr val="E97C35"/>
            </a:solidFill>
            <a:prstDash val="solid"/>
          </a:ln>
        </p:spPr>
        <p:txBody>
          <a:bodyPr/>
          <a:lstStyle/>
          <a:p>
            <a:endParaRPr lang="pt-PT"/>
          </a:p>
        </p:txBody>
      </p:sp>
      <p:sp>
        <p:nvSpPr>
          <p:cNvPr id="14" name="Text 11"/>
          <p:cNvSpPr/>
          <p:nvPr/>
        </p:nvSpPr>
        <p:spPr>
          <a:xfrm>
            <a:off x="5394960" y="1838322"/>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18.7%</a:t>
            </a:r>
            <a:endParaRPr lang="en-US" sz="2400" dirty="0"/>
          </a:p>
        </p:txBody>
      </p:sp>
      <p:sp>
        <p:nvSpPr>
          <p:cNvPr id="15" name="Text 12"/>
          <p:cNvSpPr/>
          <p:nvPr/>
        </p:nvSpPr>
        <p:spPr>
          <a:xfrm>
            <a:off x="5394960" y="2313810"/>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(most common class)</a:t>
            </a:r>
            <a:endParaRPr lang="en-US" sz="1400" dirty="0"/>
          </a:p>
        </p:txBody>
      </p:sp>
      <p:sp>
        <p:nvSpPr>
          <p:cNvPr id="16" name="Shape 13"/>
          <p:cNvSpPr/>
          <p:nvPr/>
        </p:nvSpPr>
        <p:spPr>
          <a:xfrm>
            <a:off x="5257800" y="2894265"/>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5257800" y="2894265"/>
            <a:ext cx="73152" cy="896112"/>
          </a:xfrm>
          <a:prstGeom prst="rect">
            <a:avLst/>
          </a:prstGeom>
          <a:solidFill>
            <a:srgbClr val="E74C3C"/>
          </a:solidFill>
          <a:ln w="12700">
            <a:solidFill>
              <a:srgbClr val="E74C3C"/>
            </a:solidFill>
            <a:prstDash val="solid"/>
          </a:ln>
        </p:spPr>
        <p:txBody>
          <a:bodyPr/>
          <a:lstStyle/>
          <a:p>
            <a:endParaRPr lang="pt-PT"/>
          </a:p>
        </p:txBody>
      </p:sp>
      <p:sp>
        <p:nvSpPr>
          <p:cNvPr id="18" name="Text 15"/>
          <p:cNvSpPr/>
          <p:nvPr/>
        </p:nvSpPr>
        <p:spPr>
          <a:xfrm>
            <a:off x="5394960" y="2930841"/>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6.8%</a:t>
            </a:r>
            <a:endParaRPr lang="en-US" sz="2400" dirty="0"/>
          </a:p>
        </p:txBody>
      </p:sp>
      <p:sp>
        <p:nvSpPr>
          <p:cNvPr id="19" name="Text 16"/>
          <p:cNvSpPr/>
          <p:nvPr/>
        </p:nvSpPr>
        <p:spPr>
          <a:xfrm>
            <a:off x="5394960" y="3406329"/>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Ground (rarest class)</a:t>
            </a:r>
            <a:endParaRPr lang="en-US" sz="1400" dirty="0"/>
          </a:p>
        </p:txBody>
      </p:sp>
      <p:sp>
        <p:nvSpPr>
          <p:cNvPr id="20" name="Shape 17"/>
          <p:cNvSpPr/>
          <p:nvPr/>
        </p:nvSpPr>
        <p:spPr>
          <a:xfrm>
            <a:off x="5257800" y="3986784"/>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5257800" y="3986784"/>
            <a:ext cx="73152" cy="896112"/>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5394960" y="4023360"/>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0.021</a:t>
            </a:r>
            <a:endParaRPr lang="en-US" sz="2400" dirty="0"/>
          </a:p>
        </p:txBody>
      </p:sp>
      <p:sp>
        <p:nvSpPr>
          <p:cNvPr id="23" name="Text 20"/>
          <p:cNvSpPr/>
          <p:nvPr/>
        </p:nvSpPr>
        <p:spPr>
          <a:xfrm>
            <a:off x="5394960" y="4498848"/>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Naive baseline: always predict Water</a:t>
            </a:r>
            <a:endParaRPr lang="en-US" sz="1400" dirty="0"/>
          </a:p>
        </p:txBody>
      </p:sp>
      <p:sp>
        <p:nvSpPr>
          <p:cNvPr id="24" name="Shape 21"/>
          <p:cNvSpPr/>
          <p:nvPr/>
        </p:nvSpPr>
        <p:spPr>
          <a:xfrm>
            <a:off x="274320" y="3749040"/>
            <a:ext cx="4754880" cy="1188720"/>
          </a:xfrm>
          <a:prstGeom prst="rect">
            <a:avLst/>
          </a:prstGeom>
          <a:solidFill>
            <a:srgbClr val="E8F8F5"/>
          </a:solidFill>
          <a:ln w="8890">
            <a:solidFill>
              <a:srgbClr val="00A896"/>
            </a:solidFill>
            <a:prstDash val="solid"/>
          </a:ln>
        </p:spPr>
        <p:txBody>
          <a:bodyPr/>
          <a:lstStyle/>
          <a:p>
            <a:endParaRPr lang="pt-PT"/>
          </a:p>
        </p:txBody>
      </p:sp>
      <p:sp>
        <p:nvSpPr>
          <p:cNvPr id="25" name="Shape 22"/>
          <p:cNvSpPr/>
          <p:nvPr/>
        </p:nvSpPr>
        <p:spPr>
          <a:xfrm>
            <a:off x="274320" y="3749040"/>
            <a:ext cx="82296" cy="1188720"/>
          </a:xfrm>
          <a:prstGeom prst="rect">
            <a:avLst/>
          </a:prstGeom>
          <a:solidFill>
            <a:srgbClr val="00A896"/>
          </a:solidFill>
          <a:ln w="12700">
            <a:solidFill>
              <a:srgbClr val="00A896"/>
            </a:solidFill>
            <a:prstDash val="solid"/>
          </a:ln>
        </p:spPr>
        <p:txBody>
          <a:bodyPr/>
          <a:lstStyle/>
          <a:p>
            <a:endParaRPr lang="pt-PT"/>
          </a:p>
        </p:txBody>
      </p:sp>
      <p:sp>
        <p:nvSpPr>
          <p:cNvPr id="26" name="Text 23"/>
          <p:cNvSpPr/>
          <p:nvPr/>
        </p:nvSpPr>
        <p:spPr>
          <a:xfrm>
            <a:off x="411480" y="3794760"/>
            <a:ext cx="448056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Our mitigation strategy</a:t>
            </a:r>
            <a:endParaRPr lang="en-US" sz="1200" dirty="0"/>
          </a:p>
        </p:txBody>
      </p:sp>
      <p:sp>
        <p:nvSpPr>
          <p:cNvPr id="27" name="Text 24"/>
          <p:cNvSpPr/>
          <p:nvPr/>
        </p:nvSpPr>
        <p:spPr>
          <a:xfrm>
            <a:off x="411480" y="4142232"/>
            <a:ext cx="4480560" cy="749808"/>
          </a:xfrm>
          <a:prstGeom prst="rect">
            <a:avLst/>
          </a:prstGeom>
          <a:noFill/>
          <a:ln/>
        </p:spPr>
        <p:txBody>
          <a:bodyPr wrap="square" rtlCol="0" anchor="ctr"/>
          <a:lstStyle/>
          <a:p>
            <a:pPr>
              <a:buSzPct val="100000"/>
            </a:pPr>
            <a:r>
              <a:rPr lang="en-US" sz="1400" dirty="0">
                <a:solidFill>
                  <a:srgbClr val="1A2B3C"/>
                </a:solidFill>
                <a:latin typeface="Calibri" pitchFamily="34" charset="0"/>
                <a:ea typeface="Calibri" pitchFamily="34" charset="-122"/>
                <a:cs typeface="Calibri" pitchFamily="34" charset="-120"/>
              </a:rPr>
              <a:t>- Inverse-frequency class weights in </a:t>
            </a:r>
            <a:r>
              <a:rPr lang="en-US" sz="1400" dirty="0" err="1">
                <a:solidFill>
                  <a:srgbClr val="1A2B3C"/>
                </a:solidFill>
                <a:latin typeface="Calibri" pitchFamily="34" charset="0"/>
                <a:ea typeface="Calibri" pitchFamily="34" charset="-122"/>
                <a:cs typeface="Calibri" pitchFamily="34" charset="-120"/>
              </a:rPr>
              <a:t>CrossEntropyLoss</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B, C, D, F, G, J, L, R, S,</a:t>
            </a:r>
          </a:p>
          <a:p>
            <a:pPr>
              <a:buSzPct val="100000"/>
            </a:pPr>
            <a:r>
              <a:rPr lang="en-US" sz="1400" dirty="0">
                <a:solidFill>
                  <a:srgbClr val="1A2B3C"/>
                </a:solidFill>
                <a:latin typeface="Calibri" pitchFamily="34" charset="0"/>
                <a:ea typeface="Calibri" pitchFamily="34" charset="-122"/>
                <a:cs typeface="Calibri" pitchFamily="34" charset="-120"/>
              </a:rPr>
              <a:t>- </a:t>
            </a:r>
            <a:r>
              <a:rPr lang="en-US" sz="1400" dirty="0" err="1">
                <a:solidFill>
                  <a:srgbClr val="1A2B3C"/>
                </a:solidFill>
                <a:latin typeface="Calibri" pitchFamily="34" charset="0"/>
                <a:ea typeface="Calibri" pitchFamily="34" charset="-122"/>
                <a:cs typeface="Calibri" pitchFamily="34" charset="-120"/>
              </a:rPr>
              <a:t>WeightedRandomSampler</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E, M, O, Q, </a:t>
            </a:r>
          </a:p>
        </p:txBody>
      </p:sp>
      <p:pic>
        <p:nvPicPr>
          <p:cNvPr id="31" name="Picture 30">
            <a:extLst>
              <a:ext uri="{FF2B5EF4-FFF2-40B4-BE49-F238E27FC236}">
                <a16:creationId xmlns:a16="http://schemas.microsoft.com/office/drawing/2014/main" id="{90D6123E-BBEF-E8BC-24FD-E57574C72F62}"/>
              </a:ext>
            </a:extLst>
          </p:cNvPr>
          <p:cNvPicPr>
            <a:picLocks noChangeAspect="1"/>
          </p:cNvPicPr>
          <p:nvPr/>
        </p:nvPicPr>
        <p:blipFill>
          <a:blip r:embed="rId3"/>
          <a:stretch>
            <a:fillRect/>
          </a:stretch>
        </p:blipFill>
        <p:spPr>
          <a:xfrm>
            <a:off x="274320" y="666471"/>
            <a:ext cx="4754880" cy="2955464"/>
          </a:xfrm>
          <a:prstGeom prst="rect">
            <a:avLst/>
          </a:prstGeom>
          <a:effectLst>
            <a:outerShdw blurRad="50800" dist="38100" dir="5400000" algn="t" rotWithShape="0">
              <a:prstClr val="black">
                <a:alpha val="40000"/>
              </a:prstClr>
            </a:outerShdw>
          </a:effectLst>
        </p:spPr>
      </p:pic>
      <p:sp>
        <p:nvSpPr>
          <p:cNvPr id="32" name="TextBox 31">
            <a:extLst>
              <a:ext uri="{FF2B5EF4-FFF2-40B4-BE49-F238E27FC236}">
                <a16:creationId xmlns:a16="http://schemas.microsoft.com/office/drawing/2014/main" id="{1C23FBE8-B458-276C-5AB6-17273D18538A}"/>
              </a:ext>
            </a:extLst>
          </p:cNvPr>
          <p:cNvSpPr txBox="1"/>
          <p:nvPr/>
        </p:nvSpPr>
        <p:spPr>
          <a:xfrm>
            <a:off x="-54802" y="859932"/>
            <a:ext cx="2173165" cy="2349489"/>
          </a:xfrm>
          <a:prstGeom prst="rect">
            <a:avLst/>
          </a:prstGeom>
          <a:noFill/>
        </p:spPr>
        <p:txBody>
          <a:bodyPr wrap="square">
            <a:spAutoFit/>
          </a:bodyPr>
          <a:lstStyle/>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buNone/>
            </a:pPr>
            <a:r>
              <a:rPr lang="pt-PT" sz="1100" dirty="0">
                <a:solidFill>
                  <a:schemeClr val="bg1"/>
                </a:solidFill>
                <a:latin typeface="Consolas" panose="020B0609020204030204" pitchFamily="49" charset="0"/>
              </a:rPr>
              <a:t>🗿</a:t>
            </a:r>
            <a:endParaRPr lang="pt-PT" sz="1100" b="0" dirty="0">
              <a:solidFill>
                <a:schemeClr val="bg1"/>
              </a:solidFill>
              <a:effectLst/>
              <a:latin typeface="Consolas" panose="020B0609020204030204" pitchFamily="49" charset="0"/>
            </a:endParaRPr>
          </a:p>
          <a:p>
            <a:pPr>
              <a:lnSpc>
                <a:spcPct val="150000"/>
              </a:lnSpc>
            </a:pPr>
            <a:r>
              <a:rPr lang="pt-PT" sz="1100" dirty="0">
                <a:solidFill>
                  <a:schemeClr val="bg1"/>
                </a:solidFill>
                <a:latin typeface="Consolas" panose="020B0609020204030204" pitchFamily="49" charset="0"/>
              </a:rPr>
              <a:t>🌍</a:t>
            </a:r>
          </a:p>
        </p:txBody>
      </p:sp>
      <p:sp>
        <p:nvSpPr>
          <p:cNvPr id="30" name="Shape 2">
            <a:extLst>
              <a:ext uri="{FF2B5EF4-FFF2-40B4-BE49-F238E27FC236}">
                <a16:creationId xmlns:a16="http://schemas.microsoft.com/office/drawing/2014/main" id="{C97CE7CB-555D-96D8-720C-C2A9DB9265D2}"/>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4" name="Rectangle: Rounded Corners 33">
            <a:extLst>
              <a:ext uri="{FF2B5EF4-FFF2-40B4-BE49-F238E27FC236}">
                <a16:creationId xmlns:a16="http://schemas.microsoft.com/office/drawing/2014/main" id="{3B2B809C-E84E-88F3-98EC-81813C3A8EB8}"/>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What the Data Looks Like</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134112" y="615676"/>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4 samples per class (</a:t>
            </a:r>
            <a:r>
              <a:rPr lang="en-US" sz="1200" b="1" dirty="0" err="1">
                <a:solidFill>
                  <a:srgbClr val="3D5A73"/>
                </a:solidFill>
                <a:latin typeface="Calibri" pitchFamily="34" charset="0"/>
                <a:ea typeface="Calibri" pitchFamily="34" charset="-122"/>
                <a:cs typeface="Calibri" pitchFamily="34" charset="-120"/>
              </a:rPr>
              <a:t>pokemons</a:t>
            </a:r>
            <a:r>
              <a:rPr lang="en-US" sz="1200" b="1" dirty="0">
                <a:solidFill>
                  <a:srgbClr val="3D5A73"/>
                </a:solidFill>
                <a:latin typeface="Calibri" pitchFamily="34" charset="0"/>
                <a:ea typeface="Calibri" pitchFamily="34" charset="-122"/>
                <a:cs typeface="Calibri" pitchFamily="34" charset="-120"/>
              </a:rPr>
              <a:t> overlaid on real-world backgrounds)  »»»</a:t>
            </a:r>
            <a:endParaRPr lang="en-US" sz="1200" b="1" dirty="0"/>
          </a:p>
        </p:txBody>
      </p:sp>
      <p:sp>
        <p:nvSpPr>
          <p:cNvPr id="8" name="Shape 5"/>
          <p:cNvSpPr/>
          <p:nvPr/>
        </p:nvSpPr>
        <p:spPr>
          <a:xfrm>
            <a:off x="347472" y="960120"/>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347472" y="960120"/>
            <a:ext cx="73152" cy="886968"/>
          </a:xfrm>
          <a:prstGeom prst="rect">
            <a:avLst/>
          </a:prstGeom>
          <a:solidFill>
            <a:srgbClr val="27AE60"/>
          </a:solidFill>
          <a:ln w="12700">
            <a:solidFill>
              <a:srgbClr val="27AE60"/>
            </a:solidFill>
            <a:prstDash val="solid"/>
          </a:ln>
        </p:spPr>
        <p:txBody>
          <a:bodyPr/>
          <a:lstStyle/>
          <a:p>
            <a:endParaRPr lang="pt-PT"/>
          </a:p>
        </p:txBody>
      </p:sp>
      <p:sp>
        <p:nvSpPr>
          <p:cNvPr id="10" name="Text 7"/>
          <p:cNvSpPr/>
          <p:nvPr/>
        </p:nvSpPr>
        <p:spPr>
          <a:xfrm>
            <a:off x="484632" y="1005840"/>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Bug vs Grass</a:t>
            </a:r>
            <a:endParaRPr lang="en-US" sz="1200" dirty="0"/>
          </a:p>
        </p:txBody>
      </p:sp>
      <p:sp>
        <p:nvSpPr>
          <p:cNvPr id="11" name="Text 8"/>
          <p:cNvSpPr/>
          <p:nvPr/>
        </p:nvSpPr>
        <p:spPr>
          <a:xfrm>
            <a:off x="484632" y="1325880"/>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Both dominated by green/yellow tones </a:t>
            </a:r>
          </a:p>
          <a:p>
            <a:pPr marL="0" indent="0">
              <a:buNone/>
            </a:pPr>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2" name="Shape 9"/>
          <p:cNvSpPr/>
          <p:nvPr/>
        </p:nvSpPr>
        <p:spPr>
          <a:xfrm>
            <a:off x="347472" y="1984248"/>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347472" y="1984248"/>
            <a:ext cx="73152" cy="886968"/>
          </a:xfrm>
          <a:prstGeom prst="rect">
            <a:avLst/>
          </a:prstGeom>
          <a:solidFill>
            <a:srgbClr val="3D5A73"/>
          </a:solidFill>
          <a:ln w="12700">
            <a:solidFill>
              <a:srgbClr val="3D5A73"/>
            </a:solidFill>
            <a:prstDash val="solid"/>
          </a:ln>
        </p:spPr>
        <p:txBody>
          <a:bodyPr/>
          <a:lstStyle/>
          <a:p>
            <a:endParaRPr lang="pt-PT"/>
          </a:p>
        </p:txBody>
      </p:sp>
      <p:sp>
        <p:nvSpPr>
          <p:cNvPr id="14" name="Text 11"/>
          <p:cNvSpPr/>
          <p:nvPr/>
        </p:nvSpPr>
        <p:spPr>
          <a:xfrm>
            <a:off x="484632" y="2029968"/>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Fighting vs Normal</a:t>
            </a:r>
            <a:endParaRPr lang="en-US" sz="1200" dirty="0"/>
          </a:p>
        </p:txBody>
      </p:sp>
      <p:sp>
        <p:nvSpPr>
          <p:cNvPr id="15" name="Text 12"/>
          <p:cNvSpPr/>
          <p:nvPr/>
        </p:nvSpPr>
        <p:spPr>
          <a:xfrm>
            <a:off x="484632" y="2350008"/>
            <a:ext cx="3840480" cy="457200"/>
          </a:xfrm>
          <a:prstGeom prst="rect">
            <a:avLst/>
          </a:prstGeom>
          <a:noFill/>
          <a:ln/>
        </p:spPr>
        <p:txBody>
          <a:bodyPr wrap="square" lIns="0" tIns="0" rIns="0" bIns="0" rtlCol="0" anchor="ctr"/>
          <a:lstStyle/>
          <a:p>
            <a:r>
              <a:rPr lang="en-US" sz="1200" dirty="0">
                <a:solidFill>
                  <a:srgbClr val="3D5A73"/>
                </a:solidFill>
                <a:latin typeface="Calibri" pitchFamily="34" charset="0"/>
                <a:ea typeface="Calibri" pitchFamily="34" charset="-122"/>
                <a:cs typeface="Calibri" pitchFamily="34" charset="-120"/>
              </a:rPr>
              <a:t>Both dominated by brown tones </a:t>
            </a:r>
          </a:p>
          <a:p>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6" name="Shape 13"/>
          <p:cNvSpPr/>
          <p:nvPr/>
        </p:nvSpPr>
        <p:spPr>
          <a:xfrm>
            <a:off x="347472" y="3008376"/>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347472" y="3008376"/>
            <a:ext cx="73152" cy="886968"/>
          </a:xfrm>
          <a:prstGeom prst="rect">
            <a:avLst/>
          </a:prstGeom>
          <a:solidFill>
            <a:srgbClr val="E97C35"/>
          </a:solidFill>
          <a:ln w="12700">
            <a:solidFill>
              <a:srgbClr val="E97C35"/>
            </a:solidFill>
            <a:prstDash val="solid"/>
          </a:ln>
        </p:spPr>
        <p:txBody>
          <a:bodyPr/>
          <a:lstStyle/>
          <a:p>
            <a:endParaRPr lang="pt-PT"/>
          </a:p>
        </p:txBody>
      </p:sp>
      <p:sp>
        <p:nvSpPr>
          <p:cNvPr id="18" name="Text 15"/>
          <p:cNvSpPr/>
          <p:nvPr/>
        </p:nvSpPr>
        <p:spPr>
          <a:xfrm>
            <a:off x="484632" y="3054096"/>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Rock vs Ground</a:t>
            </a:r>
            <a:endParaRPr lang="en-US" sz="1200" dirty="0"/>
          </a:p>
        </p:txBody>
      </p:sp>
      <p:sp>
        <p:nvSpPr>
          <p:cNvPr id="19" name="Text 16"/>
          <p:cNvSpPr/>
          <p:nvPr/>
        </p:nvSpPr>
        <p:spPr>
          <a:xfrm>
            <a:off x="484632" y="3374136"/>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Brown/grey palettes </a:t>
            </a:r>
          </a:p>
          <a:p>
            <a:pPr marL="0" indent="0">
              <a:buNone/>
            </a:pPr>
            <a:r>
              <a:rPr lang="en-US" sz="1200" dirty="0">
                <a:solidFill>
                  <a:srgbClr val="3D5A73"/>
                </a:solidFill>
                <a:latin typeface="Calibri" pitchFamily="34" charset="0"/>
                <a:ea typeface="Calibri" pitchFamily="34" charset="-122"/>
                <a:cs typeface="Calibri" pitchFamily="34" charset="-120"/>
              </a:rPr>
              <a:t>» hardest confusion pair in our results</a:t>
            </a:r>
            <a:endParaRPr lang="en-US" sz="1200" dirty="0"/>
          </a:p>
        </p:txBody>
      </p:sp>
      <p:sp>
        <p:nvSpPr>
          <p:cNvPr id="20" name="Shape 17"/>
          <p:cNvSpPr/>
          <p:nvPr/>
        </p:nvSpPr>
        <p:spPr>
          <a:xfrm>
            <a:off x="347472" y="4032504"/>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347472" y="4032504"/>
            <a:ext cx="73152" cy="886968"/>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484632" y="4078224"/>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Real backgrounds</a:t>
            </a:r>
            <a:endParaRPr lang="en-US" sz="1200" dirty="0"/>
          </a:p>
        </p:txBody>
      </p:sp>
      <p:sp>
        <p:nvSpPr>
          <p:cNvPr id="23" name="Text 20"/>
          <p:cNvSpPr/>
          <p:nvPr/>
        </p:nvSpPr>
        <p:spPr>
          <a:xfrm>
            <a:off x="484632" y="4398264"/>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Sprites on street photos </a:t>
            </a:r>
          </a:p>
          <a:p>
            <a:pPr marL="0" indent="0">
              <a:buNone/>
            </a:pPr>
            <a:r>
              <a:rPr lang="en-US" sz="1200" dirty="0">
                <a:solidFill>
                  <a:srgbClr val="3D5A73"/>
                </a:solidFill>
                <a:latin typeface="Calibri" pitchFamily="34" charset="0"/>
                <a:ea typeface="Calibri" pitchFamily="34" charset="-122"/>
                <a:cs typeface="Calibri" pitchFamily="34" charset="-120"/>
              </a:rPr>
              <a:t>» random background noise adds pixel variability</a:t>
            </a:r>
            <a:endParaRPr lang="en-US" sz="1200" dirty="0"/>
          </a:p>
        </p:txBody>
      </p:sp>
      <p:pic>
        <p:nvPicPr>
          <p:cNvPr id="27" name="Picture 26">
            <a:extLst>
              <a:ext uri="{FF2B5EF4-FFF2-40B4-BE49-F238E27FC236}">
                <a16:creationId xmlns:a16="http://schemas.microsoft.com/office/drawing/2014/main" id="{0B8A0DFE-3DE1-15D9-A237-72DB73AEBD07}"/>
              </a:ext>
            </a:extLst>
          </p:cNvPr>
          <p:cNvPicPr>
            <a:picLocks noChangeAspect="1"/>
          </p:cNvPicPr>
          <p:nvPr/>
        </p:nvPicPr>
        <p:blipFill>
          <a:blip r:embed="rId3"/>
          <a:stretch>
            <a:fillRect/>
          </a:stretch>
        </p:blipFill>
        <p:spPr>
          <a:xfrm>
            <a:off x="4803648" y="301667"/>
            <a:ext cx="2372972" cy="4826763"/>
          </a:xfrm>
          <a:prstGeom prst="rect">
            <a:avLst/>
          </a:prstGeom>
        </p:spPr>
      </p:pic>
      <p:sp>
        <p:nvSpPr>
          <p:cNvPr id="29" name="TextBox 28">
            <a:extLst>
              <a:ext uri="{FF2B5EF4-FFF2-40B4-BE49-F238E27FC236}">
                <a16:creationId xmlns:a16="http://schemas.microsoft.com/office/drawing/2014/main" id="{224F8F92-0060-1C99-43D7-5A8A01C5F7FD}"/>
              </a:ext>
            </a:extLst>
          </p:cNvPr>
          <p:cNvSpPr txBox="1"/>
          <p:nvPr/>
        </p:nvSpPr>
        <p:spPr>
          <a:xfrm>
            <a:off x="7114195" y="588305"/>
            <a:ext cx="2173165" cy="4593758"/>
          </a:xfrm>
          <a:prstGeom prst="rect">
            <a:avLst/>
          </a:prstGeom>
          <a:noFill/>
        </p:spPr>
        <p:txBody>
          <a:bodyPr wrap="square">
            <a:spAutoFit/>
          </a:bodyPr>
          <a:lstStyle/>
          <a:p>
            <a:pPr>
              <a:lnSpc>
                <a:spcPts val="1425"/>
              </a:lnSpc>
            </a:pPr>
            <a:r>
              <a:rPr lang="pt-PT" dirty="0">
                <a:solidFill>
                  <a:schemeClr val="bg1"/>
                </a:solidFill>
                <a:latin typeface="Bierstadt" panose="020B0004020202020204" pitchFamily="34" charset="0"/>
              </a:rPr>
              <a:t>🐛 Bug</a:t>
            </a:r>
          </a:p>
          <a:p>
            <a:pPr>
              <a:lnSpc>
                <a:spcPts val="1425"/>
              </a:lnSpc>
            </a:pPr>
            <a:r>
              <a:rPr lang="pt-PT" dirty="0">
                <a:solidFill>
                  <a:schemeClr val="bg1"/>
                </a:solidFill>
                <a:latin typeface="Bierstadt" panose="020B0004020202020204" pitchFamily="34" charset="0"/>
              </a:rPr>
              <a:t> </a:t>
            </a: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Fighting</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sz="4000"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a:t>
            </a:r>
            <a:r>
              <a:rPr lang="pt-PT" b="0" dirty="0" err="1">
                <a:solidFill>
                  <a:schemeClr val="bg1"/>
                </a:solidFill>
                <a:effectLst/>
                <a:latin typeface="Bierstadt" panose="020B0004020202020204" pitchFamily="34" charset="0"/>
              </a:rPr>
              <a:t>Fire</a:t>
            </a: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Grass</a:t>
            </a:r>
            <a:r>
              <a:rPr lang="pt-PT" dirty="0">
                <a:solidFill>
                  <a:schemeClr val="bg1"/>
                </a:solidFill>
                <a:latin typeface="Bierstadt" panose="020B0004020202020204" pitchFamily="34" charset="0"/>
              </a:rPr>
              <a:t> </a:t>
            </a: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Ground</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Normal </a:t>
            </a: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dirty="0">
              <a:solidFill>
                <a:schemeClr val="bg1"/>
              </a:solidFill>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Poison</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	</a:t>
            </a:r>
            <a:r>
              <a:rPr lang="pt-PT" b="0" dirty="0">
                <a:solidFill>
                  <a:schemeClr val="bg1"/>
                </a:solidFill>
                <a:effectLst/>
                <a:latin typeface="Bierstadt" panose="020B0004020202020204" pitchFamily="34" charset="0"/>
              </a:rPr>
              <a:t>Rock</a:t>
            </a:r>
          </a:p>
          <a:p>
            <a:pPr>
              <a:lnSpc>
                <a:spcPts val="1425"/>
              </a:lnSpc>
              <a:buNone/>
            </a:pPr>
            <a:endParaRPr lang="pt-PT" dirty="0">
              <a:solidFill>
                <a:schemeClr val="bg1"/>
              </a:solidFill>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 </a:t>
            </a:r>
            <a:r>
              <a:rPr lang="pt-PT" dirty="0" err="1">
                <a:solidFill>
                  <a:schemeClr val="bg1"/>
                </a:solidFill>
                <a:latin typeface="Bierstadt" panose="020B0004020202020204" pitchFamily="34" charset="0"/>
              </a:rPr>
              <a:t>Water</a:t>
            </a:r>
            <a:r>
              <a:rPr lang="pt-PT" dirty="0">
                <a:solidFill>
                  <a:schemeClr val="bg1"/>
                </a:solidFill>
                <a:latin typeface="Bierstadt" panose="020B0004020202020204" pitchFamily="34" charset="0"/>
              </a:rPr>
              <a:t> </a:t>
            </a:r>
            <a:r>
              <a:rPr lang="pt-PT" b="0" dirty="0">
                <a:solidFill>
                  <a:schemeClr val="bg1"/>
                </a:solidFill>
                <a:effectLst/>
                <a:latin typeface="Bierstadt" panose="020B0004020202020204" pitchFamily="34" charset="0"/>
              </a:rPr>
              <a:t> </a:t>
            </a:r>
          </a:p>
        </p:txBody>
      </p:sp>
      <p:sp>
        <p:nvSpPr>
          <p:cNvPr id="26" name="Shape 2">
            <a:extLst>
              <a:ext uri="{FF2B5EF4-FFF2-40B4-BE49-F238E27FC236}">
                <a16:creationId xmlns:a16="http://schemas.microsoft.com/office/drawing/2014/main" id="{56D2C831-6AE7-5AE2-A165-DDA50D185E23}"/>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0" name="Rectangle: Rounded Corners 29">
            <a:extLst>
              <a:ext uri="{FF2B5EF4-FFF2-40B4-BE49-F238E27FC236}">
                <a16:creationId xmlns:a16="http://schemas.microsoft.com/office/drawing/2014/main" id="{CA3501BA-CB5C-AA52-8009-5EDE058CDD70}"/>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Average Image Per Class &amp; Pixel Statistics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a:solidFill>
                  <a:srgbClr val="FFFFFF"/>
                </a:solidFill>
              </a:rPr>
              <a:t>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Average image per class — blurriness reveals intra-class variance </a:t>
            </a:r>
            <a:r>
              <a:rPr lang="en-US" sz="1200" dirty="0">
                <a:solidFill>
                  <a:srgbClr val="3D5A73"/>
                </a:solidFill>
                <a:latin typeface="Calibri" pitchFamily="34" charset="0"/>
                <a:ea typeface="Calibri" pitchFamily="34" charset="-122"/>
                <a:cs typeface="Calibri" pitchFamily="34" charset="-120"/>
              </a:rPr>
              <a:t>(e.g.: we can expect that Fire will be more correctly identified)</a:t>
            </a:r>
            <a:endParaRPr lang="en-US" sz="1200" dirty="0"/>
          </a:p>
        </p:txBody>
      </p:sp>
      <p:pic>
        <p:nvPicPr>
          <p:cNvPr id="7" name="Image 0" descr="/mnt/user-data/uploads/plot_average_image_per_class.png"/>
          <p:cNvPicPr>
            <a:picLocks noChangeAspect="1"/>
          </p:cNvPicPr>
          <p:nvPr/>
        </p:nvPicPr>
        <p:blipFill>
          <a:blip r:embed="rId3"/>
          <a:stretch>
            <a:fillRect/>
          </a:stretch>
        </p:blipFill>
        <p:spPr>
          <a:xfrm>
            <a:off x="274320" y="1005840"/>
            <a:ext cx="8595360" cy="1417320"/>
          </a:xfrm>
          <a:prstGeom prst="rect">
            <a:avLst/>
          </a:prstGeom>
        </p:spPr>
      </p:pic>
      <p:sp>
        <p:nvSpPr>
          <p:cNvPr id="8" name="Text 5"/>
          <p:cNvSpPr/>
          <p:nvPr/>
        </p:nvSpPr>
        <p:spPr>
          <a:xfrm>
            <a:off x="365760" y="25786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Per-channel mean &amp; standard deviation (train split, no leakage)</a:t>
            </a:r>
            <a:endParaRPr lang="en-US" sz="1200" dirty="0"/>
          </a:p>
        </p:txBody>
      </p:sp>
      <p:pic>
        <p:nvPicPr>
          <p:cNvPr id="9" name="Image 1" descr="/mnt/user-data/uploads/plot_pixel_statistics.png"/>
          <p:cNvPicPr>
            <a:picLocks noChangeAspect="1"/>
          </p:cNvPicPr>
          <p:nvPr/>
        </p:nvPicPr>
        <p:blipFill>
          <a:blip r:embed="rId4"/>
          <a:stretch>
            <a:fillRect/>
          </a:stretch>
        </p:blipFill>
        <p:spPr>
          <a:xfrm>
            <a:off x="274320" y="2834640"/>
            <a:ext cx="4572000" cy="2103120"/>
          </a:xfrm>
          <a:prstGeom prst="rect">
            <a:avLst/>
          </a:prstGeom>
        </p:spPr>
      </p:pic>
      <p:graphicFrame>
        <p:nvGraphicFramePr>
          <p:cNvPr id="10" name="Table 0"/>
          <p:cNvGraphicFramePr>
            <a:graphicFrameLocks noGrp="1"/>
          </p:cNvGraphicFramePr>
          <p:nvPr/>
        </p:nvGraphicFramePr>
        <p:xfrm>
          <a:off x="5074920" y="2834640"/>
          <a:ext cx="3749040" cy="1316736"/>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Std</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ImageNet 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0.257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0.485</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0.445</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0.246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0.456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0.266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0.406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6"/>
          <p:cNvSpPr/>
          <p:nvPr/>
        </p:nvSpPr>
        <p:spPr>
          <a:xfrm>
            <a:off x="5074920" y="4315968"/>
            <a:ext cx="3749040" cy="621792"/>
          </a:xfrm>
          <a:prstGeom prst="rect">
            <a:avLst/>
          </a:prstGeom>
          <a:solidFill>
            <a:srgbClr val="E8F8F5"/>
          </a:solidFill>
          <a:ln w="7620">
            <a:solidFill>
              <a:srgbClr val="00A896"/>
            </a:solidFill>
            <a:prstDash val="solid"/>
          </a:ln>
        </p:spPr>
        <p:txBody>
          <a:bodyPr/>
          <a:lstStyle/>
          <a:p>
            <a:endParaRPr lang="pt-PT"/>
          </a:p>
        </p:txBody>
      </p:sp>
      <p:sp>
        <p:nvSpPr>
          <p:cNvPr id="12" name="Text 7"/>
          <p:cNvSpPr/>
          <p:nvPr/>
        </p:nvSpPr>
        <p:spPr>
          <a:xfrm>
            <a:off x="5136132" y="4335843"/>
            <a:ext cx="3749040" cy="576072"/>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&lt; 0.05 difference on all channels between our data set and ImageNet </a:t>
            </a:r>
          </a:p>
          <a:p>
            <a:r>
              <a:rPr lang="en-US" sz="1000" dirty="0">
                <a:solidFill>
                  <a:srgbClr val="1A2B3C"/>
                </a:solidFill>
                <a:latin typeface="Calibri" pitchFamily="34" charset="0"/>
                <a:ea typeface="Calibri" pitchFamily="34" charset="-122"/>
                <a:cs typeface="Calibri" pitchFamily="34" charset="-120"/>
              </a:rPr>
              <a:t>   - Stats computed from train split only: no val leakage.</a:t>
            </a:r>
          </a:p>
          <a:p>
            <a:r>
              <a:rPr lang="en-US" sz="1000" dirty="0">
                <a:solidFill>
                  <a:srgbClr val="1A2B3C"/>
                </a:solidFill>
                <a:latin typeface="Calibri" pitchFamily="34" charset="0"/>
                <a:ea typeface="Calibri" pitchFamily="34" charset="-122"/>
                <a:cs typeface="Calibri" pitchFamily="34" charset="-120"/>
              </a:rPr>
              <a:t>   - ImageNet </a:t>
            </a:r>
            <a:r>
              <a:rPr lang="en-US" sz="1000" dirty="0" err="1">
                <a:solidFill>
                  <a:srgbClr val="1A2B3C"/>
                </a:solidFill>
                <a:latin typeface="Calibri" pitchFamily="34" charset="0"/>
                <a:ea typeface="Calibri" pitchFamily="34" charset="-122"/>
                <a:cs typeface="Calibri" pitchFamily="34" charset="-120"/>
              </a:rPr>
              <a:t>normalisation</a:t>
            </a:r>
            <a:r>
              <a:rPr lang="en-US" sz="1000" dirty="0">
                <a:solidFill>
                  <a:srgbClr val="1A2B3C"/>
                </a:solidFill>
                <a:latin typeface="Calibri" pitchFamily="34" charset="0"/>
                <a:ea typeface="Calibri" pitchFamily="34" charset="-122"/>
                <a:cs typeface="Calibri" pitchFamily="34" charset="-120"/>
              </a:rPr>
              <a:t> is acceptable, and possibly useful for task 3. </a:t>
            </a:r>
            <a:endParaRPr lang="en-US" sz="1000" dirty="0"/>
          </a:p>
        </p:txBody>
      </p:sp>
      <p:sp>
        <p:nvSpPr>
          <p:cNvPr id="15" name="TextBox 14">
            <a:extLst>
              <a:ext uri="{FF2B5EF4-FFF2-40B4-BE49-F238E27FC236}">
                <a16:creationId xmlns:a16="http://schemas.microsoft.com/office/drawing/2014/main" id="{1F16FE53-248E-A4A6-82B9-ACD4A4EDEF7F}"/>
              </a:ext>
            </a:extLst>
          </p:cNvPr>
          <p:cNvSpPr txBox="1"/>
          <p:nvPr/>
        </p:nvSpPr>
        <p:spPr>
          <a:xfrm>
            <a:off x="306627" y="1033272"/>
            <a:ext cx="8517334" cy="262380"/>
          </a:xfrm>
          <a:prstGeom prst="rect">
            <a:avLst/>
          </a:prstGeom>
          <a:solidFill>
            <a:schemeClr val="tx1"/>
          </a:solidFill>
        </p:spPr>
        <p:txBody>
          <a:bodyPr wrap="square">
            <a:spAutoFit/>
          </a:bodyPr>
          <a:lstStyle/>
          <a:p>
            <a:pPr>
              <a:lnSpc>
                <a:spcPts val="1425"/>
              </a:lnSpc>
            </a:pPr>
            <a:r>
              <a:rPr lang="pt-PT" sz="1100" dirty="0">
                <a:solidFill>
                  <a:schemeClr val="bg1"/>
                </a:solidFill>
                <a:latin typeface="Berlin Sans FB" panose="020E0602020502020306" pitchFamily="34" charset="0"/>
              </a:rPr>
              <a:t>🐛 Bug	 ⚔️ </a:t>
            </a:r>
            <a:r>
              <a:rPr lang="pt-PT" sz="1100" dirty="0" err="1">
                <a:solidFill>
                  <a:schemeClr val="bg1"/>
                </a:solidFill>
                <a:latin typeface="Berlin Sans FB" panose="020E0602020502020306" pitchFamily="34" charset="0"/>
              </a:rPr>
              <a:t>Fighting</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a:t>
            </a:r>
            <a:r>
              <a:rPr lang="pt-PT" sz="1100" b="0" dirty="0" err="1">
                <a:solidFill>
                  <a:schemeClr val="bg1"/>
                </a:solidFill>
                <a:effectLst/>
                <a:latin typeface="Berlin Sans FB" panose="020E0602020502020306" pitchFamily="34" charset="0"/>
              </a:rPr>
              <a:t>Fire</a:t>
            </a:r>
            <a:r>
              <a:rPr lang="pt-PT" sz="1100" b="0" dirty="0">
                <a:solidFill>
                  <a:schemeClr val="bg1"/>
                </a:solidFill>
                <a:effectLst/>
                <a:latin typeface="Berlin Sans FB" panose="020E0602020502020306" pitchFamily="34" charset="0"/>
              </a:rPr>
              <a:t>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Grass</a:t>
            </a:r>
            <a:r>
              <a:rPr lang="pt-PT" sz="1100" dirty="0">
                <a:solidFill>
                  <a:schemeClr val="bg1"/>
                </a:solidFill>
                <a:latin typeface="Berlin Sans FB" panose="020E0602020502020306" pitchFamily="34" charset="0"/>
              </a:rPr>
              <a:t>            🌍 </a:t>
            </a:r>
            <a:r>
              <a:rPr lang="pt-PT" sz="1100" dirty="0" err="1">
                <a:solidFill>
                  <a:schemeClr val="bg1"/>
                </a:solidFill>
                <a:latin typeface="Berlin Sans FB" panose="020E0602020502020306" pitchFamily="34" charset="0"/>
              </a:rPr>
              <a:t>Ground</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Normal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Poison</a:t>
            </a:r>
            <a:r>
              <a:rPr lang="pt-PT" sz="1100" dirty="0">
                <a:solidFill>
                  <a:schemeClr val="bg1"/>
                </a:solidFill>
                <a:latin typeface="Berlin Sans FB" panose="020E0602020502020306" pitchFamily="34" charset="0"/>
              </a:rPr>
              <a:t>           🗿 </a:t>
            </a:r>
            <a:r>
              <a:rPr lang="pt-PT" sz="1100" b="0" dirty="0">
                <a:solidFill>
                  <a:schemeClr val="bg1"/>
                </a:solidFill>
                <a:effectLst/>
                <a:latin typeface="Berlin Sans FB" panose="020E0602020502020306" pitchFamily="34" charset="0"/>
              </a:rPr>
              <a:t>Rock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Water</a:t>
            </a:r>
            <a:endParaRPr lang="pt-PT" sz="1100" b="0" dirty="0">
              <a:solidFill>
                <a:schemeClr val="bg1"/>
              </a:solidFill>
              <a:effectLst/>
              <a:latin typeface="Berlin Sans FB" panose="020E0602020502020306" pitchFamily="34" charset="0"/>
            </a:endParaRPr>
          </a:p>
        </p:txBody>
      </p:sp>
      <p:sp>
        <p:nvSpPr>
          <p:cNvPr id="21" name="Shape 2">
            <a:extLst>
              <a:ext uri="{FF2B5EF4-FFF2-40B4-BE49-F238E27FC236}">
                <a16:creationId xmlns:a16="http://schemas.microsoft.com/office/drawing/2014/main" id="{429B8A0B-72F7-44EC-A58B-A63B2167CC25}"/>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3" name="Rectangle: Rounded Corners 22">
            <a:extLst>
              <a:ext uri="{FF2B5EF4-FFF2-40B4-BE49-F238E27FC236}">
                <a16:creationId xmlns:a16="http://schemas.microsoft.com/office/drawing/2014/main" id="{C0A4E6B6-E510-51B8-CC9A-C1220A590D06}"/>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Pixel Intensity Distribution</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7" name="Shape 4"/>
          <p:cNvSpPr/>
          <p:nvPr/>
        </p:nvSpPr>
        <p:spPr>
          <a:xfrm>
            <a:off x="5745897" y="703398"/>
            <a:ext cx="3154680" cy="12344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5"/>
          <p:cNvSpPr/>
          <p:nvPr/>
        </p:nvSpPr>
        <p:spPr>
          <a:xfrm>
            <a:off x="5745897" y="703398"/>
            <a:ext cx="73152" cy="1234440"/>
          </a:xfrm>
          <a:prstGeom prst="rect">
            <a:avLst/>
          </a:prstGeom>
          <a:solidFill>
            <a:srgbClr val="00A896"/>
          </a:solidFill>
          <a:ln w="12700">
            <a:solidFill>
              <a:srgbClr val="00A896"/>
            </a:solidFill>
            <a:prstDash val="solid"/>
          </a:ln>
        </p:spPr>
        <p:txBody>
          <a:bodyPr/>
          <a:lstStyle/>
          <a:p>
            <a:endParaRPr lang="pt-PT"/>
          </a:p>
        </p:txBody>
      </p:sp>
      <p:sp>
        <p:nvSpPr>
          <p:cNvPr id="9" name="Text 6"/>
          <p:cNvSpPr/>
          <p:nvPr/>
        </p:nvSpPr>
        <p:spPr>
          <a:xfrm>
            <a:off x="5883057" y="758262"/>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Bimodal distribution</a:t>
            </a:r>
            <a:endParaRPr lang="en-US" sz="1200" dirty="0"/>
          </a:p>
        </p:txBody>
      </p:sp>
      <p:sp>
        <p:nvSpPr>
          <p:cNvPr id="10" name="Text 7"/>
          <p:cNvSpPr/>
          <p:nvPr/>
        </p:nvSpPr>
        <p:spPr>
          <a:xfrm>
            <a:off x="5883057" y="1105734"/>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Two peaks: dark backgrounds (~50) and bright sprites (~200). Pokémon dataset is brighter overall than ImageNet.</a:t>
            </a:r>
            <a:endParaRPr lang="en-US" sz="1200" dirty="0"/>
          </a:p>
        </p:txBody>
      </p:sp>
      <p:sp>
        <p:nvSpPr>
          <p:cNvPr id="11" name="Shape 8"/>
          <p:cNvSpPr/>
          <p:nvPr/>
        </p:nvSpPr>
        <p:spPr>
          <a:xfrm>
            <a:off x="5745897" y="2093286"/>
            <a:ext cx="3154680" cy="2830927"/>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9"/>
          <p:cNvSpPr/>
          <p:nvPr/>
        </p:nvSpPr>
        <p:spPr>
          <a:xfrm>
            <a:off x="5745897" y="2093286"/>
            <a:ext cx="73152" cy="2830927"/>
          </a:xfrm>
          <a:prstGeom prst="rect">
            <a:avLst/>
          </a:prstGeom>
          <a:solidFill>
            <a:srgbClr val="61B2E9"/>
          </a:solidFill>
          <a:ln w="12700">
            <a:noFill/>
            <a:prstDash val="solid"/>
          </a:ln>
        </p:spPr>
        <p:txBody>
          <a:bodyPr/>
          <a:lstStyle/>
          <a:p>
            <a:endParaRPr lang="pt-PT"/>
          </a:p>
        </p:txBody>
      </p:sp>
      <p:sp>
        <p:nvSpPr>
          <p:cNvPr id="13" name="Text 10"/>
          <p:cNvSpPr/>
          <p:nvPr/>
        </p:nvSpPr>
        <p:spPr>
          <a:xfrm>
            <a:off x="5883057" y="2148150"/>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 channel prominent at high values</a:t>
            </a:r>
            <a:endParaRPr lang="en-US" sz="1200" dirty="0"/>
          </a:p>
        </p:txBody>
      </p:sp>
      <p:sp>
        <p:nvSpPr>
          <p:cNvPr id="14" name="Text 11"/>
          <p:cNvSpPr/>
          <p:nvPr/>
        </p:nvSpPr>
        <p:spPr>
          <a:xfrm>
            <a:off x="5883057" y="2308170"/>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Blue channel spikes above R and G near value 200  — confirms blue bias (Water...)</a:t>
            </a:r>
            <a:endParaRPr lang="en-US" sz="1200" dirty="0"/>
          </a:p>
        </p:txBody>
      </p:sp>
      <p:pic>
        <p:nvPicPr>
          <p:cNvPr id="22" name="Picture 21">
            <a:extLst>
              <a:ext uri="{FF2B5EF4-FFF2-40B4-BE49-F238E27FC236}">
                <a16:creationId xmlns:a16="http://schemas.microsoft.com/office/drawing/2014/main" id="{8B965BCC-D636-2C74-C6C9-87F68CA6EDA5}"/>
              </a:ext>
            </a:extLst>
          </p:cNvPr>
          <p:cNvPicPr>
            <a:picLocks noChangeAspect="1"/>
          </p:cNvPicPr>
          <p:nvPr/>
        </p:nvPicPr>
        <p:blipFill>
          <a:blip r:embed="rId3"/>
          <a:stretch>
            <a:fillRect/>
          </a:stretch>
        </p:blipFill>
        <p:spPr>
          <a:xfrm>
            <a:off x="266073" y="1307592"/>
            <a:ext cx="5357488" cy="2642049"/>
          </a:xfrm>
          <a:prstGeom prst="rect">
            <a:avLst/>
          </a:prstGeom>
        </p:spPr>
      </p:pic>
      <p:pic>
        <p:nvPicPr>
          <p:cNvPr id="24" name="Picture 23">
            <a:extLst>
              <a:ext uri="{FF2B5EF4-FFF2-40B4-BE49-F238E27FC236}">
                <a16:creationId xmlns:a16="http://schemas.microsoft.com/office/drawing/2014/main" id="{5AB13EB0-BECB-44AE-DE79-7DBAA15D8838}"/>
              </a:ext>
            </a:extLst>
          </p:cNvPr>
          <p:cNvPicPr>
            <a:picLocks noChangeAspect="1"/>
          </p:cNvPicPr>
          <p:nvPr/>
        </p:nvPicPr>
        <p:blipFill>
          <a:blip r:embed="rId4"/>
          <a:stretch>
            <a:fillRect/>
          </a:stretch>
        </p:blipFill>
        <p:spPr>
          <a:xfrm>
            <a:off x="5964577" y="2968738"/>
            <a:ext cx="2893314" cy="1798381"/>
          </a:xfrm>
          <a:prstGeom prst="rect">
            <a:avLst/>
          </a:prstGeom>
          <a:effectLst/>
        </p:spPr>
      </p:pic>
      <p:sp>
        <p:nvSpPr>
          <p:cNvPr id="25" name="TextBox 24">
            <a:extLst>
              <a:ext uri="{FF2B5EF4-FFF2-40B4-BE49-F238E27FC236}">
                <a16:creationId xmlns:a16="http://schemas.microsoft.com/office/drawing/2014/main" id="{E43B9399-FAD0-58DC-DB83-B20432D6A3A6}"/>
              </a:ext>
            </a:extLst>
          </p:cNvPr>
          <p:cNvSpPr txBox="1"/>
          <p:nvPr/>
        </p:nvSpPr>
        <p:spPr>
          <a:xfrm>
            <a:off x="5782474" y="3054265"/>
            <a:ext cx="2173165" cy="1528688"/>
          </a:xfrm>
          <a:prstGeom prst="rect">
            <a:avLst/>
          </a:prstGeom>
          <a:noFill/>
        </p:spPr>
        <p:txBody>
          <a:bodyPr wrap="square">
            <a:spAutoFit/>
          </a:bodyPr>
          <a:lstStyle/>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buNone/>
            </a:pPr>
            <a:r>
              <a:rPr lang="pt-PT" sz="700" b="0" dirty="0">
                <a:solidFill>
                  <a:schemeClr val="bg1"/>
                </a:solidFill>
                <a:effectLst/>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p:txBody>
      </p:sp>
      <p:sp>
        <p:nvSpPr>
          <p:cNvPr id="15" name="Shape 2">
            <a:extLst>
              <a:ext uri="{FF2B5EF4-FFF2-40B4-BE49-F238E27FC236}">
                <a16:creationId xmlns:a16="http://schemas.microsoft.com/office/drawing/2014/main" id="{9A605828-3D8A-F68E-4712-67EC42EC219D}"/>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7" name="Rectangle: Rounded Corners 16">
            <a:extLst>
              <a:ext uri="{FF2B5EF4-FFF2-40B4-BE49-F238E27FC236}">
                <a16:creationId xmlns:a16="http://schemas.microsoft.com/office/drawing/2014/main" id="{270E14DA-4288-3076-76BC-692B4E3F7B3D}"/>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t-SNE: Can Flat Pixels Separate the 9 Classes?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pic>
        <p:nvPicPr>
          <p:cNvPr id="6" name="Image 0" descr="/mnt/user-data/uploads/plot_pca_tsne.png"/>
          <p:cNvPicPr>
            <a:picLocks noChangeAspect="1"/>
          </p:cNvPicPr>
          <p:nvPr/>
        </p:nvPicPr>
        <p:blipFill>
          <a:blip r:embed="rId3"/>
          <a:stretch>
            <a:fillRect/>
          </a:stretch>
        </p:blipFill>
        <p:spPr>
          <a:xfrm>
            <a:off x="274320" y="749808"/>
            <a:ext cx="5029200" cy="4160520"/>
          </a:xfrm>
          <a:prstGeom prst="rect">
            <a:avLst/>
          </a:prstGeom>
        </p:spPr>
      </p:pic>
      <p:sp>
        <p:nvSpPr>
          <p:cNvPr id="7" name="Shape 4"/>
          <p:cNvSpPr/>
          <p:nvPr/>
        </p:nvSpPr>
        <p:spPr>
          <a:xfrm>
            <a:off x="5532120" y="1293876"/>
            <a:ext cx="3337560" cy="1444752"/>
          </a:xfrm>
          <a:prstGeom prst="rect">
            <a:avLst/>
          </a:prstGeom>
          <a:solidFill>
            <a:srgbClr val="FEE8E7"/>
          </a:solidFill>
          <a:ln w="7620">
            <a:solidFill>
              <a:srgbClr val="E74C3C"/>
            </a:solidFill>
            <a:prstDash val="solid"/>
          </a:ln>
        </p:spPr>
        <p:txBody>
          <a:bodyPr/>
          <a:lstStyle/>
          <a:p>
            <a:endParaRPr lang="pt-PT"/>
          </a:p>
        </p:txBody>
      </p:sp>
      <p:sp>
        <p:nvSpPr>
          <p:cNvPr id="8" name="Shape 5"/>
          <p:cNvSpPr/>
          <p:nvPr/>
        </p:nvSpPr>
        <p:spPr>
          <a:xfrm>
            <a:off x="5532120" y="1293876"/>
            <a:ext cx="73152" cy="1444752"/>
          </a:xfrm>
          <a:prstGeom prst="rect">
            <a:avLst/>
          </a:prstGeom>
          <a:solidFill>
            <a:srgbClr val="E74C3C"/>
          </a:solidFill>
          <a:ln w="12700">
            <a:solidFill>
              <a:srgbClr val="E74C3C"/>
            </a:solidFill>
            <a:prstDash val="solid"/>
          </a:ln>
        </p:spPr>
        <p:txBody>
          <a:bodyPr/>
          <a:lstStyle/>
          <a:p>
            <a:endParaRPr lang="pt-PT"/>
          </a:p>
        </p:txBody>
      </p:sp>
      <p:sp>
        <p:nvSpPr>
          <p:cNvPr id="9" name="Text 6"/>
          <p:cNvSpPr/>
          <p:nvPr/>
        </p:nvSpPr>
        <p:spPr>
          <a:xfrm>
            <a:off x="5669280" y="1348740"/>
            <a:ext cx="3108960" cy="347472"/>
          </a:xfrm>
          <a:prstGeom prst="rect">
            <a:avLst/>
          </a:prstGeom>
          <a:noFill/>
          <a:ln/>
        </p:spPr>
        <p:txBody>
          <a:bodyPr wrap="square" lIns="0" tIns="0" rIns="0" bIns="0" rtlCol="0" anchor="ctr"/>
          <a:lstStyle/>
          <a:p>
            <a:pPr marL="0" indent="0">
              <a:buNone/>
            </a:pPr>
            <a:r>
              <a:rPr lang="en-US" sz="1300" b="1" dirty="0">
                <a:solidFill>
                  <a:srgbClr val="E74C3C"/>
                </a:solidFill>
                <a:latin typeface="Trebuchet MS" pitchFamily="34" charset="0"/>
                <a:ea typeface="Trebuchet MS" pitchFamily="34" charset="-122"/>
                <a:cs typeface="Trebuchet MS" pitchFamily="34" charset="-120"/>
              </a:rPr>
              <a:t>No clean clusters</a:t>
            </a:r>
            <a:endParaRPr lang="en-US" sz="1300" dirty="0"/>
          </a:p>
        </p:txBody>
      </p:sp>
      <p:sp>
        <p:nvSpPr>
          <p:cNvPr id="10" name="Text 7"/>
          <p:cNvSpPr/>
          <p:nvPr/>
        </p:nvSpPr>
        <p:spPr>
          <a:xfrm>
            <a:off x="5669280" y="1714500"/>
            <a:ext cx="3108960" cy="950976"/>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All 9 types heavily overlap in flat pixel space. </a:t>
            </a:r>
          </a:p>
          <a:p>
            <a:pPr marL="0" indent="0">
              <a:buNone/>
            </a:pPr>
            <a:r>
              <a:rPr lang="en-US" sz="1200" dirty="0">
                <a:solidFill>
                  <a:srgbClr val="1A2B3C"/>
                </a:solidFill>
                <a:latin typeface="Calibri" pitchFamily="34" charset="0"/>
                <a:ea typeface="Calibri" pitchFamily="34" charset="-122"/>
                <a:cs typeface="Calibri" pitchFamily="34" charset="-120"/>
              </a:rPr>
              <a:t>Even with PCA-50 preprocessing, classes are not linearly separable.</a:t>
            </a:r>
            <a:endParaRPr lang="en-US" sz="1200" dirty="0"/>
          </a:p>
        </p:txBody>
      </p:sp>
      <p:sp>
        <p:nvSpPr>
          <p:cNvPr id="15" name="Shape 12"/>
          <p:cNvSpPr/>
          <p:nvPr/>
        </p:nvSpPr>
        <p:spPr>
          <a:xfrm>
            <a:off x="5532120" y="3063240"/>
            <a:ext cx="3337560" cy="1115568"/>
          </a:xfrm>
          <a:prstGeom prst="rect">
            <a:avLst/>
          </a:prstGeom>
          <a:solidFill>
            <a:srgbClr val="FFF3E0"/>
          </a:solidFill>
          <a:ln w="7620">
            <a:solidFill>
              <a:srgbClr val="E97C35"/>
            </a:solidFill>
            <a:prstDash val="solid"/>
          </a:ln>
        </p:spPr>
        <p:txBody>
          <a:bodyPr/>
          <a:lstStyle/>
          <a:p>
            <a:endParaRPr lang="pt-PT"/>
          </a:p>
        </p:txBody>
      </p:sp>
      <p:sp>
        <p:nvSpPr>
          <p:cNvPr id="16" name="Shape 13"/>
          <p:cNvSpPr/>
          <p:nvPr/>
        </p:nvSpPr>
        <p:spPr>
          <a:xfrm>
            <a:off x="5532120" y="3063240"/>
            <a:ext cx="73152" cy="1115568"/>
          </a:xfrm>
          <a:prstGeom prst="rect">
            <a:avLst/>
          </a:prstGeom>
          <a:solidFill>
            <a:srgbClr val="E97C35"/>
          </a:solidFill>
          <a:ln w="12700">
            <a:solidFill>
              <a:srgbClr val="E97C35"/>
            </a:solidFill>
            <a:prstDash val="solid"/>
          </a:ln>
        </p:spPr>
        <p:txBody>
          <a:bodyPr/>
          <a:lstStyle/>
          <a:p>
            <a:endParaRPr lang="pt-PT"/>
          </a:p>
        </p:txBody>
      </p:sp>
      <p:sp>
        <p:nvSpPr>
          <p:cNvPr id="17" name="Text 14"/>
          <p:cNvSpPr/>
          <p:nvPr/>
        </p:nvSpPr>
        <p:spPr>
          <a:xfrm>
            <a:off x="5669280" y="3118104"/>
            <a:ext cx="3108960" cy="320040"/>
          </a:xfrm>
          <a:prstGeom prst="rect">
            <a:avLst/>
          </a:prstGeom>
          <a:noFill/>
          <a:ln/>
        </p:spPr>
        <p:txBody>
          <a:bodyPr wrap="square" lIns="0" tIns="0" rIns="0" bIns="0" rtlCol="0" anchor="ctr"/>
          <a:lstStyle/>
          <a:p>
            <a:pPr marL="0" indent="0">
              <a:buNone/>
            </a:pPr>
            <a:r>
              <a:rPr lang="en-US" sz="1200" b="1" dirty="0">
                <a:solidFill>
                  <a:srgbClr val="E97C35"/>
                </a:solidFill>
                <a:latin typeface="Trebuchet MS" pitchFamily="34" charset="0"/>
                <a:ea typeface="Trebuchet MS" pitchFamily="34" charset="-122"/>
                <a:cs typeface="Trebuchet MS" pitchFamily="34" charset="-120"/>
              </a:rPr>
              <a:t>Direct motivation for CNN</a:t>
            </a:r>
            <a:endParaRPr lang="en-US" sz="1200" dirty="0"/>
          </a:p>
        </p:txBody>
      </p:sp>
      <p:sp>
        <p:nvSpPr>
          <p:cNvPr id="18" name="Text 15"/>
          <p:cNvSpPr/>
          <p:nvPr/>
        </p:nvSpPr>
        <p:spPr>
          <a:xfrm>
            <a:off x="5669280" y="3465576"/>
            <a:ext cx="3108960" cy="667512"/>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This scatter is exactly why MLP hits a ceiling. </a:t>
            </a:r>
          </a:p>
          <a:p>
            <a:pPr marL="0" indent="0">
              <a:buNone/>
            </a:pPr>
            <a:r>
              <a:rPr lang="en-US" sz="1200" dirty="0">
                <a:solidFill>
                  <a:srgbClr val="1A2B3C"/>
                </a:solidFill>
                <a:latin typeface="Calibri" pitchFamily="34" charset="0"/>
                <a:ea typeface="Calibri" pitchFamily="34" charset="-122"/>
                <a:cs typeface="Calibri" pitchFamily="34" charset="-120"/>
              </a:rPr>
              <a:t>CNN adds spatial inductive bias — learns position</a:t>
            </a:r>
          </a:p>
          <a:p>
            <a:pPr marL="0" indent="0">
              <a:buNone/>
            </a:pPr>
            <a:r>
              <a:rPr lang="en-US" sz="1200" dirty="0">
                <a:solidFill>
                  <a:srgbClr val="1A2B3C"/>
                </a:solidFill>
                <a:latin typeface="Calibri" pitchFamily="34" charset="0"/>
                <a:ea typeface="Calibri" pitchFamily="34" charset="-122"/>
                <a:cs typeface="Calibri" pitchFamily="34" charset="-120"/>
              </a:rPr>
              <a:t>   » MLP physically cannot.</a:t>
            </a:r>
            <a:endParaRPr lang="en-US" sz="1200" dirty="0"/>
          </a:p>
        </p:txBody>
      </p:sp>
      <p:sp>
        <p:nvSpPr>
          <p:cNvPr id="12" name="Shape 2">
            <a:extLst>
              <a:ext uri="{FF2B5EF4-FFF2-40B4-BE49-F238E27FC236}">
                <a16:creationId xmlns:a16="http://schemas.microsoft.com/office/drawing/2014/main" id="{5FB775F5-5D33-0E04-0D1B-CBE7DB899FC6}"/>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4" name="Rectangle: Rounded Corners 13">
            <a:extLst>
              <a:ext uri="{FF2B5EF4-FFF2-40B4-BE49-F238E27FC236}">
                <a16:creationId xmlns:a16="http://schemas.microsoft.com/office/drawing/2014/main" id="{300FADC4-E5DA-A443-33C7-4B78BD9440DB}"/>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12FD-8A88-7E3C-003F-FB521ABB58B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27774-99A8-6A50-9787-9CDDF0D644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221A4E8F-252D-CD53-1B4D-A230C6176559}"/>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B4A7E438-65B4-0936-3122-55D765DEE1A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1E2EE57-0C32-11FE-DE81-43C0472D8FD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CD83C3C-BC12-BF36-A466-D10D569A24B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D44035D-AB1C-53F3-0CCD-B524807CC57E}"/>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Model Development</a:t>
            </a:r>
          </a:p>
        </p:txBody>
      </p:sp>
      <p:sp>
        <p:nvSpPr>
          <p:cNvPr id="14" name="Rectangle: Rounded Corners 13">
            <a:extLst>
              <a:ext uri="{FF2B5EF4-FFF2-40B4-BE49-F238E27FC236}">
                <a16:creationId xmlns:a16="http://schemas.microsoft.com/office/drawing/2014/main" id="{7C19D1E8-29E0-C8E9-DB41-05034A11BC46}"/>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1.2</a:t>
            </a:r>
            <a:endParaRPr lang="pt-PT" b="1" dirty="0"/>
          </a:p>
        </p:txBody>
      </p:sp>
      <p:cxnSp>
        <p:nvCxnSpPr>
          <p:cNvPr id="16" name="Straight Connector 15">
            <a:extLst>
              <a:ext uri="{FF2B5EF4-FFF2-40B4-BE49-F238E27FC236}">
                <a16:creationId xmlns:a16="http://schemas.microsoft.com/office/drawing/2014/main" id="{34917CEF-86E5-D829-841E-5B8C94B2AD23}"/>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392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4" name="NumCircle"/>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nvGraphicFramePr>
        <p:xfrm>
          <a:off x="203982" y="1593556"/>
          <a:ext cx="8595360" cy="3396876"/>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1727151">
                  <a:extLst>
                    <a:ext uri="{9D8B030D-6E8A-4147-A177-3AD203B41FA5}">
                      <a16:colId xmlns:a16="http://schemas.microsoft.com/office/drawing/2014/main" val="2858452526"/>
                    </a:ext>
                  </a:extLst>
                </a:gridCol>
                <a:gridCol w="1807955">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484676">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Name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Model</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Criterion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loss</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function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Optimizer</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Purpose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vanilla</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MLP([128, 64], drop=0, no BN)</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True bare baseline — no regularisation at all</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B</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mlp_base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drop=0.4)</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class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weights</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First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Colab</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run result (~0.193)</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Softer targets + lighter dropout</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D</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weights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label_smoothing</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=0.1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 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L2 reg on top of C</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1571945709"/>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E</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used instead of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WeightedRandomSampler replaces class weights</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F</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narrow</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MLP([256, 128, 64, 32],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Fewer params per layer — less overfit?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bottleneck</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1024,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Wide middle captures more combinations?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149533"/>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M</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c_sampler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WeightedSampler</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replaces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Sampler on top of C — ~same as E (val_macro_f1=0.2361)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N</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cosine_lr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CosineAnnealing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 CosineAnnealingLR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 schedule, no improvement (val_macro_f1=0.2251)</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R</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ls015_drop03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label_smoothing=0.15</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Best</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solo — LS=0.15 &gt; LS=0.10 (val_macro_f1=0.2396)</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203982" y="670810"/>
            <a:ext cx="8595360" cy="850692"/>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386862" y="722880"/>
            <a:ext cx="8228160"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started by exploring different base models with different characteristics (number and size of layers, batch normalization, dropout, regularization L2/weight decay, label smoothing, weighted sampler, etc. </a:t>
            </a:r>
          </a:p>
          <a:p>
            <a:pPr>
              <a:buNone/>
            </a:pPr>
            <a:r>
              <a:rPr lang="en-US" sz="1200" dirty="0">
                <a:solidFill>
                  <a:schemeClr val="bg1"/>
                </a:solidFill>
                <a:latin typeface="Calibri" pitchFamily="34" charset="0"/>
              </a:rPr>
              <a:t>Then, having a sense of the best models so we explored different small variations of them.</a:t>
            </a:r>
          </a:p>
          <a:p>
            <a:pPr>
              <a:buNone/>
            </a:pPr>
            <a:r>
              <a:rPr lang="en-US" sz="1200" dirty="0">
                <a:solidFill>
                  <a:schemeClr val="bg1"/>
                </a:solidFill>
                <a:latin typeface="Calibri" pitchFamily="34" charset="0"/>
              </a:rPr>
              <a:t>We explored over 20 different models. Here we present a small sample of them.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 we tried to apply different pipelines of pre-processing and data augmentation. </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rtlCol="0" anchor="ctr"/>
          <a:lstStyle/>
          <a:p>
            <a:pPr algn="ctr">
              <a:buNone/>
            </a:pPr>
            <a:r>
              <a:rPr lang="en-US" sz="1300" b="1" dirty="0">
                <a:solidFill>
                  <a:srgbClr val="028090"/>
                </a:solidFill>
                <a:latin typeface="Calibri"/>
              </a:rPr>
              <a:t>Grayscale </a:t>
            </a:r>
          </a:p>
          <a:p>
            <a:pPr algn="ctr">
              <a:buNone/>
            </a:pPr>
            <a:r>
              <a:rPr lang="en-US" sz="1300" dirty="0">
                <a:solidFill>
                  <a:srgbClr val="1A2B3C"/>
                </a:solidFill>
                <a:latin typeface="Calibri"/>
              </a:rPr>
              <a:t>A 64x64 RGB image results in an initial vector of length = 12.288. If we convert to grayscale it would be a vector of 4096. Could a smaller vector preserve all the necessary important information for the model?  Turns out no. </a:t>
            </a:r>
            <a:r>
              <a:rPr lang="en-US" sz="1300" dirty="0" err="1">
                <a:solidFill>
                  <a:srgbClr val="1A2B3C"/>
                </a:solidFill>
                <a:latin typeface="Calibri"/>
              </a:rPr>
              <a:t>Pokemon</a:t>
            </a:r>
            <a:r>
              <a:rPr lang="en-US" sz="1300" dirty="0">
                <a:solidFill>
                  <a:srgbClr val="1A2B3C"/>
                </a:solidFill>
                <a:latin typeface="Calibri"/>
              </a:rPr>
              <a:t> classification is strongly color-dependent (Fire=orange, water=blue, poison=purple, grass=green)</a:t>
            </a:r>
          </a:p>
          <a:p>
            <a:pPr algn="ctr">
              <a:buNone/>
            </a:pPr>
            <a:endParaRPr lang="en-US" sz="1300" dirty="0">
              <a:solidFill>
                <a:srgbClr val="1A2B3C"/>
              </a:solidFill>
              <a:latin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buNone/>
            </a:pPr>
            <a:r>
              <a:rPr lang="en-US" sz="1400" dirty="0">
                <a:solidFill>
                  <a:srgbClr val="1C3A52"/>
                </a:solidFill>
                <a:latin typeface="Calibri"/>
              </a:rPr>
              <a:t>Could we improve the quality of our training dataset and help the model to generalize better? </a:t>
            </a:r>
            <a:br>
              <a:rPr lang="en-US" sz="1400" dirty="0">
                <a:solidFill>
                  <a:srgbClr val="1C3A52"/>
                </a:solidFill>
                <a:latin typeface="Calibri"/>
              </a:rPr>
            </a:br>
            <a:r>
              <a:rPr lang="en-US" sz="1400" dirty="0">
                <a:solidFill>
                  <a:srgbClr val="1C3A52"/>
                </a:solidFill>
                <a:latin typeface="Calibri"/>
              </a:rPr>
              <a:t>This is a valid hypothesis for CNN, but as expected, not for MLP, because MLPs convert the image to a simple vector losing all spatial sense. </a:t>
            </a:r>
          </a:p>
        </p:txBody>
      </p:sp>
      <p:pic>
        <p:nvPicPr>
          <p:cNvPr id="9" name="Picture 8">
            <a:extLst>
              <a:ext uri="{FF2B5EF4-FFF2-40B4-BE49-F238E27FC236}">
                <a16:creationId xmlns:a16="http://schemas.microsoft.com/office/drawing/2014/main" id="{3939D8D5-762B-DF5A-34F0-EFCCA0391EBA}"/>
              </a:ext>
            </a:extLst>
          </p:cNvPr>
          <p:cNvPicPr>
            <a:picLocks noChangeAspect="1"/>
          </p:cNvPicPr>
          <p:nvPr/>
        </p:nvPicPr>
        <p:blipFill>
          <a:blip r:embed="rId2"/>
          <a:stretch>
            <a:fillRect/>
          </a:stretch>
        </p:blipFill>
        <p:spPr>
          <a:xfrm>
            <a:off x="4286209" y="3715434"/>
            <a:ext cx="4583470" cy="1063516"/>
          </a:xfrm>
          <a:prstGeom prst="rect">
            <a:avLst/>
          </a:prstGeom>
        </p:spPr>
      </p:pic>
      <p:pic>
        <p:nvPicPr>
          <p:cNvPr id="13" name="Picture 12">
            <a:extLst>
              <a:ext uri="{FF2B5EF4-FFF2-40B4-BE49-F238E27FC236}">
                <a16:creationId xmlns:a16="http://schemas.microsoft.com/office/drawing/2014/main" id="{C78762B1-040A-2553-A6DB-B04AE33FB775}"/>
              </a:ext>
            </a:extLst>
          </p:cNvPr>
          <p:cNvPicPr>
            <a:picLocks noChangeAspect="1"/>
          </p:cNvPicPr>
          <p:nvPr/>
        </p:nvPicPr>
        <p:blipFill>
          <a:blip r:embed="rId3"/>
          <a:stretch>
            <a:fillRect/>
          </a:stretch>
        </p:blipFill>
        <p:spPr>
          <a:xfrm>
            <a:off x="218467" y="3676965"/>
            <a:ext cx="3962835" cy="1410658"/>
          </a:xfrm>
          <a:prstGeom prst="rect">
            <a:avLst/>
          </a:prstGeom>
        </p:spPr>
      </p:pic>
      <p:sp>
        <p:nvSpPr>
          <p:cNvPr id="7" name="Badge">
            <a:extLst>
              <a:ext uri="{FF2B5EF4-FFF2-40B4-BE49-F238E27FC236}">
                <a16:creationId xmlns:a16="http://schemas.microsoft.com/office/drawing/2014/main" id="{5A5B2A81-691E-A679-9F5F-969EEF0BD4AC}"/>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EAFA10C9-1E9C-7508-54B4-6106E94654A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4239390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20" name="InputBox"/>
          <p:cNvSpPr/>
          <p:nvPr/>
        </p:nvSpPr>
        <p:spPr>
          <a:xfrm>
            <a:off x="274799" y="1297287"/>
            <a:ext cx="1280160" cy="640080"/>
          </a:xfrm>
          <a:prstGeom prst="rect">
            <a:avLst/>
          </a:prstGeom>
          <a:solidFill>
            <a:srgbClr val="1C3A52"/>
          </a:solidFill>
          <a:ln w="12700">
            <a:solidFill>
              <a:srgbClr val="1C3A52"/>
            </a:solidFill>
          </a:ln>
        </p:spPr>
        <p:txBody>
          <a:bodyPr rtlCol="0" anchor="ctr"/>
          <a:lstStyle/>
          <a:p>
            <a:pPr algn="ctr">
              <a:buNone/>
            </a:pPr>
            <a:r>
              <a:rPr lang="en-US" sz="1000" b="1" dirty="0">
                <a:solidFill>
                  <a:srgbClr val="AACCD8"/>
                </a:solidFill>
                <a:latin typeface="Calibri"/>
              </a:rPr>
              <a:t>Input</a:t>
            </a:r>
          </a:p>
          <a:p>
            <a:pPr algn="ctr">
              <a:buNone/>
            </a:pPr>
            <a:r>
              <a:rPr lang="en-US" sz="1800" b="1" dirty="0">
                <a:solidFill>
                  <a:schemeClr val="accent2">
                    <a:lumMod val="40000"/>
                    <a:lumOff val="60000"/>
                  </a:schemeClr>
                </a:solidFill>
                <a:latin typeface="Calibri"/>
              </a:rPr>
              <a:t>12 288</a:t>
            </a:r>
          </a:p>
          <a:p>
            <a:pPr algn="ctr">
              <a:buNone/>
            </a:pPr>
            <a:r>
              <a:rPr lang="en-US" sz="900" dirty="0">
                <a:solidFill>
                  <a:srgbClr val="AACCD8"/>
                </a:solidFill>
                <a:latin typeface="Calibri"/>
              </a:rPr>
              <a:t>64x64x3 flat</a:t>
            </a:r>
          </a:p>
        </p:txBody>
      </p:sp>
      <p:sp>
        <p:nvSpPr>
          <p:cNvPr id="21" name="Arrow1"/>
          <p:cNvSpPr/>
          <p:nvPr/>
        </p:nvSpPr>
        <p:spPr>
          <a:xfrm>
            <a:off x="1645679" y="1577367"/>
            <a:ext cx="274320" cy="91440"/>
          </a:xfrm>
          <a:prstGeom prst="rightArrow">
            <a:avLst/>
          </a:prstGeom>
          <a:solidFill>
            <a:srgbClr val="00A896"/>
          </a:solidFill>
          <a:ln w="0">
            <a:noFill/>
          </a:ln>
        </p:spPr>
        <p:txBody>
          <a:bodyPr/>
          <a:lstStyle/>
          <a:p>
            <a:endParaRPr lang="en-US"/>
          </a:p>
        </p:txBody>
      </p:sp>
      <p:sp>
        <p:nvSpPr>
          <p:cNvPr id="22" name="H1Box"/>
          <p:cNvSpPr/>
          <p:nvPr/>
        </p:nvSpPr>
        <p:spPr>
          <a:xfrm>
            <a:off x="2012159" y="1260207"/>
            <a:ext cx="1371600" cy="73152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1</a:t>
            </a:r>
          </a:p>
          <a:p>
            <a:pPr algn="ctr">
              <a:buNone/>
            </a:pPr>
            <a:r>
              <a:rPr lang="en-US" sz="1800" b="1" dirty="0">
                <a:solidFill>
                  <a:srgbClr val="FFFFFF"/>
                </a:solidFill>
                <a:latin typeface="Calibri"/>
              </a:rPr>
              <a:t>512</a:t>
            </a:r>
          </a:p>
          <a:p>
            <a:pPr algn="ctr">
              <a:buNone/>
            </a:pPr>
            <a:r>
              <a:rPr lang="en-US" sz="900" dirty="0">
                <a:solidFill>
                  <a:srgbClr val="AACCD8"/>
                </a:solidFill>
                <a:latin typeface="Calibri"/>
              </a:rPr>
              <a:t>BN + ReLU + D(0.3)</a:t>
            </a:r>
          </a:p>
        </p:txBody>
      </p:sp>
      <p:sp>
        <p:nvSpPr>
          <p:cNvPr id="23" name="Arrow2"/>
          <p:cNvSpPr/>
          <p:nvPr/>
        </p:nvSpPr>
        <p:spPr>
          <a:xfrm>
            <a:off x="3474479" y="1577367"/>
            <a:ext cx="274320" cy="91440"/>
          </a:xfrm>
          <a:prstGeom prst="rightArrow">
            <a:avLst/>
          </a:prstGeom>
          <a:solidFill>
            <a:srgbClr val="00A896"/>
          </a:solidFill>
          <a:ln w="0">
            <a:noFill/>
          </a:ln>
        </p:spPr>
        <p:txBody>
          <a:bodyPr/>
          <a:lstStyle/>
          <a:p>
            <a:endParaRPr lang="en-US"/>
          </a:p>
        </p:txBody>
      </p:sp>
      <p:sp>
        <p:nvSpPr>
          <p:cNvPr id="24" name="H2Box"/>
          <p:cNvSpPr/>
          <p:nvPr/>
        </p:nvSpPr>
        <p:spPr>
          <a:xfrm>
            <a:off x="384095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2</a:t>
            </a:r>
          </a:p>
          <a:p>
            <a:pPr algn="ctr">
              <a:buNone/>
            </a:pPr>
            <a:r>
              <a:rPr lang="en-US" sz="1800" b="1" dirty="0">
                <a:solidFill>
                  <a:srgbClr val="FFFFFF"/>
                </a:solidFill>
                <a:latin typeface="Calibri"/>
              </a:rPr>
              <a:t>256</a:t>
            </a:r>
          </a:p>
          <a:p>
            <a:pPr algn="ctr">
              <a:buNone/>
            </a:pPr>
            <a:r>
              <a:rPr lang="en-US" sz="900" dirty="0">
                <a:solidFill>
                  <a:srgbClr val="AACCD8"/>
                </a:solidFill>
                <a:latin typeface="Calibri"/>
              </a:rPr>
              <a:t>BN + ReLU + D(0.3)</a:t>
            </a:r>
          </a:p>
        </p:txBody>
      </p:sp>
      <p:sp>
        <p:nvSpPr>
          <p:cNvPr id="25" name="Arrow3"/>
          <p:cNvSpPr/>
          <p:nvPr/>
        </p:nvSpPr>
        <p:spPr>
          <a:xfrm>
            <a:off x="5303279" y="1577367"/>
            <a:ext cx="274320" cy="91440"/>
          </a:xfrm>
          <a:prstGeom prst="rightArrow">
            <a:avLst/>
          </a:prstGeom>
          <a:solidFill>
            <a:srgbClr val="00A896"/>
          </a:solidFill>
          <a:ln w="0">
            <a:noFill/>
          </a:ln>
        </p:spPr>
        <p:txBody>
          <a:bodyPr/>
          <a:lstStyle/>
          <a:p>
            <a:endParaRPr lang="en-US"/>
          </a:p>
        </p:txBody>
      </p:sp>
      <p:sp>
        <p:nvSpPr>
          <p:cNvPr id="26" name="H3Box"/>
          <p:cNvSpPr/>
          <p:nvPr/>
        </p:nvSpPr>
        <p:spPr>
          <a:xfrm>
            <a:off x="566903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3</a:t>
            </a:r>
          </a:p>
          <a:p>
            <a:pPr algn="ctr">
              <a:buNone/>
            </a:pPr>
            <a:r>
              <a:rPr lang="en-US" sz="1800" b="1" dirty="0">
                <a:solidFill>
                  <a:srgbClr val="FFFFFF"/>
                </a:solidFill>
                <a:latin typeface="Calibri"/>
              </a:rPr>
              <a:t>128</a:t>
            </a:r>
          </a:p>
          <a:p>
            <a:pPr algn="ctr">
              <a:buNone/>
            </a:pPr>
            <a:r>
              <a:rPr lang="en-US" sz="900" dirty="0">
                <a:solidFill>
                  <a:srgbClr val="AACCD8"/>
                </a:solidFill>
                <a:latin typeface="Calibri"/>
              </a:rPr>
              <a:t>BN + ReLU + D(0.3)</a:t>
            </a:r>
          </a:p>
        </p:txBody>
      </p:sp>
      <p:sp>
        <p:nvSpPr>
          <p:cNvPr id="27" name="Arrow4"/>
          <p:cNvSpPr/>
          <p:nvPr/>
        </p:nvSpPr>
        <p:spPr>
          <a:xfrm>
            <a:off x="7131839" y="1577367"/>
            <a:ext cx="274320" cy="91440"/>
          </a:xfrm>
          <a:prstGeom prst="rightArrow">
            <a:avLst/>
          </a:prstGeom>
          <a:solidFill>
            <a:srgbClr val="00A896"/>
          </a:solidFill>
          <a:ln w="0">
            <a:noFill/>
          </a:ln>
        </p:spPr>
        <p:txBody>
          <a:bodyPr/>
          <a:lstStyle/>
          <a:p>
            <a:endParaRPr lang="en-US"/>
          </a:p>
        </p:txBody>
      </p:sp>
      <p:sp>
        <p:nvSpPr>
          <p:cNvPr id="28" name="OutBox"/>
          <p:cNvSpPr/>
          <p:nvPr/>
        </p:nvSpPr>
        <p:spPr>
          <a:xfrm>
            <a:off x="7498079" y="1297287"/>
            <a:ext cx="1279440" cy="640080"/>
          </a:xfrm>
          <a:prstGeom prst="rect">
            <a:avLst/>
          </a:prstGeom>
          <a:solidFill>
            <a:srgbClr val="00A896"/>
          </a:solidFill>
          <a:ln w="12700">
            <a:solidFill>
              <a:srgbClr val="00A896"/>
            </a:solidFill>
          </a:ln>
        </p:spPr>
        <p:txBody>
          <a:bodyPr rtlCol="0" anchor="ctr"/>
          <a:lstStyle/>
          <a:p>
            <a:pPr algn="ctr">
              <a:buNone/>
            </a:pPr>
            <a:r>
              <a:rPr lang="en-US" sz="1000" b="1" dirty="0">
                <a:solidFill>
                  <a:srgbClr val="E8F8F6"/>
                </a:solidFill>
                <a:latin typeface="Calibri"/>
              </a:rPr>
              <a:t>Output</a:t>
            </a:r>
          </a:p>
          <a:p>
            <a:pPr algn="ctr">
              <a:buNone/>
            </a:pPr>
            <a:r>
              <a:rPr lang="en-US" sz="1800" b="1" dirty="0">
                <a:solidFill>
                  <a:srgbClr val="FFFFFF"/>
                </a:solidFill>
                <a:latin typeface="Calibri"/>
              </a:rPr>
              <a:t>9</a:t>
            </a:r>
          </a:p>
          <a:p>
            <a:pPr algn="ctr">
              <a:buNone/>
            </a:pPr>
            <a:r>
              <a:rPr lang="en-US" sz="900" dirty="0">
                <a:solidFill>
                  <a:srgbClr val="E8F8F6"/>
                </a:solidFill>
                <a:latin typeface="Calibri"/>
              </a:rPr>
              <a:t>logits</a:t>
            </a:r>
          </a:p>
        </p:txBody>
      </p:sp>
      <p:sp>
        <p:nvSpPr>
          <p:cNvPr id="40" name="LeftCard"/>
          <p:cNvSpPr/>
          <p:nvPr/>
        </p:nvSpPr>
        <p:spPr>
          <a:xfrm>
            <a:off x="2747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p:cNvSpPr/>
          <p:nvPr/>
        </p:nvSpPr>
        <p:spPr>
          <a:xfrm>
            <a:off x="4576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Funnel Design </a:t>
            </a:r>
          </a:p>
          <a:p>
            <a:pPr marL="228600" indent="-228600">
              <a:buChar char="•"/>
            </a:pPr>
            <a:r>
              <a:rPr lang="en-US" sz="1100" dirty="0">
                <a:solidFill>
                  <a:srgbClr val="1A2B3C"/>
                </a:solidFill>
                <a:latin typeface="Calibri" pitchFamily="34" charset="0"/>
              </a:rPr>
              <a:t>Progressive compression forces generalisation</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pitchFamily="34" charset="0"/>
              </a:rPr>
              <a:t>Narrow (256-128-64-32): too bottlenecked for colour histogram learning</a:t>
            </a:r>
          </a:p>
          <a:p>
            <a:pPr marL="685800" lvl="1" indent="-228600">
              <a:buChar char="•"/>
            </a:pPr>
            <a:r>
              <a:rPr lang="en-US" sz="1100" dirty="0">
                <a:solidFill>
                  <a:srgbClr val="1A2B3C"/>
                </a:solidFill>
                <a:latin typeface="Calibri" pitchFamily="34" charset="0"/>
              </a:rPr>
              <a:t>Wider first layer (1024): more capacity = more memorisation</a:t>
            </a:r>
          </a:p>
          <a:p>
            <a:pPr marL="685800" lvl="1" indent="-228600">
              <a:buChar char="•"/>
            </a:pPr>
            <a:r>
              <a:rPr lang="en-US" sz="1100" dirty="0">
                <a:solidFill>
                  <a:srgbClr val="1A2B3C"/>
                </a:solidFill>
                <a:latin typeface="Calibri" pitchFamily="34" charset="0"/>
              </a:rPr>
              <a:t>4-layer deep: harder to regularise on small data</a:t>
            </a:r>
          </a:p>
          <a:p>
            <a:pPr lvl="1"/>
            <a:endParaRPr lang="en-US" sz="1100" dirty="0">
              <a:solidFill>
                <a:srgbClr val="1A2B3C"/>
              </a:solidFill>
              <a:latin typeface="Calibri" pitchFamily="34" charset="0"/>
            </a:endParaRPr>
          </a:p>
        </p:txBody>
      </p:sp>
      <p:sp>
        <p:nvSpPr>
          <p:cNvPr id="42" name="RightCard"/>
          <p:cNvSpPr/>
          <p:nvPr/>
        </p:nvSpPr>
        <p:spPr>
          <a:xfrm>
            <a:off x="46643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p:cNvSpPr/>
          <p:nvPr/>
        </p:nvSpPr>
        <p:spPr>
          <a:xfrm>
            <a:off x="48472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BatchNorm + ReLU + Output Logits</a:t>
            </a:r>
          </a:p>
          <a:p>
            <a:endParaRPr lang="en-US" sz="1100" b="1" dirty="0">
              <a:solidFill>
                <a:srgbClr val="1A2B3C"/>
              </a:solidFill>
              <a:latin typeface="Calibri" pitchFamily="34" charset="0"/>
            </a:endParaRPr>
          </a:p>
          <a:p>
            <a:pPr marL="228600" indent="-228600">
              <a:buChar char="•"/>
            </a:pPr>
            <a:r>
              <a:rPr lang="en-US" sz="1100" b="1" dirty="0">
                <a:solidFill>
                  <a:srgbClr val="1A2B3C"/>
                </a:solidFill>
                <a:latin typeface="Calibri" pitchFamily="34" charset="0"/>
              </a:rPr>
              <a:t>BatchNorm1d after every Linear</a:t>
            </a:r>
          </a:p>
          <a:p>
            <a:pPr lvl="1"/>
            <a:r>
              <a:rPr lang="en-US" sz="1100" dirty="0" err="1">
                <a:solidFill>
                  <a:srgbClr val="1A2B3C"/>
                </a:solidFill>
                <a:latin typeface="Calibri" pitchFamily="34" charset="0"/>
              </a:rPr>
              <a:t>stabilises</a:t>
            </a:r>
            <a:r>
              <a:rPr lang="en-US" sz="1100" dirty="0">
                <a:solidFill>
                  <a:srgbClr val="1A2B3C"/>
                </a:solidFill>
                <a:latin typeface="Calibri" pitchFamily="34" charset="0"/>
              </a:rPr>
              <a:t> gradients on 12 288-dim flat input</a:t>
            </a: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pitchFamily="34" charset="0"/>
              </a:rPr>
              <a:t>no vanishing gradient for positive activations, simple and efficient</a:t>
            </a:r>
          </a:p>
          <a:p>
            <a:pPr marL="228600" indent="-228600">
              <a:buChar char="•"/>
            </a:pPr>
            <a:r>
              <a:rPr lang="en-US" sz="1100" b="1" dirty="0">
                <a:solidFill>
                  <a:srgbClr val="1A2B3C"/>
                </a:solidFill>
                <a:latin typeface="Calibri" pitchFamily="34" charset="0"/>
              </a:rPr>
              <a:t>Raw logits at output </a:t>
            </a:r>
          </a:p>
          <a:p>
            <a:pPr lvl="1"/>
            <a:r>
              <a:rPr lang="en-US" sz="1100" dirty="0" err="1">
                <a:solidFill>
                  <a:srgbClr val="1A2B3C"/>
                </a:solidFill>
                <a:latin typeface="Calibri" pitchFamily="34" charset="0"/>
              </a:rPr>
              <a:t>CrossEntropyLoss</a:t>
            </a:r>
            <a:r>
              <a:rPr lang="en-US" sz="1100" dirty="0">
                <a:solidFill>
                  <a:srgbClr val="1A2B3C"/>
                </a:solidFill>
                <a:latin typeface="Calibri" pitchFamily="34" charset="0"/>
              </a:rPr>
              <a:t> fuses log_softmax internally (numerically stable)</a:t>
            </a:r>
          </a:p>
          <a:p>
            <a:pPr lvl="1"/>
            <a:r>
              <a:rPr lang="en-US" sz="1100" dirty="0">
                <a:solidFill>
                  <a:srgbClr val="1A2B3C"/>
                </a:solidFill>
                <a:latin typeface="Calibri" pitchFamily="34" charset="0"/>
              </a:rPr>
              <a:t>argmax(logits) == argmax(softmax(logits)) — so no softmax needed at inference</a:t>
            </a:r>
          </a:p>
          <a:p>
            <a:pPr lvl="1"/>
            <a:r>
              <a:rPr lang="en-US" sz="1100" dirty="0">
                <a:solidFill>
                  <a:srgbClr val="1A2B3C"/>
                </a:solidFill>
                <a:latin typeface="Calibri" pitchFamily="34" charset="0"/>
              </a:rPr>
              <a:t>Exception: ensemble averages </a:t>
            </a:r>
            <a:r>
              <a:rPr lang="en-US" sz="1100" dirty="0" err="1">
                <a:solidFill>
                  <a:srgbClr val="1A2B3C"/>
                </a:solidFill>
                <a:latin typeface="Calibri" pitchFamily="34" charset="0"/>
              </a:rPr>
              <a:t>softmax</a:t>
            </a:r>
            <a:r>
              <a:rPr lang="en-US" sz="1100" dirty="0">
                <a:solidFill>
                  <a:srgbClr val="1A2B3C"/>
                </a:solidFill>
                <a:latin typeface="Calibri" pitchFamily="34" charset="0"/>
              </a:rPr>
              <a:t> outputs — raw logit scales differ across models</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sp>
        <p:nvSpPr>
          <p:cNvPr id="8" name="Badge">
            <a:extLst>
              <a:ext uri="{FF2B5EF4-FFF2-40B4-BE49-F238E27FC236}">
                <a16:creationId xmlns:a16="http://schemas.microsoft.com/office/drawing/2014/main" id="{C95928A0-326F-DF7D-1423-B428A0AFF4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0" name="NumCircle">
            <a:extLst>
              <a:ext uri="{FF2B5EF4-FFF2-40B4-BE49-F238E27FC236}">
                <a16:creationId xmlns:a16="http://schemas.microsoft.com/office/drawing/2014/main" id="{FA6BDE23-2C30-81F2-E74D-1AB06CEC699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rtlCol="0" anchor="t"/>
          <a:lstStyle/>
          <a:p>
            <a:pPr>
              <a:buNone/>
            </a:pPr>
            <a:r>
              <a:rPr lang="en-US" sz="1400" b="1" dirty="0">
                <a:solidFill>
                  <a:srgbClr val="028090"/>
                </a:solidFill>
                <a:latin typeface="Trebuchet MS" pitchFamily="34" charset="0"/>
              </a:rPr>
              <a:t>Dropout (0.3)</a:t>
            </a:r>
          </a:p>
          <a:p>
            <a:pPr>
              <a:buNone/>
            </a:pPr>
            <a:r>
              <a:rPr lang="en-US" sz="1100" b="1" dirty="0">
                <a:solidFill>
                  <a:srgbClr val="1C3A52"/>
                </a:solidFill>
                <a:latin typeface="Calibri" pitchFamily="34" charset="0"/>
              </a:rPr>
              <a:t>Applied after every hidden layer</a:t>
            </a:r>
          </a:p>
          <a:p>
            <a:pPr marL="228600" indent="-228600">
              <a:buChar char="•"/>
            </a:pPr>
            <a:r>
              <a:rPr lang="en-US" sz="1100" dirty="0">
                <a:solidFill>
                  <a:srgbClr val="1A2B3C"/>
                </a:solidFill>
                <a:latin typeface="Calibri" pitchFamily="34" charset="0"/>
              </a:rPr>
              <a:t>Randomly zeroes 30% of neurons each forward pass</a:t>
            </a:r>
          </a:p>
          <a:p>
            <a:pPr marL="228600" indent="-228600">
              <a:buChar char="•"/>
            </a:pPr>
            <a:r>
              <a:rPr lang="en-US" sz="1100" dirty="0">
                <a:solidFill>
                  <a:srgbClr val="1A2B3C"/>
                </a:solidFill>
                <a:latin typeface="Calibri" pitchFamily="34" charset="0"/>
              </a:rPr>
              <a:t>Prevents co-adaptation, forces redundant representations</a:t>
            </a:r>
          </a:p>
          <a:p>
            <a:pPr>
              <a:buNone/>
            </a:pPr>
            <a:r>
              <a:rPr lang="en-US" sz="1100" b="1" dirty="0">
                <a:solidFill>
                  <a:srgbClr val="1C3A52"/>
                </a:solidFill>
                <a:latin typeface="Calibri" pitchFamily="34" charset="0"/>
              </a:rPr>
              <a:t>Why 0.3? — Search result:</a:t>
            </a:r>
          </a:p>
          <a:p>
            <a:pPr marL="228600" indent="-228600">
              <a:buChar char="•"/>
            </a:pPr>
            <a:r>
              <a:rPr lang="en-US" sz="1100" dirty="0">
                <a:solidFill>
                  <a:srgbClr val="1A2B3C"/>
                </a:solidFill>
                <a:latin typeface="Calibri" pitchFamily="34" charset="0"/>
              </a:rPr>
              <a:t>Drop 0.4 (model B) = 0.222 — too aggressive</a:t>
            </a:r>
          </a:p>
          <a:p>
            <a:pPr marL="228600" indent="-228600">
              <a:buChar char="•"/>
            </a:pPr>
            <a:r>
              <a:rPr lang="en-US" sz="1100" dirty="0">
                <a:solidFill>
                  <a:srgbClr val="1A2B3C"/>
                </a:solidFill>
                <a:latin typeface="Calibri" pitchFamily="34" charset="0"/>
              </a:rPr>
              <a:t>Drop 0.2 (model J) = 0.236 — close but weaker</a:t>
            </a:r>
          </a:p>
          <a:p>
            <a:pPr marL="228600" indent="-228600">
              <a:buChar char="•"/>
            </a:pPr>
            <a:r>
              <a:rPr lang="en-US" sz="1100" dirty="0">
                <a:solidFill>
                  <a:srgbClr val="1A2B3C"/>
                </a:solidFill>
                <a:latin typeface="Calibri" pitchFamily="34" charset="0"/>
              </a:rPr>
              <a:t>Drop 0.15 (model P) = 0.217 — too light</a:t>
            </a:r>
          </a:p>
          <a:p>
            <a:pPr marL="228600" indent="-228600">
              <a:buChar char="•"/>
            </a:pPr>
            <a:r>
              <a:rPr lang="en-US" sz="1100" b="1" dirty="0">
                <a:solidFill>
                  <a:srgbClr val="00A896"/>
                </a:solidFill>
                <a:latin typeface="Calibri" pitchFamily="34" charset="0"/>
              </a:rPr>
              <a:t>Drop 0.3 = 0.240 — sweet spot confirmed</a:t>
            </a: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rtlCol="0" anchor="t"/>
          <a:lstStyle/>
          <a:p>
            <a:pPr>
              <a:buNone/>
            </a:pPr>
            <a:r>
              <a:rPr lang="en-US" sz="1400" b="1" dirty="0">
                <a:solidFill>
                  <a:srgbClr val="00A896"/>
                </a:solidFill>
                <a:latin typeface="Trebuchet MS" pitchFamily="34" charset="0"/>
              </a:rPr>
              <a:t>Label Smoothing (0.15)</a:t>
            </a:r>
          </a:p>
          <a:p>
            <a:pPr>
              <a:buNone/>
            </a:pPr>
            <a:r>
              <a:rPr lang="en-US" sz="1100" b="1" dirty="0">
                <a:solidFill>
                  <a:srgbClr val="1C3A52"/>
                </a:solidFill>
                <a:latin typeface="Calibri" pitchFamily="34" charset="0"/>
              </a:rPr>
              <a:t>Most impactful single change</a:t>
            </a: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dirty="0">
                <a:solidFill>
                  <a:srgbClr val="1C3A52"/>
                </a:solidFill>
                <a:latin typeface="Calibri" pitchFamily="34" charset="0"/>
              </a:rPr>
              <a:t>Evidence:</a:t>
            </a:r>
          </a:p>
          <a:p>
            <a:pPr marL="228600" indent="-228600">
              <a:buChar char="•"/>
            </a:pPr>
            <a:r>
              <a:rPr lang="en-US" sz="1100" dirty="0">
                <a:solidFill>
                  <a:srgbClr val="1A2B3C"/>
                </a:solidFill>
                <a:latin typeface="Calibri" pitchFamily="34" charset="0"/>
              </a:rPr>
              <a:t>All 6 top-tier solos (F1 &gt; 0.235) use LS &gt;= 0.1</a:t>
            </a:r>
          </a:p>
          <a:p>
            <a:pPr marL="228600" indent="-228600">
              <a:buChar char="•"/>
            </a:pPr>
            <a:r>
              <a:rPr lang="en-US" sz="1100" dirty="0">
                <a:solidFill>
                  <a:srgbClr val="1A2B3C"/>
                </a:solidFill>
                <a:latin typeface="Calibri" pitchFamily="34" charset="0"/>
              </a:rPr>
              <a:t>LS=0.15 (R) = 0.2396 vs LS=0.10 (C) = 0.2395 — tiny but consistent</a:t>
            </a:r>
          </a:p>
          <a:p>
            <a:pPr marL="228600" indent="-228600">
              <a:buChar char="•"/>
            </a:pPr>
            <a:r>
              <a:rPr lang="en-US" sz="1100" b="1" dirty="0">
                <a:solidFill>
                  <a:srgbClr val="00A896"/>
                </a:solidFill>
                <a:latin typeface="Calibri" pitchFamily="34" charset="0"/>
              </a:rPr>
              <a:t>+0.017-0.019 F1 vs baselines with no LS</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rtlCol="0" anchor="t"/>
          <a:lstStyle/>
          <a:p>
            <a:pPr>
              <a:buNone/>
            </a:pPr>
            <a:r>
              <a:rPr lang="en-US" sz="1400" b="1" dirty="0">
                <a:solidFill>
                  <a:srgbClr val="1C3A52"/>
                </a:solidFill>
                <a:latin typeface="Trebuchet MS" pitchFamily="34" charset="0"/>
              </a:rPr>
              <a:t>Imbalance Handling</a:t>
            </a:r>
          </a:p>
          <a:p>
            <a:pPr>
              <a:buNone/>
            </a:pPr>
            <a:r>
              <a:rPr lang="en-US" sz="1100" b="1" dirty="0">
                <a:solidFill>
                  <a:srgbClr val="1C3A52"/>
                </a:solidFill>
                <a:latin typeface="Calibri" pitchFamily="34" charset="0"/>
              </a:rPr>
              <a:t>Weighted CrossEntropyLoss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pPr>
              <a:buNone/>
            </a:pPr>
            <a:r>
              <a:rPr lang="en-US" sz="1100" b="1" dirty="0">
                <a:solidFill>
                  <a:srgbClr val="1C3A52"/>
                </a:solidFill>
                <a:latin typeface="Calibri" pitchFamily="34" charset="0"/>
              </a:rPr>
              <a:t>WeightedRandomSampler (tested separately)</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pPr>
              <a:buNone/>
            </a:pPr>
            <a:r>
              <a:rPr lang="en-US" sz="1100" b="1" dirty="0">
                <a:solidFill>
                  <a:srgbClr val="C0392B"/>
                </a:solidFill>
                <a:latin typeface="Calibri" pitchFamily="34" charset="0"/>
              </a:rPr>
              <a:t>Pitfall: CW + Sampler together</a:t>
            </a:r>
          </a:p>
          <a:p>
            <a:pPr marL="228600" indent="-228600">
              <a:buChar char="•"/>
            </a:pPr>
            <a:r>
              <a:rPr lang="en-US" sz="1100" dirty="0">
                <a:solidFill>
                  <a:srgbClr val="1A2B3C"/>
                </a:solidFill>
                <a:latin typeface="Calibri" pitchFamily="34" charset="0"/>
              </a:rPr>
              <a:t>Model O (double-compensating) = F1 0.192 — over-correcting imbalance hurts</a:t>
            </a:r>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8" name="Badge">
            <a:extLst>
              <a:ext uri="{FF2B5EF4-FFF2-40B4-BE49-F238E27FC236}">
                <a16:creationId xmlns:a16="http://schemas.microsoft.com/office/drawing/2014/main" id="{D06DF965-1775-427C-29A9-1D68602C43E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3" name="NumCircle">
            <a:extLst>
              <a:ext uri="{FF2B5EF4-FFF2-40B4-BE49-F238E27FC236}">
                <a16:creationId xmlns:a16="http://schemas.microsoft.com/office/drawing/2014/main" id="{2A58F658-5D1D-696C-65F4-5A6BA3A796E4}"/>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rtlCol="0" anchor="t"/>
          <a:lstStyle/>
          <a:p>
            <a:pPr>
              <a:buNone/>
            </a:pPr>
            <a:r>
              <a:rPr lang="en-US" sz="1400" b="1" dirty="0">
                <a:solidFill>
                  <a:srgbClr val="028090"/>
                </a:solidFill>
                <a:latin typeface="Trebuchet MS" pitchFamily="34" charset="0"/>
              </a:rPr>
              <a:t>Optimiser + Scheduler</a:t>
            </a:r>
          </a:p>
          <a:p>
            <a:pPr marL="228600" indent="-228600">
              <a:buChar char="•"/>
            </a:pPr>
            <a:r>
              <a:rPr lang="en-US" sz="1200" b="1" dirty="0">
                <a:solidFill>
                  <a:srgbClr val="1C3A52"/>
                </a:solidFill>
                <a:latin typeface="Calibri" pitchFamily="34" charset="0"/>
              </a:rPr>
              <a:t>Adam lr=1e-3 </a:t>
            </a:r>
            <a:r>
              <a:rPr lang="en-US" sz="1200" dirty="0">
                <a:solidFill>
                  <a:srgbClr val="1A2B3C"/>
                </a:solidFill>
                <a:latin typeface="Calibri" pitchFamily="34" charset="0"/>
              </a:rPr>
              <a:t>— robust adaptive LR, standard for MLPs (Kingma &amp; Ba, 2015)</a:t>
            </a:r>
          </a:p>
          <a:p>
            <a:pPr marL="228600" indent="-228600">
              <a:buChar char="•"/>
            </a:pPr>
            <a:r>
              <a:rPr lang="en-US" sz="1200" b="1" dirty="0">
                <a:solidFill>
                  <a:srgbClr val="1C3A52"/>
                </a:solidFill>
                <a:latin typeface="Calibri" pitchFamily="34" charset="0"/>
              </a:rPr>
              <a:t>StepLR(step=5, gamma=0.5) </a:t>
            </a:r>
            <a:r>
              <a:rPr lang="en-US" sz="1200" dirty="0">
                <a:solidFill>
                  <a:srgbClr val="1A2B3C"/>
                </a:solidFill>
                <a:latin typeface="Calibri" pitchFamily="34" charset="0"/>
              </a:rPr>
              <a:t>— halves LR every 5 epochs; CosineAnnealingLR also tested but no improvement (N=0.225)</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9" name="Badge">
            <a:extLst>
              <a:ext uri="{FF2B5EF4-FFF2-40B4-BE49-F238E27FC236}">
                <a16:creationId xmlns:a16="http://schemas.microsoft.com/office/drawing/2014/main" id="{59B33DDC-370B-CCFB-B224-AD5043795C8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5" name="NumCircle">
            <a:extLst>
              <a:ext uri="{FF2B5EF4-FFF2-40B4-BE49-F238E27FC236}">
                <a16:creationId xmlns:a16="http://schemas.microsoft.com/office/drawing/2014/main" id="{BD5D33FC-FABD-FED6-F415-D1C5B4575DFA}"/>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models we tried to combine them to see if we got better results by using some better characteristic of some model to compensate for worse performance in other model. </a:t>
            </a:r>
          </a:p>
          <a:p>
            <a:pPr>
              <a:buNone/>
            </a:pPr>
            <a:r>
              <a:rPr lang="en-US" sz="1200" dirty="0">
                <a:solidFill>
                  <a:schemeClr val="bg1"/>
                </a:solidFill>
                <a:latin typeface="Calibri" pitchFamily="34" charset="0"/>
              </a:rPr>
              <a:t>» To help analyze possible good combinations we draw a heat map so we can  see the results of each model for each class. </a:t>
            </a:r>
          </a:p>
        </p:txBody>
      </p:sp>
      <p:grpSp>
        <p:nvGrpSpPr>
          <p:cNvPr id="14" name="Group 13">
            <a:extLst>
              <a:ext uri="{FF2B5EF4-FFF2-40B4-BE49-F238E27FC236}">
                <a16:creationId xmlns:a16="http://schemas.microsoft.com/office/drawing/2014/main" id="{A1FA2E3B-4D55-BF1E-8734-63932BA7467A}"/>
              </a:ext>
            </a:extLst>
          </p:cNvPr>
          <p:cNvGrpSpPr/>
          <p:nvPr/>
        </p:nvGrpSpPr>
        <p:grpSpPr>
          <a:xfrm>
            <a:off x="-64008" y="1656778"/>
            <a:ext cx="6549292" cy="3240421"/>
            <a:chOff x="0" y="1580400"/>
            <a:chExt cx="7237378" cy="3580868"/>
          </a:xfrm>
        </p:grpSpPr>
        <p:pic>
          <p:nvPicPr>
            <p:cNvPr id="7" name="Picture 6">
              <a:extLst>
                <a:ext uri="{FF2B5EF4-FFF2-40B4-BE49-F238E27FC236}">
                  <a16:creationId xmlns:a16="http://schemas.microsoft.com/office/drawing/2014/main" id="{95F15C9D-4CD5-3B44-6ACC-8974EF41C8A2}"/>
                </a:ext>
              </a:extLst>
            </p:cNvPr>
            <p:cNvPicPr>
              <a:picLocks noChangeAspect="1"/>
            </p:cNvPicPr>
            <p:nvPr/>
          </p:nvPicPr>
          <p:blipFill>
            <a:blip r:embed="rId2"/>
            <a:srcRect l="9540" b="61978"/>
            <a:stretch>
              <a:fillRect/>
            </a:stretch>
          </p:blipFill>
          <p:spPr>
            <a:xfrm>
              <a:off x="235776" y="1580400"/>
              <a:ext cx="7001602" cy="3558847"/>
            </a:xfrm>
            <a:prstGeom prst="rect">
              <a:avLst/>
            </a:prstGeom>
          </p:spPr>
        </p:pic>
        <p:sp>
          <p:nvSpPr>
            <p:cNvPr id="12" name="Rectangle 11">
              <a:extLst>
                <a:ext uri="{FF2B5EF4-FFF2-40B4-BE49-F238E27FC236}">
                  <a16:creationId xmlns:a16="http://schemas.microsoft.com/office/drawing/2014/main" id="{00DAC33D-3163-C1D8-3C9C-09345D442B34}"/>
                </a:ext>
              </a:extLst>
            </p:cNvPr>
            <p:cNvSpPr/>
            <p:nvPr/>
          </p:nvSpPr>
          <p:spPr>
            <a:xfrm>
              <a:off x="0" y="4474723"/>
              <a:ext cx="7237378" cy="668777"/>
            </a:xfrm>
            <a:prstGeom prst="rect">
              <a:avLst/>
            </a:prstGeom>
            <a:gradFill flip="none" rotWithShape="1">
              <a:gsLst>
                <a:gs pos="0">
                  <a:schemeClr val="bg1">
                    <a:alpha val="0"/>
                  </a:schemeClr>
                </a:gs>
                <a:gs pos="56000">
                  <a:schemeClr val="bg1">
                    <a:alpha val="94000"/>
                  </a:schemeClr>
                </a:gs>
                <a:gs pos="100000">
                  <a:schemeClr val="lt1">
                    <a:shade val="100000"/>
                    <a:satMod val="115000"/>
                  </a:schemeClr>
                </a:gs>
              </a:gsLst>
              <a:lin ang="5400000" scaled="1"/>
              <a:tileRect/>
            </a:gra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pt-PT"/>
            </a:p>
          </p:txBody>
        </p:sp>
        <p:sp>
          <p:nvSpPr>
            <p:cNvPr id="8" name="TextBox 7">
              <a:extLst>
                <a:ext uri="{FF2B5EF4-FFF2-40B4-BE49-F238E27FC236}">
                  <a16:creationId xmlns:a16="http://schemas.microsoft.com/office/drawing/2014/main" id="{56C30EFE-9F1F-2C44-00D6-C80BA31F0E5D}"/>
                </a:ext>
              </a:extLst>
            </p:cNvPr>
            <p:cNvSpPr txBox="1"/>
            <p:nvPr/>
          </p:nvSpPr>
          <p:spPr>
            <a:xfrm>
              <a:off x="1270777" y="4871322"/>
              <a:ext cx="4964708" cy="289946"/>
            </a:xfrm>
            <a:prstGeom prst="rect">
              <a:avLst/>
            </a:prstGeom>
            <a:noFill/>
          </p:spPr>
          <p:txBody>
            <a:bodyPr wrap="square">
              <a:spAutoFit/>
            </a:bodyPr>
            <a:lstStyle/>
            <a:p>
              <a:pPr>
                <a:lnSpc>
                  <a:spcPts val="1425"/>
                </a:lnSpc>
              </a:pP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  </a:t>
              </a:r>
              <a:r>
                <a:rPr lang="pt-PT" sz="1100" b="1" dirty="0" err="1">
                  <a:solidFill>
                    <a:sysClr val="windowText" lastClr="000000"/>
                  </a:solidFill>
                  <a:latin typeface="Consolas" panose="020B0609020204030204" pitchFamily="49" charset="0"/>
                </a:rPr>
                <a:t>avg</a:t>
              </a:r>
              <a:endParaRPr lang="pt-PT" sz="1100" b="1" dirty="0">
                <a:solidFill>
                  <a:sysClr val="windowText" lastClr="000000"/>
                </a:solidFill>
                <a:effectLst/>
                <a:latin typeface="Consolas" panose="020B0609020204030204" pitchFamily="49" charset="0"/>
              </a:endParaRPr>
            </a:p>
          </p:txBody>
        </p:sp>
      </p:grpSp>
      <p:sp>
        <p:nvSpPr>
          <p:cNvPr id="15" name="Shape 5">
            <a:extLst>
              <a:ext uri="{FF2B5EF4-FFF2-40B4-BE49-F238E27FC236}">
                <a16:creationId xmlns:a16="http://schemas.microsoft.com/office/drawing/2014/main" id="{D51A13EB-D56E-43FD-5C19-116163EF8193}"/>
              </a:ext>
            </a:extLst>
          </p:cNvPr>
          <p:cNvSpPr/>
          <p:nvPr/>
        </p:nvSpPr>
        <p:spPr>
          <a:xfrm>
            <a:off x="6557498" y="1717559"/>
            <a:ext cx="2296942" cy="1005543"/>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CD316DB7-5963-8D65-757D-F2AEEA0AE4E3}"/>
              </a:ext>
            </a:extLst>
          </p:cNvPr>
          <p:cNvSpPr/>
          <p:nvPr/>
        </p:nvSpPr>
        <p:spPr>
          <a:xfrm>
            <a:off x="6694657" y="1754136"/>
            <a:ext cx="2221523" cy="457200"/>
          </a:xfrm>
          <a:prstGeom prst="rect">
            <a:avLst/>
          </a:prstGeom>
          <a:noFill/>
          <a:ln/>
        </p:spPr>
        <p:txBody>
          <a:bodyPr wrap="square" lIns="0" tIns="0" rIns="0" bIns="0" rtlCol="0" anchor="ctr"/>
          <a:lstStyle/>
          <a:p>
            <a:pPr marL="0" indent="0">
              <a:buNone/>
            </a:pPr>
            <a:r>
              <a:rPr lang="en-US" sz="2000" b="1" dirty="0">
                <a:solidFill>
                  <a:srgbClr val="E97C35"/>
                </a:solidFill>
                <a:latin typeface="Trebuchet MS" pitchFamily="34" charset="0"/>
                <a:ea typeface="Trebuchet MS" pitchFamily="34" charset="-122"/>
                <a:cs typeface="Trebuchet MS" pitchFamily="34" charset="-120"/>
              </a:rPr>
              <a:t>Ensemble &gt; Solo</a:t>
            </a:r>
            <a:endParaRPr lang="en-US" sz="2000" dirty="0"/>
          </a:p>
        </p:txBody>
      </p:sp>
      <p:sp>
        <p:nvSpPr>
          <p:cNvPr id="18" name="Text 8">
            <a:extLst>
              <a:ext uri="{FF2B5EF4-FFF2-40B4-BE49-F238E27FC236}">
                <a16:creationId xmlns:a16="http://schemas.microsoft.com/office/drawing/2014/main" id="{5F933E2D-A508-CDF2-D627-41385D1FF461}"/>
              </a:ext>
            </a:extLst>
          </p:cNvPr>
          <p:cNvSpPr/>
          <p:nvPr/>
        </p:nvSpPr>
        <p:spPr>
          <a:xfrm>
            <a:off x="6694658" y="2229624"/>
            <a:ext cx="2159782"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As we could confirm some ensembles allowed us to achieve better performance than solo models</a:t>
            </a:r>
            <a:endParaRPr lang="en-US" sz="1100" dirty="0"/>
          </a:p>
        </p:txBody>
      </p:sp>
      <p:pic>
        <p:nvPicPr>
          <p:cNvPr id="22" name="Picture 21">
            <a:extLst>
              <a:ext uri="{FF2B5EF4-FFF2-40B4-BE49-F238E27FC236}">
                <a16:creationId xmlns:a16="http://schemas.microsoft.com/office/drawing/2014/main" id="{E35450A7-A6BC-02ED-01D9-126858FADB8E}"/>
              </a:ext>
            </a:extLst>
          </p:cNvPr>
          <p:cNvPicPr>
            <a:picLocks noChangeAspect="1"/>
          </p:cNvPicPr>
          <p:nvPr/>
        </p:nvPicPr>
        <p:blipFill>
          <a:blip r:embed="rId3"/>
          <a:stretch>
            <a:fillRect/>
          </a:stretch>
        </p:blipFill>
        <p:spPr>
          <a:xfrm>
            <a:off x="6632917" y="2786616"/>
            <a:ext cx="2221523" cy="2154204"/>
          </a:xfrm>
          <a:prstGeom prst="rect">
            <a:avLst/>
          </a:prstGeom>
          <a:effectLst>
            <a:outerShdw blurRad="50800" dist="38100" dir="5400000" algn="t" rotWithShape="0">
              <a:prstClr val="black">
                <a:alpha val="40000"/>
              </a:prstClr>
            </a:outerShdw>
          </a:effectLst>
        </p:spPr>
      </p:pic>
      <p:sp>
        <p:nvSpPr>
          <p:cNvPr id="16" name="Shape 6">
            <a:extLst>
              <a:ext uri="{FF2B5EF4-FFF2-40B4-BE49-F238E27FC236}">
                <a16:creationId xmlns:a16="http://schemas.microsoft.com/office/drawing/2014/main" id="{BD1B1707-4C81-7C17-0B63-7827F2B1DF31}"/>
              </a:ext>
            </a:extLst>
          </p:cNvPr>
          <p:cNvSpPr/>
          <p:nvPr/>
        </p:nvSpPr>
        <p:spPr>
          <a:xfrm>
            <a:off x="6557497" y="1717559"/>
            <a:ext cx="75419" cy="3220493"/>
          </a:xfrm>
          <a:prstGeom prst="rect">
            <a:avLst/>
          </a:prstGeom>
          <a:solidFill>
            <a:srgbClr val="E97C35"/>
          </a:solidFill>
          <a:ln w="12700">
            <a:solidFill>
              <a:srgbClr val="E97C35"/>
            </a:solidFill>
            <a:prstDash val="solid"/>
          </a:ln>
        </p:spPr>
        <p:txBody>
          <a:bodyPr/>
          <a:lstStyle/>
          <a:p>
            <a:endParaRPr lang="pt-PT"/>
          </a:p>
        </p:txBody>
      </p:sp>
      <p:sp>
        <p:nvSpPr>
          <p:cNvPr id="9" name="Badge">
            <a:extLst>
              <a:ext uri="{FF2B5EF4-FFF2-40B4-BE49-F238E27FC236}">
                <a16:creationId xmlns:a16="http://schemas.microsoft.com/office/drawing/2014/main" id="{D27BAA50-3721-B136-154F-384533ABA0B9}"/>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9" name="NumCircle">
            <a:extLst>
              <a:ext uri="{FF2B5EF4-FFF2-40B4-BE49-F238E27FC236}">
                <a16:creationId xmlns:a16="http://schemas.microsoft.com/office/drawing/2014/main" id="{94AEA59D-634C-B234-84B8-D8CA82E2926B}"/>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19150754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rtlCol="0" anchor="t"/>
          <a:lstStyle/>
          <a:p>
            <a:pPr>
              <a:buNone/>
            </a:pPr>
            <a:r>
              <a:rPr lang="en-US" sz="1400" b="1" dirty="0">
                <a:solidFill>
                  <a:srgbClr val="00A896"/>
                </a:solidFill>
                <a:latin typeface="Trebuchet MS" pitchFamily="34" charset="0"/>
              </a:rPr>
              <a:t>What Worked</a:t>
            </a:r>
          </a:p>
          <a:p>
            <a:pPr marL="228600" indent="-228600">
              <a:buChar char="✓"/>
            </a:pPr>
            <a:r>
              <a:rPr lang="en-US" sz="1100" b="1" dirty="0">
                <a:solidFill>
                  <a:srgbClr val="028090"/>
                </a:solidFill>
                <a:latin typeface="Calibri" pitchFamily="34" charset="0"/>
              </a:rPr>
              <a:t>Label smoothing (0.10-0.15)</a:t>
            </a:r>
          </a:p>
          <a:p>
            <a:pPr lvl="1"/>
            <a:r>
              <a:rPr lang="en-US" sz="1000" dirty="0">
                <a:solidFill>
                  <a:srgbClr val="1A2B3C"/>
                </a:solidFill>
                <a:latin typeface="Calibri" pitchFamily="34" charset="0"/>
              </a:rPr>
              <a:t>- all top-6 solos use it; </a:t>
            </a:r>
          </a:p>
          <a:p>
            <a:pPr lvl="1"/>
            <a:r>
              <a:rPr lang="en-US" sz="1000" dirty="0">
                <a:solidFill>
                  <a:srgbClr val="1A2B3C"/>
                </a:solidFill>
                <a:latin typeface="Calibri" pitchFamily="34" charset="0"/>
              </a:rPr>
              <a:t>- +0.017-0.019 vs no-LS baselines</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creates diversity for ensembles</a:t>
            </a:r>
          </a:p>
          <a:p>
            <a:pPr marL="228600" indent="-228600">
              <a:buChar char="✓"/>
            </a:pPr>
            <a:r>
              <a:rPr lang="en-US" sz="1100" b="1" dirty="0">
                <a:solidFill>
                  <a:srgbClr val="028090"/>
                </a:solidFill>
                <a:latin typeface="Calibri" pitchFamily="34" charset="0"/>
              </a:rPr>
              <a:t>BatchNorm1d</a:t>
            </a:r>
          </a:p>
          <a:p>
            <a:pPr lvl="1"/>
            <a:r>
              <a:rPr lang="en-US" sz="1000" dirty="0">
                <a:solidFill>
                  <a:srgbClr val="1A2B3C"/>
                </a:solidFill>
                <a:latin typeface="Calibri" pitchFamily="34" charset="0"/>
              </a:rPr>
              <a:t>- stabilizes gradients on 12 288-dim flat input </a:t>
            </a:r>
          </a:p>
          <a:p>
            <a:pPr lvl="1"/>
            <a:r>
              <a:rPr lang="en-US" sz="1000" dirty="0">
                <a:solidFill>
                  <a:srgbClr val="1A2B3C"/>
                </a:solidFill>
                <a:latin typeface="Calibri" pitchFamily="34" charset="0"/>
              </a:rPr>
              <a:t>- (model B &gt; A by +0.002)</a:t>
            </a:r>
          </a:p>
          <a:p>
            <a:pPr marL="228600" indent="-228600">
              <a:buChar char="✓"/>
            </a:pPr>
            <a:r>
              <a:rPr lang="en-US" sz="1100" b="1" dirty="0">
                <a:solidFill>
                  <a:srgbClr val="028090"/>
                </a:solidFill>
                <a:latin typeface="Calibri" pitchFamily="34" charset="0"/>
              </a:rPr>
              <a:t>Soft ensemble C+E</a:t>
            </a:r>
          </a:p>
          <a:p>
            <a:pPr lvl="1"/>
            <a:r>
              <a:rPr lang="en-US" sz="1000" dirty="0">
                <a:solidFill>
                  <a:srgbClr val="1A2B3C"/>
                </a:solidFill>
                <a:latin typeface="Calibri" pitchFamily="34" charset="0"/>
              </a:rPr>
              <a:t>- +0.003 over best solo; </a:t>
            </a:r>
          </a:p>
          <a:p>
            <a:pPr lvl="1"/>
            <a:r>
              <a:rPr lang="en-US" sz="1000" dirty="0">
                <a:solidFill>
                  <a:srgbClr val="1A2B3C"/>
                </a:solidFill>
                <a:latin typeface="Calibri" pitchFamily="34" charset="0"/>
              </a:rPr>
              <a:t>- diversity of error correction wins over strength</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rtlCol="0" anchor="t"/>
          <a:lstStyle/>
          <a:p>
            <a:pPr>
              <a:buNone/>
            </a:pPr>
            <a:r>
              <a:rPr lang="en-US" sz="1400" b="1" dirty="0">
                <a:solidFill>
                  <a:srgbClr val="C0392B"/>
                </a:solidFill>
                <a:latin typeface="Trebuchet MS" pitchFamily="34" charset="0"/>
              </a:rPr>
              <a:t>What Did Not Work</a:t>
            </a:r>
          </a:p>
          <a:p>
            <a:pPr marL="228600" indent="-228600">
              <a:buChar char="✗"/>
            </a:pPr>
            <a:r>
              <a:rPr lang="en-US" sz="1100" b="1" dirty="0">
                <a:solidFill>
                  <a:srgbClr val="C0392B"/>
                </a:solidFill>
                <a:latin typeface="Calibri" pitchFamily="34" charset="0"/>
              </a:rPr>
              <a:t>Augmentation (flip/jitter/rotate)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0.047 F1; MLP has no spatial invariance, flipped images = different vectors</a:t>
            </a:r>
          </a:p>
          <a:p>
            <a:pPr marL="228600" indent="-228600">
              <a:buChar char="✗"/>
            </a:pPr>
            <a:r>
              <a:rPr lang="en-US" sz="1100" b="1" dirty="0">
                <a:solidFill>
                  <a:srgbClr val="C0392B"/>
                </a:solidFill>
                <a:latin typeface="Calibri" pitchFamily="34" charset="0"/>
              </a:rPr>
              <a:t>Wider first layer (1024)</a:t>
            </a:r>
          </a:p>
          <a:p>
            <a:pPr lvl="1"/>
            <a:r>
              <a:rPr lang="en-US" sz="1000" dirty="0">
                <a:solidFill>
                  <a:srgbClr val="1A2B3C"/>
                </a:solidFill>
                <a:latin typeface="Calibri" pitchFamily="34" charset="0"/>
              </a:rPr>
              <a:t>- L=0.220;  more capacity = more memorisation on 2 880 samples (doesn’t generalize well)</a:t>
            </a:r>
          </a:p>
          <a:p>
            <a:pPr marL="228600" indent="-228600">
              <a:buChar char="✗"/>
            </a:pPr>
            <a:r>
              <a:rPr lang="en-US" sz="1100" b="1" dirty="0">
                <a:solidFill>
                  <a:srgbClr val="C0392B"/>
                </a:solidFill>
                <a:latin typeface="Calibri" pitchFamily="34" charset="0"/>
              </a:rPr>
              <a:t>Deeper net (4 layers) </a:t>
            </a:r>
          </a:p>
          <a:p>
            <a:pPr lvl="1"/>
            <a:r>
              <a:rPr lang="en-US" sz="1000" dirty="0">
                <a:solidFill>
                  <a:srgbClr val="1A2B3C"/>
                </a:solidFill>
                <a:latin typeface="Calibri" pitchFamily="34" charset="0"/>
              </a:rPr>
              <a:t>- S=0.191; extra depth can not be regularised effectively on small data</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0.136; colour is the primary discriminative signal, removing it destroys performance</a:t>
            </a:r>
          </a:p>
          <a:p>
            <a:pPr marL="228600" indent="-228600">
              <a:buChar char="✗"/>
            </a:pPr>
            <a:r>
              <a:rPr lang="en-US" sz="1100" b="1" dirty="0">
                <a:solidFill>
                  <a:srgbClr val="C0392B"/>
                </a:solidFill>
                <a:latin typeface="Calibri" pitchFamily="34" charset="0"/>
              </a:rPr>
              <a:t>Sampler + CW together (model O)</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0.192; double-compensating imbalance over-corrects</a:t>
            </a:r>
          </a:p>
          <a:p>
            <a:pPr marL="228600" indent="-228600">
              <a:buChar char="✗"/>
            </a:pPr>
            <a:r>
              <a:rPr lang="en-US" sz="1100" b="1" dirty="0">
                <a:solidFill>
                  <a:srgbClr val="C0392B"/>
                </a:solidFill>
                <a:latin typeface="Calibri" pitchFamily="34" charset="0"/>
              </a:rPr>
              <a:t>Strong weight decay (1e-4)</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D=0.186; combined with LS + dropout = too many simultaneous constraints</a:t>
            </a:r>
          </a:p>
        </p:txBody>
      </p:sp>
      <p:sp>
        <p:nvSpPr>
          <p:cNvPr id="7" name="Badge">
            <a:extLst>
              <a:ext uri="{FF2B5EF4-FFF2-40B4-BE49-F238E27FC236}">
                <a16:creationId xmlns:a16="http://schemas.microsoft.com/office/drawing/2014/main" id="{752BFE2C-D8F5-E274-6157-BBD3C79E1135}"/>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9" name="NumCircle">
            <a:extLst>
              <a:ext uri="{FF2B5EF4-FFF2-40B4-BE49-F238E27FC236}">
                <a16:creationId xmlns:a16="http://schemas.microsoft.com/office/drawing/2014/main" id="{BFA36BE3-31DC-A21B-B5EC-94DE09B320B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Ceiling ~0.24</a:t>
            </a:r>
          </a:p>
        </p:txBody>
      </p:sp>
      <p:pic>
        <p:nvPicPr>
          <p:cNvPr id="7" name="Picture 6">
            <a:extLst>
              <a:ext uri="{FF2B5EF4-FFF2-40B4-BE49-F238E27FC236}">
                <a16:creationId xmlns:a16="http://schemas.microsoft.com/office/drawing/2014/main" id="{F4E8ABD3-4087-6919-0590-2915AFA9C878}"/>
              </a:ext>
            </a:extLst>
          </p:cNvPr>
          <p:cNvPicPr>
            <a:picLocks noChangeAspect="1"/>
          </p:cNvPicPr>
          <p:nvPr/>
        </p:nvPicPr>
        <p:blipFill>
          <a:blip r:embed="rId2"/>
          <a:srcRect b="49653"/>
          <a:stretch>
            <a:fillRect/>
          </a:stretch>
        </p:blipFill>
        <p:spPr>
          <a:xfrm>
            <a:off x="104989" y="714241"/>
            <a:ext cx="8950723" cy="2030640"/>
          </a:xfrm>
          <a:prstGeom prst="rect">
            <a:avLst/>
          </a:prstGeom>
          <a:effectLst>
            <a:outerShdw blurRad="50800" dist="38100" dir="5400000" algn="t" rotWithShape="0">
              <a:prstClr val="black">
                <a:alpha val="40000"/>
              </a:prstClr>
            </a:outerShdw>
          </a:effectLst>
        </p:spPr>
      </p:pic>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best </a:t>
            </a:r>
            <a:r>
              <a:rPr lang="en-US" sz="1000" dirty="0" err="1">
                <a:solidFill>
                  <a:srgbClr val="AACCD8"/>
                </a:solidFill>
                <a:latin typeface="Calibri" pitchFamily="34" charset="0"/>
              </a:rPr>
              <a:t>val</a:t>
            </a:r>
            <a:r>
              <a:rPr lang="en-US" sz="1000" dirty="0">
                <a:solidFill>
                  <a:srgbClr val="AACCD8"/>
                </a:solidFill>
                <a:latin typeface="Calibri" pitchFamily="34" charset="0"/>
              </a:rPr>
              <a:t> macro-F1 (ensemble C+E)</a:t>
            </a:r>
          </a:p>
          <a:p>
            <a:r>
              <a:rPr lang="en-US" sz="2800" b="1" dirty="0">
                <a:solidFill>
                  <a:srgbClr val="FFFFFF"/>
                </a:solidFill>
                <a:latin typeface="Trebuchet MS" pitchFamily="34" charset="0"/>
              </a:rPr>
              <a:t>0.2428</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dirty="0">
                <a:solidFill>
                  <a:srgbClr val="FFFFFF"/>
                </a:solidFill>
                <a:latin typeface="Trebuchet MS" pitchFamily="34" charset="0"/>
              </a:rPr>
              <a:t>0.2288</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rtlCol="0" anchor="t"/>
          <a:lstStyle/>
          <a:p>
            <a:pPr>
              <a:buNone/>
            </a:pPr>
            <a:r>
              <a:rPr lang="en-US" sz="1300" b="1" dirty="0">
                <a:solidFill>
                  <a:srgbClr val="00A896"/>
                </a:solidFill>
                <a:latin typeface="Trebuchet MS" pitchFamily="34" charset="0"/>
              </a:rPr>
              <a:t>Why ~0.24 is the MLP wall</a:t>
            </a:r>
          </a:p>
          <a:p>
            <a:pPr marL="228600" indent="-228600">
              <a:buChar char="•"/>
            </a:pPr>
            <a:r>
              <a:rPr lang="en-US" sz="1100" dirty="0">
                <a:solidFill>
                  <a:schemeClr val="bg1"/>
                </a:solidFill>
                <a:latin typeface="Calibri" pitchFamily="34" charset="0"/>
              </a:rPr>
              <a:t>Feature-to-sample ratio d/n = 4.27 (want &lt;= 1)</a:t>
            </a:r>
          </a:p>
          <a:p>
            <a:pPr marL="228600" indent="-228600">
              <a:buChar char="•"/>
            </a:pPr>
            <a:r>
              <a:rPr lang="en-US" sz="1100" dirty="0">
                <a:solidFill>
                  <a:schemeClr val="bg1"/>
                </a:solidFill>
                <a:latin typeface="Calibri" pitchFamily="34" charset="0"/>
              </a:rPr>
              <a:t>12 288 features, only 2 880 training samples — extremely sparse space</a:t>
            </a:r>
          </a:p>
          <a:p>
            <a:pPr marL="228600" indent="-228600">
              <a:buChar char="•"/>
            </a:pPr>
            <a:r>
              <a:rPr lang="en-US" sz="1100" dirty="0">
                <a:solidFill>
                  <a:schemeClr val="bg1"/>
                </a:solidFill>
                <a:latin typeface="Calibri" pitchFamily="34" charset="0"/>
              </a:rPr>
              <a:t>No spatial inductive bias — MLP is essentially a colour histogram classifier</a:t>
            </a:r>
          </a:p>
          <a:p>
            <a:pPr marL="228600" indent="-228600">
              <a:buChar char="•"/>
            </a:pPr>
            <a:r>
              <a:rPr lang="en-US" sz="1100" dirty="0">
                <a:solidFill>
                  <a:schemeClr val="bg1"/>
                </a:solidFill>
                <a:latin typeface="Calibri" pitchFamily="34" charset="0"/>
              </a:rPr>
              <a:t>All top-6 models within 0.004 F1 — search is saturated</a:t>
            </a:r>
          </a:p>
          <a:p>
            <a:pPr>
              <a:buNone/>
            </a:pPr>
            <a:r>
              <a:rPr lang="en-US" sz="1100" b="1" dirty="0">
                <a:solidFill>
                  <a:schemeClr val="accent2">
                    <a:lumMod val="40000"/>
                    <a:lumOff val="60000"/>
                  </a:schemeClr>
                </a:solidFill>
                <a:latin typeface="Calibri" pitchFamily="34" charset="0"/>
              </a:rPr>
              <a:t>Next: CNN (Task 2) — spatial inductive bias will break this ceiling</a:t>
            </a:r>
          </a:p>
        </p:txBody>
      </p:sp>
      <p:sp>
        <p:nvSpPr>
          <p:cNvPr id="10" name="Badge">
            <a:extLst>
              <a:ext uri="{FF2B5EF4-FFF2-40B4-BE49-F238E27FC236}">
                <a16:creationId xmlns:a16="http://schemas.microsoft.com/office/drawing/2014/main" id="{6C2A9BDC-14E1-7F94-9693-6BF1C143CE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BA8DC492-28E8-3290-4012-84E1A7167D6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1.3</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142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44 min</a:t>
            </a:r>
            <a:endParaRPr lang="en-US" sz="2200" dirty="0"/>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total wall-clock (19 solo runs)</a:t>
            </a:r>
            <a:endParaRPr lang="en-US" sz="1000" dirty="0"/>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marL="0" indent="0" algn="ctr">
              <a:buNone/>
            </a:pPr>
            <a:r>
              <a:rPr lang="en-US" sz="2200" b="1" dirty="0">
                <a:solidFill>
                  <a:srgbClr val="27AE60"/>
                </a:solidFill>
                <a:latin typeface="Trebuchet MS" pitchFamily="34" charset="0"/>
                <a:ea typeface="Trebuchet MS" pitchFamily="34" charset="-122"/>
                <a:cs typeface="Trebuchet MS" pitchFamily="34" charset="-120"/>
              </a:rPr>
              <a:t>&lt; 100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GPU memory peak (MLP is tiny)</a:t>
            </a:r>
            <a:endParaRPr lang="en-US" sz="1000" dirty="0"/>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dirty="0">
                <a:solidFill>
                  <a:srgbClr val="E97C35"/>
                </a:solidFill>
                <a:latin typeface="Trebuchet MS" pitchFamily="34" charset="0"/>
                <a:ea typeface="Trebuchet MS" pitchFamily="34" charset="-122"/>
                <a:cs typeface="Trebuchet MS" pitchFamily="34" charset="-120"/>
              </a:rPr>
              <a:t>73%</a:t>
            </a:r>
            <a:endParaRPr lang="en-US" sz="2200" dirty="0"/>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nvGraphicFramePr>
        <p:xfrm>
          <a:off x="347472" y="1910715"/>
          <a:ext cx="8449056" cy="2139696"/>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K_v2_wd1e5  —  58.6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Stopped at epoch 13 (light reg → fast plateau)</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Q_wider_sampler  —  172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 epochs; wider model + sampler slows convergence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00000"/>
                          </a:solidFill>
                          <a:latin typeface="Calibri" pitchFamily="34" charset="0"/>
                          <a:ea typeface="Calibri" pitchFamily="34" charset="-122"/>
                          <a:cs typeface="Calibri" pitchFamily="34" charset="-120"/>
                        </a:rPr>
                        <a:t>~108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Across 19 solo runs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144 s  —  32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EarlyStopping saved best at epoch 21</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Smoke-test mode: 5 epochs, 100 samples — used for debugging</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5-fold CV × 19 experiments ≈ 95 training runs ≈ 144 min — exceeds the 1h Colab budget. Stratified 80/20 with fixed seed is the correct trade-off: relative experiment ranking is valid even if absolute F1 has ±0.02 noise from a single split.</a:t>
            </a:r>
            <a:endParaRPr lang="en-US" sz="1200" dirty="0"/>
          </a:p>
        </p:txBody>
      </p:sp>
      <p:sp>
        <p:nvSpPr>
          <p:cNvPr id="29" name="Badge">
            <a:extLst>
              <a:ext uri="{FF2B5EF4-FFF2-40B4-BE49-F238E27FC236}">
                <a16:creationId xmlns:a16="http://schemas.microsoft.com/office/drawing/2014/main" id="{871B0D03-B6CB-9097-6275-1FE197223E9F}"/>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31" name="NumCircle">
            <a:extLst>
              <a:ext uri="{FF2B5EF4-FFF2-40B4-BE49-F238E27FC236}">
                <a16:creationId xmlns:a16="http://schemas.microsoft.com/office/drawing/2014/main" id="{A56715A4-2190-5688-98FC-74A5E2A2E81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nvGraphicFramePr>
        <p:xfrm>
          <a:off x="347472" y="644652"/>
          <a:ext cx="8449056" cy="412394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74904">
                <a:tc>
                  <a:txBody>
                    <a:bodyPr/>
                    <a:lstStyle/>
                    <a:p>
                      <a:pPr marL="0" indent="0">
                        <a:buNone/>
                      </a:pPr>
                      <a:r>
                        <a:rPr lang="en-US" sz="1400" dirty="0">
                          <a:solidFill>
                            <a:srgbClr val="000000"/>
                          </a:solidFill>
                        </a:rPr>
                        <a:t>A_vanilla</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21/30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Simple model finds plateau quickly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400" dirty="0">
                          <a:solidFill>
                            <a:srgbClr val="000000"/>
                          </a:solidFill>
                        </a:rPr>
                        <a:t>B_mlp_base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Heavy dropout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400" dirty="0">
                          <a:solidFill>
                            <a:srgbClr val="000000"/>
                          </a:solidFill>
                        </a:rPr>
                        <a:t>C_ls01_drop03</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LS adds noise → peak at ep21, patience exhausted ep28</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400" dirty="0">
                          <a:solidFill>
                            <a:srgbClr val="000000"/>
                          </a:solidFill>
                        </a:rPr>
                        <a:t>D_wd1e4</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L2 + LS + Dropout = too many constraints, never converges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400" dirty="0">
                          <a:solidFill>
                            <a:srgbClr val="000000"/>
                          </a:solidFill>
                        </a:rPr>
                        <a:t>E_sampler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23/30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Sampler + LS converges cleanly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400" dirty="0">
                          <a:solidFill>
                            <a:srgbClr val="000000"/>
                          </a:solidFill>
                        </a:rPr>
                        <a:t>F_narrow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Barely</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Narrow arch is the bottleneck — very slow to plateau</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400" dirty="0">
                          <a:solidFill>
                            <a:srgbClr val="000000"/>
                          </a:solidFill>
                        </a:rPr>
                        <a:t>G_bottleneck</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Wide bottleneck still slowly improving — needs more epochs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400" dirty="0">
                          <a:solidFill>
                            <a:srgbClr val="000000"/>
                          </a:solidFill>
                        </a:rPr>
                        <a:t>O_c_sampler_cw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Double-compensation confuses the optimiser — never peaks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400" dirty="0">
                          <a:solidFill>
                            <a:srgbClr val="000000"/>
                          </a:solidFill>
                        </a:rPr>
                        <a:t>Q_wider_sampler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Patience=7 allows &gt;30 epochs when plateau is very slow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74904">
                <a:tc>
                  <a:txBody>
                    <a:bodyPr/>
                    <a:lstStyle/>
                    <a:p>
                      <a:pPr marL="0" indent="0">
                        <a:buNone/>
                      </a:pPr>
                      <a:r>
                        <a:rPr lang="en-US" sz="1400" dirty="0">
                          <a:solidFill>
                            <a:srgbClr val="000000"/>
                          </a:solidFill>
                        </a:rPr>
                        <a:t>R_ls015_drop03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Best checkpoint at ep21; patience runs out at ep32</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14" name="Badge">
            <a:extLst>
              <a:ext uri="{FF2B5EF4-FFF2-40B4-BE49-F238E27FC236}">
                <a16:creationId xmlns:a16="http://schemas.microsoft.com/office/drawing/2014/main" id="{EA485D6D-D7DF-2891-FAF0-D5AF03732C4D}"/>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16" name="NumCircle">
            <a:extLst>
              <a:ext uri="{FF2B5EF4-FFF2-40B4-BE49-F238E27FC236}">
                <a16:creationId xmlns:a16="http://schemas.microsoft.com/office/drawing/2014/main" id="{4D5E2B77-88A3-6C72-CCB6-36C66F42DA8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dirty="0">
                <a:solidFill>
                  <a:srgbClr val="1A2B3C"/>
                </a:solidFill>
                <a:latin typeface="Calibri"/>
              </a:rPr>
              <a:t>1      2.319          2.254          0.106          0.085</a:t>
            </a:r>
          </a:p>
          <a:p>
            <a:pPr>
              <a:buNone/>
            </a:pPr>
            <a:r>
              <a:rPr lang="en-US" sz="1000" dirty="0">
                <a:solidFill>
                  <a:srgbClr val="1A2B3C"/>
                </a:solidFill>
                <a:latin typeface="Calibri"/>
              </a:rPr>
              <a:t>5      2.169          2.167          0.207          0.137</a:t>
            </a:r>
          </a:p>
          <a:p>
            <a:pPr>
              <a:buNone/>
            </a:pPr>
            <a:r>
              <a:rPr lang="en-US" sz="1000" dirty="0">
                <a:solidFill>
                  <a:srgbClr val="1A2B3C"/>
                </a:solidFill>
                <a:latin typeface="Calibri"/>
              </a:rPr>
              <a:t>10    1.948          2.150          0.437          0.209</a:t>
            </a:r>
          </a:p>
          <a:p>
            <a:pPr>
              <a:buNone/>
            </a:pPr>
            <a:r>
              <a:rPr lang="en-US" sz="1000" dirty="0">
                <a:solidFill>
                  <a:srgbClr val="1A2B3C"/>
                </a:solidFill>
                <a:latin typeface="Calibri"/>
              </a:rPr>
              <a:t>15    1.534          2.181          0.674          0.224</a:t>
            </a:r>
          </a:p>
          <a:p>
            <a:pPr>
              <a:buNone/>
            </a:pPr>
            <a:r>
              <a:rPr lang="en-US" sz="1000" dirty="0">
                <a:solidFill>
                  <a:srgbClr val="1A2B3C"/>
                </a:solidFill>
                <a:latin typeface="Calibri"/>
              </a:rPr>
              <a:t>20    1.362          2.225          0.783          0.234</a:t>
            </a:r>
          </a:p>
          <a:p>
            <a:pPr>
              <a:buNone/>
            </a:pPr>
            <a:r>
              <a:rPr lang="en-US" sz="1000" b="1" dirty="0">
                <a:solidFill>
                  <a:srgbClr val="00A896"/>
                </a:solidFill>
                <a:latin typeface="Calibri"/>
              </a:rPr>
              <a:t>25 *  1.202          2.252          0.873          0.240  ← checkpoint</a:t>
            </a:r>
          </a:p>
          <a:p>
            <a:pPr>
              <a:buNone/>
            </a:pPr>
            <a:r>
              <a:rPr lang="en-US" sz="1000" dirty="0">
                <a:solidFill>
                  <a:srgbClr val="1A2B3C"/>
                </a:solidFill>
                <a:latin typeface="Calibri"/>
              </a:rPr>
              <a:t>30    1.172          2.256          0.899          0.231</a:t>
            </a:r>
          </a:p>
          <a:p>
            <a:pPr>
              <a:buNone/>
            </a:pPr>
            <a:r>
              <a:rPr lang="en-US" sz="1000" dirty="0">
                <a:solidFill>
                  <a:srgbClr val="1A2B3C"/>
                </a:solidFill>
                <a:latin typeface="Calibri"/>
              </a:rPr>
              <a:t>32    1.142          2.256          0.913          0.225</a:t>
            </a:r>
          </a:p>
        </p:txBody>
      </p:sp>
      <p:pic>
        <p:nvPicPr>
          <p:cNvPr id="13" name="Picture 12">
            <a:extLst>
              <a:ext uri="{FF2B5EF4-FFF2-40B4-BE49-F238E27FC236}">
                <a16:creationId xmlns:a16="http://schemas.microsoft.com/office/drawing/2014/main" id="{6764680F-6E4D-0A7B-3716-7F38FCB545BC}"/>
              </a:ext>
            </a:extLst>
          </p:cNvPr>
          <p:cNvPicPr>
            <a:picLocks noChangeAspect="1"/>
          </p:cNvPicPr>
          <p:nvPr/>
        </p:nvPicPr>
        <p:blipFill>
          <a:blip r:embed="rId2"/>
          <a:stretch>
            <a:fillRect/>
          </a:stretch>
        </p:blipFill>
        <p:spPr>
          <a:xfrm>
            <a:off x="537037" y="2612390"/>
            <a:ext cx="7694855" cy="2520078"/>
          </a:xfrm>
          <a:prstGeom prst="rect">
            <a:avLst/>
          </a:prstGeom>
        </p:spPr>
      </p:pic>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Saves best checkpoint .pth per run</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Allows &gt;30 epochs when plateau is slow (Q ran 37)</a:t>
            </a:r>
            <a:endParaRPr lang="en-US" sz="1200" dirty="0"/>
          </a:p>
        </p:txBody>
      </p:sp>
      <p:sp>
        <p:nvSpPr>
          <p:cNvPr id="7" name="Badge">
            <a:extLst>
              <a:ext uri="{FF2B5EF4-FFF2-40B4-BE49-F238E27FC236}">
                <a16:creationId xmlns:a16="http://schemas.microsoft.com/office/drawing/2014/main" id="{D9A61A09-C6DC-3BCE-EFB4-15F9DCA74F66}"/>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9" name="NumCircle">
            <a:extLst>
              <a:ext uri="{FF2B5EF4-FFF2-40B4-BE49-F238E27FC236}">
                <a16:creationId xmlns:a16="http://schemas.microsoft.com/office/drawing/2014/main" id="{03F3AAF3-57CD-D28C-97E4-4014D3BF1ED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1.4</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581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pitchFamily="34" charset="0"/>
                <a:ea typeface="Trebuchet MS" pitchFamily="34" charset="-122"/>
                <a:cs typeface="Trebuchet MS" pitchFamily="34" charset="-120"/>
              </a:rPr>
              <a:t>0.2428</a:t>
            </a:r>
            <a:endParaRPr lang="en-US" sz="3200" dirty="0"/>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val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(ensemble C+E)</a:t>
            </a:r>
            <a:endParaRPr lang="en-US" sz="1100" dirty="0"/>
          </a:p>
        </p:txBody>
      </p:sp>
      <p:sp>
        <p:nvSpPr>
          <p:cNvPr id="10" name="Shape 8"/>
          <p:cNvSpPr/>
          <p:nvPr/>
        </p:nvSpPr>
        <p:spPr>
          <a:xfrm>
            <a:off x="2523744"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dirty="0">
                <a:solidFill>
                  <a:srgbClr val="02C39A"/>
                </a:solidFill>
                <a:latin typeface="Trebuchet MS" pitchFamily="34" charset="0"/>
                <a:ea typeface="Trebuchet MS" pitchFamily="34" charset="-122"/>
                <a:cs typeface="Trebuchet MS" pitchFamily="34" charset="-120"/>
              </a:rPr>
              <a:t>0.2396</a:t>
            </a:r>
            <a:endParaRPr lang="en-US" sz="3200" dirty="0"/>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(R_ls015_drop03)</a:t>
            </a:r>
            <a:endParaRPr lang="en-US" sz="1100" dirty="0"/>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dirty="0">
                <a:solidFill>
                  <a:srgbClr val="E97C35"/>
                </a:solidFill>
                <a:latin typeface="Trebuchet MS" pitchFamily="34" charset="0"/>
                <a:ea typeface="Trebuchet MS" pitchFamily="34" charset="-122"/>
                <a:cs typeface="Trebuchet MS" pitchFamily="34" charset="-120"/>
              </a:rPr>
              <a:t>0.2288</a:t>
            </a:r>
            <a:endParaRPr lang="en-US" sz="3200" dirty="0"/>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rgbClr val="FFC000"/>
                </a:solidFill>
                <a:latin typeface="Calibri" pitchFamily="34" charset="0"/>
                <a:ea typeface="Calibri" pitchFamily="34" charset="-122"/>
                <a:cs typeface="Calibri" pitchFamily="34" charset="-120"/>
              </a:rPr>
              <a:t>Kaggle public score</a:t>
            </a:r>
            <a:endParaRPr lang="en-US" sz="1100" b="1" dirty="0">
              <a:solidFill>
                <a:srgbClr val="FFC0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18" name="Shape 16"/>
          <p:cNvSpPr/>
          <p:nvPr/>
        </p:nvSpPr>
        <p:spPr>
          <a:xfrm>
            <a:off x="6876288"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FFFF00"/>
          </a:solidFill>
          <a:ln w="12700">
            <a:noFill/>
            <a:prstDash val="solid"/>
          </a:ln>
        </p:spPr>
        <p:txBody>
          <a:bodyPr/>
          <a:lstStyle/>
          <a:p>
            <a:endParaRPr lang="pt-PT"/>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dirty="0">
                <a:solidFill>
                  <a:srgbClr val="888888"/>
                </a:solidFill>
                <a:latin typeface="Calibri"/>
              </a:rPr>
              <a:t>Always-Water              		0.021      		18.7%</a:t>
            </a:r>
          </a:p>
          <a:p>
            <a:pPr>
              <a:buNone/>
            </a:pPr>
            <a:r>
              <a:rPr lang="en-US" dirty="0">
                <a:solidFill>
                  <a:srgbClr val="028090"/>
                </a:solidFill>
                <a:latin typeface="Calibri"/>
              </a:rPr>
              <a:t>R_ls015_drop03 (solo)    	0.2396     		25.8%</a:t>
            </a:r>
          </a:p>
          <a:p>
            <a:pPr>
              <a:buNone/>
            </a:pPr>
            <a:r>
              <a:rPr lang="en-US" b="1" dirty="0">
                <a:solidFill>
                  <a:srgbClr val="00A896"/>
                </a:solidFill>
                <a:latin typeface="Calibri"/>
              </a:rPr>
              <a:t>ENS_C+E (submitted) ★		0.2428     		26.7%</a:t>
            </a:r>
          </a:p>
          <a:p>
            <a:pPr>
              <a:buNone/>
            </a:pPr>
            <a:r>
              <a:rPr lang="en-US" dirty="0">
                <a:solidFill>
                  <a:srgbClr val="1C3A52"/>
                </a:solidFill>
                <a:latin typeface="Calibri"/>
              </a:rPr>
              <a:t>Kaggle public test        		0.2288     		  —  </a:t>
            </a: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414141" cy="2315400"/>
          </a:xfrm>
          <a:prstGeom prst="rect">
            <a:avLst/>
          </a:prstGeom>
          <a:noFill/>
          <a:ln/>
        </p:spPr>
        <p:txBody>
          <a:bodyPr wrap="square" rtlCol="0" anchor="t"/>
          <a:lstStyle/>
          <a:p>
            <a:pPr>
              <a:buNone/>
            </a:pPr>
            <a:r>
              <a:rPr lang="en-US" b="1" dirty="0">
                <a:solidFill>
                  <a:srgbClr val="00A896"/>
                </a:solidFill>
                <a:latin typeface="Trebuchet MS"/>
              </a:rPr>
              <a:t>Our Model learned something</a:t>
            </a:r>
          </a:p>
          <a:p>
            <a:pPr marL="228600" indent="-228600">
              <a:buChar char="•"/>
            </a:pPr>
            <a:r>
              <a:rPr lang="en-US" sz="1600" b="1" dirty="0">
                <a:solidFill>
                  <a:srgbClr val="00A896"/>
                </a:solidFill>
                <a:latin typeface="Calibri"/>
              </a:rPr>
              <a:t>2.18x better than random guess</a:t>
            </a:r>
          </a:p>
          <a:p>
            <a:pPr marL="228600" indent="-228600">
              <a:buChar char="•"/>
            </a:pPr>
            <a:endParaRPr lang="en-US" sz="1600" b="1" dirty="0">
              <a:solidFill>
                <a:srgbClr val="00A896"/>
              </a:solidFill>
              <a:latin typeface="Calibri"/>
            </a:endParaRPr>
          </a:p>
          <a:p>
            <a:pPr>
              <a:buNone/>
            </a:pPr>
            <a:r>
              <a:rPr lang="en-US" sz="1600" b="1" dirty="0">
                <a:solidFill>
                  <a:srgbClr val="00A896"/>
                </a:solidFill>
                <a:latin typeface="Trebuchet MS"/>
              </a:rPr>
              <a:t>Note: </a:t>
            </a:r>
            <a:r>
              <a:rPr lang="en-US" sz="1600" b="1" dirty="0">
                <a:solidFill>
                  <a:srgbClr val="00A896"/>
                </a:solidFill>
                <a:latin typeface="Calibri"/>
              </a:rPr>
              <a:t>We didn’t select the best local model in Kaggle to be chosen for the private score. The best local model got </a:t>
            </a:r>
            <a:r>
              <a:rPr lang="en-US" sz="1600" b="1" dirty="0">
                <a:solidFill>
                  <a:srgbClr val="EF4F0F"/>
                </a:solidFill>
                <a:latin typeface="Calibri"/>
              </a:rPr>
              <a:t>Kaggle private score:</a:t>
            </a:r>
          </a:p>
          <a:p>
            <a:r>
              <a:rPr lang="en-US" sz="1600" b="1" dirty="0">
                <a:solidFill>
                  <a:srgbClr val="EF4F0F"/>
                </a:solidFill>
                <a:latin typeface="Calibri"/>
              </a:rPr>
              <a:t>	</a:t>
            </a:r>
            <a:r>
              <a:rPr lang="en-US" sz="2400" b="1" dirty="0">
                <a:solidFill>
                  <a:srgbClr val="EF4F0F"/>
                </a:solidFill>
                <a:latin typeface="Calibri"/>
              </a:rPr>
              <a:t>0.2431</a:t>
            </a: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dirty="0">
                <a:solidFill>
                  <a:srgbClr val="FFFF00"/>
                </a:solidFill>
                <a:latin typeface="Trebuchet MS" pitchFamily="34" charset="0"/>
                <a:ea typeface="Trebuchet MS" pitchFamily="34" charset="-122"/>
                <a:cs typeface="Trebuchet MS" pitchFamily="34" charset="-120"/>
              </a:rPr>
              <a:t>0.2239</a:t>
            </a:r>
            <a:endParaRPr lang="en-US" sz="3200" dirty="0">
              <a:solidFill>
                <a:srgbClr val="FFFF00"/>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rgbClr val="FFFF00"/>
                </a:solidFill>
                <a:latin typeface="Calibri" pitchFamily="34" charset="0"/>
                <a:ea typeface="Calibri" pitchFamily="34" charset="-122"/>
                <a:cs typeface="Calibri" pitchFamily="34" charset="-120"/>
              </a:rPr>
              <a:t>Kaggle private score</a:t>
            </a:r>
            <a:endParaRPr lang="en-US" sz="1100" b="1" dirty="0">
              <a:solidFill>
                <a:srgbClr val="FFFF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34" name="Badge">
            <a:extLst>
              <a:ext uri="{FF2B5EF4-FFF2-40B4-BE49-F238E27FC236}">
                <a16:creationId xmlns:a16="http://schemas.microsoft.com/office/drawing/2014/main" id="{E968F274-A2C0-8BAF-D3D9-613D3A06148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36" name="NumCircle">
            <a:extLst>
              <a:ext uri="{FF2B5EF4-FFF2-40B4-BE49-F238E27FC236}">
                <a16:creationId xmlns:a16="http://schemas.microsoft.com/office/drawing/2014/main" id="{B42604D6-D497-B4D2-5BEB-C6E366435DA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chemeClr val="accent2">
                    <a:lumMod val="40000"/>
                    <a:lumOff val="60000"/>
                  </a:schemeClr>
                </a:solidFill>
                <a:latin typeface="Trebuchet MS"/>
              </a:rPr>
              <a:t>Pattern: Color Palette Drives Performance - </a:t>
            </a:r>
            <a:r>
              <a:rPr lang="en-US" sz="1200" dirty="0">
                <a:solidFill>
                  <a:srgbClr val="AACCD8"/>
                </a:solidFill>
                <a:latin typeface="Calibri"/>
              </a:rPr>
              <a:t>distinctive colour = high F1 (Fire/Poison/Water); shared palette or humanoid shape = low F1 (Bug/Rock/Fighting/Ground).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
        <p:nvSpPr>
          <p:cNvPr id="7" name="Badge">
            <a:extLst>
              <a:ext uri="{FF2B5EF4-FFF2-40B4-BE49-F238E27FC236}">
                <a16:creationId xmlns:a16="http://schemas.microsoft.com/office/drawing/2014/main" id="{93D710F0-BEAB-83F4-E494-57409811619E}"/>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1" name="NumCircle">
            <a:extLst>
              <a:ext uri="{FF2B5EF4-FFF2-40B4-BE49-F238E27FC236}">
                <a16:creationId xmlns:a16="http://schemas.microsoft.com/office/drawing/2014/main" id="{CCD2872F-4762-3FBD-9567-74F10AC7D43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6435"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chemeClr val="bg1"/>
                </a:solidFill>
                <a:latin typeface="Calibri"/>
              </a:rPr>
              <a:t>Normal = most diverse class: humanoids of every shape and size, no dominant colour</a:t>
            </a:r>
          </a:p>
          <a:p>
            <a:pPr marL="228600" indent="-228600">
              <a:buChar char="•"/>
            </a:pPr>
            <a:r>
              <a:rPr lang="en-US" sz="1100" dirty="0">
                <a:solidFill>
                  <a:schemeClr val="bg1"/>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
        <p:nvSpPr>
          <p:cNvPr id="7" name="Badge">
            <a:extLst>
              <a:ext uri="{FF2B5EF4-FFF2-40B4-BE49-F238E27FC236}">
                <a16:creationId xmlns:a16="http://schemas.microsoft.com/office/drawing/2014/main" id="{D5715E4D-5C13-5FEE-4E15-E6D8F9B9AF9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0" name="NumCircle">
            <a:extLst>
              <a:ext uri="{FF2B5EF4-FFF2-40B4-BE49-F238E27FC236}">
                <a16:creationId xmlns:a16="http://schemas.microsoft.com/office/drawing/2014/main" id="{94E539C8-335B-99D7-C3A5-F32698484E2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rtlCol="0" anchor="t"/>
          <a:lstStyle/>
          <a:p>
            <a:pPr>
              <a:buNone/>
            </a:pPr>
            <a:r>
              <a:rPr lang="en-US" sz="1200" b="1" dirty="0">
                <a:solidFill>
                  <a:srgbClr val="00A896"/>
                </a:solidFill>
                <a:latin typeface="Trebuchet MS"/>
              </a:rPr>
              <a:t>Kaggle validation gap</a:t>
            </a:r>
          </a:p>
          <a:p>
            <a:pPr>
              <a:buNone/>
            </a:pPr>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- 0.2428</a:t>
            </a:r>
          </a:p>
          <a:p>
            <a:pPr>
              <a:buNone/>
            </a:pPr>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- 0.2288</a:t>
            </a:r>
          </a:p>
          <a:p>
            <a:pPr>
              <a:buNone/>
            </a:pPr>
            <a:r>
              <a:rPr lang="en-US" sz="2000" b="1" dirty="0">
                <a:solidFill>
                  <a:srgbClr val="FFFFFF"/>
                </a:solidFill>
                <a:latin typeface="Trebuchet MS"/>
              </a:rPr>
              <a:t>	−0.014</a:t>
            </a:r>
          </a:p>
          <a:p>
            <a:pPr>
              <a:buNone/>
            </a:pPr>
            <a:endParaRPr lang="en-US" sz="1000" b="1" dirty="0">
              <a:solidFill>
                <a:srgbClr val="00A896"/>
              </a:solidFill>
              <a:latin typeface="Calibri"/>
            </a:endParaRPr>
          </a:p>
          <a:p>
            <a:pPr>
              <a:buNone/>
            </a:pPr>
            <a:r>
              <a:rPr lang="en-US" sz="1000" b="1" dirty="0">
                <a:solidFill>
                  <a:srgbClr val="00A896"/>
                </a:solidFill>
                <a:latin typeface="Calibri"/>
              </a:rPr>
              <a:t>Why this gap is expected, not a pipeline bug:</a:t>
            </a:r>
          </a:p>
          <a:p>
            <a:pPr marL="228600" indent="-228600">
              <a:buChar char="•"/>
            </a:pPr>
            <a:r>
              <a:rPr lang="en-US" sz="1100" dirty="0">
                <a:solidFill>
                  <a:srgbClr val="AACCD8"/>
                </a:solidFill>
                <a:latin typeface="Calibri"/>
              </a:rPr>
              <a:t>Kaggle test may include harder or out-of-distribution sprites</a:t>
            </a:r>
          </a:p>
          <a:p>
            <a:pPr marL="228600" indent="-228600">
              <a:buChar char="•"/>
            </a:pPr>
            <a:r>
              <a:rPr lang="en-US" sz="1100" dirty="0">
                <a:solidFill>
                  <a:srgbClr val="AACCD8"/>
                </a:solidFill>
                <a:latin typeface="Calibri"/>
              </a:rPr>
              <a:t>It helps to, AFTER SELECTING A MODEL,</a:t>
            </a:r>
            <a:br>
              <a:rPr lang="en-US" sz="1100" dirty="0">
                <a:solidFill>
                  <a:srgbClr val="AACCD8"/>
                </a:solidFill>
                <a:latin typeface="Calibri"/>
              </a:rPr>
            </a:br>
            <a:r>
              <a:rPr lang="en-US" sz="1100" dirty="0">
                <a:solidFill>
                  <a:srgbClr val="AACCD8"/>
                </a:solidFill>
                <a:latin typeface="Calibri"/>
              </a:rPr>
              <a:t>to train it again with the full dataset</a:t>
            </a:r>
          </a:p>
        </p:txBody>
      </p:sp>
      <p:sp>
        <p:nvSpPr>
          <p:cNvPr id="8" name="Badge">
            <a:extLst>
              <a:ext uri="{FF2B5EF4-FFF2-40B4-BE49-F238E27FC236}">
                <a16:creationId xmlns:a16="http://schemas.microsoft.com/office/drawing/2014/main" id="{3769227C-AFC0-3099-1156-F91DC37D8D78}"/>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20" name="NumCircle">
            <a:extLst>
              <a:ext uri="{FF2B5EF4-FFF2-40B4-BE49-F238E27FC236}">
                <a16:creationId xmlns:a16="http://schemas.microsoft.com/office/drawing/2014/main" id="{C46AEF4E-0B8A-BB74-4410-5C9EF996A14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49" name="Badge">
            <a:extLst>
              <a:ext uri="{FF2B5EF4-FFF2-40B4-BE49-F238E27FC236}">
                <a16:creationId xmlns:a16="http://schemas.microsoft.com/office/drawing/2014/main" id="{4B9390E2-4D06-8DC7-1595-30634F1E5D32}"/>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51" name="NumCircle">
            <a:extLst>
              <a:ext uri="{FF2B5EF4-FFF2-40B4-BE49-F238E27FC236}">
                <a16:creationId xmlns:a16="http://schemas.microsoft.com/office/drawing/2014/main" id="{E2D1AAAA-0B4C-08A6-5BB0-FBE7576B708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2.18x above random baseline. All 19 solo + 7 ensemble experiments are above random.</a:t>
            </a:r>
            <a:endParaRPr lang="en-US" sz="1050" dirty="0">
              <a:solidFill>
                <a:schemeClr val="accent2">
                  <a:lumMod val="40000"/>
                  <a:lumOff val="60000"/>
                </a:schemeClr>
              </a:solidFill>
            </a:endParaRP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LS=0.15 rescued Rock from F1=0.000. All top-6 solo experiments use LS ≥ 0.1.</a:t>
            </a:r>
            <a:endParaRPr lang="en-US" sz="1050" dirty="0">
              <a:solidFill>
                <a:schemeClr val="accent2">
                  <a:lumMod val="40000"/>
                  <a:lumOff val="60000"/>
                </a:schemeClr>
              </a:solidFill>
            </a:endParaRP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50" dirty="0">
              <a:solidFill>
                <a:schemeClr val="accent2">
                  <a:lumMod val="40000"/>
                  <a:lumOff val="60000"/>
                </a:schemeClr>
              </a:solidFill>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val_loss ≈ log(9) = random. Feature-to-sample ratio 4.26:1 = no amount of tuning fixes this.</a:t>
            </a:r>
            <a:endParaRPr lang="en-US" sz="1050" dirty="0">
              <a:solidFill>
                <a:schemeClr val="accent2">
                  <a:lumMod val="40000"/>
                  <a:lumOff val="60000"/>
                </a:schemeClr>
              </a:solidFill>
            </a:endParaRP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50" dirty="0">
              <a:solidFill>
                <a:schemeClr val="accent2">
                  <a:lumMod val="40000"/>
                  <a:lumOff val="60000"/>
                </a:schemeClr>
              </a:solidFill>
            </a:endParaRP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Next: Task 2</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74E1D-3F90-4522-4C6F-7818588FE9A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B0A62AD-8637-13CF-DA5A-084E60EAA897}"/>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5775F367-FD16-D245-BF90-6A68280EDD97}"/>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4C23AF0A-B3EF-D884-8784-D0A5F4858B99}"/>
              </a:ext>
            </a:extLst>
          </p:cNvPr>
          <p:cNvSpPr/>
          <p:nvPr/>
        </p:nvSpPr>
        <p:spPr>
          <a:xfrm>
            <a:off x="347472" y="502920"/>
            <a:ext cx="6858000" cy="292608"/>
          </a:xfrm>
          <a:prstGeom prst="rect">
            <a:avLst/>
          </a:prstGeom>
          <a:noFill/>
          <a:ln/>
        </p:spPr>
        <p:txBody>
          <a:bodyPr wrap="square" lIns="0" tIns="0" rIns="0" bIns="0" rtlCol="0" anchor="ctr"/>
          <a:lstStyle/>
          <a:p>
            <a:r>
              <a:rPr lang="en-US" sz="1000" b="1" kern="0" spc="200" dirty="0">
                <a:solidFill>
                  <a:srgbClr val="02C39A"/>
                </a:solidFill>
                <a:latin typeface="Calibri"/>
                <a:ea typeface="Calibri"/>
                <a:cs typeface="Calibri"/>
              </a:rPr>
              <a:t>DEEP LEARNING  ·  ASSIGNMENT 1  ·  TASK 2</a:t>
            </a:r>
            <a:endParaRPr lang="en-US" sz="1000" dirty="0">
              <a:latin typeface="Corbel" panose="020B0503020204020204"/>
              <a:ea typeface="Calibri"/>
              <a:cs typeface="Calibri"/>
            </a:endParaRPr>
          </a:p>
        </p:txBody>
      </p:sp>
      <p:sp>
        <p:nvSpPr>
          <p:cNvPr id="6" name="Text 4">
            <a:extLst>
              <a:ext uri="{FF2B5EF4-FFF2-40B4-BE49-F238E27FC236}">
                <a16:creationId xmlns:a16="http://schemas.microsoft.com/office/drawing/2014/main" id="{C1D05DF2-996C-585C-8865-24177A52962E}"/>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AC3A1446-499E-2090-6974-15E8130C8A9F}"/>
              </a:ext>
            </a:extLst>
          </p:cNvPr>
          <p:cNvSpPr/>
          <p:nvPr/>
        </p:nvSpPr>
        <p:spPr>
          <a:xfrm>
            <a:off x="1463532" y="2039329"/>
            <a:ext cx="5907749" cy="438912"/>
          </a:xfrm>
          <a:prstGeom prst="rect">
            <a:avLst/>
          </a:prstGeom>
          <a:noFill/>
          <a:ln/>
        </p:spPr>
        <p:txBody>
          <a:bodyPr wrap="square" lIns="0" tIns="0" rIns="0" bIns="0" rtlCol="0" anchor="ctr"/>
          <a:lstStyle/>
          <a:p>
            <a:r>
              <a:rPr lang="en-US" sz="3600" dirty="0">
                <a:solidFill>
                  <a:srgbClr val="7AADCC"/>
                </a:solidFill>
                <a:latin typeface="Calibri"/>
                <a:ea typeface="Calibri"/>
                <a:cs typeface="Calibri"/>
              </a:rPr>
              <a:t>Task 2 - CNN</a:t>
            </a:r>
            <a:endParaRPr lang="en-US" sz="3600" dirty="0">
              <a:latin typeface="Calibri"/>
              <a:ea typeface="Calibri"/>
              <a:cs typeface="Calibri"/>
            </a:endParaRPr>
          </a:p>
        </p:txBody>
      </p:sp>
      <p:sp>
        <p:nvSpPr>
          <p:cNvPr id="8" name="Shape 6">
            <a:extLst>
              <a:ext uri="{FF2B5EF4-FFF2-40B4-BE49-F238E27FC236}">
                <a16:creationId xmlns:a16="http://schemas.microsoft.com/office/drawing/2014/main" id="{44D937DE-5F60-D12F-7974-D0FD47C0014C}"/>
              </a:ext>
            </a:extLst>
          </p:cNvPr>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4FB2AC8-A5AE-8533-D695-FA504BFE1A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AAA9044B-8A09-287D-FD56-230D9ACFB37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2E22D80-7AE4-2A07-3F6B-D0D048952E2B}"/>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8926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6CE1-8DD7-EA0E-3A10-D977ED07164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F7BD48B3-01CF-732B-559B-5C2A8608FA95}"/>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2)</a:t>
            </a:r>
            <a:endParaRPr lang="en-US" sz="2200" dirty="0"/>
          </a:p>
        </p:txBody>
      </p:sp>
      <p:sp>
        <p:nvSpPr>
          <p:cNvPr id="4" name="Shape 2">
            <a:extLst>
              <a:ext uri="{FF2B5EF4-FFF2-40B4-BE49-F238E27FC236}">
                <a16:creationId xmlns:a16="http://schemas.microsoft.com/office/drawing/2014/main" id="{18B8DBFB-A82A-8A1F-30D1-B682A18B7B3C}"/>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616973DD-8CF0-26D8-0FD0-784620FC065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E6B1FF23-D968-7974-6A9F-DB933B190302}"/>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2.1</a:t>
            </a:r>
          </a:p>
        </p:txBody>
      </p:sp>
      <p:sp>
        <p:nvSpPr>
          <p:cNvPr id="9" name="Text 7">
            <a:extLst>
              <a:ext uri="{FF2B5EF4-FFF2-40B4-BE49-F238E27FC236}">
                <a16:creationId xmlns:a16="http://schemas.microsoft.com/office/drawing/2014/main" id="{1A4EEA4D-82B3-CDAD-BFA0-3D31AA35C5CA}"/>
              </a:ext>
            </a:extLst>
          </p:cNvPr>
          <p:cNvSpPr/>
          <p:nvPr/>
        </p:nvSpPr>
        <p:spPr>
          <a:xfrm>
            <a:off x="1051560" y="932688"/>
            <a:ext cx="3200400" cy="411480"/>
          </a:xfrm>
          <a:prstGeom prst="rect">
            <a:avLst/>
          </a:prstGeom>
          <a:noFill/>
          <a:ln/>
        </p:spPr>
        <p:txBody>
          <a:bodyPr wrap="square" lIns="0" tIns="0" rIns="0" bIns="0" rtlCol="0" anchor="ctr"/>
          <a:lstStyle/>
          <a:p>
            <a:r>
              <a:rPr lang="en-US" sz="1400" b="1">
                <a:solidFill>
                  <a:srgbClr val="FFFFFF"/>
                </a:solidFill>
                <a:latin typeface="Trebuchet MS"/>
              </a:rPr>
              <a:t>CNN Model Development</a:t>
            </a:r>
            <a:endParaRPr lang="en-US"/>
          </a:p>
        </p:txBody>
      </p:sp>
      <p:sp>
        <p:nvSpPr>
          <p:cNvPr id="11" name="Shape 9">
            <a:extLst>
              <a:ext uri="{FF2B5EF4-FFF2-40B4-BE49-F238E27FC236}">
                <a16:creationId xmlns:a16="http://schemas.microsoft.com/office/drawing/2014/main" id="{06E21292-5A68-2116-F8F3-E4B71CE1CDA2}"/>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26953524-E134-78EB-E1F9-011FF455373E}"/>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84200415-3E31-8607-B56A-FF3FC7673127}"/>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2.2</a:t>
            </a:r>
            <a:endParaRPr lang="en-US" sz="2200" b="1" dirty="0">
              <a:solidFill>
                <a:srgbClr val="00A896"/>
              </a:solidFill>
              <a:latin typeface="Trebuchet MS"/>
            </a:endParaRPr>
          </a:p>
        </p:txBody>
      </p:sp>
      <p:sp>
        <p:nvSpPr>
          <p:cNvPr id="16" name="Text 14">
            <a:extLst>
              <a:ext uri="{FF2B5EF4-FFF2-40B4-BE49-F238E27FC236}">
                <a16:creationId xmlns:a16="http://schemas.microsoft.com/office/drawing/2014/main" id="{534DEB6F-45FC-AEF5-C409-D5FF250BAA50}"/>
              </a:ext>
            </a:extLst>
          </p:cNvPr>
          <p:cNvSpPr/>
          <p:nvPr/>
        </p:nvSpPr>
        <p:spPr>
          <a:xfrm>
            <a:off x="5440680" y="932688"/>
            <a:ext cx="3200400" cy="411480"/>
          </a:xfrm>
          <a:prstGeom prst="rect">
            <a:avLst/>
          </a:prstGeom>
          <a:noFill/>
          <a:ln/>
        </p:spPr>
        <p:txBody>
          <a:bodyPr wrap="square" lIns="0" tIns="0" rIns="0" bIns="0" rtlCol="0" anchor="ctr"/>
          <a:lstStyle/>
          <a:p>
            <a:r>
              <a:rPr lang="en-US" sz="1400" b="1" dirty="0">
                <a:solidFill>
                  <a:srgbClr val="FFFFFF"/>
                </a:solidFill>
                <a:latin typeface="Trebuchet MS"/>
                <a:ea typeface="Trebuchet MS" pitchFamily="34" charset="-122"/>
                <a:cs typeface="Trebuchet MS" pitchFamily="34" charset="-120"/>
              </a:rPr>
              <a:t>CNN </a:t>
            </a:r>
            <a:r>
              <a:rPr lang="en-US" sz="1400" b="1">
                <a:solidFill>
                  <a:srgbClr val="FFFFFF"/>
                </a:solidFill>
                <a:latin typeface="Trebuchet MS"/>
                <a:ea typeface="Trebuchet MS" pitchFamily="34" charset="-122"/>
                <a:cs typeface="Trebuchet MS" pitchFamily="34" charset="-120"/>
              </a:rPr>
              <a:t>Training Efficiency</a:t>
            </a:r>
            <a:endParaRPr lang="en-US" sz="1400">
              <a:latin typeface="Corbel"/>
            </a:endParaRPr>
          </a:p>
        </p:txBody>
      </p:sp>
      <p:sp>
        <p:nvSpPr>
          <p:cNvPr id="18" name="Shape 16">
            <a:extLst>
              <a:ext uri="{FF2B5EF4-FFF2-40B4-BE49-F238E27FC236}">
                <a16:creationId xmlns:a16="http://schemas.microsoft.com/office/drawing/2014/main" id="{077BC993-03BE-47AA-C96D-25FC5BFC0858}"/>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B0DAF62F-D0FC-382A-9C0D-4579869576AF}"/>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A1DC5693-2DC8-CD0B-D57E-21AB8B659DDB}"/>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2.3</a:t>
            </a:r>
            <a:endParaRPr lang="en-US" sz="2200" b="1" dirty="0">
              <a:solidFill>
                <a:srgbClr val="00A896"/>
              </a:solidFill>
              <a:latin typeface="Trebuchet MS"/>
            </a:endParaRPr>
          </a:p>
        </p:txBody>
      </p:sp>
      <p:sp>
        <p:nvSpPr>
          <p:cNvPr id="23" name="Text 21">
            <a:extLst>
              <a:ext uri="{FF2B5EF4-FFF2-40B4-BE49-F238E27FC236}">
                <a16:creationId xmlns:a16="http://schemas.microsoft.com/office/drawing/2014/main" id="{7BA1232D-3B7D-9344-6B80-EAE9DCEA4D7E}"/>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CNN Performance Evaluation</a:t>
            </a:r>
            <a:endParaRPr lang="en-US"/>
          </a:p>
        </p:txBody>
      </p:sp>
      <p:pic>
        <p:nvPicPr>
          <p:cNvPr id="7" name="Picture 8" descr="NOSSA™ | NOVA School of Science &amp; Technology">
            <a:extLst>
              <a:ext uri="{FF2B5EF4-FFF2-40B4-BE49-F238E27FC236}">
                <a16:creationId xmlns:a16="http://schemas.microsoft.com/office/drawing/2014/main" id="{FE1E5FDD-EC68-36C1-3496-C70F89340CF9}"/>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45582F91-F82F-6695-5ABA-AC153DC16ABC}"/>
              </a:ext>
            </a:extLst>
          </p:cNvPr>
          <p:cNvSpPr/>
          <p:nvPr/>
        </p:nvSpPr>
        <p:spPr>
          <a:xfrm>
            <a:off x="102717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Architectures  · Experiments · Augmentation · Regularization · Ensembles · Results</a:t>
            </a:r>
          </a:p>
        </p:txBody>
      </p:sp>
      <p:sp>
        <p:nvSpPr>
          <p:cNvPr id="8" name="Text 15">
            <a:extLst>
              <a:ext uri="{FF2B5EF4-FFF2-40B4-BE49-F238E27FC236}">
                <a16:creationId xmlns:a16="http://schemas.microsoft.com/office/drawing/2014/main" id="{E1A1C06B-B22B-F4BE-84EA-F8CC56FA0683}"/>
              </a:ext>
            </a:extLst>
          </p:cNvPr>
          <p:cNvSpPr/>
          <p:nvPr/>
        </p:nvSpPr>
        <p:spPr>
          <a:xfrm>
            <a:off x="541629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4" name="Text 22">
            <a:extLst>
              <a:ext uri="{FF2B5EF4-FFF2-40B4-BE49-F238E27FC236}">
                <a16:creationId xmlns:a16="http://schemas.microsoft.com/office/drawing/2014/main" id="{E7CF663A-2942-4EC2-15F0-D01B7DC858F3}"/>
              </a:ext>
            </a:extLst>
          </p:cNvPr>
          <p:cNvSpPr/>
          <p:nvPr/>
        </p:nvSpPr>
        <p:spPr>
          <a:xfrm>
            <a:off x="1027176" y="335584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spTree>
    <p:extLst>
      <p:ext uri="{BB962C8B-B14F-4D97-AF65-F5344CB8AC3E}">
        <p14:creationId xmlns:p14="http://schemas.microsoft.com/office/powerpoint/2010/main" val="16261591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2.1</a:t>
            </a:r>
            <a:endParaRPr lang="en-US" sz="3200"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7347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4" name="NumCircle"/>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nvGraphicFramePr>
        <p:xfrm>
          <a:off x="174433" y="1255677"/>
          <a:ext cx="8653017" cy="388782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2570359">
                  <a:extLst>
                    <a:ext uri="{9D8B030D-6E8A-4147-A177-3AD203B41FA5}">
                      <a16:colId xmlns:a16="http://schemas.microsoft.com/office/drawing/2014/main" val="2858452526"/>
                    </a:ext>
                  </a:extLst>
                </a:gridCol>
                <a:gridCol w="964747">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Name</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Model</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Criterion</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loss</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function</a:t>
                      </a:r>
                      <a:r>
                        <a:rPr lang="pt-PT" sz="1100" b="1" u="none" strike="noStrike" dirty="0">
                          <a:effectLst/>
                          <a:latin typeface="Calibri"/>
                          <a:ea typeface="Calibri"/>
                          <a:cs typeface="Calibri"/>
                        </a:rPr>
                        <a:t>)</a:t>
                      </a:r>
                      <a:endParaRPr lang="pt-PT" sz="1100" b="1" i="0" u="none" strike="noStrike"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Optimizer</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Purpose</a:t>
                      </a:r>
                      <a:endParaRPr lang="pt-PT" sz="1100" b="1" i="0" u="none" strike="noStrike">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LeNet5_base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LeNet5(conv=[6,16], fc=[120,84], pool=AvgPool2x2)</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Baseline</a:t>
                      </a:r>
                      <a:r>
                        <a:rPr lang="pt-PT" sz="1050" b="0" u="none" strike="noStrike" dirty="0">
                          <a:effectLst/>
                          <a:latin typeface="Calibri"/>
                          <a:ea typeface="Calibri"/>
                          <a:cs typeface="Calibri"/>
                        </a:rPr>
                        <a:t> - no </a:t>
                      </a:r>
                      <a:r>
                        <a:rPr lang="pt-PT" sz="1050" b="0" u="none" strike="noStrike">
                          <a:effectLst/>
                          <a:latin typeface="Calibri"/>
                          <a:ea typeface="Calibri"/>
                          <a:cs typeface="Calibri"/>
                        </a:rPr>
                        <a:t>regularization</a:t>
                      </a:r>
                      <a:r>
                        <a:rPr lang="pt-PT" sz="1050" b="0" u="none" strike="noStrike" dirty="0">
                          <a:effectLst/>
                          <a:latin typeface="Calibri"/>
                          <a:ea typeface="Calibri"/>
                          <a:cs typeface="Calibri"/>
                        </a:rPr>
                        <a:t>; compare performance </a:t>
                      </a:r>
                      <a:r>
                        <a:rPr lang="pt-PT" sz="1050" b="0" u="none" strike="noStrike" err="1">
                          <a:effectLst/>
                          <a:latin typeface="Calibri"/>
                          <a:ea typeface="Calibri"/>
                          <a:cs typeface="Calibri"/>
                        </a:rPr>
                        <a:t>with</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existing</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Simple_cw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CNN(</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CE +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Evaluate the performance of a simple 20k params CNN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Medium_dcw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Exploration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the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effects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multiple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convolution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and</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pooling</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layers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regularization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with</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inverse-frequency class weights in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CrossEntropyLoss</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and dropout</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H</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Medium_dwrs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(replaces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WeightedRandomSampler</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replaces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Deep_dwrs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DeepCNN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=[32x2,64x2,128],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=[128,9],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Deepen network with more conv + pool + non-linearity layers</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K</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Wide_dwrs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WideCNN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=[32,64,128,256],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Compare Deep vs Wide CNN; regularization with </a:t>
                      </a:r>
                      <a:r>
                        <a:rPr lang="en-US" sz="1050" b="0" i="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WeightedRandomSampler</a:t>
                      </a: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and dropout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MultiScale_dwrs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MultiScaleCNN</a:t>
                      </a:r>
                      <a:r>
                        <a:rPr lang="pt-PT" sz="1050" b="0" u="none" strike="noStrike" dirty="0">
                          <a:effectLst/>
                          <a:latin typeface="Calibri"/>
                          <a:ea typeface="Calibri"/>
                          <a:cs typeface="Calibri"/>
                        </a:rPr>
                        <a:t>(</a:t>
                      </a:r>
                      <a:r>
                        <a:rPr lang="pt-PT" sz="1050" b="0" u="none" strike="noStrike" err="1">
                          <a:effectLst/>
                          <a:latin typeface="Calibri"/>
                          <a:ea typeface="Calibri"/>
                          <a:cs typeface="Calibri"/>
                        </a:rPr>
                        <a:t>conv</a:t>
                      </a:r>
                      <a:r>
                        <a:rPr lang="pt-PT" sz="1050" b="0" u="none" strike="noStrike" dirty="0">
                          <a:effectLst/>
                          <a:latin typeface="Calibri"/>
                          <a:ea typeface="Calibri"/>
                          <a:cs typeface="Calibri"/>
                        </a:rPr>
                        <a:t>=[(3x3+5x5)-&gt;32, (3x3+5x5)-&gt;64, (3x3+5x5)-&gt;128], </a:t>
                      </a:r>
                      <a:r>
                        <a:rPr lang="pt-PT" sz="1050" b="0" u="none" strike="noStrike" err="1">
                          <a:effectLst/>
                          <a:latin typeface="Calibri"/>
                          <a:ea typeface="Calibri"/>
                          <a:cs typeface="Calibri"/>
                        </a:rPr>
                        <a:t>fc</a:t>
                      </a:r>
                      <a:r>
                        <a:rPr lang="pt-PT" sz="1050" b="0" u="none" strike="noStrike" dirty="0">
                          <a:effectLst/>
                          <a:latin typeface="Calibri"/>
                          <a:ea typeface="Calibri"/>
                          <a:cs typeface="Calibri"/>
                        </a:rPr>
                        <a:t>=[9], pool=MaxPool2x2+MaxPool2x2, </a:t>
                      </a:r>
                      <a:r>
                        <a:rPr lang="pt-PT" sz="1050" b="0" u="none" strike="noStrike" err="1">
                          <a:effectLst/>
                          <a:latin typeface="Calibri"/>
                          <a:ea typeface="Calibri"/>
                          <a:cs typeface="Calibri"/>
                        </a:rPr>
                        <a:t>drop</a:t>
                      </a:r>
                      <a:r>
                        <a:rPr lang="pt-PT" sz="1050" b="0" u="none" strike="noStrike" dirty="0">
                          <a:effectLst/>
                          <a:latin typeface="Calibri"/>
                          <a:ea typeface="Calibri"/>
                          <a:cs typeface="Calibri"/>
                        </a:rPr>
                        <a:t>=0.3, BN)</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dirty="0">
                          <a:solidFill>
                            <a:srgbClr val="000000"/>
                          </a:solidFill>
                          <a:effectLst/>
                          <a:latin typeface="Calibri"/>
                          <a:ea typeface="Calibri"/>
                          <a:cs typeface="Calibri"/>
                        </a:rPr>
                        <a:t>Capture </a:t>
                      </a:r>
                      <a:r>
                        <a:rPr lang="pt-PT" sz="1050" b="0" i="0" u="none" strike="noStrike" err="1">
                          <a:solidFill>
                            <a:srgbClr val="000000"/>
                          </a:solidFill>
                          <a:effectLst/>
                          <a:latin typeface="Calibri"/>
                          <a:ea typeface="Calibri"/>
                          <a:cs typeface="Calibri"/>
                        </a:rPr>
                        <a:t>multiple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granularities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simultaneously</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Residual_dwrs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ResidualCNN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=[64x2, 128x2, 256x2],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drop=0.4, BN, skip)</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Test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the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effects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of</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skipping</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layers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with</a:t>
                      </a:r>
                      <a:r>
                        <a:rPr lang="pt-PT" sz="1050" b="0" i="0" u="none" strike="noStrike" dirty="0">
                          <a:solidFill>
                            <a:srgbClr val="000000"/>
                          </a:solidFill>
                          <a:effectLst/>
                          <a:latin typeface="Calibri"/>
                          <a:ea typeface="Calibri"/>
                          <a:cs typeface="Calibri"/>
                        </a:rPr>
                        <a:t> a </a:t>
                      </a:r>
                      <a:r>
                        <a:rPr lang="pt-PT" sz="1050" b="0" i="0" u="none" strike="noStrike" err="1">
                          <a:solidFill>
                            <a:srgbClr val="000000"/>
                          </a:solidFill>
                          <a:effectLst/>
                          <a:latin typeface="Calibri"/>
                          <a:ea typeface="Calibri"/>
                          <a:cs typeface="Calibri"/>
                        </a:rPr>
                        <a:t>ResNet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explored different several different CNN architectures (number and size of Conv + Pool + FC layers, batch normalization, dropout, regularization, label smoothing, </a:t>
            </a:r>
            <a:r>
              <a:rPr lang="en-US" sz="1200" dirty="0" err="1">
                <a:solidFill>
                  <a:schemeClr val="bg1"/>
                </a:solidFill>
                <a:latin typeface="Calibri" pitchFamily="34" charset="0"/>
              </a:rPr>
              <a:t>WeightedRandomSampler</a:t>
            </a:r>
            <a:r>
              <a:rPr lang="en-US" sz="1200" dirty="0">
                <a:solidFill>
                  <a:schemeClr val="bg1"/>
                </a:solidFill>
                <a:latin typeface="Calibri" pitchFamily="34" charset="0"/>
              </a:rPr>
              <a:t>, and others). After getting a sense of the best ones, we explored different variations of them.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852406" y="3501648"/>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1549110"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pic>
        <p:nvPicPr>
          <p:cNvPr id="8" name="Graphic 7">
            <a:extLst>
              <a:ext uri="{FF2B5EF4-FFF2-40B4-BE49-F238E27FC236}">
                <a16:creationId xmlns:a16="http://schemas.microsoft.com/office/drawing/2014/main" id="{3B6DEE50-D237-157E-C9AF-8E5BED9A16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55261" y="475021"/>
            <a:ext cx="3626191" cy="4669983"/>
          </a:xfrm>
          <a:prstGeom prst="rect">
            <a:avLst/>
          </a:prstGeom>
        </p:spPr>
      </p:pic>
      <p:sp>
        <p:nvSpPr>
          <p:cNvPr id="13" name="Badge">
            <a:extLst>
              <a:ext uri="{FF2B5EF4-FFF2-40B4-BE49-F238E27FC236}">
                <a16:creationId xmlns:a16="http://schemas.microsoft.com/office/drawing/2014/main" id="{6290DB65-3642-0BC3-DBE8-40CBEB2EDE82}"/>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D2AA396D-045A-C446-7595-256EA235ED08}"/>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FA41F-4614-5B57-9F0A-61C1B19D928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9DA82D07-9DFC-17AF-BC82-7670C208C84D}"/>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E70981-1341-76D1-34AD-3ED054DB3F11}"/>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40" name="LeftCard">
            <a:extLst>
              <a:ext uri="{FF2B5EF4-FFF2-40B4-BE49-F238E27FC236}">
                <a16:creationId xmlns:a16="http://schemas.microsoft.com/office/drawing/2014/main" id="{A16806B3-3ECD-14A0-88AD-5B3A97096C13}"/>
              </a:ext>
            </a:extLst>
          </p:cNvPr>
          <p:cNvSpPr/>
          <p:nvPr/>
        </p:nvSpPr>
        <p:spPr>
          <a:xfrm>
            <a:off x="2747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a:extLst>
              <a:ext uri="{FF2B5EF4-FFF2-40B4-BE49-F238E27FC236}">
                <a16:creationId xmlns:a16="http://schemas.microsoft.com/office/drawing/2014/main" id="{9BDAF3A1-2951-AD7C-59CD-A826476E9619}"/>
              </a:ext>
            </a:extLst>
          </p:cNvPr>
          <p:cNvSpPr/>
          <p:nvPr/>
        </p:nvSpPr>
        <p:spPr>
          <a:xfrm>
            <a:off x="457679" y="1590281"/>
            <a:ext cx="3840480" cy="2816640"/>
          </a:xfrm>
          <a:prstGeom prst="rect">
            <a:avLst/>
          </a:prstGeom>
          <a:noFill/>
          <a:ln/>
        </p:spPr>
        <p:txBody>
          <a:bodyPr wrap="square" lIns="91440" tIns="45720" rIns="91440" bIns="45720" rtlCol="0" anchor="t"/>
          <a:lstStyle/>
          <a:p>
            <a:r>
              <a:rPr lang="en-US" sz="1300" b="1">
                <a:solidFill>
                  <a:srgbClr val="028090"/>
                </a:solidFill>
                <a:latin typeface="Trebuchet MS"/>
              </a:rPr>
              <a:t>Feature Extraction + </a:t>
            </a:r>
            <a:endParaRPr lang="en-US" sz="1300" b="1" dirty="0">
              <a:solidFill>
                <a:srgbClr val="028090"/>
              </a:solidFill>
              <a:latin typeface="Trebuchet MS" pitchFamily="34" charset="0"/>
            </a:endParaRPr>
          </a:p>
          <a:p>
            <a:pPr marL="228600" indent="-228600">
              <a:buChar char="•"/>
            </a:pPr>
            <a:r>
              <a:rPr lang="en-US" sz="1100" dirty="0">
                <a:solidFill>
                  <a:srgbClr val="1A2B3C"/>
                </a:solidFill>
                <a:latin typeface="Calibri"/>
                <a:ea typeface="Calibri"/>
                <a:cs typeface="Calibri"/>
              </a:rPr>
              <a:t>Progressive channel expansion forces the model to </a:t>
            </a:r>
            <a:r>
              <a:rPr lang="en-US" sz="1100">
                <a:solidFill>
                  <a:srgbClr val="1A2B3C"/>
                </a:solidFill>
                <a:latin typeface="Calibri"/>
                <a:ea typeface="Calibri"/>
                <a:cs typeface="Calibri"/>
              </a:rPr>
              <a:t>increasingly learn broader representations of the features</a:t>
            </a:r>
            <a:endParaRPr lang="en-US" sz="1100" err="1">
              <a:solidFill>
                <a:srgbClr val="1A2B3C"/>
              </a:solidFill>
              <a:latin typeface="Calibri"/>
              <a:ea typeface="Calibri"/>
              <a:cs typeface="Calibri"/>
            </a:endParaRPr>
          </a:p>
          <a:p>
            <a:pPr marL="228600" indent="-228600">
              <a:buChar char="•"/>
            </a:pPr>
            <a:r>
              <a:rPr lang="en-US" sz="1100">
                <a:solidFill>
                  <a:srgbClr val="1A2B3C"/>
                </a:solidFill>
                <a:latin typeface="Calibri"/>
                <a:ea typeface="Calibri"/>
                <a:cs typeface="Calibri"/>
              </a:rPr>
              <a:t>Coupled with a moderate number of convolution layers (3x3) allows us our model to learn both low, and higher-level features</a:t>
            </a:r>
            <a:endParaRPr lang="en-US" sz="1100" err="1">
              <a:solidFill>
                <a:srgbClr val="1A2B3C"/>
              </a:solidFill>
              <a:latin typeface="Calibri"/>
              <a:ea typeface="Calibri"/>
              <a:cs typeface="Calibri"/>
            </a:endParaRPr>
          </a:p>
          <a:p>
            <a:pPr marL="228600" indent="-228600">
              <a:buChar char="•"/>
            </a:pPr>
            <a:r>
              <a:rPr lang="en-US" sz="1100" dirty="0">
                <a:solidFill>
                  <a:srgbClr val="1A2B3C"/>
                </a:solidFill>
                <a:latin typeface="Calibri"/>
                <a:ea typeface="Calibri"/>
                <a:cs typeface="Calibri"/>
              </a:rPr>
              <a:t>Pooling to provide robustness (e.g. translation invariance and help with small rotations)</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a:ea typeface="Calibri"/>
                <a:cs typeface="Calibri"/>
              </a:rPr>
              <a:t>Narrow (e.g. 32-32-32): lower abstraction</a:t>
            </a:r>
          </a:p>
          <a:p>
            <a:pPr marL="685800" lvl="1" indent="-228600">
              <a:buChar char="•"/>
            </a:pPr>
            <a:r>
              <a:rPr lang="en-US" sz="1100" dirty="0">
                <a:solidFill>
                  <a:srgbClr val="1A2B3C"/>
                </a:solidFill>
                <a:latin typeface="Calibri"/>
                <a:ea typeface="Calibri"/>
                <a:cs typeface="Calibri"/>
              </a:rPr>
              <a:t>No convolution: as it was evident by comparing the results with MLP, having convolution layers helps the model generalize better</a:t>
            </a:r>
          </a:p>
          <a:p>
            <a:pPr marL="685800" lvl="1" indent="-228600">
              <a:buChar char="•"/>
            </a:pPr>
            <a:r>
              <a:rPr lang="en-US" sz="1100">
                <a:solidFill>
                  <a:srgbClr val="1A2B3C"/>
                </a:solidFill>
                <a:latin typeface="Calibri"/>
                <a:ea typeface="Calibri"/>
                <a:cs typeface="Calibri"/>
              </a:rPr>
              <a:t>Too deep: risk of overfitting; increased training time</a:t>
            </a:r>
          </a:p>
          <a:p>
            <a:pPr marL="685800" lvl="1" indent="-228600">
              <a:buChar char="•"/>
            </a:pPr>
            <a:r>
              <a:rPr lang="en-US" sz="1100">
                <a:solidFill>
                  <a:srgbClr val="1A2B3C"/>
                </a:solidFill>
                <a:latin typeface="Calibri"/>
                <a:ea typeface="Calibri"/>
                <a:cs typeface="Calibri"/>
              </a:rPr>
              <a:t>No pooling</a:t>
            </a:r>
          </a:p>
          <a:p>
            <a:pPr lvl="1"/>
            <a:endParaRPr lang="en-US" sz="1100" dirty="0">
              <a:solidFill>
                <a:srgbClr val="1A2B3C"/>
              </a:solidFill>
              <a:latin typeface="Calibri" pitchFamily="34" charset="0"/>
            </a:endParaRPr>
          </a:p>
        </p:txBody>
      </p:sp>
      <p:sp>
        <p:nvSpPr>
          <p:cNvPr id="42" name="RightCard">
            <a:extLst>
              <a:ext uri="{FF2B5EF4-FFF2-40B4-BE49-F238E27FC236}">
                <a16:creationId xmlns:a16="http://schemas.microsoft.com/office/drawing/2014/main" id="{4171A54E-3F95-E26C-C33E-4FE7468D5857}"/>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a:extLst>
              <a:ext uri="{FF2B5EF4-FFF2-40B4-BE49-F238E27FC236}">
                <a16:creationId xmlns:a16="http://schemas.microsoft.com/office/drawing/2014/main" id="{D58336A2-B898-41F8-1D2D-703775955E9C}"/>
              </a:ext>
            </a:extLst>
          </p:cNvPr>
          <p:cNvSpPr/>
          <p:nvPr/>
        </p:nvSpPr>
        <p:spPr>
          <a:xfrm>
            <a:off x="4847279" y="1590281"/>
            <a:ext cx="3840480" cy="2816640"/>
          </a:xfrm>
          <a:prstGeom prst="rect">
            <a:avLst/>
          </a:prstGeom>
          <a:noFill/>
          <a:ln/>
        </p:spPr>
        <p:txBody>
          <a:bodyPr wrap="square" lIns="91440" tIns="45720" rIns="91440" bIns="45720" rtlCol="0" anchor="t"/>
          <a:lstStyle/>
          <a:p>
            <a:pPr>
              <a:buNone/>
            </a:pPr>
            <a:r>
              <a:rPr lang="en-US" sz="1300" b="1" dirty="0" err="1">
                <a:solidFill>
                  <a:srgbClr val="028090"/>
                </a:solidFill>
                <a:latin typeface="Trebuchet MS"/>
              </a:rPr>
              <a:t>BatchNorm</a:t>
            </a:r>
            <a:r>
              <a:rPr lang="en-US" sz="1300" b="1" dirty="0">
                <a:solidFill>
                  <a:srgbClr val="028090"/>
                </a:solidFill>
                <a:latin typeface="Trebuchet MS"/>
              </a:rPr>
              <a:t> + </a:t>
            </a:r>
            <a:r>
              <a:rPr lang="en-US" sz="1300" b="1" dirty="0" err="1">
                <a:solidFill>
                  <a:srgbClr val="028090"/>
                </a:solidFill>
                <a:latin typeface="Trebuchet MS"/>
              </a:rPr>
              <a:t>ReLU</a:t>
            </a:r>
            <a:endParaRPr lang="en-US" dirty="0" err="1"/>
          </a:p>
          <a:p>
            <a:pPr marL="228600" indent="-228600">
              <a:buChar char="•"/>
            </a:pPr>
            <a:r>
              <a:rPr lang="en-US" sz="1100" b="1">
                <a:solidFill>
                  <a:srgbClr val="1A2B3C"/>
                </a:solidFill>
                <a:latin typeface="Calibri"/>
                <a:ea typeface="Calibri"/>
                <a:cs typeface="Calibri"/>
              </a:rPr>
              <a:t>BatchNorm2d after every Conv layer</a:t>
            </a:r>
          </a:p>
          <a:p>
            <a:pPr lvl="1"/>
            <a:r>
              <a:rPr lang="en-US" sz="1100">
                <a:solidFill>
                  <a:srgbClr val="1A2B3C"/>
                </a:solidFill>
                <a:latin typeface="Calibri"/>
                <a:ea typeface="Calibri"/>
                <a:cs typeface="Calibri"/>
              </a:rPr>
              <a:t>Normalization step which speeds up training and increases stability</a:t>
            </a:r>
            <a:endParaRPr lang="en-US" sz="1100" dirty="0">
              <a:solidFill>
                <a:srgbClr val="1A2B3C"/>
              </a:solidFill>
              <a:latin typeface="Calibri" pitchFamily="34" charset="0"/>
              <a:ea typeface="Calibri"/>
              <a:cs typeface="Calibri"/>
            </a:endParaRP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a:ea typeface="Calibri"/>
                <a:cs typeface="Calibri"/>
              </a:rPr>
              <a:t>No vanishing gradient for positive activations in small </a:t>
            </a:r>
            <a:r>
              <a:rPr lang="en-US" sz="1100">
                <a:solidFill>
                  <a:srgbClr val="1A2B3C"/>
                </a:solidFill>
                <a:latin typeface="Calibri"/>
                <a:ea typeface="Calibri"/>
                <a:cs typeface="Calibri"/>
              </a:rPr>
              <a:t>networks like the ones developed; simple and efficient</a:t>
            </a:r>
          </a:p>
        </p:txBody>
      </p:sp>
      <p:sp>
        <p:nvSpPr>
          <p:cNvPr id="11" name="Title">
            <a:extLst>
              <a:ext uri="{FF2B5EF4-FFF2-40B4-BE49-F238E27FC236}">
                <a16:creationId xmlns:a16="http://schemas.microsoft.com/office/drawing/2014/main" id="{D85A0A53-1B5F-8891-7A97-497305264F07}"/>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a:solidFill>
                  <a:srgbClr val="0D1B2A"/>
                </a:solidFill>
                <a:latin typeface="Trebuchet MS"/>
              </a:rPr>
              <a:t>Architecture:</a:t>
            </a:r>
            <a:endParaRPr lang="en-US"/>
          </a:p>
        </p:txBody>
      </p:sp>
      <p:sp>
        <p:nvSpPr>
          <p:cNvPr id="6" name="Badge">
            <a:extLst>
              <a:ext uri="{FF2B5EF4-FFF2-40B4-BE49-F238E27FC236}">
                <a16:creationId xmlns:a16="http://schemas.microsoft.com/office/drawing/2014/main" id="{2441FFA1-3287-41EE-263D-14786D672F9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E3FF0140-F3B5-4645-9471-5571E2A2BEBD}"/>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6613047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lIns="91440" tIns="45720" rIns="91440" bIns="45720" rtlCol="0" anchor="t"/>
          <a:lstStyle/>
          <a:p>
            <a:pPr>
              <a:buNone/>
            </a:pPr>
            <a:r>
              <a:rPr lang="en-US" sz="1400" b="1" dirty="0">
                <a:solidFill>
                  <a:srgbClr val="028090"/>
                </a:solidFill>
                <a:latin typeface="Trebuchet MS" pitchFamily="34" charset="0"/>
              </a:rPr>
              <a:t>Dropout (0.3)</a:t>
            </a:r>
          </a:p>
          <a:p>
            <a:r>
              <a:rPr lang="en-US" sz="1100" b="1">
                <a:solidFill>
                  <a:srgbClr val="1C3A52"/>
                </a:solidFill>
                <a:latin typeface="Calibri"/>
                <a:ea typeface="Calibri"/>
                <a:cs typeface="Calibri"/>
              </a:rPr>
              <a:t>Applied after Pooling (before FC layers)</a:t>
            </a:r>
          </a:p>
          <a:p>
            <a:pPr marL="228600" indent="-228600">
              <a:buChar char="•"/>
            </a:pPr>
            <a:r>
              <a:rPr lang="en-US" sz="1100">
                <a:solidFill>
                  <a:srgbClr val="1A2B3C"/>
                </a:solidFill>
                <a:latin typeface="Calibri"/>
                <a:ea typeface="Calibri"/>
                <a:cs typeface="Calibri"/>
              </a:rPr>
              <a:t>Randomly zeroes p% of neurons </a:t>
            </a:r>
            <a:r>
              <a:rPr lang="en-US" sz="1100" dirty="0">
                <a:solidFill>
                  <a:srgbClr val="1A2B3C"/>
                </a:solidFill>
                <a:latin typeface="Calibri"/>
                <a:ea typeface="Calibri"/>
                <a:cs typeface="Calibri"/>
              </a:rPr>
              <a:t>each forward pass</a:t>
            </a:r>
          </a:p>
          <a:p>
            <a:pPr marL="228600" indent="-228600">
              <a:buChar char="•"/>
            </a:pPr>
            <a:r>
              <a:rPr lang="en-US" sz="1100" dirty="0">
                <a:solidFill>
                  <a:srgbClr val="1A2B3C"/>
                </a:solidFill>
                <a:latin typeface="Calibri" pitchFamily="34" charset="0"/>
              </a:rPr>
              <a:t>Prevents co-adaptation, forces redundant representations</a:t>
            </a:r>
          </a:p>
          <a:p>
            <a:r>
              <a:rPr lang="en-US" sz="1100" b="1">
                <a:solidFill>
                  <a:srgbClr val="1C3A52"/>
                </a:solidFill>
                <a:latin typeface="Calibri"/>
                <a:ea typeface="Calibri"/>
                <a:cs typeface="Calibri"/>
              </a:rPr>
              <a:t>Why 0.3?:</a:t>
            </a:r>
          </a:p>
          <a:p>
            <a:pPr marL="228600" indent="-228600">
              <a:buFont typeface="Arial"/>
              <a:buChar char="•"/>
            </a:pPr>
            <a:r>
              <a:rPr lang="en-US" sz="1100" dirty="0">
                <a:solidFill>
                  <a:srgbClr val="1A2B3C"/>
                </a:solidFill>
                <a:latin typeface="Calibri"/>
                <a:ea typeface="Calibri"/>
                <a:cs typeface="Calibri"/>
              </a:rPr>
              <a:t>Multiple values were tested (0.1, 0.15, 0.2, 0.3, 0.4, 0.5); 0.3 is the sweet spot - not too much regularization, not too </a:t>
            </a:r>
            <a:r>
              <a:rPr lang="en-US" sz="1100">
                <a:solidFill>
                  <a:srgbClr val="1A2B3C"/>
                </a:solidFill>
                <a:latin typeface="Calibri"/>
                <a:ea typeface="Calibri"/>
                <a:cs typeface="Calibri"/>
              </a:rPr>
              <a:t>little</a:t>
            </a:r>
            <a:endParaRPr lang="en-US" sz="1100">
              <a:solidFill>
                <a:srgbClr val="1A2B3C"/>
              </a:solidFill>
              <a:latin typeface="Calibri" pitchFamily="34" charset="0"/>
              <a:ea typeface="Calibri"/>
              <a:cs typeface="Calibri"/>
            </a:endParaRP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Label Smoothing (0.1)</a:t>
            </a:r>
          </a:p>
          <a:p>
            <a:r>
              <a:rPr lang="en-US" sz="1100" b="1">
                <a:solidFill>
                  <a:srgbClr val="1C3A52"/>
                </a:solidFill>
                <a:latin typeface="Calibri"/>
                <a:ea typeface="Calibri"/>
                <a:cs typeface="Calibri"/>
              </a:rPr>
              <a:t>Decreased effectiveness when compared to MLPs. Idea:</a:t>
            </a:r>
            <a:endParaRPr lang="en-US" sz="1100" b="1">
              <a:solidFill>
                <a:srgbClr val="1C3A52"/>
              </a:solidFill>
              <a:latin typeface="Calibri" pitchFamily="34" charset="0"/>
              <a:ea typeface="Calibri"/>
              <a:cs typeface="Calibri"/>
            </a:endParaRPr>
          </a:p>
          <a:p>
            <a:pPr marL="228600" indent="-228600">
              <a:buChar char="•"/>
            </a:pPr>
            <a:r>
              <a:rPr lang="en-US" sz="1100" dirty="0">
                <a:solidFill>
                  <a:srgbClr val="1A2B3C"/>
                </a:solidFill>
                <a:latin typeface="Calibri"/>
                <a:ea typeface="Calibri"/>
                <a:cs typeface="Calibri"/>
              </a:rPr>
              <a:t>Softens hard one-hot targets </a:t>
            </a:r>
            <a:r>
              <a:rPr lang="en-US" sz="1100">
                <a:solidFill>
                  <a:srgbClr val="1A2B3C"/>
                </a:solidFill>
                <a:latin typeface="Calibri"/>
                <a:ea typeface="Calibri"/>
                <a:cs typeface="Calibri"/>
              </a:rPr>
              <a:t>(0.9/0.1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a:ea typeface="Calibri"/>
                <a:cs typeface="Calibri"/>
              </a:rPr>
              <a:t>Key on noisy boundaries — Bug/Grass and Rock/Ground share </a:t>
            </a:r>
            <a:r>
              <a:rPr lang="en-US" sz="1100" dirty="0" err="1">
                <a:solidFill>
                  <a:srgbClr val="1A2B3C"/>
                </a:solidFill>
                <a:latin typeface="Calibri"/>
                <a:ea typeface="Calibri"/>
                <a:cs typeface="Calibri"/>
              </a:rPr>
              <a:t>colour</a:t>
            </a:r>
            <a:r>
              <a:rPr lang="en-US" sz="1100" dirty="0">
                <a:solidFill>
                  <a:srgbClr val="1A2B3C"/>
                </a:solidFill>
                <a:latin typeface="Calibri"/>
                <a:ea typeface="Calibri"/>
                <a:cs typeface="Calibri"/>
              </a:rPr>
              <a:t> palettes</a:t>
            </a:r>
          </a:p>
          <a:p>
            <a:pPr>
              <a:buNone/>
            </a:pPr>
            <a:r>
              <a:rPr lang="en-US" sz="1100" b="1">
                <a:solidFill>
                  <a:srgbClr val="1C3A52"/>
                </a:solidFill>
                <a:latin typeface="Calibri"/>
                <a:ea typeface="Calibri"/>
                <a:cs typeface="Calibri"/>
              </a:rPr>
              <a:t>BUT:</a:t>
            </a:r>
          </a:p>
          <a:p>
            <a:pPr marL="228600" indent="-228600">
              <a:buChar char="•"/>
            </a:pPr>
            <a:r>
              <a:rPr lang="en-US" sz="1100">
                <a:solidFill>
                  <a:srgbClr val="1A2B3C"/>
                </a:solidFill>
                <a:latin typeface="Calibri"/>
                <a:ea typeface="Calibri"/>
                <a:cs typeface="Calibri"/>
              </a:rPr>
              <a:t>LS=0.1 (F) = 0.9750 vs LS=0.0 </a:t>
            </a:r>
            <a:r>
              <a:rPr lang="en-US" sz="1100" dirty="0">
                <a:solidFill>
                  <a:srgbClr val="1A2B3C"/>
                </a:solidFill>
                <a:latin typeface="Calibri"/>
                <a:ea typeface="Calibri"/>
                <a:cs typeface="Calibri"/>
              </a:rPr>
              <a:t>(C) = </a:t>
            </a:r>
            <a:r>
              <a:rPr lang="en-US" sz="1100">
                <a:solidFill>
                  <a:srgbClr val="1A2B3C"/>
                </a:solidFill>
                <a:latin typeface="Calibri"/>
                <a:ea typeface="Calibri"/>
                <a:cs typeface="Calibri"/>
              </a:rPr>
              <a:t>0.9880 — tiny decrease</a:t>
            </a:r>
          </a:p>
          <a:p>
            <a:endParaRPr lang="en-US" sz="1100" dirty="0">
              <a:solidFill>
                <a:srgbClr val="1A2B3C"/>
              </a:solidFill>
              <a:latin typeface="Calibri"/>
              <a:ea typeface="Calibri"/>
              <a:cs typeface="Calibri"/>
            </a:endParaRPr>
          </a:p>
          <a:p>
            <a:r>
              <a:rPr lang="en-US" sz="1100" dirty="0">
                <a:solidFill>
                  <a:srgbClr val="1A2B3C"/>
                </a:solidFill>
                <a:latin typeface="Calibri"/>
                <a:ea typeface="Calibri"/>
                <a:cs typeface="Calibri"/>
              </a:rPr>
              <a:t>A lot of models can effectively </a:t>
            </a:r>
            <a:r>
              <a:rPr lang="en-US" sz="1100">
                <a:solidFill>
                  <a:srgbClr val="1A2B3C"/>
                </a:solidFill>
                <a:latin typeface="Calibri"/>
                <a:ea typeface="Calibri"/>
                <a:cs typeface="Calibri"/>
              </a:rPr>
              <a:t>converge to a near-perfect validation score, adding label smoothing adds unnecessary </a:t>
            </a:r>
            <a:r>
              <a:rPr lang="en-US" sz="1100" dirty="0">
                <a:solidFill>
                  <a:srgbClr val="1A2B3C"/>
                </a:solidFill>
                <a:latin typeface="Calibri"/>
                <a:ea typeface="Calibri"/>
                <a:cs typeface="Calibri"/>
              </a:rPr>
              <a:t>noise</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lIns="91440" tIns="45720" rIns="91440" bIns="45720" rtlCol="0" anchor="t"/>
          <a:lstStyle/>
          <a:p>
            <a:pPr>
              <a:buNone/>
            </a:pPr>
            <a:r>
              <a:rPr lang="en-US" sz="1400" b="1" dirty="0">
                <a:solidFill>
                  <a:srgbClr val="1C3A52"/>
                </a:solidFill>
                <a:latin typeface="Trebuchet MS" pitchFamily="34" charset="0"/>
              </a:rPr>
              <a:t>Imbalance Handling</a:t>
            </a:r>
          </a:p>
          <a:p>
            <a:r>
              <a:rPr lang="en-US" sz="1100" b="1" dirty="0">
                <a:solidFill>
                  <a:srgbClr val="1C3A52"/>
                </a:solidFill>
                <a:latin typeface="Calibri"/>
                <a:ea typeface="Calibri"/>
                <a:cs typeface="Calibri"/>
              </a:rPr>
              <a:t>Weighted </a:t>
            </a:r>
            <a:r>
              <a:rPr lang="en-US" sz="1100" b="1" err="1">
                <a:solidFill>
                  <a:srgbClr val="1C3A52"/>
                </a:solidFill>
                <a:latin typeface="Calibri"/>
                <a:ea typeface="Calibri"/>
                <a:cs typeface="Calibri"/>
              </a:rPr>
              <a:t>CrossEntropyLoss</a:t>
            </a:r>
            <a:r>
              <a:rPr lang="en-US" sz="1100" b="1" dirty="0">
                <a:solidFill>
                  <a:srgbClr val="1C3A52"/>
                </a:solidFill>
                <a:latin typeface="Calibri"/>
                <a:ea typeface="Calibri"/>
                <a:cs typeface="Calibri"/>
              </a:rPr>
              <a:t>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r>
              <a:rPr lang="en-US" sz="1100" b="1" dirty="0" err="1">
                <a:solidFill>
                  <a:srgbClr val="1C3A52"/>
                </a:solidFill>
                <a:latin typeface="Calibri"/>
                <a:ea typeface="Calibri"/>
                <a:cs typeface="Calibri"/>
              </a:rPr>
              <a:t>WeightedRandomSampler</a:t>
            </a:r>
            <a:r>
              <a:rPr lang="en-US" sz="1100" b="1" dirty="0">
                <a:solidFill>
                  <a:srgbClr val="1C3A52"/>
                </a:solidFill>
                <a:latin typeface="Calibri"/>
                <a:ea typeface="Calibri"/>
                <a:cs typeface="Calibri"/>
              </a:rPr>
              <a:t> (tested separately) - most impactful single change</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r>
              <a:rPr lang="en-US" sz="1100" b="1">
                <a:solidFill>
                  <a:srgbClr val="C0392B"/>
                </a:solidFill>
                <a:latin typeface="Calibri"/>
                <a:ea typeface="Calibri"/>
                <a:cs typeface="Calibri"/>
              </a:rPr>
              <a:t>Pitfall: CW + Sampler together can pose a problem</a:t>
            </a:r>
            <a:endParaRPr lang="en-US" sz="1100" b="1">
              <a:solidFill>
                <a:srgbClr val="C0392B"/>
              </a:solidFill>
              <a:latin typeface="Calibri" pitchFamily="34" charset="0"/>
              <a:ea typeface="Calibri"/>
              <a:cs typeface="Calibri"/>
            </a:endParaRPr>
          </a:p>
          <a:p>
            <a:pPr marL="228600" indent="-228600">
              <a:buFont typeface="Arial"/>
              <a:buChar char="•"/>
            </a:pPr>
            <a:r>
              <a:rPr lang="en-US" sz="1100" dirty="0">
                <a:solidFill>
                  <a:srgbClr val="1A2B3C"/>
                </a:solidFill>
                <a:latin typeface="Calibri"/>
                <a:ea typeface="Calibri"/>
                <a:cs typeface="Calibri"/>
              </a:rPr>
              <a:t>As seen in the previous task</a:t>
            </a:r>
            <a:endParaRPr lang="en-US" dirty="0"/>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15" name="Badge">
            <a:extLst>
              <a:ext uri="{FF2B5EF4-FFF2-40B4-BE49-F238E27FC236}">
                <a16:creationId xmlns:a16="http://schemas.microsoft.com/office/drawing/2014/main" id="{126339B8-3404-3014-9413-7BB1812D9E3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B9C98147-9059-627A-B0EE-F6A32AC7B17B}"/>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lIns="91440" tIns="45720" rIns="91440" bIns="45720" rtlCol="0" anchor="t"/>
          <a:lstStyle/>
          <a:p>
            <a:pPr>
              <a:buNone/>
            </a:pPr>
            <a:r>
              <a:rPr lang="en-US" sz="1400" b="1" dirty="0" err="1">
                <a:solidFill>
                  <a:srgbClr val="028090"/>
                </a:solidFill>
                <a:latin typeface="Trebuchet MS"/>
              </a:rPr>
              <a:t>Optimiser</a:t>
            </a:r>
            <a:r>
              <a:rPr lang="en-US" sz="1400" b="1" dirty="0">
                <a:solidFill>
                  <a:srgbClr val="028090"/>
                </a:solidFill>
                <a:latin typeface="Trebuchet MS"/>
              </a:rPr>
              <a:t> + Scheduler</a:t>
            </a:r>
          </a:p>
          <a:p>
            <a:pPr marL="228600" indent="-228600">
              <a:buChar char="•"/>
            </a:pPr>
            <a:r>
              <a:rPr lang="en-US" sz="1200" b="1" dirty="0">
                <a:solidFill>
                  <a:srgbClr val="1C3A52"/>
                </a:solidFill>
                <a:latin typeface="Calibri"/>
                <a:ea typeface="Calibri"/>
                <a:cs typeface="Calibri"/>
              </a:rPr>
              <a:t>Adam </a:t>
            </a:r>
            <a:r>
              <a:rPr lang="en-US" sz="1200" b="1" dirty="0" err="1">
                <a:solidFill>
                  <a:srgbClr val="1C3A52"/>
                </a:solidFill>
                <a:latin typeface="Calibri"/>
                <a:ea typeface="Calibri"/>
                <a:cs typeface="Calibri"/>
              </a:rPr>
              <a:t>lr</a:t>
            </a:r>
            <a:r>
              <a:rPr lang="en-US" sz="1200" b="1" dirty="0">
                <a:solidFill>
                  <a:srgbClr val="1C3A52"/>
                </a:solidFill>
                <a:latin typeface="Calibri"/>
                <a:ea typeface="Calibri"/>
                <a:cs typeface="Calibri"/>
              </a:rPr>
              <a:t>=1e-3 </a:t>
            </a:r>
            <a:r>
              <a:rPr lang="en-US" sz="1200" dirty="0">
                <a:solidFill>
                  <a:srgbClr val="1A2B3C"/>
                </a:solidFill>
                <a:latin typeface="Calibri"/>
                <a:ea typeface="Calibri"/>
                <a:cs typeface="Calibri"/>
              </a:rPr>
              <a:t>— robust adaptive LR, standard for CNNs (Kingma &amp; Ba, 2015)</a:t>
            </a:r>
          </a:p>
          <a:p>
            <a:pPr marL="228600" indent="-228600">
              <a:buChar char="•"/>
            </a:pPr>
            <a:r>
              <a:rPr lang="en-US" sz="1200" b="1" dirty="0" err="1">
                <a:solidFill>
                  <a:srgbClr val="1C3A52"/>
                </a:solidFill>
                <a:latin typeface="Calibri"/>
                <a:ea typeface="Calibri"/>
                <a:cs typeface="Calibri"/>
              </a:rPr>
              <a:t>StepLR</a:t>
            </a:r>
            <a:r>
              <a:rPr lang="en-US" sz="1200" b="1" dirty="0">
                <a:solidFill>
                  <a:srgbClr val="1C3A52"/>
                </a:solidFill>
                <a:latin typeface="Calibri"/>
                <a:ea typeface="Calibri"/>
                <a:cs typeface="Calibri"/>
              </a:rPr>
              <a:t>(step=5, gamma=0.5) </a:t>
            </a:r>
            <a:r>
              <a:rPr lang="en-US" sz="1200" dirty="0">
                <a:solidFill>
                  <a:srgbClr val="1A2B3C"/>
                </a:solidFill>
                <a:latin typeface="Calibri"/>
                <a:ea typeface="Calibri"/>
                <a:cs typeface="Calibri"/>
              </a:rPr>
              <a:t>— halves LR every 5 epochs; </a:t>
            </a:r>
            <a:r>
              <a:rPr lang="en-US" sz="1200" dirty="0" err="1">
                <a:solidFill>
                  <a:srgbClr val="1A2B3C"/>
                </a:solidFill>
                <a:latin typeface="Calibri"/>
                <a:ea typeface="Calibri"/>
                <a:cs typeface="Calibri"/>
              </a:rPr>
              <a:t>CosineAnnealingLR</a:t>
            </a:r>
            <a:r>
              <a:rPr lang="en-US" sz="1200" dirty="0">
                <a:solidFill>
                  <a:srgbClr val="1A2B3C"/>
                </a:solidFill>
                <a:latin typeface="Calibri"/>
                <a:ea typeface="Calibri"/>
                <a:cs typeface="Calibri"/>
              </a:rPr>
              <a:t> also tested but similar results</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8" name="Badge">
            <a:extLst>
              <a:ext uri="{FF2B5EF4-FFF2-40B4-BE49-F238E27FC236}">
                <a16:creationId xmlns:a16="http://schemas.microsoft.com/office/drawing/2014/main" id="{FD79B158-A654-9152-AFE8-A8A17209200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371472B0-C293-A262-4D3E-C9008B9E80F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There were multiple models that reached a validation Macro-Averaged F1-Score of 1.0, we chose the one that balanced fastest converging with fewest parameters, which was model M - Deep CNN. We then applied different pipelines of pre-</a:t>
            </a:r>
            <a:r>
              <a:rPr lang="en-US" sz="1200">
                <a:solidFill>
                  <a:schemeClr val="bg1"/>
                </a:solidFill>
                <a:latin typeface="Calibri"/>
                <a:ea typeface="Calibri"/>
                <a:cs typeface="Calibri"/>
              </a:rPr>
              <a:t>processing and data augmentation.</a:t>
            </a:r>
            <a:endParaRPr lang="en-US" sz="1200" dirty="0">
              <a:solidFill>
                <a:schemeClr val="bg1"/>
              </a:solidFill>
              <a:latin typeface="Calibri"/>
              <a:ea typeface="Calibri"/>
              <a:cs typeface="Calibri"/>
            </a:endParaRP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buNone/>
            </a:pPr>
            <a:r>
              <a:rPr lang="en-US" sz="1300" b="1" dirty="0">
                <a:solidFill>
                  <a:srgbClr val="028090"/>
                </a:solidFill>
                <a:latin typeface="Calibri"/>
              </a:rPr>
              <a:t>Grayscale </a:t>
            </a:r>
          </a:p>
          <a:p>
            <a:pPr algn="ctr"/>
            <a:r>
              <a:rPr lang="en-US" sz="1300" dirty="0">
                <a:solidFill>
                  <a:srgbClr val="1A2B3C"/>
                </a:solidFill>
                <a:latin typeface="Calibri"/>
              </a:rPr>
              <a:t>A 64x64 RGB image results in an initial vector of length = 12.288. If we convert to grayscale the size is reduced by 3, to 4096. Are we able to achieve similar results with this smaller input?  Turns out no. </a:t>
            </a:r>
            <a:r>
              <a:rPr lang="en-US" sz="1300" err="1">
                <a:solidFill>
                  <a:srgbClr val="1A2B3C"/>
                </a:solidFill>
                <a:latin typeface="Calibri"/>
              </a:rPr>
              <a:t>Pokemon</a:t>
            </a:r>
            <a:r>
              <a:rPr lang="en-US" sz="1300" dirty="0">
                <a:solidFill>
                  <a:srgbClr val="1A2B3C"/>
                </a:solidFill>
                <a:latin typeface="Calibri"/>
              </a:rPr>
              <a:t> classi</a:t>
            </a:r>
            <a:r>
              <a:rPr lang="en-US" sz="1300" err="1">
                <a:solidFill>
                  <a:srgbClr val="1A2B3C"/>
                </a:solidFill>
                <a:latin typeface="Calibri"/>
              </a:rPr>
              <a:t>ficatio</a:t>
            </a:r>
            <a:r>
              <a:rPr lang="en-US" sz="1300" dirty="0">
                <a:solidFill>
                  <a:srgbClr val="1A2B3C"/>
                </a:solidFill>
                <a:latin typeface="Calibri"/>
              </a:rPr>
              <a:t>n is strongly color-dependent (Fire=orange, water=blue, poison=purple, </a:t>
            </a:r>
            <a:r>
              <a:rPr lang="en-US" sz="1300">
                <a:solidFill>
                  <a:srgbClr val="1A2B3C"/>
                </a:solidFill>
                <a:latin typeface="Calibri"/>
              </a:rPr>
              <a:t>grass=green, ...)</a:t>
            </a:r>
            <a:endParaRPr lang="en-US" sz="1300">
              <a:solidFill>
                <a:srgbClr val="1A2B3C"/>
              </a:solidFill>
              <a:latin typeface="Calibri"/>
              <a:ea typeface="Calibri"/>
              <a:cs typeface="Calibri"/>
            </a:endParaRPr>
          </a:p>
          <a:p>
            <a:pPr algn="ctr"/>
            <a:endParaRPr lang="en-US" sz="1300" dirty="0">
              <a:solidFill>
                <a:srgbClr val="1A2B3C"/>
              </a:solidFill>
              <a:latin typeface="Calibri"/>
              <a:ea typeface="Calibri"/>
              <a:cs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r>
              <a:rPr lang="en-US" sz="1400" dirty="0">
                <a:solidFill>
                  <a:srgbClr val="1C3A52"/>
                </a:solidFill>
                <a:latin typeface="Calibri"/>
              </a:rPr>
              <a:t>In the previous task we mentioned that CNNs could benefit from this type of data augmentation, however, doing it gave us WORSE results. Why did this happen? Isn't training with slightly different variants of our images helpful for generalization? This is explored in the next slide.</a:t>
            </a:r>
            <a:endParaRPr lang="en-US" sz="1400" dirty="0">
              <a:solidFill>
                <a:srgbClr val="1C3A52"/>
              </a:solidFill>
              <a:latin typeface="Calibri"/>
              <a:ea typeface="Calibri"/>
              <a:cs typeface="Calibri"/>
            </a:endParaRPr>
          </a:p>
        </p:txBody>
      </p:sp>
      <p:pic>
        <p:nvPicPr>
          <p:cNvPr id="7" name="Picture 6" descr="A green and blue rectangle with black text&#10;&#10;AI-generated content may be incorrect.">
            <a:extLst>
              <a:ext uri="{FF2B5EF4-FFF2-40B4-BE49-F238E27FC236}">
                <a16:creationId xmlns:a16="http://schemas.microsoft.com/office/drawing/2014/main" id="{BA7A2BDF-A57A-9369-8AEF-BA118B76C6D5}"/>
              </a:ext>
            </a:extLst>
          </p:cNvPr>
          <p:cNvPicPr>
            <a:picLocks noChangeAspect="1"/>
          </p:cNvPicPr>
          <p:nvPr/>
        </p:nvPicPr>
        <p:blipFill>
          <a:blip r:embed="rId2"/>
          <a:srcRect r="45073" b="1075"/>
          <a:stretch>
            <a:fillRect/>
          </a:stretch>
        </p:blipFill>
        <p:spPr>
          <a:xfrm>
            <a:off x="410198" y="3719794"/>
            <a:ext cx="2107104" cy="739085"/>
          </a:xfrm>
          <a:prstGeom prst="rect">
            <a:avLst/>
          </a:prstGeom>
        </p:spPr>
      </p:pic>
      <p:sp>
        <p:nvSpPr>
          <p:cNvPr id="16" name="TextBox 15">
            <a:extLst>
              <a:ext uri="{FF2B5EF4-FFF2-40B4-BE49-F238E27FC236}">
                <a16:creationId xmlns:a16="http://schemas.microsoft.com/office/drawing/2014/main" id="{FD0D12E7-38EE-4D59-7537-F5A5AC20B2DA}"/>
              </a:ext>
            </a:extLst>
          </p:cNvPr>
          <p:cNvSpPr txBox="1"/>
          <p:nvPr/>
        </p:nvSpPr>
        <p:spPr>
          <a:xfrm>
            <a:off x="2810705" y="4228745"/>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-4.81%!</a:t>
            </a:r>
          </a:p>
        </p:txBody>
      </p:sp>
      <p:pic>
        <p:nvPicPr>
          <p:cNvPr id="17" name="Picture 16" descr="A green and blue rectangle with black text&#10;&#10;AI-generated content may be incorrect.">
            <a:extLst>
              <a:ext uri="{FF2B5EF4-FFF2-40B4-BE49-F238E27FC236}">
                <a16:creationId xmlns:a16="http://schemas.microsoft.com/office/drawing/2014/main" id="{4913A525-002F-C934-62F6-5FB4F69C5410}"/>
              </a:ext>
            </a:extLst>
          </p:cNvPr>
          <p:cNvPicPr>
            <a:picLocks noChangeAspect="1"/>
          </p:cNvPicPr>
          <p:nvPr/>
        </p:nvPicPr>
        <p:blipFill>
          <a:blip r:embed="rId2"/>
          <a:srcRect r="45073" b="1075"/>
          <a:stretch>
            <a:fillRect/>
          </a:stretch>
        </p:blipFill>
        <p:spPr>
          <a:xfrm>
            <a:off x="4775372" y="3710108"/>
            <a:ext cx="2107104" cy="739085"/>
          </a:xfrm>
          <a:prstGeom prst="rect">
            <a:avLst/>
          </a:prstGeom>
        </p:spPr>
      </p:pic>
      <p:sp>
        <p:nvSpPr>
          <p:cNvPr id="23" name="TextBox 22">
            <a:extLst>
              <a:ext uri="{FF2B5EF4-FFF2-40B4-BE49-F238E27FC236}">
                <a16:creationId xmlns:a16="http://schemas.microsoft.com/office/drawing/2014/main" id="{77FDADCB-1C13-BF33-8976-E9729F56FD9C}"/>
              </a:ext>
            </a:extLst>
          </p:cNvPr>
          <p:cNvSpPr txBox="1"/>
          <p:nvPr/>
        </p:nvSpPr>
        <p:spPr>
          <a:xfrm>
            <a:off x="7280793" y="4228744"/>
            <a:ext cx="141940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-1.5%!</a:t>
            </a:r>
          </a:p>
        </p:txBody>
      </p:sp>
      <p:pic>
        <p:nvPicPr>
          <p:cNvPr id="6" name="Picture 5">
            <a:extLst>
              <a:ext uri="{FF2B5EF4-FFF2-40B4-BE49-F238E27FC236}">
                <a16:creationId xmlns:a16="http://schemas.microsoft.com/office/drawing/2014/main" id="{5263C5E9-40E0-D9BE-563C-92D3111D2F54}"/>
              </a:ext>
            </a:extLst>
          </p:cNvPr>
          <p:cNvPicPr>
            <a:picLocks noChangeAspect="1"/>
          </p:cNvPicPr>
          <p:nvPr/>
        </p:nvPicPr>
        <p:blipFill>
          <a:blip r:embed="rId3"/>
          <a:srcRect l="-127" t="-1004" r="583" b="-6007"/>
          <a:stretch>
            <a:fillRect/>
          </a:stretch>
        </p:blipFill>
        <p:spPr>
          <a:xfrm>
            <a:off x="410198" y="4455964"/>
            <a:ext cx="2109236" cy="233399"/>
          </a:xfrm>
          <a:prstGeom prst="rect">
            <a:avLst/>
          </a:prstGeom>
        </p:spPr>
      </p:pic>
      <p:pic>
        <p:nvPicPr>
          <p:cNvPr id="9" name="Picture 8">
            <a:extLst>
              <a:ext uri="{FF2B5EF4-FFF2-40B4-BE49-F238E27FC236}">
                <a16:creationId xmlns:a16="http://schemas.microsoft.com/office/drawing/2014/main" id="{B01B9F67-192D-5CF2-09BE-E5E8A5B61B33}"/>
              </a:ext>
            </a:extLst>
          </p:cNvPr>
          <p:cNvPicPr>
            <a:picLocks noChangeAspect="1"/>
          </p:cNvPicPr>
          <p:nvPr/>
        </p:nvPicPr>
        <p:blipFill>
          <a:blip r:embed="rId4"/>
          <a:stretch>
            <a:fillRect/>
          </a:stretch>
        </p:blipFill>
        <p:spPr>
          <a:xfrm>
            <a:off x="4785586" y="4458264"/>
            <a:ext cx="2110676" cy="227471"/>
          </a:xfrm>
          <a:prstGeom prst="rect">
            <a:avLst/>
          </a:prstGeom>
        </p:spPr>
      </p:pic>
      <p:sp>
        <p:nvSpPr>
          <p:cNvPr id="8" name="Text 8">
            <a:extLst>
              <a:ext uri="{FF2B5EF4-FFF2-40B4-BE49-F238E27FC236}">
                <a16:creationId xmlns:a16="http://schemas.microsoft.com/office/drawing/2014/main" id="{11F270A3-E9C8-93A2-E2A3-54B392C4C4F0}"/>
              </a:ext>
            </a:extLst>
          </p:cNvPr>
          <p:cNvSpPr/>
          <p:nvPr/>
        </p:nvSpPr>
        <p:spPr>
          <a:xfrm>
            <a:off x="4339292" y="4761855"/>
            <a:ext cx="4535193" cy="371181"/>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Note that we tried very simple augmentation processes for this analysis; stronger augmentation gave us even worse results</a:t>
            </a:r>
            <a:endParaRPr lang="en-US" dirty="0"/>
          </a:p>
        </p:txBody>
      </p:sp>
      <p:sp>
        <p:nvSpPr>
          <p:cNvPr id="12" name="Badge">
            <a:extLst>
              <a:ext uri="{FF2B5EF4-FFF2-40B4-BE49-F238E27FC236}">
                <a16:creationId xmlns:a16="http://schemas.microsoft.com/office/drawing/2014/main" id="{03989AA3-7962-BB37-1508-0A25D80204B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4" name="NumCircle">
            <a:extLst>
              <a:ext uri="{FF2B5EF4-FFF2-40B4-BE49-F238E27FC236}">
                <a16:creationId xmlns:a16="http://schemas.microsoft.com/office/drawing/2014/main" id="{3C5B3943-9502-9F87-0D4D-E2E48353AFAA}"/>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7185883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ea typeface="Calibri"/>
                <a:cs typeface="Calibri"/>
              </a:rPr>
              <a:t>Why does data augmentation hurt the models? </a:t>
            </a:r>
            <a:r>
              <a:rPr lang="en-US" sz="1200" dirty="0">
                <a:solidFill>
                  <a:schemeClr val="bg1"/>
                </a:solidFill>
                <a:latin typeface="Calibri"/>
                <a:ea typeface="Calibri"/>
                <a:cs typeface="Calibri"/>
              </a:rPr>
              <a:t>Let's take a look at some samples from the dataset which feature the same </a:t>
            </a:r>
            <a:r>
              <a:rPr lang="en-US" sz="1200" dirty="0" err="1">
                <a:solidFill>
                  <a:schemeClr val="bg1"/>
                </a:solidFill>
                <a:latin typeface="Calibri"/>
                <a:ea typeface="Calibri"/>
                <a:cs typeface="Calibri"/>
              </a:rPr>
              <a:t>pokemon</a:t>
            </a:r>
            <a:r>
              <a:rPr lang="en-US" sz="1200" dirty="0">
                <a:solidFill>
                  <a:schemeClr val="bg1"/>
                </a:solidFill>
                <a:latin typeface="Calibri"/>
                <a:ea typeface="Calibri"/>
                <a:cs typeface="Calibri"/>
              </a:rPr>
              <a:t> </a:t>
            </a:r>
            <a:r>
              <a:rPr lang="en-US" sz="1200" b="1" dirty="0">
                <a:solidFill>
                  <a:schemeClr val="accent2">
                    <a:lumMod val="40000"/>
                    <a:lumOff val="60000"/>
                  </a:schemeClr>
                </a:solidFill>
                <a:latin typeface="Trebuchet MS"/>
                <a:ea typeface="Calibri"/>
                <a:cs typeface="Calibri"/>
              </a:rPr>
              <a:t> </a:t>
            </a:r>
            <a:endParaRPr lang="en-US" sz="1200">
              <a:solidFill>
                <a:schemeClr val="accent2">
                  <a:lumMod val="40000"/>
                  <a:lumOff val="60000"/>
                </a:schemeClr>
              </a:solidFill>
              <a:latin typeface="Calibri"/>
              <a:ea typeface="Calibri"/>
              <a:cs typeface="Calibri"/>
            </a:endParaRPr>
          </a:p>
        </p:txBody>
      </p:sp>
      <p:pic>
        <p:nvPicPr>
          <p:cNvPr id="4" name="Picture 3" descr="A cartoon of a blue bird&#10;&#10;AI-generated content may be incorrect.">
            <a:extLst>
              <a:ext uri="{FF2B5EF4-FFF2-40B4-BE49-F238E27FC236}">
                <a16:creationId xmlns:a16="http://schemas.microsoft.com/office/drawing/2014/main" id="{2F5F8CF7-4031-BCBF-7782-91A802000151}"/>
              </a:ext>
            </a:extLst>
          </p:cNvPr>
          <p:cNvPicPr>
            <a:picLocks noChangeAspect="1"/>
          </p:cNvPicPr>
          <p:nvPr/>
        </p:nvPicPr>
        <p:blipFill>
          <a:blip r:embed="rId2"/>
          <a:stretch>
            <a:fillRect/>
          </a:stretch>
        </p:blipFill>
        <p:spPr>
          <a:xfrm>
            <a:off x="925378" y="1433916"/>
            <a:ext cx="1355455" cy="1365142"/>
          </a:xfrm>
          <a:prstGeom prst="rect">
            <a:avLst/>
          </a:prstGeom>
        </p:spPr>
      </p:pic>
      <p:pic>
        <p:nvPicPr>
          <p:cNvPr id="8" name="Picture 7" descr="A cartoon bird flying in the air&#10;&#10;AI-generated content may be incorrect.">
            <a:extLst>
              <a:ext uri="{FF2B5EF4-FFF2-40B4-BE49-F238E27FC236}">
                <a16:creationId xmlns:a16="http://schemas.microsoft.com/office/drawing/2014/main" id="{3C50916E-E0FC-9A85-49D1-52E3002C76C8}"/>
              </a:ext>
            </a:extLst>
          </p:cNvPr>
          <p:cNvPicPr>
            <a:picLocks noChangeAspect="1"/>
          </p:cNvPicPr>
          <p:nvPr/>
        </p:nvPicPr>
        <p:blipFill>
          <a:blip r:embed="rId3"/>
          <a:stretch>
            <a:fillRect/>
          </a:stretch>
        </p:blipFill>
        <p:spPr>
          <a:xfrm>
            <a:off x="2388030" y="1433916"/>
            <a:ext cx="1355455" cy="1365142"/>
          </a:xfrm>
          <a:prstGeom prst="rect">
            <a:avLst/>
          </a:prstGeom>
        </p:spPr>
      </p:pic>
      <p:pic>
        <p:nvPicPr>
          <p:cNvPr id="9" name="Picture 8" descr="A cartoon bird in the air&#10;&#10;AI-generated content may be incorrect.">
            <a:extLst>
              <a:ext uri="{FF2B5EF4-FFF2-40B4-BE49-F238E27FC236}">
                <a16:creationId xmlns:a16="http://schemas.microsoft.com/office/drawing/2014/main" id="{782EA57B-27C7-685F-0D5F-653D661BDF7F}"/>
              </a:ext>
            </a:extLst>
          </p:cNvPr>
          <p:cNvPicPr>
            <a:picLocks noChangeAspect="1"/>
          </p:cNvPicPr>
          <p:nvPr/>
        </p:nvPicPr>
        <p:blipFill>
          <a:blip r:embed="rId4"/>
          <a:stretch>
            <a:fillRect/>
          </a:stretch>
        </p:blipFill>
        <p:spPr>
          <a:xfrm>
            <a:off x="3840996" y="1433916"/>
            <a:ext cx="1355455" cy="1365142"/>
          </a:xfrm>
          <a:prstGeom prst="rect">
            <a:avLst/>
          </a:prstGeom>
        </p:spPr>
      </p:pic>
      <p:pic>
        <p:nvPicPr>
          <p:cNvPr id="13" name="Picture 12" descr="A cartoon of a blue dragon&#10;&#10;AI-generated content may be incorrect.">
            <a:extLst>
              <a:ext uri="{FF2B5EF4-FFF2-40B4-BE49-F238E27FC236}">
                <a16:creationId xmlns:a16="http://schemas.microsoft.com/office/drawing/2014/main" id="{8B8F9A2F-DFE0-A568-5915-A25786918F62}"/>
              </a:ext>
            </a:extLst>
          </p:cNvPr>
          <p:cNvPicPr>
            <a:picLocks noChangeAspect="1"/>
          </p:cNvPicPr>
          <p:nvPr/>
        </p:nvPicPr>
        <p:blipFill>
          <a:blip r:embed="rId5"/>
          <a:stretch>
            <a:fillRect/>
          </a:stretch>
        </p:blipFill>
        <p:spPr>
          <a:xfrm>
            <a:off x="5293962" y="1433916"/>
            <a:ext cx="1355455" cy="1365142"/>
          </a:xfrm>
          <a:prstGeom prst="rect">
            <a:avLst/>
          </a:prstGeom>
        </p:spPr>
      </p:pic>
      <p:pic>
        <p:nvPicPr>
          <p:cNvPr id="14" name="Picture 13" descr="A cartoon of a blue dragon&#10;&#10;AI-generated content may be incorrect.">
            <a:extLst>
              <a:ext uri="{FF2B5EF4-FFF2-40B4-BE49-F238E27FC236}">
                <a16:creationId xmlns:a16="http://schemas.microsoft.com/office/drawing/2014/main" id="{EA7CA163-5ECA-096D-252C-8A24B79B6A5F}"/>
              </a:ext>
            </a:extLst>
          </p:cNvPr>
          <p:cNvPicPr>
            <a:picLocks noChangeAspect="1"/>
          </p:cNvPicPr>
          <p:nvPr/>
        </p:nvPicPr>
        <p:blipFill>
          <a:blip r:embed="rId6"/>
          <a:stretch>
            <a:fillRect/>
          </a:stretch>
        </p:blipFill>
        <p:spPr>
          <a:xfrm>
            <a:off x="6746928" y="1433916"/>
            <a:ext cx="1355455" cy="1365142"/>
          </a:xfrm>
          <a:prstGeom prst="rect">
            <a:avLst/>
          </a:prstGeom>
        </p:spPr>
      </p:pic>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6" name="Text 8">
            <a:extLst>
              <a:ext uri="{FF2B5EF4-FFF2-40B4-BE49-F238E27FC236}">
                <a16:creationId xmlns:a16="http://schemas.microsoft.com/office/drawing/2014/main" id="{EF16EA7A-8BF6-C90D-A5B0-C71DE4180631}"/>
              </a:ext>
            </a:extLst>
          </p:cNvPr>
          <p:cNvSpPr/>
          <p:nvPr/>
        </p:nvSpPr>
        <p:spPr>
          <a:xfrm>
            <a:off x="871548" y="2940804"/>
            <a:ext cx="7247395" cy="1795088"/>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From this small set of examples we can see that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always remains in the same upright position, facing the same direction, with the same </a:t>
            </a:r>
            <a:r>
              <a:rPr lang="en-US" sz="1200" dirty="0" err="1">
                <a:solidFill>
                  <a:srgbClr val="0D1B2A"/>
                </a:solidFill>
                <a:latin typeface="Calibri"/>
                <a:ea typeface="Calibri"/>
                <a:cs typeface="Calibri"/>
              </a:rPr>
              <a:t>colours</a:t>
            </a:r>
            <a:r>
              <a:rPr lang="en-US" sz="1200" dirty="0">
                <a:solidFill>
                  <a:srgbClr val="0D1B2A"/>
                </a:solidFill>
                <a:latin typeface="Calibri"/>
                <a:ea typeface="Calibri"/>
                <a:cs typeface="Calibri"/>
              </a:rPr>
              <a:t>, … and the only thing that changes are: its position in the picture, and the background. Since CNNs are invariant to the object's position in the picture, in reality, the only thing that really changes is the background. So, if we replace a training example that has all these characteristics with a flipped image of </a:t>
            </a:r>
            <a:r>
              <a:rPr lang="en-US" sz="1200" dirty="0" err="1">
                <a:solidFill>
                  <a:srgbClr val="0D1B2A"/>
                </a:solidFill>
                <a:latin typeface="Calibri"/>
                <a:ea typeface="Calibri"/>
                <a:cs typeface="Calibri"/>
              </a:rPr>
              <a:t>Golduck</a:t>
            </a:r>
            <a:r>
              <a:rPr lang="en-US" sz="1200" dirty="0">
                <a:solidFill>
                  <a:srgbClr val="0D1B2A"/>
                </a:solidFill>
                <a:latin typeface="Calibri"/>
                <a:ea typeface="Calibri"/>
                <a:cs typeface="Calibri"/>
              </a:rPr>
              <a:t> (for example), we're making the model learn something it will never "see" in </a:t>
            </a:r>
            <a:r>
              <a:rPr lang="en-US" sz="1200" dirty="0" err="1">
                <a:solidFill>
                  <a:srgbClr val="0D1B2A"/>
                </a:solidFill>
                <a:latin typeface="Calibri"/>
                <a:ea typeface="Calibri"/>
                <a:cs typeface="Calibri"/>
              </a:rPr>
              <a:t>val</a:t>
            </a:r>
            <a:r>
              <a:rPr lang="en-US" sz="1200" dirty="0">
                <a:solidFill>
                  <a:srgbClr val="0D1B2A"/>
                </a:solidFill>
                <a:latin typeface="Calibri"/>
                <a:ea typeface="Calibri"/>
                <a:cs typeface="Calibri"/>
              </a:rPr>
              <a:t>/test time by adding unnecessary noise, which hurts our model's performance (specially in the case of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changes and grayscale since, as explored in task 1, the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is one of the dominant factors in identifying a </a:t>
            </a:r>
            <a:r>
              <a:rPr lang="en-US" sz="1200" dirty="0" err="1">
                <a:solidFill>
                  <a:srgbClr val="0D1B2A"/>
                </a:solidFill>
                <a:latin typeface="Calibri"/>
                <a:ea typeface="Calibri"/>
                <a:cs typeface="Calibri"/>
              </a:rPr>
              <a:t>pokemon's</a:t>
            </a:r>
            <a:r>
              <a:rPr lang="en-US" sz="1200" dirty="0">
                <a:solidFill>
                  <a:srgbClr val="0D1B2A"/>
                </a:solidFill>
                <a:latin typeface="Calibri"/>
                <a:ea typeface="Calibri"/>
                <a:cs typeface="Calibri"/>
              </a:rPr>
              <a:t> type).</a:t>
            </a:r>
          </a:p>
          <a:p>
            <a:pPr algn="ctr"/>
            <a:r>
              <a:rPr lang="en-US" sz="1200" dirty="0">
                <a:solidFill>
                  <a:srgbClr val="0D1B2A"/>
                </a:solidFill>
                <a:latin typeface="Calibri"/>
                <a:ea typeface="Calibri"/>
                <a:cs typeface="Calibri"/>
              </a:rPr>
              <a:t>Even though we're not trying to identify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itself, but its type, this reasoning can be applied.</a:t>
            </a:r>
          </a:p>
        </p:txBody>
      </p:sp>
      <p:sp>
        <p:nvSpPr>
          <p:cNvPr id="7" name="Badge">
            <a:extLst>
              <a:ext uri="{FF2B5EF4-FFF2-40B4-BE49-F238E27FC236}">
                <a16:creationId xmlns:a16="http://schemas.microsoft.com/office/drawing/2014/main" id="{F59433D5-7CF0-1EB2-A5B2-79EB4DA7484E}"/>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500B4D26-2D6F-A6A2-6FD0-DB96D3A3D21F}"/>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9309798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DF70A316-BC22-B5CA-52C0-184DD0665105}"/>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Even though some of our models achieve a perfect score, we still decided to combine other to see if the results </a:t>
            </a:r>
            <a:r>
              <a:rPr lang="en-US" sz="1200">
                <a:solidFill>
                  <a:schemeClr val="bg1"/>
                </a:solidFill>
                <a:latin typeface="Calibri"/>
                <a:ea typeface="Calibri"/>
                <a:cs typeface="Calibri"/>
              </a:rPr>
              <a:t>changed significantly by combining</a:t>
            </a:r>
            <a:r>
              <a:rPr lang="en-US" sz="1200" dirty="0">
                <a:solidFill>
                  <a:schemeClr val="bg1"/>
                </a:solidFill>
                <a:latin typeface="Calibri"/>
                <a:ea typeface="Calibri"/>
                <a:cs typeface="Calibri"/>
              </a:rPr>
              <a:t> models. </a:t>
            </a:r>
          </a:p>
          <a:p>
            <a:pPr>
              <a:buNone/>
            </a:pPr>
            <a:r>
              <a:rPr lang="en-US" sz="1200">
                <a:solidFill>
                  <a:schemeClr val="bg1"/>
                </a:solidFill>
                <a:latin typeface="Calibri"/>
                <a:ea typeface="Calibri"/>
                <a:cs typeface="Calibri"/>
              </a:rPr>
              <a:t>To help analyze possible good combinations we drew a heat map so we can  see the results of each model for each class. </a:t>
            </a:r>
          </a:p>
        </p:txBody>
      </p:sp>
      <p:sp>
        <p:nvSpPr>
          <p:cNvPr id="15" name="Shape 5">
            <a:extLst>
              <a:ext uri="{FF2B5EF4-FFF2-40B4-BE49-F238E27FC236}">
                <a16:creationId xmlns:a16="http://schemas.microsoft.com/office/drawing/2014/main" id="{E0663452-87F6-D497-728F-C9322AD6EC4A}"/>
              </a:ext>
            </a:extLst>
          </p:cNvPr>
          <p:cNvSpPr/>
          <p:nvPr/>
        </p:nvSpPr>
        <p:spPr>
          <a:xfrm>
            <a:off x="5482304" y="2182507"/>
            <a:ext cx="3391508" cy="192575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AD56327E-0491-8598-A5AA-01C1F736B423}"/>
              </a:ext>
            </a:extLst>
          </p:cNvPr>
          <p:cNvSpPr/>
          <p:nvPr/>
        </p:nvSpPr>
        <p:spPr>
          <a:xfrm>
            <a:off x="6065039" y="218033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Ensemble ~ Solo </a:t>
            </a:r>
            <a:r>
              <a:rPr lang="en-US" sz="2000" b="1" dirty="0">
                <a:solidFill>
                  <a:srgbClr val="E97C35"/>
                </a:solidFill>
                <a:latin typeface="Trebuchet MS"/>
                <a:ea typeface="Trebuchet MS" pitchFamily="34" charset="-122"/>
                <a:cs typeface="Trebuchet MS" pitchFamily="34" charset="-120"/>
              </a:rPr>
              <a:t>?</a:t>
            </a:r>
            <a:endParaRPr lang="en-US" sz="200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r>
              <a:rPr lang="en-US" sz="1100">
                <a:solidFill>
                  <a:srgbClr val="3D5A73"/>
                </a:solidFill>
                <a:latin typeface="Calibri"/>
                <a:ea typeface="Calibri"/>
                <a:cs typeface="Calibri"/>
              </a:rPr>
              <a:t>We tried 2 different combinations:</a:t>
            </a:r>
          </a:p>
          <a:p>
            <a:pPr marL="171450" indent="-171450">
              <a:buFont typeface="Arial"/>
              <a:buChar char="•"/>
            </a:pPr>
            <a:r>
              <a:rPr lang="en-US" sz="1100">
                <a:solidFill>
                  <a:srgbClr val="3D5A73"/>
                </a:solidFill>
                <a:latin typeface="Calibri"/>
                <a:ea typeface="Calibri"/>
                <a:cs typeface="Calibri"/>
              </a:rPr>
              <a:t>C + H: could a bad model like C affect the performance in an ensemble with H?</a:t>
            </a:r>
          </a:p>
          <a:p>
            <a:pPr marL="171450" indent="-171450">
              <a:buFont typeface="Arial"/>
              <a:buChar char="•"/>
            </a:pPr>
            <a:r>
              <a:rPr lang="en-US" sz="1100" dirty="0">
                <a:solidFill>
                  <a:srgbClr val="3D5A73"/>
                </a:solidFill>
                <a:latin typeface="Calibri"/>
                <a:ea typeface="Calibri"/>
                <a:cs typeface="Calibri"/>
              </a:rPr>
              <a:t>I + K: could two models with </a:t>
            </a:r>
            <a:r>
              <a:rPr lang="en-US" sz="1100" dirty="0" err="1">
                <a:solidFill>
                  <a:srgbClr val="3D5A73"/>
                </a:solidFill>
                <a:latin typeface="Calibri"/>
                <a:ea typeface="Calibri"/>
                <a:cs typeface="Calibri"/>
              </a:rPr>
              <a:t>val</a:t>
            </a:r>
            <a:r>
              <a:rPr lang="en-US" sz="1100" dirty="0">
                <a:solidFill>
                  <a:srgbClr val="3D5A73"/>
                </a:solidFill>
                <a:latin typeface="Calibri"/>
                <a:ea typeface="Calibri"/>
                <a:cs typeface="Calibri"/>
              </a:rPr>
              <a:t> score 1.0 be combined together to get a worse performance? (much likely not... but let's test it anyway)</a:t>
            </a:r>
          </a:p>
        </p:txBody>
      </p:sp>
      <p:pic>
        <p:nvPicPr>
          <p:cNvPr id="4" name="Picture 3" descr="A red and yellow chart&#10;&#10;AI-generated content may be incorrect.">
            <a:extLst>
              <a:ext uri="{FF2B5EF4-FFF2-40B4-BE49-F238E27FC236}">
                <a16:creationId xmlns:a16="http://schemas.microsoft.com/office/drawing/2014/main" id="{F4969307-FC84-7CB8-B9B5-F395526D20A7}"/>
              </a:ext>
            </a:extLst>
          </p:cNvPr>
          <p:cNvPicPr>
            <a:picLocks noChangeAspect="1"/>
          </p:cNvPicPr>
          <p:nvPr/>
        </p:nvPicPr>
        <p:blipFill>
          <a:blip r:embed="rId2"/>
          <a:srcRect l="2135" t="2808" r="384" b="19870"/>
          <a:stretch>
            <a:fillRect/>
          </a:stretch>
        </p:blipFill>
        <p:spPr>
          <a:xfrm>
            <a:off x="289266" y="1592567"/>
            <a:ext cx="4916359" cy="3465387"/>
          </a:xfrm>
          <a:prstGeom prst="rect">
            <a:avLst/>
          </a:prstGeom>
        </p:spPr>
      </p:pic>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a:t>
            </a:r>
            <a:endParaRPr lang="en-US" sz="2000" b="1">
              <a:solidFill>
                <a:srgbClr val="E97C35"/>
              </a:solidFill>
              <a:latin typeface="Trebuchet MS"/>
            </a:endParaRPr>
          </a:p>
        </p:txBody>
      </p:sp>
      <p:sp>
        <p:nvSpPr>
          <p:cNvPr id="8" name="Badge">
            <a:extLst>
              <a:ext uri="{FF2B5EF4-FFF2-40B4-BE49-F238E27FC236}">
                <a16:creationId xmlns:a16="http://schemas.microsoft.com/office/drawing/2014/main" id="{83E50EB0-1D58-FD60-142B-D1FFC795D9F6}"/>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3" name="NumCircle">
            <a:extLst>
              <a:ext uri="{FF2B5EF4-FFF2-40B4-BE49-F238E27FC236}">
                <a16:creationId xmlns:a16="http://schemas.microsoft.com/office/drawing/2014/main" id="{6570A38E-445A-3FE5-88A3-9316311152D3}"/>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37311060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As it turns out, [I + K] still gets a validation score of 1.0 as we expected, but [C + H]'s performance stays relatively similar to just using H (with some variance), even though C got a weight of 0.4 and H 0.6. C's bad performance is not enough to drag the ensemble's performance down</a:t>
            </a:r>
          </a:p>
        </p:txBody>
      </p:sp>
      <p:pic>
        <p:nvPicPr>
          <p:cNvPr id="13" name="Picture 12" descr="A graph of a number of blue and orange bars&#10;&#10;AI-generated content may be incorrect.">
            <a:extLst>
              <a:ext uri="{FF2B5EF4-FFF2-40B4-BE49-F238E27FC236}">
                <a16:creationId xmlns:a16="http://schemas.microsoft.com/office/drawing/2014/main" id="{75E61C24-6BA4-F317-6A7B-8AC21A3B72ED}"/>
              </a:ext>
            </a:extLst>
          </p:cNvPr>
          <p:cNvPicPr>
            <a:picLocks noChangeAspect="1"/>
          </p:cNvPicPr>
          <p:nvPr/>
        </p:nvPicPr>
        <p:blipFill>
          <a:blip r:embed="rId2"/>
          <a:srcRect t="83" r="-135" b="49906"/>
          <a:stretch>
            <a:fillRect/>
          </a:stretch>
        </p:blipFill>
        <p:spPr>
          <a:xfrm>
            <a:off x="272939" y="1747812"/>
            <a:ext cx="8598137" cy="3095413"/>
          </a:xfrm>
          <a:prstGeom prst="rect">
            <a:avLst/>
          </a:prstGeom>
        </p:spPr>
      </p:pic>
      <p:sp>
        <p:nvSpPr>
          <p:cNvPr id="6" name="Badge">
            <a:extLst>
              <a:ext uri="{FF2B5EF4-FFF2-40B4-BE49-F238E27FC236}">
                <a16:creationId xmlns:a16="http://schemas.microsoft.com/office/drawing/2014/main" id="{87DF1068-D9E0-F0FA-ED52-030DA79B0F34}"/>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8" name="NumCircle">
            <a:extLst>
              <a:ext uri="{FF2B5EF4-FFF2-40B4-BE49-F238E27FC236}">
                <a16:creationId xmlns:a16="http://schemas.microsoft.com/office/drawing/2014/main" id="{7B9FB318-E678-5F63-DCF2-55F82BC9429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23890972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What Worked</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a:solidFill>
                  <a:srgbClr val="1A2B3C"/>
                </a:solidFill>
                <a:latin typeface="Calibri"/>
                <a:ea typeface="Calibri"/>
                <a:cs typeface="Calibri"/>
              </a:rPr>
              <a:t>- all top models use it</a:t>
            </a:r>
          </a:p>
          <a:p>
            <a:pPr marL="228600" indent="-228600">
              <a:buChar char="✓"/>
            </a:pPr>
            <a:r>
              <a:rPr lang="en-US" sz="1100" b="1" dirty="0" err="1">
                <a:solidFill>
                  <a:srgbClr val="028090"/>
                </a:solidFill>
                <a:latin typeface="Calibri"/>
                <a:ea typeface="Calibri"/>
                <a:cs typeface="Calibri"/>
              </a:rPr>
              <a:t>BatchNorm</a:t>
            </a:r>
            <a:endParaRPr lang="en-US" sz="1100" b="1" dirty="0" err="1">
              <a:solidFill>
                <a:srgbClr val="028090"/>
              </a:solidFill>
              <a:latin typeface="Calibri" pitchFamily="34" charset="0"/>
              <a:ea typeface="Calibri"/>
              <a:cs typeface="Calibri"/>
            </a:endParaRPr>
          </a:p>
          <a:p>
            <a:pPr lvl="1"/>
            <a:r>
              <a:rPr lang="en-US" sz="1000">
                <a:solidFill>
                  <a:srgbClr val="1A2B3C"/>
                </a:solidFill>
                <a:latin typeface="Calibri"/>
                <a:ea typeface="Calibri"/>
                <a:cs typeface="Calibri"/>
              </a:rPr>
              <a:t>- stabilizes gradients; increases training speed effectively</a:t>
            </a:r>
          </a:p>
          <a:p>
            <a:pPr marL="228600" indent="-228600">
              <a:buChar char="✓"/>
            </a:pPr>
            <a:r>
              <a:rPr lang="en-US" sz="1100" b="1">
                <a:solidFill>
                  <a:srgbClr val="028090"/>
                </a:solidFill>
                <a:latin typeface="Calibri"/>
                <a:ea typeface="Calibri"/>
                <a:cs typeface="Calibri"/>
              </a:rPr>
              <a:t>Deeper/Wider networks</a:t>
            </a:r>
            <a:endParaRPr lang="en-US" dirty="0"/>
          </a:p>
          <a:p>
            <a:pPr lvl="1"/>
            <a:r>
              <a:rPr lang="en-US" sz="1000">
                <a:solidFill>
                  <a:srgbClr val="1A2B3C"/>
                </a:solidFill>
                <a:latin typeface="Calibri"/>
                <a:ea typeface="Calibri"/>
                <a:cs typeface="Calibri"/>
              </a:rPr>
              <a:t>- increases the amount of information/detail passed to the classifier </a:t>
            </a:r>
            <a:r>
              <a:rPr lang="en-US" sz="1000" dirty="0">
                <a:solidFill>
                  <a:srgbClr val="1A2B3C"/>
                </a:solidFill>
                <a:latin typeface="Calibri"/>
                <a:ea typeface="Calibri"/>
                <a:cs typeface="Calibri"/>
              </a:rPr>
              <a:t>head</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a:solidFill>
                  <a:srgbClr val="C0392B"/>
                </a:solidFill>
                <a:latin typeface="Trebuchet MS"/>
              </a:rPr>
              <a:t>What Did Not Work</a:t>
            </a:r>
          </a:p>
          <a:p>
            <a:pPr marL="228600" indent="-228600">
              <a:buChar char="✗"/>
            </a:pPr>
            <a:r>
              <a:rPr lang="en-US" sz="1100" b="1">
                <a:solidFill>
                  <a:srgbClr val="C0392B"/>
                </a:solidFill>
                <a:latin typeface="Calibri"/>
                <a:ea typeface="Calibri"/>
                <a:cs typeface="Calibri"/>
              </a:rPr>
              <a:t>Augmentation (flip/jitter/rotate/...)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0.0149 F1; the </a:t>
            </a:r>
            <a:r>
              <a:rPr lang="en-US" sz="1000" dirty="0" err="1">
                <a:solidFill>
                  <a:srgbClr val="1A2B3C"/>
                </a:solidFill>
                <a:latin typeface="Calibri"/>
                <a:ea typeface="Calibri"/>
                <a:cs typeface="Calibri"/>
              </a:rPr>
              <a:t>pokemons</a:t>
            </a:r>
            <a:r>
              <a:rPr lang="en-US" sz="1000" dirty="0">
                <a:solidFill>
                  <a:srgbClr val="1A2B3C"/>
                </a:solidFill>
                <a:latin typeface="Calibri"/>
                <a:ea typeface="Calibri"/>
                <a:cs typeface="Calibri"/>
              </a:rPr>
              <a:t> are always the same way, the only thing that changes are the background at the position; CNNs are translation invariant so the only real thing that changes for our network is the background. The more aggressive the augmentation is the bigger the decay in performance</a:t>
            </a:r>
          </a:p>
          <a:p>
            <a:pPr marL="228600" indent="-228600">
              <a:buChar char="✗"/>
            </a:pPr>
            <a:r>
              <a:rPr lang="en-US" sz="1100" b="1">
                <a:solidFill>
                  <a:srgbClr val="C0392B"/>
                </a:solidFill>
                <a:latin typeface="Calibri"/>
                <a:ea typeface="Calibri"/>
                <a:cs typeface="Calibri"/>
              </a:rPr>
              <a:t>Many FC layers</a:t>
            </a:r>
            <a:endParaRPr lang="en-US" sz="1100" b="1" dirty="0">
              <a:solidFill>
                <a:srgbClr val="C0392B"/>
              </a:solidFill>
              <a:latin typeface="Calibri"/>
              <a:ea typeface="Calibri"/>
              <a:cs typeface="Calibri"/>
            </a:endParaRPr>
          </a:p>
          <a:p>
            <a:pPr lvl="1"/>
            <a:r>
              <a:rPr lang="en-US" sz="1000" dirty="0">
                <a:solidFill>
                  <a:srgbClr val="1A2B3C"/>
                </a:solidFill>
                <a:latin typeface="Calibri"/>
                <a:ea typeface="Calibri"/>
                <a:cs typeface="Calibri"/>
              </a:rPr>
              <a:t>- 3 or more FC layers starts giving us a slower training and </a:t>
            </a:r>
            <a:r>
              <a:rPr lang="en-US" sz="1000">
                <a:solidFill>
                  <a:srgbClr val="1A2B3C"/>
                </a:solidFill>
                <a:latin typeface="Calibri"/>
                <a:ea typeface="Calibri"/>
                <a:cs typeface="Calibri"/>
              </a:rPr>
              <a:t>worse results (parameters increase a lot if our convolution channels are wide); keep it simple and </a:t>
            </a:r>
            <a:r>
              <a:rPr lang="en-US" sz="1000" dirty="0">
                <a:solidFill>
                  <a:srgbClr val="1A2B3C"/>
                </a:solidFill>
                <a:latin typeface="Calibri"/>
                <a:ea typeface="Calibri"/>
                <a:cs typeface="Calibri"/>
              </a:rPr>
              <a:t>let convolutional layers learn the information, then pass them to minimal FC layers</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0.0481; </a:t>
            </a:r>
            <a:r>
              <a:rPr lang="en-US" sz="1000" dirty="0" err="1">
                <a:solidFill>
                  <a:srgbClr val="1A2B3C"/>
                </a:solidFill>
                <a:latin typeface="Calibri"/>
                <a:ea typeface="Calibri"/>
                <a:cs typeface="Calibri"/>
              </a:rPr>
              <a:t>colour</a:t>
            </a:r>
            <a:r>
              <a:rPr lang="en-US" sz="1000" dirty="0">
                <a:solidFill>
                  <a:srgbClr val="1A2B3C"/>
                </a:solidFill>
                <a:latin typeface="Calibri"/>
                <a:ea typeface="Calibri"/>
                <a:cs typeface="Calibri"/>
              </a:rPr>
              <a:t> is a key discriminative signal, removing it degrades performance</a:t>
            </a:r>
          </a:p>
          <a:p>
            <a:pPr marL="228600" indent="-228600">
              <a:buChar char="✗"/>
            </a:pPr>
            <a:r>
              <a:rPr lang="en-US" sz="1100" b="1">
                <a:solidFill>
                  <a:srgbClr val="C0392B"/>
                </a:solidFill>
                <a:latin typeface="Calibri"/>
                <a:ea typeface="Calibri"/>
                <a:cs typeface="Calibri"/>
              </a:rPr>
              <a:t>Ensembles</a:t>
            </a:r>
            <a:endParaRPr lang="en-US" sz="1100" b="1">
              <a:solidFill>
                <a:srgbClr val="C0392B"/>
              </a:solidFill>
              <a:latin typeface="Calibri" pitchFamily="34" charset="0"/>
              <a:ea typeface="Calibri"/>
              <a:cs typeface="Calibri"/>
            </a:endParaRPr>
          </a:p>
          <a:p>
            <a:pPr lvl="1"/>
            <a:r>
              <a:rPr lang="en-US" sz="1100" b="1" dirty="0">
                <a:solidFill>
                  <a:srgbClr val="C0392B"/>
                </a:solidFill>
                <a:latin typeface="Calibri"/>
                <a:ea typeface="Calibri"/>
                <a:cs typeface="Calibri"/>
              </a:rPr>
              <a:t>-  </a:t>
            </a:r>
            <a:r>
              <a:rPr lang="en-US" sz="1000" dirty="0">
                <a:solidFill>
                  <a:srgbClr val="1A2B3C"/>
                </a:solidFill>
                <a:latin typeface="Calibri"/>
                <a:ea typeface="Calibri"/>
                <a:cs typeface="Calibri"/>
              </a:rPr>
              <a:t>Ensembled models </a:t>
            </a:r>
            <a:r>
              <a:rPr lang="en-US" sz="1000">
                <a:solidFill>
                  <a:srgbClr val="1A2B3C"/>
                </a:solidFill>
                <a:latin typeface="Calibri"/>
                <a:ea typeface="Calibri"/>
                <a:cs typeface="Calibri"/>
              </a:rPr>
              <a:t>could not</a:t>
            </a:r>
            <a:r>
              <a:rPr lang="en-US" sz="1000" dirty="0">
                <a:solidFill>
                  <a:srgbClr val="1A2B3C"/>
                </a:solidFill>
                <a:latin typeface="Calibri"/>
                <a:ea typeface="Calibri"/>
                <a:cs typeface="Calibri"/>
              </a:rPr>
              <a:t> achieve a better performance</a:t>
            </a:r>
          </a:p>
          <a:p>
            <a:pPr marL="228600" indent="-228600">
              <a:buChar char="✗"/>
            </a:pPr>
            <a:r>
              <a:rPr lang="en-US" sz="1100" b="1">
                <a:solidFill>
                  <a:srgbClr val="C0392B"/>
                </a:solidFill>
                <a:latin typeface="Calibri"/>
                <a:ea typeface="Calibri"/>
                <a:cs typeface="Calibri"/>
              </a:rPr>
              <a:t>Label Smoothing</a:t>
            </a:r>
            <a:endParaRPr lang="en-US" sz="1100" b="1" dirty="0">
              <a:solidFill>
                <a:srgbClr val="C0392B"/>
              </a:solidFill>
              <a:latin typeface="Calibri"/>
              <a:ea typeface="Calibri"/>
              <a:cs typeface="Calibri"/>
            </a:endParaRPr>
          </a:p>
          <a:p>
            <a:pPr lvl="1"/>
            <a:r>
              <a:rPr lang="en-US" sz="1100" b="1" dirty="0">
                <a:solidFill>
                  <a:srgbClr val="C0392B"/>
                </a:solidFill>
                <a:latin typeface="Calibri"/>
                <a:ea typeface="Calibri"/>
                <a:cs typeface="Calibri"/>
              </a:rPr>
              <a:t>- </a:t>
            </a:r>
            <a:r>
              <a:rPr lang="en-US" sz="1000">
                <a:solidFill>
                  <a:srgbClr val="1A2B3C"/>
                </a:solidFill>
                <a:latin typeface="Calibri"/>
                <a:ea typeface="Calibri"/>
                <a:cs typeface="Calibri"/>
              </a:rPr>
              <a:t>CNNs can already achieve top performance, introducing noise can hurt our models</a:t>
            </a:r>
          </a:p>
          <a:p>
            <a:pPr lvl="1"/>
            <a:endParaRPr lang="en-US" sz="1000" dirty="0">
              <a:solidFill>
                <a:srgbClr val="1A2B3C"/>
              </a:solidFill>
              <a:latin typeface="Calibri" pitchFamily="34" charset="0"/>
              <a:ea typeface="Calibri"/>
              <a:cs typeface="Calibri"/>
            </a:endParaRPr>
          </a:p>
        </p:txBody>
      </p:sp>
      <p:sp>
        <p:nvSpPr>
          <p:cNvPr id="6" name="Badge">
            <a:extLst>
              <a:ext uri="{FF2B5EF4-FFF2-40B4-BE49-F238E27FC236}">
                <a16:creationId xmlns:a16="http://schemas.microsoft.com/office/drawing/2014/main" id="{84CBF970-9D0A-4F08-5800-044F2A4F4BE5}"/>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008643FF-96DF-75DD-EAED-8581A7B9887C}"/>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strike="sngStrike" dirty="0">
                <a:solidFill>
                  <a:srgbClr val="0D1B2A"/>
                </a:solidFill>
                <a:latin typeface="Trebuchet MS"/>
              </a:rPr>
              <a:t>MLP Ceiling ~0.24</a:t>
            </a:r>
            <a:r>
              <a:rPr lang="en-US" sz="2200" b="1">
                <a:solidFill>
                  <a:srgbClr val="0D1B2A"/>
                </a:solidFill>
                <a:latin typeface="Trebuchet MS"/>
              </a:rPr>
              <a:t> CNN can achieve a 1.0 score!</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r>
              <a:rPr lang="en-US" sz="1000" dirty="0">
                <a:solidFill>
                  <a:srgbClr val="AACCD8"/>
                </a:solidFill>
                <a:latin typeface="Calibri"/>
                <a:ea typeface="Calibri"/>
                <a:cs typeface="Calibri"/>
              </a:rPr>
              <a:t>best </a:t>
            </a:r>
            <a:r>
              <a:rPr lang="en-US" sz="1000" dirty="0" err="1">
                <a:solidFill>
                  <a:srgbClr val="AACCD8"/>
                </a:solidFill>
                <a:latin typeface="Calibri"/>
                <a:ea typeface="Calibri"/>
                <a:cs typeface="Calibri"/>
              </a:rPr>
              <a:t>val</a:t>
            </a:r>
            <a:r>
              <a:rPr lang="en-US" sz="1000" dirty="0">
                <a:solidFill>
                  <a:srgbClr val="AACCD8"/>
                </a:solidFill>
                <a:latin typeface="Calibri"/>
                <a:ea typeface="Calibri"/>
                <a:cs typeface="Calibri"/>
              </a:rPr>
              <a:t> macro-F1 (I, J, K, L, M, [I+K])</a:t>
            </a:r>
            <a:endParaRPr lang="en-US" sz="1000" dirty="0">
              <a:solidFill>
                <a:srgbClr val="AACCD8"/>
              </a:solidFill>
              <a:latin typeface="Calibri" pitchFamily="34" charset="0"/>
              <a:ea typeface="Calibri"/>
              <a:cs typeface="Calibri"/>
            </a:endParaRPr>
          </a:p>
          <a:p>
            <a:r>
              <a:rPr lang="en-US" sz="2800" b="1">
                <a:solidFill>
                  <a:srgbClr val="FFFFFF"/>
                </a:solidFill>
                <a:latin typeface="Trebuchet MS"/>
              </a:rPr>
              <a:t>1.0000</a:t>
            </a:r>
            <a:endParaRPr lang="en-US" sz="2800" b="1">
              <a:solidFill>
                <a:srgbClr val="FFFFFF"/>
              </a:solidFill>
              <a:latin typeface="Trebuchet MS" pitchFamily="34" charset="0"/>
            </a:endParaRP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a:solidFill>
                  <a:srgbClr val="FFFFFF"/>
                </a:solidFill>
                <a:latin typeface="Trebuchet MS"/>
              </a:rPr>
              <a:t>1.0000</a:t>
            </a:r>
            <a:endParaRPr lang="en-US" sz="2800" b="1" dirty="0">
              <a:solidFill>
                <a:srgbClr val="FFFFFF"/>
              </a:solidFill>
              <a:latin typeface="Trebuchet MS"/>
            </a:endParaRP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a:solidFill>
                  <a:srgbClr val="00A896"/>
                </a:solidFill>
                <a:latin typeface="Trebuchet MS"/>
              </a:rPr>
              <a:t>Why are CNNs so much better than MLP for this task?</a:t>
            </a:r>
            <a:endParaRPr lang="en-US" sz="1300" b="1" dirty="0">
              <a:solidFill>
                <a:srgbClr val="00A896"/>
              </a:solidFill>
              <a:latin typeface="Trebuchet MS" pitchFamily="34" charset="0"/>
            </a:endParaRPr>
          </a:p>
          <a:p>
            <a:pPr marL="228600" indent="-228600">
              <a:buChar char="•"/>
            </a:pPr>
            <a:r>
              <a:rPr lang="en-US" sz="1100" dirty="0">
                <a:solidFill>
                  <a:schemeClr val="bg1"/>
                </a:solidFill>
                <a:latin typeface="Calibri"/>
                <a:ea typeface="Calibri"/>
                <a:cs typeface="Calibri"/>
              </a:rPr>
              <a:t>The amount of parameters that an MLP generates is too much, we would need a huge dataset to get good results (note that MLPs are more powerful than CNNs - not the contrary)</a:t>
            </a:r>
            <a:endParaRPr lang="en-US" sz="1100" dirty="0">
              <a:solidFill>
                <a:schemeClr val="bg1"/>
              </a:solidFill>
              <a:latin typeface="Calibri" pitchFamily="34" charset="0"/>
              <a:ea typeface="Calibri"/>
              <a:cs typeface="Calibri"/>
            </a:endParaRPr>
          </a:p>
          <a:p>
            <a:pPr marL="228600" indent="-228600">
              <a:buFont typeface="Arial"/>
              <a:buChar char="•"/>
            </a:pPr>
            <a:r>
              <a:rPr lang="en-US" sz="1100" dirty="0">
                <a:solidFill>
                  <a:schemeClr val="bg1"/>
                </a:solidFill>
                <a:latin typeface="Calibri"/>
                <a:ea typeface="Calibri"/>
                <a:cs typeface="Calibri"/>
              </a:rPr>
              <a:t>This problem screams CNN! The dataset has images, In which the </a:t>
            </a:r>
            <a:r>
              <a:rPr lang="en-US" sz="1100" dirty="0" err="1">
                <a:solidFill>
                  <a:schemeClr val="bg1"/>
                </a:solidFill>
                <a:latin typeface="Calibri"/>
                <a:ea typeface="Calibri"/>
                <a:cs typeface="Calibri"/>
              </a:rPr>
              <a:t>pokemons</a:t>
            </a:r>
            <a:r>
              <a:rPr lang="en-US" sz="1100" dirty="0">
                <a:solidFill>
                  <a:schemeClr val="bg1"/>
                </a:solidFill>
                <a:latin typeface="Calibri"/>
                <a:ea typeface="Calibri"/>
                <a:cs typeface="Calibri"/>
              </a:rPr>
              <a:t> always appear in the same way, only changing their position and the background: CNNs are invariant to translations! MLPs lose all sense of spatial structure</a:t>
            </a:r>
          </a:p>
          <a:p>
            <a:r>
              <a:rPr lang="en-US" sz="1100" b="1" dirty="0">
                <a:solidFill>
                  <a:schemeClr val="accent2">
                    <a:lumMod val="40000"/>
                    <a:lumOff val="60000"/>
                  </a:schemeClr>
                </a:solidFill>
                <a:latin typeface="Calibri"/>
                <a:ea typeface="Calibri"/>
                <a:cs typeface="Calibri"/>
              </a:rPr>
              <a:t>Next: Transfer Learning and Fine-Tuning (Task 3) - can we achieve the </a:t>
            </a:r>
            <a:r>
              <a:rPr lang="en-US" sz="1100" b="1">
                <a:solidFill>
                  <a:schemeClr val="accent2">
                    <a:lumMod val="40000"/>
                    <a:lumOff val="60000"/>
                  </a:schemeClr>
                </a:solidFill>
                <a:latin typeface="Calibri"/>
                <a:ea typeface="Calibri"/>
                <a:cs typeface="Calibri"/>
              </a:rPr>
              <a:t>same performance by replacing the classifier head of a pretrained model?</a:t>
            </a:r>
          </a:p>
        </p:txBody>
      </p:sp>
      <p:pic>
        <p:nvPicPr>
          <p:cNvPr id="6" name="Picture 5" descr="A graph of a number of blue and orange bars&#10;&#10;AI-generated content may be incorrect.">
            <a:extLst>
              <a:ext uri="{FF2B5EF4-FFF2-40B4-BE49-F238E27FC236}">
                <a16:creationId xmlns:a16="http://schemas.microsoft.com/office/drawing/2014/main" id="{D64762DA-D57E-BC1B-30A5-4CC05B384AF5}"/>
              </a:ext>
            </a:extLst>
          </p:cNvPr>
          <p:cNvPicPr>
            <a:picLocks noChangeAspect="1"/>
          </p:cNvPicPr>
          <p:nvPr/>
        </p:nvPicPr>
        <p:blipFill>
          <a:blip r:embed="rId2"/>
          <a:srcRect t="83" r="-135" b="49906"/>
          <a:stretch>
            <a:fillRect/>
          </a:stretch>
        </p:blipFill>
        <p:spPr>
          <a:xfrm>
            <a:off x="941303" y="604812"/>
            <a:ext cx="6612418" cy="2359245"/>
          </a:xfrm>
          <a:prstGeom prst="rect">
            <a:avLst/>
          </a:prstGeom>
        </p:spPr>
      </p:pic>
      <p:sp>
        <p:nvSpPr>
          <p:cNvPr id="7" name="Badge">
            <a:extLst>
              <a:ext uri="{FF2B5EF4-FFF2-40B4-BE49-F238E27FC236}">
                <a16:creationId xmlns:a16="http://schemas.microsoft.com/office/drawing/2014/main" id="{D190A8B6-4D71-C6D2-7EBF-5791B007E9C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2" name="NumCircle">
            <a:extLst>
              <a:ext uri="{FF2B5EF4-FFF2-40B4-BE49-F238E27FC236}">
                <a16:creationId xmlns:a16="http://schemas.microsoft.com/office/drawing/2014/main" id="{6A936187-BA62-E41B-488C-5D385A1E5971}"/>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2.2</a:t>
            </a:r>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a:solidFill>
                  <a:srgbClr val="00A896"/>
                </a:solidFill>
                <a:latin typeface="Trebuchet MS"/>
                <a:ea typeface="Trebuchet MS" pitchFamily="34" charset="-122"/>
                <a:cs typeface="Trebuchet MS" pitchFamily="34" charset="-120"/>
              </a:rPr>
              <a:t>37 min</a:t>
            </a:r>
            <a:endParaRPr lang="en-US" sz="220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a:solidFill>
                  <a:srgbClr val="3D5A73"/>
                </a:solidFill>
                <a:latin typeface="Calibri"/>
                <a:ea typeface="Calibri"/>
                <a:cs typeface="Calibri"/>
              </a:rPr>
              <a:t>total wall-clock (15 solo runs + data </a:t>
            </a:r>
            <a:r>
              <a:rPr lang="en-US" sz="1000" dirty="0">
                <a:solidFill>
                  <a:srgbClr val="3D5A73"/>
                </a:solidFill>
                <a:latin typeface="Calibri"/>
                <a:ea typeface="Calibri"/>
                <a:cs typeface="Calibri"/>
              </a:rPr>
              <a:t>pre-processing/augmentation and ensembles)</a:t>
            </a:r>
            <a:endParaRPr lang="en-US" sz="100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a:solidFill>
                  <a:srgbClr val="27AE60"/>
                </a:solidFill>
                <a:latin typeface="Trebuchet MS"/>
                <a:ea typeface="Trebuchet MS" pitchFamily="34" charset="-122"/>
                <a:cs typeface="Trebuchet MS" pitchFamily="34" charset="-120"/>
              </a:rPr>
              <a:t>&lt; 1500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dirty="0">
                <a:solidFill>
                  <a:srgbClr val="3D5A73"/>
                </a:solidFill>
                <a:latin typeface="Calibri"/>
                <a:ea typeface="Calibri"/>
                <a:cs typeface="Calibri"/>
              </a:rPr>
              <a:t>GPU memory peak (</a:t>
            </a:r>
            <a:r>
              <a:rPr lang="en-US" sz="1000">
                <a:solidFill>
                  <a:srgbClr val="3D5A73"/>
                </a:solidFill>
                <a:latin typeface="Calibri"/>
                <a:ea typeface="Calibri"/>
                <a:cs typeface="Calibri"/>
              </a:rPr>
              <a:t>more than MLP),</a:t>
            </a:r>
          </a:p>
          <a:p>
            <a:pPr algn="ctr"/>
            <a:r>
              <a:rPr lang="en-US" sz="1000">
                <a:solidFill>
                  <a:srgbClr val="3D5A73"/>
                </a:solidFill>
                <a:latin typeface="Calibri"/>
                <a:ea typeface="Calibri"/>
                <a:cs typeface="Calibri"/>
              </a:rPr>
              <a:t>according to W&amp;B</a:t>
            </a:r>
            <a:endParaRPr lang="en-US" sz="1000" dirty="0">
              <a:solidFill>
                <a:srgbClr val="3D5A73"/>
              </a:solidFill>
              <a:latin typeface="Calibri"/>
              <a:ea typeface="Calibri"/>
              <a:cs typeface="Calibri"/>
            </a:endParaRP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a:solidFill>
                  <a:srgbClr val="E97C35"/>
                </a:solidFill>
                <a:latin typeface="Trebuchet MS"/>
                <a:ea typeface="Trebuchet MS" pitchFamily="34" charset="-122"/>
                <a:cs typeface="Trebuchet MS" pitchFamily="34" charset="-120"/>
              </a:rPr>
              <a:t>62%</a:t>
            </a:r>
            <a:endParaRPr lang="en-US" sz="220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A_CNN  -  87.2 s (excluding ensembles)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Stopped at epoch 19 (no reg -&gt; fast plateau; despite the massive overfit obtained)</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I_CNN_augmented</a:t>
                      </a:r>
                      <a:r>
                        <a:rPr lang="en-US" sz="1200" dirty="0">
                          <a:solidFill>
                            <a:srgbClr val="000000"/>
                          </a:solidFill>
                          <a:latin typeface="Calibri"/>
                          <a:ea typeface="Calibri"/>
                          <a:cs typeface="Calibri"/>
                        </a:rPr>
                        <a:t>  —  172 s</a:t>
                      </a:r>
                      <a:endParaRPr lang="en-US" sz="120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Full 30 epochs; data augmentation gives us more 53 seconds than base model I_CNN, and worse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a:solidFill>
                            <a:srgbClr val="000000"/>
                          </a:solidFill>
                          <a:latin typeface="Calibri"/>
                          <a:ea typeface="Calibri"/>
                          <a:cs typeface="Calibri"/>
                        </a:rPr>
                        <a:t>~134 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Across 13 solo runs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118.5 s  -  25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EarlyStopping</a:t>
                      </a:r>
                      <a:r>
                        <a:rPr lang="en-US" sz="1200" dirty="0">
                          <a:solidFill>
                            <a:srgbClr val="000000"/>
                          </a:solidFill>
                          <a:latin typeface="Calibri"/>
                          <a:ea typeface="Calibri"/>
                          <a:cs typeface="Calibri"/>
                        </a:rPr>
                        <a:t> saved best at epoch 25</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a:ea typeface="Calibri"/>
                          <a:cs typeface="Calibri"/>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Smoke-test mode: 5 epochs, 100 samples - used for debugging</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dirty="0">
                <a:solidFill>
                  <a:srgbClr val="1A2B3C"/>
                </a:solidFill>
                <a:latin typeface="Calibri"/>
                <a:ea typeface="Calibri"/>
                <a:cs typeface="Calibri"/>
              </a:rPr>
              <a:t>5-fold CV × 13 experiments ≈ 65 training runs ≈ which will exceed the 1h </a:t>
            </a:r>
            <a:r>
              <a:rPr lang="en-US" sz="1200" dirty="0" err="1">
                <a:solidFill>
                  <a:srgbClr val="1A2B3C"/>
                </a:solidFill>
                <a:latin typeface="Calibri"/>
                <a:ea typeface="Calibri"/>
                <a:cs typeface="Calibri"/>
              </a:rPr>
              <a:t>Colab</a:t>
            </a:r>
            <a:r>
              <a:rPr lang="en-US" sz="120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dirty="0">
              <a:latin typeface="Calibri"/>
              <a:ea typeface="Calibri"/>
              <a:cs typeface="Calibri"/>
            </a:endParaRPr>
          </a:p>
        </p:txBody>
      </p:sp>
      <p:sp>
        <p:nvSpPr>
          <p:cNvPr id="29" name="Badge">
            <a:extLst>
              <a:ext uri="{FF2B5EF4-FFF2-40B4-BE49-F238E27FC236}">
                <a16:creationId xmlns:a16="http://schemas.microsoft.com/office/drawing/2014/main" id="{5C589F9A-0527-0A5E-2FBB-F293535A66A1}"/>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31" name="NumCircle">
            <a:extLst>
              <a:ext uri="{FF2B5EF4-FFF2-40B4-BE49-F238E27FC236}">
                <a16:creationId xmlns:a16="http://schemas.microsoft.com/office/drawing/2014/main" id="{E7041BF3-31F1-4C6A-9C6C-ED818DA65622}"/>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nvGraphicFramePr>
        <p:xfrm>
          <a:off x="347472" y="644652"/>
          <a:ext cx="8449056" cy="439826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lvl="0" indent="0">
                        <a:buNone/>
                      </a:pPr>
                      <a:r>
                        <a:rPr lang="en-US" sz="1400" b="0" i="0" u="none" strike="noStrike" noProof="0">
                          <a:solidFill>
                            <a:srgbClr val="000000"/>
                          </a:solidFill>
                          <a:latin typeface="Tw Cen MT"/>
                        </a:rPr>
                        <a:t>A - LeNet5_base </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19/30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LeNet5 finds plateau quickly</a:t>
                      </a:r>
                      <a:endParaRPr lang="en-US" sz="140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79">
                <a:tc>
                  <a:txBody>
                    <a:bodyPr/>
                    <a:lstStyle/>
                    <a:p>
                      <a:pPr marL="0" lvl="0" indent="0">
                        <a:buNone/>
                      </a:pPr>
                      <a:r>
                        <a:rPr lang="en-US" sz="1400" b="0" i="0" u="none" strike="noStrike" noProof="0">
                          <a:solidFill>
                            <a:srgbClr val="000000"/>
                          </a:solidFill>
                          <a:latin typeface="Tw Cen MT"/>
                        </a:rPr>
                        <a:t>B - LeNet5_dwrs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Moderate dropout and </a:t>
                      </a:r>
                      <a:r>
                        <a:rPr lang="en-US" sz="1400" dirty="0" err="1">
                          <a:solidFill>
                            <a:srgbClr val="000000"/>
                          </a:solidFill>
                        </a:rPr>
                        <a:t>WRSampler</a:t>
                      </a:r>
                      <a:r>
                        <a:rPr lang="en-US" sz="1400" dirty="0">
                          <a:solidFill>
                            <a:srgbClr val="000000"/>
                          </a:solidFill>
                        </a:rPr>
                        <a: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79">
                <a:tc>
                  <a:txBody>
                    <a:bodyPr/>
                    <a:lstStyle/>
                    <a:p>
                      <a:pPr marL="0" lvl="0" indent="0">
                        <a:buNone/>
                      </a:pPr>
                      <a:r>
                        <a:rPr lang="en-US" sz="1400" b="0" i="0" u="none" strike="noStrike" noProof="0" dirty="0">
                          <a:solidFill>
                            <a:srgbClr val="000000"/>
                          </a:solidFill>
                          <a:latin typeface="Tw Cen MT"/>
                        </a:rPr>
                        <a:t>C - </a:t>
                      </a:r>
                      <a:r>
                        <a:rPr lang="en-US" sz="1400" b="0" i="0" u="none" strike="noStrike" noProof="0" dirty="0" err="1">
                          <a:solidFill>
                            <a:srgbClr val="000000"/>
                          </a:solidFill>
                          <a:latin typeface="Tw Cen MT"/>
                        </a:rPr>
                        <a:t>Simple_cw</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Model fails to converge in 30 epochs (low number and small convolutions)</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79">
                <a:tc>
                  <a:txBody>
                    <a:bodyPr/>
                    <a:lstStyle/>
                    <a:p>
                      <a:pPr marL="0" lvl="0" indent="0">
                        <a:buNone/>
                      </a:pPr>
                      <a:r>
                        <a:rPr lang="en-US" sz="1400" b="0" i="0" u="none" strike="noStrike" noProof="0" dirty="0">
                          <a:solidFill>
                            <a:srgbClr val="000000"/>
                          </a:solidFill>
                        </a:rPr>
                        <a:t>D - </a:t>
                      </a:r>
                      <a:r>
                        <a:rPr lang="en-US" sz="1400" b="0" i="0" u="none" strike="noStrike" noProof="0" dirty="0" err="1">
                          <a:solidFill>
                            <a:srgbClr val="000000"/>
                          </a:solidFill>
                          <a:latin typeface="Tw Cen MT"/>
                        </a:rPr>
                        <a:t>Medium_base</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Deeper model allows for more convergence (0.02 train loss);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79">
                <a:tc>
                  <a:txBody>
                    <a:bodyPr/>
                    <a:lstStyle/>
                    <a:p>
                      <a:pPr marL="0" indent="0">
                        <a:buNone/>
                      </a:pPr>
                      <a:r>
                        <a:rPr lang="en-US" sz="1400" dirty="0">
                          <a:solidFill>
                            <a:srgbClr val="000000"/>
                          </a:solidFill>
                        </a:rPr>
                        <a:t>E - </a:t>
                      </a:r>
                      <a:r>
                        <a:rPr lang="en-US" sz="1400" b="0" i="0" u="none" strike="noStrike" noProof="0" dirty="0" err="1">
                          <a:solidFill>
                            <a:srgbClr val="000000"/>
                          </a:solidFill>
                          <a:latin typeface="Tw Cen MT"/>
                        </a:rPr>
                        <a:t>Medium_d</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in previous model doesn't improve convergence;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79">
                <a:tc>
                  <a:txBody>
                    <a:bodyPr/>
                    <a:lstStyle/>
                    <a:p>
                      <a:pPr marL="0" indent="0">
                        <a:buNone/>
                      </a:pPr>
                      <a:r>
                        <a:rPr lang="en-US" sz="1400" dirty="0">
                          <a:solidFill>
                            <a:srgbClr val="000000"/>
                          </a:solidFill>
                        </a:rPr>
                        <a:t>F - </a:t>
                      </a:r>
                      <a:r>
                        <a:rPr lang="en-US" sz="1400" b="0" i="0" u="none" strike="noStrike" noProof="0" dirty="0" err="1">
                          <a:solidFill>
                            <a:srgbClr val="000000"/>
                          </a:solidFill>
                          <a:latin typeface="Tw Cen MT"/>
                        </a:rPr>
                        <a:t>Medium_dls</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label smoothing hurt the convergence; the problem isn't regularization</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79">
                <a:tc>
                  <a:txBody>
                    <a:bodyPr/>
                    <a:lstStyle/>
                    <a:p>
                      <a:pPr marL="0" indent="0">
                        <a:buNone/>
                      </a:pPr>
                      <a:r>
                        <a:rPr lang="en-US" sz="1400" dirty="0">
                          <a:solidFill>
                            <a:srgbClr val="000000"/>
                          </a:solidFill>
                        </a:rPr>
                        <a:t>G - </a:t>
                      </a:r>
                      <a:r>
                        <a:rPr lang="en-US" sz="1400" dirty="0" err="1">
                          <a:solidFill>
                            <a:srgbClr val="000000"/>
                          </a:solidFill>
                        </a:rPr>
                        <a:t>Medium_dcw</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class weights; confirms previous theory, we need a deeper/wider network</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0279">
                <a:tc>
                  <a:txBody>
                    <a:bodyPr/>
                    <a:lstStyle/>
                    <a:p>
                      <a:pPr marL="0" indent="0">
                        <a:buNone/>
                      </a:pPr>
                      <a:r>
                        <a:rPr lang="en-US" sz="1400" b="0" i="0" u="none" strike="noStrike" noProof="0" dirty="0">
                          <a:solidFill>
                            <a:srgbClr val="000000"/>
                          </a:solidFill>
                          <a:latin typeface="Tw Cen MT"/>
                        </a:rPr>
                        <a:t>H - </a:t>
                      </a:r>
                      <a:r>
                        <a:rPr lang="en-US" sz="1400" b="0" i="0" u="none" strike="noStrike" noProof="0" dirty="0" err="1">
                          <a:solidFill>
                            <a:srgbClr val="000000"/>
                          </a:solidFill>
                          <a:latin typeface="Tw Cen MT"/>
                        </a:rPr>
                        <a:t>Medium_dwrs</a:t>
                      </a:r>
                      <a:endParaRPr lang="en-US" sz="1400"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a:t>
                      </a:r>
                      <a:r>
                        <a:rPr lang="en-US" sz="1400" dirty="0" err="1">
                          <a:solidFill>
                            <a:srgbClr val="000000"/>
                          </a:solidFill>
                        </a:rPr>
                        <a:t>WeightedRandomSampler</a:t>
                      </a:r>
                      <a:r>
                        <a:rPr lang="en-US" sz="1400" dirty="0">
                          <a:solidFill>
                            <a:srgbClr val="000000"/>
                          </a:solidFill>
                        </a:rPr>
                        <a:t> also fails to improve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0279">
                <a:tc>
                  <a:txBody>
                    <a:bodyPr/>
                    <a:lstStyle/>
                    <a:p>
                      <a:pPr marL="0" indent="0">
                        <a:buNone/>
                      </a:pPr>
                      <a:r>
                        <a:rPr lang="en-US" sz="1400" b="0" i="0" u="none" strike="noStrike" noProof="0" dirty="0">
                          <a:solidFill>
                            <a:srgbClr val="000000"/>
                          </a:solidFill>
                          <a:latin typeface="Tw Cen MT"/>
                        </a:rPr>
                        <a:t>I - </a:t>
                      </a:r>
                      <a:r>
                        <a:rPr lang="en-US" sz="1400" b="0" i="0" u="none" strike="noStrike" noProof="0" dirty="0" err="1">
                          <a:solidFill>
                            <a:srgbClr val="000000"/>
                          </a:solidFill>
                          <a:latin typeface="Tw Cen MT"/>
                        </a:rPr>
                        <a:t>Deep_dwrs</a:t>
                      </a:r>
                      <a:r>
                        <a:rPr lang="en-US" sz="1400" b="0" i="0" u="none" strike="noStrike" noProof="0" dirty="0">
                          <a:solidFill>
                            <a:srgbClr val="000000"/>
                          </a:solidFill>
                          <a:latin typeface="Tw Cen MT"/>
                        </a:rPr>
                        <a:t>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25/30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Two more convolution channels makes finding optimum fast; confirmed theory where regularization was not the issue </a:t>
                      </a:r>
                      <a:r>
                        <a:rPr lang="en-US" sz="1100" b="1" i="0" u="none" strike="noStrike" noProof="0" dirty="0">
                          <a:solidFill>
                            <a:srgbClr val="27AE60"/>
                          </a:solidFill>
                          <a:latin typeface="Tw Cen MT"/>
                        </a:rPr>
                        <a:t>✓</a:t>
                      </a:r>
                      <a:endParaRPr lang="en-US" sz="1400" dirty="0">
                        <a:solidFill>
                          <a:srgbClr val="000000"/>
                        </a:solidFill>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2" name="Badge">
            <a:extLst>
              <a:ext uri="{FF2B5EF4-FFF2-40B4-BE49-F238E27FC236}">
                <a16:creationId xmlns:a16="http://schemas.microsoft.com/office/drawing/2014/main" id="{229580A7-6884-5EAC-5668-A563C2D5EAC4}"/>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4" name="NumCircle">
            <a:extLst>
              <a:ext uri="{FF2B5EF4-FFF2-40B4-BE49-F238E27FC236}">
                <a16:creationId xmlns:a16="http://schemas.microsoft.com/office/drawing/2014/main" id="{9E94472E-BCD3-C86C-4D86-31D6A04E8FC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3D362-864A-AB17-E83C-35DAA81F539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A271828-793F-1284-EE16-94BD6091F513}"/>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a:extLst>
              <a:ext uri="{FF2B5EF4-FFF2-40B4-BE49-F238E27FC236}">
                <a16:creationId xmlns:a16="http://schemas.microsoft.com/office/drawing/2014/main" id="{64E86317-556D-8180-9B73-F018E54B552E}"/>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graphicFrame>
        <p:nvGraphicFramePr>
          <p:cNvPr id="11" name="Table 0">
            <a:extLst>
              <a:ext uri="{FF2B5EF4-FFF2-40B4-BE49-F238E27FC236}">
                <a16:creationId xmlns:a16="http://schemas.microsoft.com/office/drawing/2014/main" id="{CDB23056-8598-95A7-04F2-1FCC3F362398}"/>
              </a:ext>
            </a:extLst>
          </p:cNvPr>
          <p:cNvGraphicFramePr>
            <a:graphicFrameLocks noGrp="1"/>
          </p:cNvGraphicFramePr>
          <p:nvPr/>
        </p:nvGraphicFramePr>
        <p:xfrm>
          <a:off x="347472" y="644652"/>
          <a:ext cx="8449056" cy="2239350"/>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indent="0">
                        <a:buNone/>
                      </a:pPr>
                      <a:r>
                        <a:rPr lang="en-US" sz="1400" dirty="0">
                          <a:solidFill>
                            <a:srgbClr val="000000"/>
                          </a:solidFill>
                        </a:rPr>
                        <a:t>J - </a:t>
                      </a:r>
                      <a:r>
                        <a:rPr lang="en-US" sz="1400" dirty="0" err="1">
                          <a:solidFill>
                            <a:srgbClr val="000000"/>
                          </a:solidFill>
                        </a:rPr>
                        <a:t>Wide_d</a:t>
                      </a:r>
                      <a:endParaRPr lang="en-US" sz="1400" b="0" i="0" u="none" strike="noStrike" noProof="0" dirty="0" err="1">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Best checkpoint at epoch 25; patience runs out at 22. Widening channels is an alternative to deepening the network to achieve 1.0</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0279">
                <a:tc>
                  <a:txBody>
                    <a:bodyPr/>
                    <a:lstStyle/>
                    <a:p>
                      <a:pPr marL="0" lvl="0" indent="0">
                        <a:buNone/>
                      </a:pPr>
                      <a:r>
                        <a:rPr lang="en-US" sz="1400" dirty="0">
                          <a:solidFill>
                            <a:srgbClr val="000000"/>
                          </a:solidFill>
                        </a:rPr>
                        <a:t>K - </a:t>
                      </a:r>
                      <a:r>
                        <a:rPr lang="en-US" sz="1400" dirty="0" err="1">
                          <a:solidFill>
                            <a:srgbClr val="000000"/>
                          </a:solidFill>
                        </a:rPr>
                        <a:t>Wide_dwrs</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25/30</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dirty="0">
                          <a:solidFill>
                            <a:srgbClr val="000000"/>
                          </a:solidFill>
                        </a:rPr>
                        <a:t>Apply dropout and </a:t>
                      </a:r>
                      <a:r>
                        <a:rPr lang="en-US" sz="1400" dirty="0" err="1">
                          <a:solidFill>
                            <a:srgbClr val="000000"/>
                          </a:solidFill>
                        </a:rPr>
                        <a:t>WeightedRandomSampler</a:t>
                      </a:r>
                      <a:r>
                        <a:rPr lang="en-US" sz="1400" dirty="0">
                          <a:solidFill>
                            <a:srgbClr val="000000"/>
                          </a:solidFill>
                        </a:rPr>
                        <a:t> in this wider network gives us a perfect convergence</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761210630"/>
                  </a:ext>
                </a:extLst>
              </a:tr>
              <a:tr h="309966">
                <a:tc>
                  <a:txBody>
                    <a:bodyPr/>
                    <a:lstStyle/>
                    <a:p>
                      <a:pPr marL="0" lvl="0" indent="0">
                        <a:buNone/>
                      </a:pPr>
                      <a:r>
                        <a:rPr lang="en-US" sz="1400" dirty="0">
                          <a:solidFill>
                            <a:srgbClr val="000000"/>
                          </a:solidFill>
                        </a:rPr>
                        <a:t>L - </a:t>
                      </a:r>
                      <a:r>
                        <a:rPr lang="en-US" sz="1400" b="0" i="0" u="none" strike="noStrike" noProof="0" dirty="0" err="1">
                          <a:solidFill>
                            <a:srgbClr val="000000"/>
                          </a:solidFill>
                          <a:latin typeface="Tw Cen MT"/>
                        </a:rPr>
                        <a:t>MultiScale_dwrs</a:t>
                      </a:r>
                      <a:endParaRPr lang="en-US" sz="1400" dirty="0" err="1">
                        <a:solidFill>
                          <a:srgbClr val="000000"/>
                        </a:solidFill>
                      </a:endParaRP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29/30</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a:solidFill>
                            <a:srgbClr val="000000"/>
                          </a:solidFill>
                        </a:rPr>
                        <a:t>Early stops with way deep network and multiple scale kernels </a:t>
                      </a: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3248077057"/>
                  </a:ext>
                </a:extLst>
              </a:tr>
              <a:tr h="339025">
                <a:tc>
                  <a:txBody>
                    <a:bodyPr/>
                    <a:lstStyle/>
                    <a:p>
                      <a:pPr marL="0" lvl="0" indent="0">
                        <a:buNone/>
                      </a:pPr>
                      <a:r>
                        <a:rPr lang="en-US" sz="1400" dirty="0">
                          <a:solidFill>
                            <a:srgbClr val="000000"/>
                          </a:solidFill>
                        </a:rPr>
                        <a:t>M - </a:t>
                      </a:r>
                      <a:r>
                        <a:rPr lang="en-US" sz="1400" b="0" i="0" u="none" strike="noStrike" noProof="0" dirty="0" err="1">
                          <a:solidFill>
                            <a:srgbClr val="000000"/>
                          </a:solidFill>
                          <a:latin typeface="Tw Cen MT"/>
                        </a:rPr>
                        <a:t>Residual_dwrs</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0" i="0" u="none" strike="noStrike" noProof="0">
                          <a:solidFill>
                            <a:srgbClr val="000000"/>
                          </a:solidFill>
                          <a:latin typeface="Tw Cen MT"/>
                        </a:rPr>
                        <a:t>19/30</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buNone/>
                      </a:pPr>
                      <a:r>
                        <a:rPr lang="en-US" sz="1400">
                          <a:solidFill>
                            <a:srgbClr val="000000"/>
                          </a:solidFill>
                        </a:rPr>
                        <a:t>Residual Network converges the fastest (in terms of number of epochs, not time); </a:t>
                      </a:r>
                      <a:r>
                        <a:rPr lang="en-US" sz="1400" err="1">
                          <a:solidFill>
                            <a:srgbClr val="000000"/>
                          </a:solidFill>
                        </a:rPr>
                        <a:t>EarlyStoping</a:t>
                      </a:r>
                      <a:r>
                        <a:rPr lang="en-US" sz="1400" dirty="0">
                          <a:solidFill>
                            <a:srgbClr val="000000"/>
                          </a:solidFill>
                        </a:rPr>
                        <a:t> occurs earliest</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extLst>
                  <a:ext uri="{0D108BD9-81ED-4DB2-BD59-A6C34878D82A}">
                    <a16:rowId xmlns:a16="http://schemas.microsoft.com/office/drawing/2014/main" val="274348874"/>
                  </a:ext>
                </a:extLst>
              </a:tr>
            </a:tbl>
          </a:graphicData>
        </a:graphic>
      </p:graphicFrame>
      <p:sp>
        <p:nvSpPr>
          <p:cNvPr id="18" name="Badge">
            <a:extLst>
              <a:ext uri="{FF2B5EF4-FFF2-40B4-BE49-F238E27FC236}">
                <a16:creationId xmlns:a16="http://schemas.microsoft.com/office/drawing/2014/main" id="{1F0C0D8E-EC21-70AB-8B7E-A51D0653EE03}"/>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0" name="NumCircle">
            <a:extLst>
              <a:ext uri="{FF2B5EF4-FFF2-40B4-BE49-F238E27FC236}">
                <a16:creationId xmlns:a16="http://schemas.microsoft.com/office/drawing/2014/main" id="{72A48146-A399-C659-DA7B-AC09A767DD7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extLst>
      <p:ext uri="{BB962C8B-B14F-4D97-AF65-F5344CB8AC3E}">
        <p14:creationId xmlns:p14="http://schemas.microsoft.com/office/powerpoint/2010/main" val="1374614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a:solidFill>
                  <a:srgbClr val="1A2B3C"/>
                </a:solidFill>
                <a:latin typeface="Calibri"/>
              </a:rPr>
              <a:t>1      2.0604 1.9553 0.2342 0.2262</a:t>
            </a:r>
          </a:p>
          <a:p>
            <a:r>
              <a:rPr lang="en-US" sz="1000">
                <a:solidFill>
                  <a:srgbClr val="1A2B3C"/>
                </a:solidFill>
                <a:latin typeface="Calibri"/>
              </a:rPr>
              <a:t>5 0.6173  0.8140  0.6838 0.6717</a:t>
            </a:r>
            <a:endParaRPr lang="en-US" sz="1000">
              <a:solidFill>
                <a:srgbClr val="1A2B3C"/>
              </a:solidFill>
              <a:latin typeface="Calibri"/>
              <a:ea typeface="Calibri"/>
              <a:cs typeface="Calibri"/>
            </a:endParaRPr>
          </a:p>
          <a:p>
            <a:r>
              <a:rPr lang="en-US" sz="1000">
                <a:solidFill>
                  <a:srgbClr val="1A2B3C"/>
                </a:solidFill>
                <a:latin typeface="Calibri"/>
              </a:rPr>
              <a:t>10 0.0970  5.1619  0.2870 0.2652</a:t>
            </a:r>
            <a:endParaRPr lang="en-US" sz="1000">
              <a:solidFill>
                <a:srgbClr val="1A2B3C"/>
              </a:solidFill>
              <a:latin typeface="Calibri"/>
              <a:ea typeface="Calibri"/>
              <a:cs typeface="Calibri"/>
            </a:endParaRPr>
          </a:p>
          <a:p>
            <a:r>
              <a:rPr lang="en-US" sz="1000">
                <a:solidFill>
                  <a:srgbClr val="1A2B3C"/>
                </a:solidFill>
                <a:latin typeface="Calibri"/>
              </a:rPr>
              <a:t>15 0.0201  0.1798  0.9119 0.9294</a:t>
            </a:r>
            <a:endParaRPr lang="en-US" sz="1000">
              <a:solidFill>
                <a:srgbClr val="1A2B3C"/>
              </a:solidFill>
              <a:latin typeface="Calibri"/>
              <a:ea typeface="Calibri"/>
              <a:cs typeface="Calibri"/>
            </a:endParaRPr>
          </a:p>
          <a:p>
            <a:r>
              <a:rPr lang="en-US" sz="1000" b="1" dirty="0">
                <a:solidFill>
                  <a:schemeClr val="accent2">
                    <a:lumMod val="76000"/>
                  </a:schemeClr>
                </a:solidFill>
                <a:latin typeface="Calibri"/>
              </a:rPr>
              <a:t>18 0.0159  0.0083  1.0000 1.0000 </a:t>
            </a:r>
            <a:r>
              <a:rPr lang="en-US" sz="1000" b="1">
                <a:solidFill>
                  <a:schemeClr val="accent2">
                    <a:lumMod val="76000"/>
                  </a:schemeClr>
                </a:solidFill>
                <a:latin typeface="Calibri"/>
              </a:rPr>
              <a:t>←</a:t>
            </a:r>
            <a:r>
              <a:rPr lang="en-US" sz="1000" b="1" dirty="0">
                <a:solidFill>
                  <a:schemeClr val="accent2">
                    <a:lumMod val="76000"/>
                  </a:schemeClr>
                </a:solidFill>
                <a:latin typeface="Calibri"/>
              </a:rPr>
              <a:t> </a:t>
            </a:r>
            <a:r>
              <a:rPr lang="en-US" sz="1000" b="1">
                <a:solidFill>
                  <a:schemeClr val="accent2">
                    <a:lumMod val="76000"/>
                  </a:schemeClr>
                </a:solidFill>
                <a:latin typeface="Calibri"/>
              </a:rPr>
              <a:t>checkpoint</a:t>
            </a:r>
            <a:endParaRPr lang="en-US" b="1">
              <a:solidFill>
                <a:schemeClr val="accent2">
                  <a:lumMod val="76000"/>
                </a:schemeClr>
              </a:solidFill>
            </a:endParaRPr>
          </a:p>
          <a:p>
            <a:r>
              <a:rPr lang="en-US" sz="1000">
                <a:solidFill>
                  <a:srgbClr val="1A2B3C"/>
                </a:solidFill>
                <a:latin typeface="Calibri"/>
              </a:rPr>
              <a:t>20 0.0121  0.3623  0.5121 0.4657</a:t>
            </a:r>
            <a:endParaRPr lang="en-US" sz="1000">
              <a:solidFill>
                <a:srgbClr val="1A2B3C"/>
              </a:solidFill>
              <a:latin typeface="Calibri"/>
              <a:ea typeface="Calibri"/>
              <a:cs typeface="Calibri"/>
            </a:endParaRPr>
          </a:p>
          <a:p>
            <a:r>
              <a:rPr lang="en-US" sz="1000">
                <a:latin typeface="Calibri"/>
              </a:rPr>
              <a:t>25 0.0173  0.0150  0.9982 0.9964 ← early stopping</a:t>
            </a:r>
            <a:endParaRPr lang="en-US" sz="1000">
              <a:latin typeface="Calibri"/>
              <a:ea typeface="Calibri"/>
              <a:cs typeface="Calibri"/>
            </a:endParaRP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a:ea typeface="Calibri"/>
                <a:cs typeface="Calibri"/>
              </a:rPr>
              <a:t>Saves best checkpoint .</a:t>
            </a:r>
            <a:r>
              <a:rPr lang="en-US" sz="1200" dirty="0" err="1">
                <a:solidFill>
                  <a:srgbClr val="1A2B3C"/>
                </a:solidFill>
                <a:latin typeface="Calibri"/>
                <a:ea typeface="Calibri"/>
                <a:cs typeface="Calibri"/>
              </a:rPr>
              <a:t>pth</a:t>
            </a:r>
            <a:r>
              <a:rPr lang="en-US" sz="1200" dirty="0">
                <a:solidFill>
                  <a:srgbClr val="1A2B3C"/>
                </a:solidFill>
                <a:latin typeface="Calibri"/>
                <a:ea typeface="Calibri"/>
                <a:cs typeface="Calibri"/>
              </a:rPr>
              <a:t> per run</a:t>
            </a:r>
            <a:endParaRPr lang="en-US" sz="1200" dirty="0">
              <a:latin typeface="Calibri"/>
              <a:ea typeface="Calibri"/>
              <a:cs typeface="Calibri"/>
            </a:endParaRPr>
          </a:p>
          <a:p>
            <a:pPr marL="800100" lvl="1" indent="-342900">
              <a:buSzPct val="100000"/>
              <a:buChar char="•"/>
            </a:pPr>
            <a:r>
              <a:rPr lang="en-US" sz="1200">
                <a:solidFill>
                  <a:srgbClr val="1A2B3C"/>
                </a:solidFill>
                <a:latin typeface="Calibri"/>
                <a:ea typeface="Calibri"/>
                <a:cs typeface="Calibri"/>
              </a:rPr>
              <a:t>Allows &gt;30 epochs when plateau is slow</a:t>
            </a:r>
            <a:endParaRPr lang="en-US" sz="1200">
              <a:latin typeface="Calibri"/>
              <a:ea typeface="Calibri"/>
              <a:cs typeface="Calibri"/>
            </a:endParaRPr>
          </a:p>
        </p:txBody>
      </p:sp>
      <p:pic>
        <p:nvPicPr>
          <p:cNvPr id="6" name="Picture 5" descr="A graph of a train loss and a train loss&#10;&#10;AI-generated content may be incorrect.">
            <a:extLst>
              <a:ext uri="{FF2B5EF4-FFF2-40B4-BE49-F238E27FC236}">
                <a16:creationId xmlns:a16="http://schemas.microsoft.com/office/drawing/2014/main" id="{FAFE54AD-59D3-0BE0-74AA-A928F778EF6B}"/>
              </a:ext>
            </a:extLst>
          </p:cNvPr>
          <p:cNvPicPr>
            <a:picLocks noChangeAspect="1"/>
          </p:cNvPicPr>
          <p:nvPr/>
        </p:nvPicPr>
        <p:blipFill>
          <a:blip r:embed="rId2"/>
          <a:stretch>
            <a:fillRect/>
          </a:stretch>
        </p:blipFill>
        <p:spPr>
          <a:xfrm>
            <a:off x="862094" y="2641307"/>
            <a:ext cx="7400441" cy="2476225"/>
          </a:xfrm>
          <a:prstGeom prst="rect">
            <a:avLst/>
          </a:prstGeom>
        </p:spPr>
      </p:pic>
      <p:sp>
        <p:nvSpPr>
          <p:cNvPr id="8" name="Badge">
            <a:extLst>
              <a:ext uri="{FF2B5EF4-FFF2-40B4-BE49-F238E27FC236}">
                <a16:creationId xmlns:a16="http://schemas.microsoft.com/office/drawing/2014/main" id="{5E3C9511-E3B9-BF09-7D5C-5E771B6C6320}"/>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10" name="NumCircle">
            <a:extLst>
              <a:ext uri="{FF2B5EF4-FFF2-40B4-BE49-F238E27FC236}">
                <a16:creationId xmlns:a16="http://schemas.microsoft.com/office/drawing/2014/main" id="{D9CE2A85-2D4C-C7CB-CAA8-B852F2AABC2A}"/>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2.3</a:t>
            </a:r>
            <a:endParaRPr lang="en-US" sz="3200"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40126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a:ea typeface="Calibri"/>
                <a:cs typeface="Calibri"/>
              </a:rPr>
              <a:t>Best </a:t>
            </a:r>
            <a:r>
              <a:rPr lang="en-US" sz="1100" dirty="0" err="1">
                <a:solidFill>
                  <a:srgbClr val="FFFFFF"/>
                </a:solidFill>
                <a:latin typeface="Calibri"/>
                <a:ea typeface="Calibri"/>
                <a:cs typeface="Calibri"/>
              </a:rPr>
              <a:t>val</a:t>
            </a:r>
            <a:r>
              <a:rPr lang="en-US" sz="1100" dirty="0">
                <a:solidFill>
                  <a:srgbClr val="FFFFFF"/>
                </a:solidFill>
                <a:latin typeface="Calibri"/>
                <a:ea typeface="Calibri"/>
                <a:cs typeface="Calibri"/>
              </a:rPr>
              <a:t> Macro-F1</a:t>
            </a:r>
            <a:endParaRPr lang="en-US" sz="1100" dirty="0">
              <a:latin typeface="Calibri"/>
              <a:ea typeface="Calibri"/>
              <a:cs typeface="Calibri"/>
            </a:endParaRPr>
          </a:p>
          <a:p>
            <a:pPr marL="0" indent="0" algn="ctr">
              <a:buNone/>
            </a:pPr>
            <a:r>
              <a:rPr lang="en-US" sz="1100">
                <a:solidFill>
                  <a:srgbClr val="FFFFFF"/>
                </a:solidFill>
                <a:latin typeface="Calibri"/>
                <a:ea typeface="Calibri"/>
                <a:cs typeface="Calibri"/>
              </a:rPr>
              <a:t>(I_CNN)</a:t>
            </a:r>
            <a:endParaRPr lang="en-US" sz="110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a:solidFill>
                  <a:srgbClr val="FFFFFF"/>
                </a:solidFill>
                <a:latin typeface="Calibri"/>
                <a:ea typeface="Calibri"/>
                <a:cs typeface="Calibri"/>
              </a:rPr>
              <a:t>(I_CNN)</a:t>
            </a:r>
            <a:endParaRPr lang="en-US" sz="110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public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24" name="Shape 2">
            <a:extLst>
              <a:ext uri="{FF2B5EF4-FFF2-40B4-BE49-F238E27FC236}">
                <a16:creationId xmlns:a16="http://schemas.microsoft.com/office/drawing/2014/main" id="{DBB4021F-FBEA-312C-E965-99EA0B129BF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r>
              <a:rPr lang="en-US">
                <a:solidFill>
                  <a:srgbClr val="888888"/>
                </a:solidFill>
                <a:latin typeface="Calibri"/>
              </a:rPr>
              <a:t>Always-Water              		0.021      		18.7%</a:t>
            </a:r>
            <a:endParaRPr lang="en-US">
              <a:solidFill>
                <a:srgbClr val="888888"/>
              </a:solidFill>
              <a:latin typeface="Calibri"/>
              <a:ea typeface="Calibri"/>
              <a:cs typeface="Calibri"/>
            </a:endParaRPr>
          </a:p>
          <a:p>
            <a:r>
              <a:rPr lang="en-US" b="1">
                <a:solidFill>
                  <a:srgbClr val="00A896"/>
                </a:solidFill>
                <a:latin typeface="Calibri"/>
                <a:ea typeface="Calibri"/>
                <a:cs typeface="Calibri"/>
              </a:rPr>
              <a:t>M_CNN (submitted) ★		1.0000              100%</a:t>
            </a:r>
            <a:endParaRPr lang="en-US" b="1" dirty="0">
              <a:solidFill>
                <a:srgbClr val="00A896"/>
              </a:solidFill>
              <a:latin typeface="Calibri"/>
              <a:ea typeface="Calibri"/>
              <a:cs typeface="Calibri"/>
            </a:endParaRPr>
          </a:p>
          <a:p>
            <a:r>
              <a:rPr lang="en-US">
                <a:solidFill>
                  <a:srgbClr val="1C3A52"/>
                </a:solidFill>
                <a:latin typeface="Calibri"/>
              </a:rPr>
              <a:t>Kaggle public test                     1.0000                 —</a:t>
            </a:r>
          </a:p>
          <a:p>
            <a:r>
              <a:rPr lang="en-US">
                <a:solidFill>
                  <a:srgbClr val="1C3A52"/>
                </a:solidFill>
                <a:latin typeface="Calibri"/>
              </a:rPr>
              <a:t>Kaggle private test                   0.99752               — </a:t>
            </a:r>
            <a:r>
              <a:rPr lang="en-US" dirty="0">
                <a:solidFill>
                  <a:srgbClr val="1C3A52"/>
                </a:solidFill>
                <a:latin typeface="Calibri"/>
              </a:rPr>
              <a:t>  </a:t>
            </a:r>
            <a:endParaRPr lang="en-US">
              <a:solidFill>
                <a:srgbClr val="1C3A52"/>
              </a:solidFill>
              <a:latin typeface="Calibri"/>
              <a:ea typeface="Calibri"/>
              <a:cs typeface="Calibri"/>
            </a:endParaRP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530051"/>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433861"/>
            <a:ext cx="3414141" cy="2541843"/>
          </a:xfrm>
          <a:prstGeom prst="rect">
            <a:avLst/>
          </a:prstGeom>
          <a:noFill/>
          <a:ln/>
        </p:spPr>
        <p:txBody>
          <a:bodyPr wrap="square" lIns="91440" tIns="45720" rIns="91440" bIns="45720" rtlCol="0" anchor="t"/>
          <a:lstStyle/>
          <a:p>
            <a:r>
              <a:rPr lang="en-US" b="1" dirty="0">
                <a:solidFill>
                  <a:srgbClr val="00A896"/>
                </a:solidFill>
                <a:latin typeface="Trebuchet MS"/>
              </a:rPr>
              <a:t>Our model achieved </a:t>
            </a:r>
            <a:r>
              <a:rPr lang="en-US" b="1">
                <a:solidFill>
                  <a:srgbClr val="00A896"/>
                </a:solidFill>
                <a:latin typeface="Trebuchet MS"/>
              </a:rPr>
              <a:t>a perfect performance</a:t>
            </a:r>
            <a:endParaRPr lang="en-US" b="1" dirty="0">
              <a:solidFill>
                <a:srgbClr val="00A896"/>
              </a:solidFill>
              <a:latin typeface="Trebuchet MS"/>
            </a:endParaRPr>
          </a:p>
          <a:p>
            <a:pPr>
              <a:buNone/>
            </a:pPr>
            <a:r>
              <a:rPr lang="en-US" sz="1600" b="1">
                <a:solidFill>
                  <a:srgbClr val="00A896"/>
                </a:solidFill>
                <a:latin typeface="Calibri"/>
              </a:rPr>
              <a:t>Kaggle private score:</a:t>
            </a:r>
            <a:endParaRPr lang="en-US" sz="1600" b="1">
              <a:solidFill>
                <a:srgbClr val="00A896"/>
              </a:solidFill>
              <a:latin typeface="Calibri"/>
              <a:ea typeface="Calibri"/>
              <a:cs typeface="Calibri"/>
            </a:endParaRPr>
          </a:p>
          <a:p>
            <a:r>
              <a:rPr lang="en-US" sz="1600" b="1" dirty="0">
                <a:solidFill>
                  <a:srgbClr val="00A896"/>
                </a:solidFill>
                <a:latin typeface="Calibri"/>
              </a:rPr>
              <a:t>	</a:t>
            </a:r>
            <a:r>
              <a:rPr lang="en-US" sz="2400" b="1">
                <a:solidFill>
                  <a:srgbClr val="00A896"/>
                </a:solidFill>
                <a:latin typeface="Calibri"/>
              </a:rPr>
              <a:t>0.99752</a:t>
            </a:r>
            <a:endParaRPr lang="en-US" sz="2400" b="1" dirty="0">
              <a:solidFill>
                <a:srgbClr val="00A896"/>
              </a:solidFill>
              <a:latin typeface="Calibri"/>
              <a:ea typeface="Calibri"/>
              <a:cs typeface="Calibri"/>
            </a:endParaRPr>
          </a:p>
          <a:p>
            <a:r>
              <a:rPr lang="en-US" sz="1100" b="1" dirty="0">
                <a:solidFill>
                  <a:schemeClr val="bg1"/>
                </a:solidFill>
                <a:latin typeface="Calibri"/>
                <a:ea typeface="Calibri"/>
                <a:cs typeface="Calibri"/>
              </a:rPr>
              <a:t>Note: </a:t>
            </a:r>
            <a:r>
              <a:rPr lang="en-US" sz="1100" dirty="0">
                <a:solidFill>
                  <a:schemeClr val="bg1"/>
                </a:solidFill>
                <a:latin typeface="Calibri"/>
                <a:ea typeface="Calibri"/>
                <a:cs typeface="Calibri"/>
              </a:rPr>
              <a:t>we submitted M (Residual Network) instead of I since it also achieves a perfect score, but with lower losses (10^-3 vs 10^-2). In this report, we decided to analyze I instead of M since it converged faster, and M is so powerful that changing parameters and doing strange augmentation didn't hurt it, making it impossible to come to new conclusions</a:t>
            </a:r>
          </a:p>
          <a:p>
            <a:endParaRPr lang="en-US" sz="2400" dirty="0">
              <a:solidFill>
                <a:srgbClr val="00A896"/>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0.99752</a:t>
            </a:r>
            <a:endParaRPr lang="en-US" sz="3200">
              <a:solidFill>
                <a:srgbClr val="00A896"/>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private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Calibri"/>
              <a:ea typeface="Calibri"/>
              <a:cs typeface="Calibri"/>
            </a:endParaRPr>
          </a:p>
        </p:txBody>
      </p:sp>
      <p:sp>
        <p:nvSpPr>
          <p:cNvPr id="32" name="NumCircle">
            <a:extLst>
              <a:ext uri="{FF2B5EF4-FFF2-40B4-BE49-F238E27FC236}">
                <a16:creationId xmlns:a16="http://schemas.microsoft.com/office/drawing/2014/main" id="{BA48E8AF-0D9A-8CAA-14B2-DBB1DC40E32A}"/>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a:p>
        </p:txBody>
      </p:sp>
      <p:sp>
        <p:nvSpPr>
          <p:cNvPr id="51" name="InsightText"/>
          <p:cNvSpPr/>
          <p:nvPr/>
        </p:nvSpPr>
        <p:spPr>
          <a:xfrm>
            <a:off x="323254" y="4611902"/>
            <a:ext cx="8496050" cy="384840"/>
          </a:xfrm>
          <a:prstGeom prst="rect">
            <a:avLst/>
          </a:prstGeom>
          <a:noFill/>
          <a:ln/>
        </p:spPr>
        <p:txBody>
          <a:bodyPr wrap="square" lIns="91440" tIns="45720" rIns="91440" bIns="45720" rtlCol="0" anchor="ctr"/>
          <a:lstStyle/>
          <a:p>
            <a:r>
              <a:rPr lang="en-US" sz="1100" b="1" dirty="0">
                <a:solidFill>
                  <a:schemeClr val="accent2">
                    <a:lumMod val="40000"/>
                    <a:lumOff val="60000"/>
                  </a:schemeClr>
                </a:solidFill>
                <a:latin typeface="Trebuchet MS"/>
              </a:rPr>
              <a:t>In worse models, the color palette still drives some performance: </a:t>
            </a:r>
            <a:r>
              <a:rPr lang="en-US" sz="1200" dirty="0">
                <a:solidFill>
                  <a:srgbClr val="AACCD8"/>
                </a:solidFill>
                <a:latin typeface="Calibri"/>
              </a:rPr>
              <a:t>as in MLPs there's high F1 in Fire/Poison/Water, due to the distinctive </a:t>
            </a:r>
            <a:r>
              <a:rPr lang="en-US" sz="1200" dirty="0" err="1">
                <a:solidFill>
                  <a:srgbClr val="AACCD8"/>
                </a:solidFill>
                <a:latin typeface="Calibri"/>
              </a:rPr>
              <a:t>colours</a:t>
            </a:r>
            <a:r>
              <a:rPr lang="en-US" sz="1200" dirty="0">
                <a:solidFill>
                  <a:srgbClr val="AACCD8"/>
                </a:solidFill>
                <a:latin typeface="Calibri"/>
              </a:rPr>
              <a:t> of these types; shared palette or humanoid shape give us low F1 (Bug/Rock/Fighting/Ground), since they have no predominant </a:t>
            </a:r>
            <a:r>
              <a:rPr lang="en-US" sz="1200" dirty="0" err="1">
                <a:solidFill>
                  <a:srgbClr val="AACCD8"/>
                </a:solidFill>
                <a:latin typeface="Calibri"/>
              </a:rPr>
              <a:t>colours</a:t>
            </a:r>
            <a:r>
              <a:rPr lang="en-US" sz="1200" dirty="0">
                <a:solidFill>
                  <a:srgbClr val="AACCD8"/>
                </a:solidFill>
                <a:latin typeface="Calibri"/>
              </a:rPr>
              <a:t>. These models had more difficulty making the jump from the </a:t>
            </a:r>
            <a:r>
              <a:rPr lang="en-US" sz="1200" dirty="0" err="1">
                <a:solidFill>
                  <a:srgbClr val="AACCD8"/>
                </a:solidFill>
                <a:latin typeface="Calibri"/>
              </a:rPr>
              <a:t>colours</a:t>
            </a:r>
            <a:r>
              <a:rPr lang="en-US" sz="1200" dirty="0">
                <a:solidFill>
                  <a:srgbClr val="AACCD8"/>
                </a:solidFill>
                <a:latin typeface="Calibri"/>
              </a:rPr>
              <a:t> to the shapes of the </a:t>
            </a:r>
            <a:r>
              <a:rPr lang="en-US" sz="1200" dirty="0" err="1">
                <a:solidFill>
                  <a:srgbClr val="AACCD8"/>
                </a:solidFill>
                <a:latin typeface="Calibri"/>
              </a:rPr>
              <a:t>pokemon</a:t>
            </a:r>
            <a:r>
              <a:rPr lang="en-US" sz="1200" dirty="0">
                <a:solidFill>
                  <a:srgbClr val="AACCD8"/>
                </a:solidFill>
                <a:latin typeface="Calibri"/>
              </a:rPr>
              <a:t> themselves</a:t>
            </a:r>
            <a:endParaRPr lang="en-US" sz="1200" dirty="0">
              <a:solidFill>
                <a:srgbClr val="AACCD8"/>
              </a:solidFill>
              <a:latin typeface="Calibri"/>
              <a:ea typeface="Calibri"/>
              <a:cs typeface="Calibri"/>
            </a:endParaRPr>
          </a:p>
        </p:txBody>
      </p:sp>
      <p:pic>
        <p:nvPicPr>
          <p:cNvPr id="6" name="Picture 5" descr="A red and yellow chart&#10;&#10;AI-generated content may be incorrect.">
            <a:extLst>
              <a:ext uri="{FF2B5EF4-FFF2-40B4-BE49-F238E27FC236}">
                <a16:creationId xmlns:a16="http://schemas.microsoft.com/office/drawing/2014/main" id="{10968137-3EBD-2374-015A-4AF676334C6E}"/>
              </a:ext>
            </a:extLst>
          </p:cNvPr>
          <p:cNvPicPr>
            <a:picLocks noChangeAspect="1"/>
          </p:cNvPicPr>
          <p:nvPr/>
        </p:nvPicPr>
        <p:blipFill>
          <a:blip r:embed="rId2"/>
          <a:stretch>
            <a:fillRect/>
          </a:stretch>
        </p:blipFill>
        <p:spPr>
          <a:xfrm>
            <a:off x="-1030" y="613273"/>
            <a:ext cx="4233824" cy="3647551"/>
          </a:xfrm>
          <a:prstGeom prst="rect">
            <a:avLst/>
          </a:prstGeom>
        </p:spPr>
      </p:pic>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nvGraphicFramePr>
        <p:xfrm>
          <a:off x="5050203" y="626101"/>
          <a:ext cx="3055847" cy="3412498"/>
        </p:xfrm>
        <a:graphic>
          <a:graphicData uri="http://schemas.openxmlformats.org/drawingml/2006/table">
            <a:tbl>
              <a:tblPr/>
              <a:tblGrid>
                <a:gridCol w="708080">
                  <a:extLst>
                    <a:ext uri="{9D8B030D-6E8A-4147-A177-3AD203B41FA5}">
                      <a16:colId xmlns:a16="http://schemas.microsoft.com/office/drawing/2014/main" val="20000"/>
                    </a:ext>
                  </a:extLst>
                </a:gridCol>
                <a:gridCol w="619932">
                  <a:extLst>
                    <a:ext uri="{9D8B030D-6E8A-4147-A177-3AD203B41FA5}">
                      <a16:colId xmlns:a16="http://schemas.microsoft.com/office/drawing/2014/main" val="20001"/>
                    </a:ext>
                  </a:extLst>
                </a:gridCol>
                <a:gridCol w="611586">
                  <a:extLst>
                    <a:ext uri="{9D8B030D-6E8A-4147-A177-3AD203B41FA5}">
                      <a16:colId xmlns:a16="http://schemas.microsoft.com/office/drawing/2014/main" val="4133161899"/>
                    </a:ext>
                  </a:extLst>
                </a:gridCol>
                <a:gridCol w="1116249">
                  <a:extLst>
                    <a:ext uri="{9D8B030D-6E8A-4147-A177-3AD203B41FA5}">
                      <a16:colId xmlns:a16="http://schemas.microsoft.com/office/drawing/2014/main" val="20002"/>
                    </a:ext>
                  </a:extLst>
                </a:gridCol>
              </a:tblGrid>
              <a:tr h="371659">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a:solidFill>
                            <a:srgbClr val="FFFFFF"/>
                          </a:solidFill>
                          <a:latin typeface="Calibri"/>
                          <a:ea typeface="Calibri"/>
                          <a:cs typeface="Calibri"/>
                        </a:rPr>
                        <a:t>CNN F1</a:t>
                      </a:r>
                      <a:endParaRPr lang="en-US" sz="11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a:solidFill>
                            <a:srgbClr val="FFFFFF"/>
                          </a:solidFill>
                          <a:latin typeface="Calibri"/>
                          <a:ea typeface="Calibri"/>
                          <a:cs typeface="Calibri"/>
                        </a:rPr>
                        <a:t>MLP F1</a:t>
                      </a:r>
                      <a:endParaRPr lang="en-US" sz="1100" b="1" dirty="0">
                        <a:solidFill>
                          <a:srgbClr val="FFFFFF"/>
                        </a:solidFill>
                        <a:latin typeface="Calibri"/>
                        <a:ea typeface="Calibri"/>
                        <a:cs typeface="Calibri"/>
                      </a:endParaRP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a:solidFill>
                            <a:srgbClr val="FFFFFF"/>
                          </a:solidFill>
                          <a:latin typeface="Calibri"/>
                          <a:ea typeface="Calibri"/>
                          <a:cs typeface="Calibri"/>
                        </a:rPr>
                        <a:t>Improvement</a:t>
                      </a:r>
                      <a:endParaRPr lang="en-US"/>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indent="0" algn="ctr">
                        <a:buNone/>
                      </a:pPr>
                      <a:r>
                        <a:rPr lang="en-US" sz="1100" b="1">
                          <a:solidFill>
                            <a:srgbClr val="00B050"/>
                          </a:solidFill>
                          <a:latin typeface="Calibri"/>
                          <a:ea typeface="Calibri"/>
                          <a:cs typeface="Calibri"/>
                        </a:rPr>
                        <a:t>+0.543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+0.641</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dirty="0">
                          <a:solidFill>
                            <a:srgbClr val="000000"/>
                          </a:solidFill>
                          <a:latin typeface="Calibri"/>
                          <a:ea typeface="Calibri"/>
                          <a:cs typeface="Calibri"/>
                        </a:rPr>
                        <a:t>Water</a:t>
                      </a:r>
                      <a:endParaRPr lang="en-US" sz="1100" b="1">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0.332</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+0.668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0.286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+0.714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0.215</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+0.785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0.140</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0.126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0.134</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+0.866</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0.107</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+0.893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2">
            <a:extLst>
              <a:ext uri="{FF2B5EF4-FFF2-40B4-BE49-F238E27FC236}">
                <a16:creationId xmlns:a16="http://schemas.microsoft.com/office/drawing/2014/main" id="{29BA15D0-3936-62B2-8776-4A81F788C65C}"/>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558FF5CF-69F3-17A8-5326-78D12DAF5B73}"/>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18598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54517" y="4194659"/>
            <a:ext cx="4017997" cy="954705"/>
          </a:xfrm>
          <a:prstGeom prst="rect">
            <a:avLst/>
          </a:prstGeom>
          <a:solidFill>
            <a:srgbClr val="0D1B2A"/>
          </a:solidFill>
          <a:ln w="0">
            <a:noFill/>
          </a:ln>
        </p:spPr>
        <p:txBody>
          <a:bodyPr/>
          <a:lstStyle/>
          <a:p>
            <a:endParaRPr lang="en-US"/>
          </a:p>
        </p:txBody>
      </p:sp>
      <p:sp>
        <p:nvSpPr>
          <p:cNvPr id="31" name="CatchText"/>
          <p:cNvSpPr/>
          <p:nvPr/>
        </p:nvSpPr>
        <p:spPr>
          <a:xfrm>
            <a:off x="292749" y="4173475"/>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Normal is the catch-all for MLP</a:t>
            </a:r>
            <a:endParaRPr lang="en-US"/>
          </a:p>
          <a:p>
            <a:pPr marL="228600" indent="-228600">
              <a:buChar char="•"/>
            </a:pPr>
            <a:r>
              <a:rPr lang="en-US" sz="1100" dirty="0">
                <a:solidFill>
                  <a:schemeClr val="bg1"/>
                </a:solidFill>
                <a:latin typeface="Calibri"/>
              </a:rPr>
              <a:t>Normal = most diverse class: humanoids of every shape and size, no dominant </a:t>
            </a:r>
            <a:r>
              <a:rPr lang="en-US" sz="1100" dirty="0" err="1">
                <a:solidFill>
                  <a:schemeClr val="bg1"/>
                </a:solidFill>
                <a:latin typeface="Calibri"/>
              </a:rPr>
              <a:t>colour</a:t>
            </a:r>
            <a:endParaRPr lang="en-US" sz="1100" dirty="0" err="1">
              <a:solidFill>
                <a:schemeClr val="bg1"/>
              </a:solidFill>
              <a:latin typeface="Calibri"/>
              <a:ea typeface="Calibri"/>
              <a:cs typeface="Calibri"/>
            </a:endParaRPr>
          </a:p>
          <a:p>
            <a:pPr marL="228600" indent="-228600">
              <a:buChar char="•"/>
            </a:pPr>
            <a:r>
              <a:rPr lang="en-US" sz="1100" dirty="0">
                <a:solidFill>
                  <a:schemeClr val="bg1"/>
                </a:solidFill>
                <a:latin typeface="Calibri"/>
              </a:rPr>
              <a:t>Bug, Fighting and Ground all lack distinctive palettes — the MLP falls back to predicting Normal</a:t>
            </a:r>
          </a:p>
        </p:txBody>
      </p:sp>
      <p:pic>
        <p:nvPicPr>
          <p:cNvPr id="7" name="Picture 6">
            <a:extLst>
              <a:ext uri="{FF2B5EF4-FFF2-40B4-BE49-F238E27FC236}">
                <a16:creationId xmlns:a16="http://schemas.microsoft.com/office/drawing/2014/main" id="{93140B6C-BAD5-FF14-C36A-64E2C5AB0B87}"/>
              </a:ext>
            </a:extLst>
          </p:cNvPr>
          <p:cNvPicPr>
            <a:picLocks noChangeAspect="1"/>
          </p:cNvPicPr>
          <p:nvPr/>
        </p:nvPicPr>
        <p:blipFill>
          <a:blip r:embed="rId2"/>
          <a:stretch>
            <a:fillRect/>
          </a:stretch>
        </p:blipFill>
        <p:spPr>
          <a:xfrm>
            <a:off x="221486" y="1089422"/>
            <a:ext cx="3816489" cy="3107531"/>
          </a:xfrm>
          <a:prstGeom prst="rect">
            <a:avLst/>
          </a:prstGeom>
        </p:spPr>
      </p:pic>
      <p:sp>
        <p:nvSpPr>
          <p:cNvPr id="8" name="CatchText">
            <a:extLst>
              <a:ext uri="{FF2B5EF4-FFF2-40B4-BE49-F238E27FC236}">
                <a16:creationId xmlns:a16="http://schemas.microsoft.com/office/drawing/2014/main" id="{206C3F56-0D8B-5637-9765-9A2455DC7083}"/>
              </a:ext>
            </a:extLst>
          </p:cNvPr>
          <p:cNvSpPr/>
          <p:nvPr/>
        </p:nvSpPr>
        <p:spPr>
          <a:xfrm>
            <a:off x="1801866" y="673037"/>
            <a:ext cx="665079" cy="395657"/>
          </a:xfrm>
          <a:prstGeom prst="rect">
            <a:avLst/>
          </a:prstGeom>
          <a:noFill/>
          <a:ln/>
        </p:spPr>
        <p:txBody>
          <a:bodyPr wrap="square" lIns="91440" tIns="45720" rIns="91440" bIns="45720" rtlCol="0" anchor="t"/>
          <a:lstStyle/>
          <a:p>
            <a:r>
              <a:rPr lang="en-US" sz="2000" b="1">
                <a:latin typeface="Trebuchet MS"/>
              </a:rPr>
              <a:t>MLP</a:t>
            </a:r>
            <a:endParaRPr lang="en-US" sz="2000"/>
          </a:p>
          <a:p>
            <a:pPr marL="228600" indent="-228600">
              <a:buChar char="•"/>
            </a:pPr>
            <a:endParaRPr lang="en-US" sz="1100" dirty="0">
              <a:latin typeface="Calibri"/>
              <a:ea typeface="Calibri"/>
              <a:cs typeface="Calibri"/>
            </a:endParaRPr>
          </a:p>
        </p:txBody>
      </p:sp>
      <p:pic>
        <p:nvPicPr>
          <p:cNvPr id="13" name="Picture 12" descr="A graph of a number of blue squares&#10;&#10;AI-generated content may be incorrect.">
            <a:extLst>
              <a:ext uri="{FF2B5EF4-FFF2-40B4-BE49-F238E27FC236}">
                <a16:creationId xmlns:a16="http://schemas.microsoft.com/office/drawing/2014/main" id="{D1277C1D-5659-D855-875F-6E823397BB4D}"/>
              </a:ext>
            </a:extLst>
          </p:cNvPr>
          <p:cNvPicPr>
            <a:picLocks noChangeAspect="1"/>
          </p:cNvPicPr>
          <p:nvPr/>
        </p:nvPicPr>
        <p:blipFill>
          <a:blip r:embed="rId3"/>
          <a:stretch>
            <a:fillRect/>
          </a:stretch>
        </p:blipFill>
        <p:spPr>
          <a:xfrm>
            <a:off x="4574381" y="1085850"/>
            <a:ext cx="3924300" cy="3114675"/>
          </a:xfrm>
          <a:prstGeom prst="rect">
            <a:avLst/>
          </a:prstGeom>
        </p:spPr>
      </p:pic>
      <p:sp>
        <p:nvSpPr>
          <p:cNvPr id="14" name="CatchBG">
            <a:extLst>
              <a:ext uri="{FF2B5EF4-FFF2-40B4-BE49-F238E27FC236}">
                <a16:creationId xmlns:a16="http://schemas.microsoft.com/office/drawing/2014/main" id="{6E306E00-2890-9B44-D47E-21C5D109AD13}"/>
              </a:ext>
            </a:extLst>
          </p:cNvPr>
          <p:cNvSpPr/>
          <p:nvPr/>
        </p:nvSpPr>
        <p:spPr>
          <a:xfrm>
            <a:off x="4521133" y="4194658"/>
            <a:ext cx="4017997" cy="954705"/>
          </a:xfrm>
          <a:prstGeom prst="rect">
            <a:avLst/>
          </a:prstGeom>
          <a:solidFill>
            <a:srgbClr val="0D1B2A"/>
          </a:solidFill>
          <a:ln w="0">
            <a:noFill/>
          </a:ln>
        </p:spPr>
        <p:txBody>
          <a:bodyPr/>
          <a:lstStyle/>
          <a:p>
            <a:endParaRPr lang="en-US"/>
          </a:p>
        </p:txBody>
      </p:sp>
      <p:sp>
        <p:nvSpPr>
          <p:cNvPr id="15" name="CatchText">
            <a:extLst>
              <a:ext uri="{FF2B5EF4-FFF2-40B4-BE49-F238E27FC236}">
                <a16:creationId xmlns:a16="http://schemas.microsoft.com/office/drawing/2014/main" id="{B4E6DBCC-BEFA-D387-E58B-1D8FA5762AB6}"/>
              </a:ext>
            </a:extLst>
          </p:cNvPr>
          <p:cNvSpPr/>
          <p:nvPr/>
        </p:nvSpPr>
        <p:spPr>
          <a:xfrm>
            <a:off x="4659365" y="4173474"/>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CNNs are immune to this</a:t>
            </a:r>
            <a:endParaRPr lang="en-US"/>
          </a:p>
          <a:p>
            <a:pPr marL="228600" indent="-228600">
              <a:buFont typeface="Arial"/>
              <a:buChar char="•"/>
            </a:pPr>
            <a:r>
              <a:rPr lang="en-US" sz="1100" dirty="0">
                <a:solidFill>
                  <a:schemeClr val="bg1"/>
                </a:solidFill>
                <a:latin typeface="Calibri"/>
                <a:ea typeface="Calibri"/>
                <a:cs typeface="Calibri"/>
              </a:rPr>
              <a:t>As stated before, they can learn other patterns besides </a:t>
            </a:r>
            <a:r>
              <a:rPr lang="en-US" sz="1100" dirty="0" err="1">
                <a:solidFill>
                  <a:schemeClr val="bg1"/>
                </a:solidFill>
                <a:latin typeface="Calibri"/>
                <a:ea typeface="Calibri"/>
                <a:cs typeface="Calibri"/>
              </a:rPr>
              <a:t>colour</a:t>
            </a:r>
            <a:r>
              <a:rPr lang="en-US" sz="1100" dirty="0">
                <a:solidFill>
                  <a:schemeClr val="bg1"/>
                </a:solidFill>
                <a:latin typeface="Calibri"/>
                <a:ea typeface="Calibri"/>
                <a:cs typeface="Calibri"/>
              </a:rPr>
              <a:t> and independent pixels</a:t>
            </a:r>
          </a:p>
        </p:txBody>
      </p:sp>
      <p:sp>
        <p:nvSpPr>
          <p:cNvPr id="16" name="CatchText">
            <a:extLst>
              <a:ext uri="{FF2B5EF4-FFF2-40B4-BE49-F238E27FC236}">
                <a16:creationId xmlns:a16="http://schemas.microsoft.com/office/drawing/2014/main" id="{7999AF14-4CB2-B054-1934-616B39B0E07A}"/>
              </a:ext>
            </a:extLst>
          </p:cNvPr>
          <p:cNvSpPr/>
          <p:nvPr/>
        </p:nvSpPr>
        <p:spPr>
          <a:xfrm>
            <a:off x="6150624" y="673036"/>
            <a:ext cx="781164" cy="413516"/>
          </a:xfrm>
          <a:prstGeom prst="rect">
            <a:avLst/>
          </a:prstGeom>
          <a:noFill/>
          <a:ln/>
        </p:spPr>
        <p:txBody>
          <a:bodyPr wrap="square" lIns="91440" tIns="45720" rIns="91440" bIns="45720" rtlCol="0" anchor="t"/>
          <a:lstStyle/>
          <a:p>
            <a:r>
              <a:rPr lang="en-US" sz="2000" b="1">
                <a:latin typeface="Trebuchet MS"/>
              </a:rPr>
              <a:t>CNN</a:t>
            </a:r>
            <a:endParaRPr lang="en-US" sz="2000"/>
          </a:p>
          <a:p>
            <a:pPr marL="228600" indent="-228600">
              <a:buChar char="•"/>
            </a:pPr>
            <a:endParaRPr lang="en-US" sz="1100" dirty="0">
              <a:latin typeface="Calibri"/>
              <a:ea typeface="Calibri"/>
              <a:cs typeface="Calibri"/>
            </a:endParaRPr>
          </a:p>
        </p:txBody>
      </p:sp>
      <p:sp>
        <p:nvSpPr>
          <p:cNvPr id="9" name="Shape 2">
            <a:extLst>
              <a:ext uri="{FF2B5EF4-FFF2-40B4-BE49-F238E27FC236}">
                <a16:creationId xmlns:a16="http://schemas.microsoft.com/office/drawing/2014/main" id="{327BFDEF-F7A7-BB23-1A7D-A78AEDACEDD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11" name="NumCircle">
            <a:extLst>
              <a:ext uri="{FF2B5EF4-FFF2-40B4-BE49-F238E27FC236}">
                <a16:creationId xmlns:a16="http://schemas.microsoft.com/office/drawing/2014/main" id="{A4A43363-4011-D7C6-6B2C-89563A9E8912}"/>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r>
              <a:rPr lang="en-US" sz="1000" b="1" dirty="0">
                <a:solidFill>
                  <a:srgbClr val="00A896"/>
                </a:solidFill>
                <a:latin typeface="Calibri"/>
              </a:rPr>
              <a:t>ENSEMBLE I+K ★  F1=1.0000 acc=100%   </a:t>
            </a:r>
            <a:r>
              <a:rPr lang="en-US" sz="1000" dirty="0">
                <a:solidFill>
                  <a:srgbClr val="1A2B3C"/>
                </a:solidFill>
                <a:latin typeface="Calibri"/>
              </a:rPr>
              <a:t> Combining perfect models together doesn't change the result - expected</a:t>
            </a:r>
          </a:p>
        </p:txBody>
      </p:sp>
      <p:sp>
        <p:nvSpPr>
          <p:cNvPr id="13" name="E2"/>
          <p:cNvSpPr/>
          <p:nvPr/>
        </p:nvSpPr>
        <p:spPr>
          <a:xfrm>
            <a:off x="274320" y="1189331"/>
            <a:ext cx="8604289" cy="407482"/>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1"/>
            <a:ext cx="8604289" cy="407482"/>
          </a:xfrm>
          <a:prstGeom prst="rect">
            <a:avLst/>
          </a:prstGeom>
          <a:noFill/>
          <a:ln/>
        </p:spPr>
        <p:txBody>
          <a:bodyPr wrap="square" lIns="91440" tIns="0" rIns="0" bIns="0" rtlCol="0" anchor="ctr"/>
          <a:lstStyle/>
          <a:p>
            <a:r>
              <a:rPr lang="en-US" sz="1000" b="1" dirty="0">
                <a:solidFill>
                  <a:srgbClr val="028090"/>
                </a:solidFill>
                <a:latin typeface="Calibri"/>
              </a:rPr>
              <a:t>ENSEMBLE C+H F1=0.9908 acc=99.0%   </a:t>
            </a:r>
            <a:r>
              <a:rPr lang="en-US" sz="1000" dirty="0">
                <a:solidFill>
                  <a:srgbClr val="1A2B3C"/>
                </a:solidFill>
                <a:latin typeface="Calibri"/>
              </a:rPr>
              <a:t>Combining a bad model with a perfect one gave a similar performance, no additional noise (class weights + dropout combination)</a:t>
            </a:r>
            <a:endParaRPr lang="en-US" sz="1000" dirty="0">
              <a:solidFill>
                <a:srgbClr val="1A2B3C"/>
              </a:solidFill>
              <a:latin typeface="Calibri"/>
              <a:ea typeface="Calibri"/>
              <a:cs typeface="Calibri"/>
            </a:endParaRP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a:solidFill>
                  <a:srgbClr val="028090"/>
                </a:solidFill>
                <a:latin typeface="Trebuchet MS"/>
              </a:rPr>
              <a:t>C + H had a similar performance to solo H</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a:solidFill>
                  <a:srgbClr val="1A2B3C"/>
                </a:solidFill>
                <a:latin typeface="Calibri"/>
              </a:rPr>
              <a:t>H uses dropout — randomly drops neurons</a:t>
            </a:r>
            <a:endParaRPr lang="en-US" sz="1100">
              <a:solidFill>
                <a:srgbClr val="1A2B3C"/>
              </a:solidFill>
              <a:latin typeface="Calibri"/>
              <a:ea typeface="Calibri"/>
              <a:cs typeface="Calibri"/>
            </a:endParaRPr>
          </a:p>
          <a:p>
            <a:pPr marL="228600" indent="-228600">
              <a:buChar char="•"/>
            </a:pPr>
            <a:r>
              <a:rPr lang="en-US" sz="1100" dirty="0">
                <a:solidFill>
                  <a:srgbClr val="1A2B3C"/>
                </a:solidFill>
                <a:latin typeface="Calibri"/>
              </a:rPr>
              <a:t>Different mechanisms = different mistakes, but model H's performance doesn't outweigh H's near perfect performance</a:t>
            </a:r>
            <a:endParaRPr lang="en-US" sz="1100" dirty="0">
              <a:solidFill>
                <a:srgbClr val="1A2B3C"/>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a:p>
        </p:txBody>
      </p:sp>
      <p:sp>
        <p:nvSpPr>
          <p:cNvPr id="51" name="RText"/>
          <p:cNvSpPr/>
          <p:nvPr/>
        </p:nvSpPr>
        <p:spPr>
          <a:xfrm>
            <a:off x="4846800" y="2431223"/>
            <a:ext cx="3840480" cy="2286000"/>
          </a:xfrm>
          <a:prstGeom prst="rect">
            <a:avLst/>
          </a:prstGeom>
          <a:noFill/>
          <a:ln/>
        </p:spPr>
        <p:txBody>
          <a:bodyPr wrap="square" lIns="91440" tIns="45720" rIns="91440" bIns="45720" rtlCol="0" anchor="t"/>
          <a:lstStyle/>
          <a:p>
            <a:pPr>
              <a:buNone/>
            </a:pPr>
            <a:r>
              <a:rPr lang="en-US" sz="1200" b="1" dirty="0">
                <a:solidFill>
                  <a:srgbClr val="00A896"/>
                </a:solidFill>
                <a:latin typeface="Trebuchet MS"/>
              </a:rPr>
              <a:t>Kaggle validation gap</a:t>
            </a:r>
          </a:p>
          <a:p>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1.0000</a:t>
            </a:r>
          </a:p>
          <a:p>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0.99752</a:t>
            </a:r>
          </a:p>
          <a:p>
            <a:r>
              <a:rPr lang="en-US" sz="2000" b="1">
                <a:solidFill>
                  <a:srgbClr val="FFFFFF"/>
                </a:solidFill>
                <a:latin typeface="Trebuchet MS"/>
              </a:rPr>
              <a:t>	−0.00248 (-0.2486%)</a:t>
            </a:r>
          </a:p>
          <a:p>
            <a:pPr>
              <a:buNone/>
            </a:pPr>
            <a:endParaRPr lang="en-US" sz="1000" b="1" dirty="0">
              <a:solidFill>
                <a:srgbClr val="00A896"/>
              </a:solidFill>
              <a:latin typeface="Calibri"/>
            </a:endParaRPr>
          </a:p>
          <a:p>
            <a:r>
              <a:rPr lang="en-US" sz="1000" b="1">
                <a:solidFill>
                  <a:srgbClr val="00A896"/>
                </a:solidFill>
                <a:latin typeface="Calibri"/>
              </a:rPr>
              <a:t>Negligible gap:</a:t>
            </a:r>
            <a:endParaRPr lang="en-US" sz="1000" b="1">
              <a:solidFill>
                <a:srgbClr val="00A896"/>
              </a:solidFill>
              <a:latin typeface="Calibri"/>
              <a:ea typeface="Calibri"/>
              <a:cs typeface="Calibri"/>
            </a:endParaRPr>
          </a:p>
          <a:p>
            <a:pPr marL="228600" indent="-228600">
              <a:buChar char="•"/>
            </a:pPr>
            <a:r>
              <a:rPr lang="en-US" sz="1100">
                <a:solidFill>
                  <a:srgbClr val="AACCD8"/>
                </a:solidFill>
                <a:latin typeface="Calibri"/>
                <a:ea typeface="Calibri"/>
                <a:cs typeface="Calibri"/>
              </a:rPr>
              <a:t>We correctly evaluated our model's performance locally</a:t>
            </a:r>
            <a:endParaRPr lang="en-US" sz="1100" dirty="0">
              <a:solidFill>
                <a:srgbClr val="AACCD8"/>
              </a:solidFill>
              <a:latin typeface="Calibri"/>
              <a:ea typeface="Calibri"/>
              <a:cs typeface="Calibri"/>
            </a:endParaRPr>
          </a:p>
        </p:txBody>
      </p:sp>
      <p:sp>
        <p:nvSpPr>
          <p:cNvPr id="7" name="Shape 2">
            <a:extLst>
              <a:ext uri="{FF2B5EF4-FFF2-40B4-BE49-F238E27FC236}">
                <a16:creationId xmlns:a16="http://schemas.microsoft.com/office/drawing/2014/main" id="{046D97F3-2152-72D7-FF43-B776D8D831CA}"/>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BE1F69D0-A6A2-C8B1-B747-7A8A529A1E4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a:solidFill>
                  <a:srgbClr val="0D1B2A"/>
                </a:solidFill>
                <a:latin typeface="Trebuchet MS"/>
                <a:ea typeface="Trebuchet MS" pitchFamily="34" charset="-122"/>
                <a:cs typeface="Trebuchet MS" pitchFamily="34" charset="-120"/>
              </a:rPr>
              <a:t>Why Are CNNs Better For This Task?</a:t>
            </a:r>
            <a:endParaRPr lang="en-US" sz="2200" b="1" dirty="0">
              <a:solidFill>
                <a:srgbClr val="0D1B2A"/>
              </a:solidFill>
              <a:latin typeface="Trebuchet MS"/>
            </a:endParaRPr>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Spatial Inductive Bias</a:t>
            </a:r>
            <a:endParaRPr lang="en-US" sz="120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A CNN can recognize the same sprite at top-left or bottom-right, even though the input vector is different (translation invariance). MLPs can't learn "this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exists somewhere", even though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always appears in the same way.</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a:solidFill>
                  <a:srgbClr val="0D1B2A"/>
                </a:solidFill>
                <a:latin typeface="Trebuchet MS"/>
              </a:rPr>
              <a:t>Local Feature Learning</a:t>
            </a:r>
            <a:endParaRPr lang="en-US"/>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focus on local pattern (edges, shapes, flame tails, …), rather than treating each pixel independently. MLPs need weights for each </a:t>
            </a:r>
            <a:r>
              <a:rPr lang="en-US" sz="1100">
                <a:solidFill>
                  <a:srgbClr val="3D5A73"/>
                </a:solidFill>
                <a:latin typeface="Calibri"/>
                <a:ea typeface="Calibri"/>
                <a:cs typeface="Calibri"/>
              </a:rPr>
              <a:t>pixel, making them prone to overfit on small datasets like this one - too many parameters.</a:t>
            </a:r>
            <a:endParaRPr lang="en-US" sz="1100" dirty="0">
              <a:solidFill>
                <a:srgbClr val="3D5A73"/>
              </a:solidFill>
              <a:latin typeface="Calibri"/>
              <a:ea typeface="Calibri"/>
              <a:cs typeface="Calibri"/>
            </a:endParaRP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a:solidFill>
                  <a:srgbClr val="0D1B2A"/>
                </a:solidFill>
                <a:latin typeface="Trebuchet MS"/>
              </a:rPr>
              <a:t>Hierarchical Feature Learning</a:t>
            </a:r>
            <a:endParaRPr lang="en-US"/>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can build layered representations from simple edges to more complex shapes. This helps identifying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even when we lose the </a:t>
            </a:r>
            <a:r>
              <a:rPr lang="en-US" sz="1100" dirty="0" err="1">
                <a:solidFill>
                  <a:srgbClr val="3D5A73"/>
                </a:solidFill>
                <a:latin typeface="Calibri"/>
                <a:ea typeface="Calibri"/>
                <a:cs typeface="Calibri"/>
              </a:rPr>
              <a:t>colour</a:t>
            </a:r>
            <a:r>
              <a:rPr lang="en-US" sz="1100" dirty="0">
                <a:solidFill>
                  <a:srgbClr val="3D5A73"/>
                </a:solidFill>
                <a:latin typeface="Calibri"/>
                <a:ea typeface="Calibri"/>
                <a:cs typeface="Calibri"/>
              </a:rPr>
              <a:t>, for example, due to the memorization of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shape and details.</a:t>
            </a:r>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+0.7572 F1</a:t>
            </a:r>
            <a:endParaRPr lang="en-US" sz="120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same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appearing in different positions breaks the pixel vector. CNN  doesn't mind this.</a:t>
            </a: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-96.7% Parameters</a:t>
            </a:r>
            <a:endParaRPr lang="en-US" sz="1200" b="1">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CNN we analyzed has around 200 000 parameters, while the best MLP model has more than 6 million. With a 4.26/1 feature ratio, the MLP is </a:t>
            </a:r>
            <a:r>
              <a:rPr lang="en-US" sz="1100">
                <a:solidFill>
                  <a:srgbClr val="3D5A73"/>
                </a:solidFill>
                <a:latin typeface="Calibri"/>
                <a:ea typeface="Calibri"/>
                <a:cs typeface="Calibri"/>
              </a:rPr>
              <a:t>memorizing noise rather than learning patterns</a:t>
            </a:r>
            <a:endParaRPr lang="en-US" sz="1100" dirty="0">
              <a:solidFill>
                <a:srgbClr val="3D5A73"/>
              </a:solidFill>
              <a:latin typeface="Calibri"/>
              <a:ea typeface="Calibri"/>
              <a:cs typeface="Calibri"/>
            </a:endParaRPr>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r>
              <a:rPr lang="en-US" sz="1200" b="1">
                <a:solidFill>
                  <a:srgbClr val="0D1B2A"/>
                </a:solidFill>
                <a:latin typeface="Trebuchet MS"/>
              </a:rPr>
              <a:t>CNN Grayscale: -4.81% F1</a:t>
            </a:r>
            <a:endParaRPr lang="en-US"/>
          </a:p>
        </p:txBody>
      </p:sp>
      <p:sp>
        <p:nvSpPr>
          <p:cNvPr id="33" name="Text 31"/>
          <p:cNvSpPr/>
          <p:nvPr/>
        </p:nvSpPr>
        <p:spPr>
          <a:xfrm>
            <a:off x="4828032"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analyzed model has a 4.81% performance decrease (0.9519 F1) when trained with grayscale data, as opposed to RGB. While the performance is worse, it still is much better than the best MLP model (0.2428 F1). The CNN learns the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shapes correctly.</a:t>
            </a:r>
          </a:p>
        </p:txBody>
      </p:sp>
      <p:sp>
        <p:nvSpPr>
          <p:cNvPr id="41" name="Shape 2">
            <a:extLst>
              <a:ext uri="{FF2B5EF4-FFF2-40B4-BE49-F238E27FC236}">
                <a16:creationId xmlns:a16="http://schemas.microsoft.com/office/drawing/2014/main" id="{C57A5BFA-AC7E-EB19-EC06-592D883C878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43" name="NumCircle">
            <a:extLst>
              <a:ext uri="{FF2B5EF4-FFF2-40B4-BE49-F238E27FC236}">
                <a16:creationId xmlns:a16="http://schemas.microsoft.com/office/drawing/2014/main" id="{8302D6AB-0F74-1815-7D32-55FE90CCCDF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Best CNN result: 1.0000 </a:t>
            </a:r>
            <a:r>
              <a:rPr lang="en-US" sz="1100" b="1" dirty="0" err="1">
                <a:solidFill>
                  <a:srgbClr val="FFFFFF"/>
                </a:solidFill>
                <a:latin typeface="Trebuchet MS"/>
                <a:ea typeface="Trebuchet MS" pitchFamily="34" charset="-122"/>
                <a:cs typeface="Trebuchet MS" pitchFamily="34" charset="-120"/>
              </a:rPr>
              <a:t>val</a:t>
            </a:r>
            <a:r>
              <a:rPr lang="en-US" sz="1100" b="1" dirty="0">
                <a:solidFill>
                  <a:srgbClr val="FFFFFF"/>
                </a:solidFill>
                <a:latin typeface="Trebuchet MS"/>
                <a:ea typeface="Trebuchet MS" pitchFamily="34" charset="-122"/>
                <a:cs typeface="Trebuchet MS" pitchFamily="34" charset="-120"/>
              </a:rPr>
              <a:t> F1 (I, J, K, L, M, I+K), </a:t>
            </a:r>
            <a:r>
              <a:rPr lang="en-US" sz="1100" b="1" dirty="0">
                <a:solidFill>
                  <a:srgbClr val="FFFFFF"/>
                </a:solidFill>
                <a:latin typeface="Trebuchet MS"/>
                <a:ea typeface="+mn-lt"/>
                <a:cs typeface="+mn-lt"/>
              </a:rPr>
              <a:t>0.99752</a:t>
            </a:r>
            <a:r>
              <a:rPr lang="en-US" sz="1100" b="1" dirty="0">
                <a:solidFill>
                  <a:srgbClr val="FFFFFF"/>
                </a:solidFill>
                <a:latin typeface="Trebuchet MS"/>
                <a:ea typeface="Trebuchet MS" pitchFamily="34" charset="-122"/>
                <a:cs typeface="Trebuchet MS" pitchFamily="34" charset="-120"/>
              </a:rPr>
              <a:t> Kaggle (M)</a:t>
            </a:r>
            <a:endParaRPr lang="en-US" sz="1100" dirty="0">
              <a:latin typeface="Trebuchet MS"/>
            </a:endParaRPr>
          </a:p>
        </p:txBody>
      </p:sp>
      <p:sp>
        <p:nvSpPr>
          <p:cNvPr id="9" name="Text 7"/>
          <p:cNvSpPr/>
          <p:nvPr/>
        </p:nvSpPr>
        <p:spPr>
          <a:xfrm>
            <a:off x="493776" y="115214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4.12x above MLP best model. All 15 solo + 2 ensemble experiments are above the best MLP.</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Dropout and </a:t>
            </a:r>
            <a:r>
              <a:rPr lang="en-US" sz="1100" b="1" dirty="0" err="1">
                <a:solidFill>
                  <a:srgbClr val="FFFFFF"/>
                </a:solidFill>
                <a:latin typeface="Trebuchet MS"/>
                <a:ea typeface="Trebuchet MS" pitchFamily="34" charset="-122"/>
                <a:cs typeface="Trebuchet MS" pitchFamily="34" charset="-120"/>
              </a:rPr>
              <a:t>WeightedRandomSampler</a:t>
            </a:r>
            <a:r>
              <a:rPr lang="en-US" sz="1100" b="1" dirty="0">
                <a:solidFill>
                  <a:srgbClr val="FFFFFF"/>
                </a:solidFill>
                <a:latin typeface="Trebuchet MS"/>
                <a:ea typeface="Trebuchet MS" pitchFamily="34" charset="-122"/>
                <a:cs typeface="Trebuchet MS" pitchFamily="34" charset="-120"/>
              </a:rPr>
              <a:t> = most impactful techniques</a:t>
            </a:r>
            <a:endParaRPr lang="en-US" sz="1100" dirty="0">
              <a:latin typeface="Trebuchet MS"/>
            </a:endParaRPr>
          </a:p>
        </p:txBody>
      </p:sp>
      <p:sp>
        <p:nvSpPr>
          <p:cNvPr id="13" name="Text 11"/>
          <p:cNvSpPr/>
          <p:nvPr/>
        </p:nvSpPr>
        <p:spPr>
          <a:xfrm>
            <a:off x="493776" y="197510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Prevented overfit and handles class imbalance. All top solo experiments use them with dropout=0.3.</a:t>
            </a: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a:solidFill>
                  <a:srgbClr val="FFFFFF"/>
                </a:solidFill>
                <a:latin typeface="Trebuchet MS"/>
                <a:ea typeface="Trebuchet MS" pitchFamily="34" charset="-122"/>
                <a:cs typeface="Trebuchet MS" pitchFamily="34" charset="-120"/>
              </a:rPr>
              <a:t>Augmentation hurt</a:t>
            </a:r>
            <a:endParaRPr lang="en-US" sz="110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Confirmed empirically: performance decreases while using due to sprites always being presented the same way</a:t>
            </a: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r>
              <a:rPr lang="en-US" sz="1100" b="1">
                <a:solidFill>
                  <a:srgbClr val="FFFFFF"/>
                </a:solidFill>
                <a:latin typeface="Trebuchet MS"/>
              </a:rPr>
              <a:t>CNNs are better than MLPs for this task; ceiling surpassed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Feature-to-sample ratio 4.26:1 = no amount of tuning fixes MLP bad performance; CNN keeps spatial structure, and learns sprite shapes/details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a:latin typeface="Trebuchet MS"/>
              </a:rPr>
              <a:t>No need for ensembles</a:t>
            </a:r>
            <a:endParaRPr lang="en-US" sz="1100" b="1" dirty="0">
              <a:latin typeface="Trebuchet MS"/>
            </a:endParaRP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Ensembled experiments returned similar results; CNN solo is already good enough for this task</a:t>
            </a: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a:solidFill>
                  <a:srgbClr val="FFFFFF"/>
                </a:solidFill>
                <a:latin typeface="Trebuchet MS"/>
                <a:ea typeface="Trebuchet MS" pitchFamily="34" charset="-122"/>
                <a:cs typeface="Trebuchet MS" pitchFamily="34" charset="-120"/>
              </a:rPr>
              <a:t>Next: Task 3</a:t>
            </a:r>
            <a:endParaRPr lang="en-US" sz="1500" dirty="0"/>
          </a:p>
        </p:txBody>
      </p:sp>
      <p:sp>
        <p:nvSpPr>
          <p:cNvPr id="28" name="Text 26"/>
          <p:cNvSpPr/>
          <p:nvPr/>
        </p:nvSpPr>
        <p:spPr>
          <a:xfrm>
            <a:off x="6565392" y="1298448"/>
            <a:ext cx="2331720" cy="914400"/>
          </a:xfrm>
          <a:prstGeom prst="rect">
            <a:avLst/>
          </a:prstGeom>
          <a:noFill/>
          <a:ln/>
        </p:spPr>
        <p:txBody>
          <a:bodyPr wrap="square" lIns="91440" tIns="45720" rIns="91440" bIns="45720" rtlCol="0" anchor="ctr"/>
          <a:lstStyle/>
          <a:p>
            <a:pPr algn="ctr"/>
            <a:r>
              <a:rPr lang="en-US" sz="2000" b="1">
                <a:latin typeface="Trebuchet MS"/>
              </a:rPr>
              <a:t>Transfer Learning and Fine-Tuning</a:t>
            </a:r>
            <a:endParaRPr lang="en-US" sz="2000" b="1" dirty="0">
              <a:latin typeface="Trebuchet MS"/>
            </a:endParaRPr>
          </a:p>
          <a:p>
            <a:pPr marL="0" indent="0" algn="ctr">
              <a:buNone/>
            </a:pPr>
            <a:endParaRPr lang="en-US" sz="1200" dirty="0">
              <a:latin typeface="Trebuchet MS"/>
            </a:endParaRPr>
          </a:p>
        </p:txBody>
      </p:sp>
      <p:sp>
        <p:nvSpPr>
          <p:cNvPr id="29" name="Text 27"/>
          <p:cNvSpPr/>
          <p:nvPr/>
        </p:nvSpPr>
        <p:spPr>
          <a:xfrm>
            <a:off x="6629400" y="2304288"/>
            <a:ext cx="2212848" cy="2286000"/>
          </a:xfrm>
          <a:prstGeom prst="rect">
            <a:avLst/>
          </a:prstGeom>
          <a:noFill/>
          <a:ln/>
        </p:spPr>
        <p:txBody>
          <a:bodyPr wrap="square" lIns="91440" tIns="45720" rIns="91440" bIns="45720" rtlCol="0" anchor="ctr"/>
          <a:lstStyle/>
          <a:p>
            <a:pPr marL="342900" indent="-342900">
              <a:buSzPct val="100000"/>
              <a:buChar char="•"/>
            </a:pPr>
            <a:r>
              <a:rPr lang="en-US" sz="1000">
                <a:solidFill>
                  <a:srgbClr val="FFFFFF"/>
                </a:solidFill>
                <a:latin typeface="Calibri"/>
                <a:ea typeface="Calibri"/>
                <a:cs typeface="Calibri"/>
              </a:rPr>
              <a:t>Can we use a pre-trained model to our task?</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How deep will we need to go to replace the weights? Classifier head only, or further (with minimal learning rates)</a:t>
            </a:r>
            <a:r>
              <a:rPr lang="en-US" sz="1000" dirty="0">
                <a:solidFill>
                  <a:srgbClr val="FFFFFF"/>
                </a:solidFill>
                <a:latin typeface="Calibri"/>
                <a:ea typeface="Calibri"/>
                <a:cs typeface="Calibri"/>
              </a:rPr>
              <a: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Will augmentation still hurt the models in this new dataset?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Target F1: 0.60 to 0.70</a:t>
            </a:r>
            <a:endParaRPr lang="en-US" sz="1000">
              <a:latin typeface="Calibri"/>
              <a:ea typeface="Calibri"/>
              <a:cs typeface="Calibri"/>
            </a:endParaRP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algn="ctr"/>
            <a:r>
              <a:rPr lang="en-US" sz="1000">
                <a:solidFill>
                  <a:srgbClr val="FFFFFF"/>
                </a:solidFill>
                <a:latin typeface="Calibri"/>
                <a:ea typeface="Calibri"/>
                <a:cs typeface="Calibri"/>
              </a:rPr>
              <a:t>Task 2 complete  ·  Kaggle score: 0.99752 · 17 experiments  ·  ~37 min on T4</a:t>
            </a:r>
            <a:endParaRPr lang="en-US" sz="1000">
              <a:latin typeface="Calibri"/>
              <a:ea typeface="Calibri"/>
              <a:cs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What We Cover</a:t>
            </a:r>
            <a:endParaRPr lang="en-US" sz="2200" noProof="0" dirty="0"/>
          </a:p>
        </p:txBody>
      </p:sp>
      <p:sp>
        <p:nvSpPr>
          <p:cNvPr id="4" name="Shape 2"/>
          <p:cNvSpPr/>
          <p:nvPr/>
        </p:nvSpPr>
        <p:spPr>
          <a:xfrm>
            <a:off x="365760" y="809244"/>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1</a:t>
            </a:r>
            <a:endParaRPr lang="en-US" sz="2200" noProof="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noProof="0" dirty="0">
                <a:solidFill>
                  <a:srgbClr val="FFFFFF"/>
                </a:solidFill>
                <a:latin typeface="Trebuchet MS" pitchFamily="34" charset="0"/>
                <a:ea typeface="Trebuchet MS" pitchFamily="34" charset="-122"/>
                <a:cs typeface="Trebuchet MS" pitchFamily="34" charset="-120"/>
              </a:rPr>
              <a:t>Model Development</a:t>
            </a:r>
            <a:endParaRPr lang="en-US" sz="1400" noProof="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Architectures  · Experiments · Results</a:t>
            </a:r>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2</a:t>
            </a:r>
            <a:endParaRPr lang="en-US" sz="2200" noProof="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Fine-tunning, augmentation and regularization</a:t>
            </a:r>
            <a:endParaRPr lang="en-US" noProof="0" dirty="0"/>
          </a:p>
        </p:txBody>
      </p:sp>
      <p:sp>
        <p:nvSpPr>
          <p:cNvPr id="17" name="Text 15"/>
          <p:cNvSpPr/>
          <p:nvPr/>
        </p:nvSpPr>
        <p:spPr>
          <a:xfrm>
            <a:off x="5416296" y="1531620"/>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Only Head vs Head and Last Layer vs Full </a:t>
            </a:r>
            <a:r>
              <a:rPr lang="en-US" sz="1400" noProof="0" dirty="0">
                <a:solidFill>
                  <a:srgbClr val="7AADCC"/>
                </a:solidFill>
                <a:latin typeface="Calibri" pitchFamily="34" charset="0"/>
                <a:ea typeface="Calibri" pitchFamily="34" charset="-122"/>
                <a:cs typeface="Calibri" pitchFamily="34" charset="-120"/>
              </a:rPr>
              <a:t>·</a:t>
            </a:r>
            <a:r>
              <a:rPr lang="en-US" sz="1400" noProof="0" dirty="0">
                <a:solidFill>
                  <a:srgbClr val="7AADCC"/>
                </a:solidFill>
                <a:latin typeface="Calibri"/>
                <a:ea typeface="Calibri"/>
                <a:cs typeface="Calibri"/>
              </a:rPr>
              <a:t> Augmentation techniques</a:t>
            </a:r>
            <a:r>
              <a:rPr lang="en-US" sz="1400" noProof="0" dirty="0">
                <a:solidFill>
                  <a:srgbClr val="7AADCC"/>
                </a:solidFill>
                <a:latin typeface="Calibri" pitchFamily="34" charset="0"/>
                <a:ea typeface="Calibri" pitchFamily="34" charset="-122"/>
                <a:cs typeface="Calibri" pitchFamily="34" charset="-120"/>
              </a:rPr>
              <a:t> · ADMW · Label smoothing · Ensembles </a:t>
            </a:r>
            <a:r>
              <a:rPr lang="en-US" sz="1400" noProof="0" dirty="0">
                <a:solidFill>
                  <a:srgbClr val="7AADCC"/>
                </a:solidFill>
                <a:latin typeface="Calibri"/>
                <a:ea typeface="Calibri"/>
                <a:cs typeface="Calibri"/>
              </a:rPr>
              <a:t> </a:t>
            </a:r>
          </a:p>
          <a:p>
            <a:endParaRPr lang="en-US" sz="1400" noProof="0" dirty="0">
              <a:solidFill>
                <a:srgbClr val="7AADCC"/>
              </a:solidFill>
              <a:latin typeface="Calibri"/>
              <a:ea typeface="Calibri"/>
              <a:cs typeface="Calibri"/>
            </a:endParaRPr>
          </a:p>
          <a:p>
            <a:pPr marL="0" indent="0">
              <a:buNone/>
            </a:pPr>
            <a:endParaRPr lang="en-US" sz="1400" noProof="0" dirty="0">
              <a:solidFill>
                <a:srgbClr val="7AADCC"/>
              </a:solidFill>
              <a:latin typeface="Calibri"/>
              <a:ea typeface="Calibri"/>
              <a:cs typeface="Calibri"/>
            </a:endParaRPr>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3</a:t>
            </a:r>
            <a:endParaRPr lang="en-US" sz="2200" noProof="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Performance Evaluation</a:t>
            </a:r>
            <a:endParaRPr lang="en-US" sz="1400" b="1" noProof="0" dirty="0">
              <a:latin typeface="Trebuchet MS"/>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r>
              <a:rPr lang="en-US" sz="1400" noProof="0" dirty="0">
                <a:solidFill>
                  <a:srgbClr val="7AADCC"/>
                </a:solidFill>
                <a:latin typeface="Calibri" pitchFamily="34" charset="0"/>
                <a:ea typeface="Calibri" pitchFamily="34" charset="-122"/>
                <a:cs typeface="Calibri" pitchFamily="34" charset="-120"/>
              </a:rPr>
              <a:t>Macro-F1  ·  Per-class  ·  Confusion Matrix</a:t>
            </a:r>
            <a:endParaRPr lang="en-US" sz="1400" noProof="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D8EC6-9BCB-246D-F6BF-F61FEE22230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0091D34-CE14-FF02-C8FF-1E55BC46F0DC}"/>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5A96F6CF-9F65-C35F-DE9B-071AAB11669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6C1CE0E9-3662-73F5-EF17-0A9DE478499B}"/>
              </a:ext>
            </a:extLst>
          </p:cNvPr>
          <p:cNvSpPr/>
          <p:nvPr/>
        </p:nvSpPr>
        <p:spPr>
          <a:xfrm>
            <a:off x="347472" y="502920"/>
            <a:ext cx="6858000" cy="292608"/>
          </a:xfrm>
          <a:prstGeom prst="rect">
            <a:avLst/>
          </a:prstGeom>
          <a:noFill/>
          <a:ln/>
        </p:spPr>
        <p:txBody>
          <a:bodyPr wrap="square" lIns="0" tIns="0" rIns="0" bIns="0" rtlCol="0" anchor="ctr"/>
          <a:lstStyle/>
          <a:p>
            <a:r>
              <a:rPr lang="en-US" sz="1000" b="1" kern="0" spc="200" dirty="0">
                <a:solidFill>
                  <a:srgbClr val="02C39A"/>
                </a:solidFill>
                <a:latin typeface="Calibri"/>
                <a:ea typeface="Calibri"/>
                <a:cs typeface="Calibri"/>
              </a:rPr>
              <a:t>DEEP LEARNING  ·  ASSIGNMENT 1  ·  TASK 3</a:t>
            </a:r>
            <a:endParaRPr lang="en-US" sz="1000" dirty="0">
              <a:latin typeface="Corbel" panose="020B0503020204020204"/>
              <a:ea typeface="Calibri"/>
              <a:cs typeface="Calibri"/>
            </a:endParaRPr>
          </a:p>
        </p:txBody>
      </p:sp>
      <p:sp>
        <p:nvSpPr>
          <p:cNvPr id="6" name="Text 4">
            <a:extLst>
              <a:ext uri="{FF2B5EF4-FFF2-40B4-BE49-F238E27FC236}">
                <a16:creationId xmlns:a16="http://schemas.microsoft.com/office/drawing/2014/main" id="{E3650E61-4211-9196-7559-21F5A1868684}"/>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E7BA9AC5-8DCA-22EB-2601-0C34AE1B9A48}"/>
              </a:ext>
            </a:extLst>
          </p:cNvPr>
          <p:cNvSpPr/>
          <p:nvPr/>
        </p:nvSpPr>
        <p:spPr>
          <a:xfrm>
            <a:off x="225102" y="2044994"/>
            <a:ext cx="7225705" cy="438912"/>
          </a:xfrm>
          <a:prstGeom prst="rect">
            <a:avLst/>
          </a:prstGeom>
          <a:noFill/>
          <a:ln/>
        </p:spPr>
        <p:txBody>
          <a:bodyPr wrap="square" lIns="0" tIns="0" rIns="0" bIns="0" rtlCol="0" anchor="ctr"/>
          <a:lstStyle/>
          <a:p>
            <a:r>
              <a:rPr lang="en-US" sz="2400" dirty="0">
                <a:solidFill>
                  <a:srgbClr val="7AADCC"/>
                </a:solidFill>
                <a:latin typeface="Calibri"/>
                <a:ea typeface="Calibri"/>
                <a:cs typeface="Calibri"/>
              </a:rPr>
              <a:t>Task 3 – Transfer Learning and Fine-Tunning</a:t>
            </a:r>
            <a:endParaRPr lang="en-US" sz="2400" dirty="0">
              <a:latin typeface="Calibri"/>
              <a:ea typeface="Calibri"/>
              <a:cs typeface="Calibri"/>
            </a:endParaRPr>
          </a:p>
        </p:txBody>
      </p:sp>
      <p:sp>
        <p:nvSpPr>
          <p:cNvPr id="8" name="Shape 6">
            <a:extLst>
              <a:ext uri="{FF2B5EF4-FFF2-40B4-BE49-F238E27FC236}">
                <a16:creationId xmlns:a16="http://schemas.microsoft.com/office/drawing/2014/main" id="{6806E4D0-1032-CEC6-EC0D-265BD5FDBEE2}"/>
              </a:ext>
            </a:extLst>
          </p:cNvPr>
          <p:cNvSpPr/>
          <p:nvPr/>
        </p:nvSpPr>
        <p:spPr>
          <a:xfrm flipV="1">
            <a:off x="205176" y="2483906"/>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81CC838A-AE06-3A9F-4D00-8AAAD24495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B0FC9E0-B9DC-BA50-9CC1-2A2FB206B871}"/>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D450FF4-352E-4214-EEF6-4BA40601B68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31543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noProof="0"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3.1</a:t>
            </a:r>
            <a:endParaRPr lang="en-US" b="1" noProof="0"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78998"/>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Exploration strategy</a:t>
            </a:r>
            <a:endParaRPr lang="en-US" sz="2200" noProof="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2531038483"/>
              </p:ext>
            </p:extLst>
          </p:nvPr>
        </p:nvGraphicFramePr>
        <p:xfrm>
          <a:off x="174433" y="1255677"/>
          <a:ext cx="8653017" cy="340776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1306601">
                  <a:extLst>
                    <a:ext uri="{9D8B030D-6E8A-4147-A177-3AD203B41FA5}">
                      <a16:colId xmlns:a16="http://schemas.microsoft.com/office/drawing/2014/main" val="3394786443"/>
                    </a:ext>
                  </a:extLst>
                </a:gridCol>
                <a:gridCol w="2071782">
                  <a:extLst>
                    <a:ext uri="{9D8B030D-6E8A-4147-A177-3AD203B41FA5}">
                      <a16:colId xmlns:a16="http://schemas.microsoft.com/office/drawing/2014/main" val="2858452526"/>
                    </a:ext>
                  </a:extLst>
                </a:gridCol>
                <a:gridCol w="1068401">
                  <a:extLst>
                    <a:ext uri="{9D8B030D-6E8A-4147-A177-3AD203B41FA5}">
                      <a16:colId xmlns:a16="http://schemas.microsoft.com/office/drawing/2014/main" val="2404321311"/>
                    </a:ext>
                  </a:extLst>
                </a:gridCol>
                <a:gridCol w="1512395">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en-US" sz="1050" b="1" u="none" strike="noStrike" noProof="0" dirty="0">
                          <a:effectLst/>
                          <a:latin typeface="Calibri" panose="020F0502020204030204" pitchFamily="34" charset="0"/>
                          <a:ea typeface="Calibri" panose="020F0502020204030204" pitchFamily="34" charset="0"/>
                          <a:cs typeface="Calibri" panose="020F0502020204030204" pitchFamily="34" charset="0"/>
                        </a:rPr>
                        <a:t>ID</a:t>
                      </a:r>
                      <a:endParaRPr lang="en-US" sz="1050" b="1"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Name</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Model</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Criterion (~loss function)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Optimizer</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Rationale behind base model selection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EfficNetB0_Base</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EfficientNet-B0 [total params: 4,019,077]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Used as a baseline by google, made to be simpler than other popular choices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a:ea typeface="Calibri"/>
                          <a:cs typeface="Calibri"/>
                        </a:rPr>
                        <a:t>VGG16_Base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VGG 16 [total params: 134,297,417]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Simple architecture, excellent feature extractor, highly used in transfer learning tasks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SwinV2-Tiny [total params: 27,589,491]</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ResNet34_Base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ResNet34 [total params: 21,289,289]</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Made for small datasets, efficient and lightweight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a:ea typeface="Calibri"/>
                          <a:cs typeface="Calibri"/>
                        </a:rPr>
                        <a:t>ConvNext_Base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ConvNeXt</a:t>
                      </a: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Tiny [total params: 27,827,049]</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Combines transformers performance with CNN’s speed and efficiency, smaller than the original</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ResNet18_Cust</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ResNet18 with custom head [total params (base version): 11,756,593]</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Similar to ResNet18 but with even less layers, might be better for our small dataset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Efficientnet_v2_s_Cust</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EfficientNetV2-S with custom head[total params (base version): 20,189,017]</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Optimized for image classification, improves upon the original </a:t>
                      </a:r>
                      <a:r>
                        <a:rPr lang="en-US" sz="1050" b="0" i="0" u="none" strike="noStrike" noProof="0" dirty="0" err="1">
                          <a:solidFill>
                            <a:srgbClr val="000000"/>
                          </a:solidFill>
                          <a:effectLst/>
                          <a:latin typeface="Calibri"/>
                          <a:ea typeface="Calibri"/>
                          <a:cs typeface="Calibri"/>
                        </a:rPr>
                        <a:t>EfficientNet</a:t>
                      </a:r>
                      <a:r>
                        <a:rPr lang="en-US" sz="1050" b="0" i="0" u="none" strike="noStrike" noProof="0" dirty="0">
                          <a:solidFill>
                            <a:srgbClr val="000000"/>
                          </a:solidFill>
                          <a:effectLst/>
                          <a:latin typeface="Calibri"/>
                          <a:ea typeface="Calibri"/>
                          <a:cs typeface="Calibri"/>
                        </a:rPr>
                        <a:t>, and is the smaller version</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N</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SwinV2t_MLP</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SwinV2-Tiny with best MLP head</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noProof="0" dirty="0"/>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noProof="0" dirty="0">
                <a:solidFill>
                  <a:schemeClr val="accent2">
                    <a:lumMod val="40000"/>
                    <a:lumOff val="60000"/>
                  </a:schemeClr>
                </a:solidFill>
                <a:latin typeface="Trebuchet MS" pitchFamily="34" charset="0"/>
              </a:rPr>
              <a:t>Strategy</a:t>
            </a:r>
            <a:r>
              <a:rPr lang="en-US" sz="1200" b="1" noProof="0" dirty="0">
                <a:solidFill>
                  <a:srgbClr val="00A896"/>
                </a:solidFill>
                <a:latin typeface="Trebuchet MS" pitchFamily="34" charset="0"/>
              </a:rPr>
              <a:t>: </a:t>
            </a:r>
            <a:r>
              <a:rPr lang="en-US" sz="1200" noProof="0" dirty="0">
                <a:solidFill>
                  <a:schemeClr val="bg1"/>
                </a:solidFill>
                <a:latin typeface="Calibri" pitchFamily="34" charset="0"/>
              </a:rPr>
              <a:t>We explored different pre-trained models from </a:t>
            </a:r>
            <a:r>
              <a:rPr lang="en-US" sz="1200" noProof="0" dirty="0" err="1">
                <a:solidFill>
                  <a:schemeClr val="bg1"/>
                </a:solidFill>
                <a:latin typeface="Calibri" pitchFamily="34" charset="0"/>
              </a:rPr>
              <a:t>pytorch</a:t>
            </a:r>
            <a:r>
              <a:rPr lang="en-US" sz="1200" noProof="0" dirty="0">
                <a:solidFill>
                  <a:schemeClr val="bg1"/>
                </a:solidFill>
                <a:latin typeface="Calibri" pitchFamily="34" charset="0"/>
              </a:rPr>
              <a:t>. For each one we tested with 2 different heads, a basic linear and another with two </a:t>
            </a:r>
            <a:r>
              <a:rPr lang="en-US" sz="1200" noProof="0" dirty="0" err="1">
                <a:solidFill>
                  <a:schemeClr val="bg1"/>
                </a:solidFill>
                <a:latin typeface="Calibri" pitchFamily="34" charset="0"/>
              </a:rPr>
              <a:t>linears</a:t>
            </a:r>
            <a:r>
              <a:rPr lang="en-US" sz="1200" noProof="0" dirty="0">
                <a:solidFill>
                  <a:schemeClr val="bg1"/>
                </a:solidFill>
                <a:latin typeface="Calibri" pitchFamily="34" charset="0"/>
              </a:rPr>
              <a:t> + </a:t>
            </a:r>
            <a:r>
              <a:rPr lang="en-US" sz="1200" noProof="0" dirty="0" err="1">
                <a:solidFill>
                  <a:schemeClr val="bg1"/>
                </a:solidFill>
                <a:latin typeface="Calibri" pitchFamily="34" charset="0"/>
              </a:rPr>
              <a:t>ReLu</a:t>
            </a:r>
            <a:r>
              <a:rPr lang="en-US" sz="1200" noProof="0" dirty="0">
                <a:solidFill>
                  <a:schemeClr val="bg1"/>
                </a:solidFill>
                <a:latin typeface="Calibri" pitchFamily="34" charset="0"/>
              </a:rPr>
              <a:t>, on some of the models we also tested with the best MLP as the head.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1044207" y="2433250"/>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noProof="0" dirty="0"/>
              <a:t>⭐</a:t>
            </a:r>
          </a:p>
        </p:txBody>
      </p:sp>
      <p:sp>
        <p:nvSpPr>
          <p:cNvPr id="6" name="CaixaDeTexto 5">
            <a:extLst>
              <a:ext uri="{FF2B5EF4-FFF2-40B4-BE49-F238E27FC236}">
                <a16:creationId xmlns:a16="http://schemas.microsoft.com/office/drawing/2014/main" id="{4967A679-6548-4A8A-77E7-F42A4DDE136C}"/>
              </a:ext>
            </a:extLst>
          </p:cNvPr>
          <p:cNvSpPr txBox="1"/>
          <p:nvPr/>
        </p:nvSpPr>
        <p:spPr>
          <a:xfrm>
            <a:off x="174433" y="4752312"/>
            <a:ext cx="6169446" cy="276999"/>
          </a:xfrm>
          <a:prstGeom prst="rect">
            <a:avLst/>
          </a:prstGeom>
          <a:noFill/>
        </p:spPr>
        <p:txBody>
          <a:bodyPr wrap="none" rtlCol="0">
            <a:spAutoFit/>
          </a:bodyPr>
          <a:lstStyle/>
          <a:p>
            <a:r>
              <a:rPr lang="en-US" sz="1200" noProof="0" dirty="0"/>
              <a:t>We prefer the smaller versions due to the resource constraints but manly due to the small dataset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1FDB-018F-A5E6-3EC0-1727AC51565D}"/>
            </a:ext>
          </a:extLst>
        </p:cNvPr>
        <p:cNvGrpSpPr/>
        <p:nvPr/>
      </p:nvGrpSpPr>
      <p:grpSpPr>
        <a:xfrm>
          <a:off x="0" y="0"/>
          <a:ext cx="0" cy="0"/>
          <a:chOff x="0" y="0"/>
          <a:chExt cx="0" cy="0"/>
        </a:xfrm>
      </p:grpSpPr>
      <p:sp>
        <p:nvSpPr>
          <p:cNvPr id="40" name="LeftCard">
            <a:extLst>
              <a:ext uri="{FF2B5EF4-FFF2-40B4-BE49-F238E27FC236}">
                <a16:creationId xmlns:a16="http://schemas.microsoft.com/office/drawing/2014/main" id="{A4A7C0B3-F935-D987-B2D8-6B56C031A3B8}"/>
              </a:ext>
            </a:extLst>
          </p:cNvPr>
          <p:cNvSpPr/>
          <p:nvPr/>
        </p:nvSpPr>
        <p:spPr>
          <a:xfrm>
            <a:off x="274081" y="1482693"/>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2" name="RightCard">
            <a:extLst>
              <a:ext uri="{FF2B5EF4-FFF2-40B4-BE49-F238E27FC236}">
                <a16:creationId xmlns:a16="http://schemas.microsoft.com/office/drawing/2014/main" id="{009B56BA-DD69-9FF5-1548-4CEA838320EC}"/>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 name="TopBar">
            <a:extLst>
              <a:ext uri="{FF2B5EF4-FFF2-40B4-BE49-F238E27FC236}">
                <a16:creationId xmlns:a16="http://schemas.microsoft.com/office/drawing/2014/main" id="{B5AC42FE-EE48-30ED-3DD8-3C14122F7937}"/>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171B7CE7-6D8E-7FA2-9CBD-9F4BFDA0C0DD}"/>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a:extLst>
              <a:ext uri="{FF2B5EF4-FFF2-40B4-BE49-F238E27FC236}">
                <a16:creationId xmlns:a16="http://schemas.microsoft.com/office/drawing/2014/main" id="{A98067DF-9036-AABB-A12E-F440820D639B}"/>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Rationale for head choices</a:t>
            </a:r>
          </a:p>
        </p:txBody>
      </p:sp>
      <p:sp>
        <p:nvSpPr>
          <p:cNvPr id="41" name="LeftText">
            <a:extLst>
              <a:ext uri="{FF2B5EF4-FFF2-40B4-BE49-F238E27FC236}">
                <a16:creationId xmlns:a16="http://schemas.microsoft.com/office/drawing/2014/main" id="{57825AC3-402E-6234-0430-E9E4A9026139}"/>
              </a:ext>
            </a:extLst>
          </p:cNvPr>
          <p:cNvSpPr/>
          <p:nvPr/>
        </p:nvSpPr>
        <p:spPr>
          <a:xfrm>
            <a:off x="4846919" y="1555721"/>
            <a:ext cx="3840480" cy="2816640"/>
          </a:xfrm>
          <a:prstGeom prst="rect">
            <a:avLst/>
          </a:prstGeom>
          <a:noFill/>
          <a:ln/>
        </p:spPr>
        <p:txBody>
          <a:bodyPr wrap="square" lIns="91440" tIns="45720" rIns="91440" bIns="45720" rtlCol="0" anchor="t"/>
          <a:lstStyle/>
          <a:p>
            <a:r>
              <a:rPr lang="en-US" sz="1300" b="1" noProof="0" dirty="0">
                <a:solidFill>
                  <a:srgbClr val="028090"/>
                </a:solidFill>
                <a:latin typeface="Trebuchet MS"/>
              </a:rPr>
              <a:t>Simple 2 Linear (</a:t>
            </a:r>
            <a:r>
              <a:rPr lang="en-US" sz="1300" b="1" noProof="0" dirty="0" err="1">
                <a:solidFill>
                  <a:srgbClr val="028090"/>
                </a:solidFill>
                <a:latin typeface="Trebuchet MS"/>
              </a:rPr>
              <a:t>in_features</a:t>
            </a:r>
            <a:r>
              <a:rPr lang="en-US" sz="1300" b="1" noProof="0" dirty="0">
                <a:solidFill>
                  <a:srgbClr val="028090"/>
                </a:solidFill>
                <a:latin typeface="Trebuchet MS"/>
              </a:rPr>
              <a:t> -&gt; 64 -&gt; 9) + </a:t>
            </a:r>
            <a:r>
              <a:rPr lang="en-US" sz="1300" b="1" noProof="0" dirty="0" err="1">
                <a:solidFill>
                  <a:srgbClr val="028090"/>
                </a:solidFill>
                <a:latin typeface="Trebuchet MS"/>
              </a:rPr>
              <a:t>Relu</a:t>
            </a:r>
            <a:r>
              <a:rPr lang="en-US" sz="1300" b="1" noProof="0" dirty="0">
                <a:solidFill>
                  <a:srgbClr val="028090"/>
                </a:solidFill>
                <a:latin typeface="Trebuchet MS"/>
              </a:rPr>
              <a:t> Layer + Layer norm</a:t>
            </a:r>
            <a:endParaRPr lang="en-US" sz="1300" b="1" noProof="0" dirty="0">
              <a:solidFill>
                <a:srgbClr val="028090"/>
              </a:solidFill>
              <a:latin typeface="Trebuchet MS" pitchFamily="34" charset="0"/>
            </a:endParaRP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Uses smaller layers than the original MLP, preventing overfit but at the same time giving “space” for the model to capture the patterns.</a:t>
            </a:r>
          </a:p>
          <a:p>
            <a:pPr marL="228600" indent="-228600">
              <a:buChar char="•"/>
            </a:pPr>
            <a:r>
              <a:rPr lang="en-US" sz="1100" b="1" noProof="0" dirty="0">
                <a:solidFill>
                  <a:srgbClr val="1A2B3C"/>
                </a:solidFill>
                <a:latin typeface="Calibri"/>
                <a:ea typeface="Calibri"/>
                <a:cs typeface="Calibri"/>
              </a:rPr>
              <a:t>Outcome:</a:t>
            </a:r>
            <a:r>
              <a:rPr lang="en-US" sz="1100" noProof="0" dirty="0">
                <a:solidFill>
                  <a:srgbClr val="1A2B3C"/>
                </a:solidFill>
                <a:latin typeface="Calibri"/>
                <a:ea typeface="Calibri"/>
                <a:cs typeface="Calibri"/>
              </a:rPr>
              <a:t> We still got overfit on the models, but they were converging faster, and got better results than the MLP heads, meaning the model is capturing better the patterns, and with regularization we might beat the base model.</a:t>
            </a:r>
          </a:p>
          <a:p>
            <a:pPr marL="228600" indent="-228600">
              <a:buChar char="•"/>
            </a:pPr>
            <a:endParaRPr lang="en-US" sz="1100" b="1" noProof="0" dirty="0">
              <a:solidFill>
                <a:srgbClr val="1A2B3C"/>
              </a:solidFill>
              <a:latin typeface="Calibri" pitchFamily="34" charset="0"/>
            </a:endParaRPr>
          </a:p>
        </p:txBody>
      </p:sp>
      <p:sp>
        <p:nvSpPr>
          <p:cNvPr id="43" name="RightText">
            <a:extLst>
              <a:ext uri="{FF2B5EF4-FFF2-40B4-BE49-F238E27FC236}">
                <a16:creationId xmlns:a16="http://schemas.microsoft.com/office/drawing/2014/main" id="{789896B8-C619-09B5-0D95-DDF507CCFC65}"/>
              </a:ext>
            </a:extLst>
          </p:cNvPr>
          <p:cNvSpPr/>
          <p:nvPr/>
        </p:nvSpPr>
        <p:spPr>
          <a:xfrm>
            <a:off x="319883" y="1555721"/>
            <a:ext cx="3840480" cy="2816640"/>
          </a:xfrm>
          <a:prstGeom prst="rect">
            <a:avLst/>
          </a:prstGeom>
          <a:noFill/>
          <a:ln/>
        </p:spPr>
        <p:txBody>
          <a:bodyPr wrap="square" lIns="91440" tIns="45720" rIns="91440" bIns="45720" rtlCol="0" anchor="t"/>
          <a:lstStyle/>
          <a:p>
            <a:pPr>
              <a:buNone/>
            </a:pPr>
            <a:r>
              <a:rPr lang="en-US" sz="1300" b="1" noProof="0" dirty="0">
                <a:solidFill>
                  <a:srgbClr val="028090"/>
                </a:solidFill>
                <a:latin typeface="Trebuchet MS"/>
              </a:rPr>
              <a:t>Best MLP from task 1</a:t>
            </a: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Take advantage of the already extracted features coming from the pre-trained model to improve the original MLP scoring.</a:t>
            </a:r>
          </a:p>
          <a:p>
            <a:pPr marL="228600" indent="-228600">
              <a:buChar char="•"/>
            </a:pPr>
            <a:r>
              <a:rPr lang="en-US" sz="1100" b="1" noProof="0" dirty="0">
                <a:solidFill>
                  <a:srgbClr val="1A2B3C"/>
                </a:solidFill>
                <a:latin typeface="Calibri"/>
                <a:ea typeface="Calibri"/>
                <a:cs typeface="Calibri"/>
              </a:rPr>
              <a:t>Outcome: </a:t>
            </a:r>
            <a:r>
              <a:rPr lang="en-US" sz="1100" noProof="0" dirty="0">
                <a:solidFill>
                  <a:srgbClr val="1A2B3C"/>
                </a:solidFill>
                <a:latin typeface="Calibri"/>
                <a:ea typeface="Calibri"/>
                <a:cs typeface="Calibri"/>
              </a:rPr>
              <a:t>The large number of layers and the big dimension of those layers, together with the small dataset led to the models having an hard time capturing the patterns.</a:t>
            </a:r>
          </a:p>
        </p:txBody>
      </p:sp>
      <p:sp>
        <p:nvSpPr>
          <p:cNvPr id="7" name="NumCircle">
            <a:extLst>
              <a:ext uri="{FF2B5EF4-FFF2-40B4-BE49-F238E27FC236}">
                <a16:creationId xmlns:a16="http://schemas.microsoft.com/office/drawing/2014/main" id="{DADDC0C3-2477-0C7A-4DD5-0899009ED76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6" name="Imagem 5">
            <a:extLst>
              <a:ext uri="{FF2B5EF4-FFF2-40B4-BE49-F238E27FC236}">
                <a16:creationId xmlns:a16="http://schemas.microsoft.com/office/drawing/2014/main" id="{DBAA4F29-1EF3-98B1-117F-677310EA1CB6}"/>
              </a:ext>
            </a:extLst>
          </p:cNvPr>
          <p:cNvPicPr>
            <a:picLocks noChangeAspect="1"/>
          </p:cNvPicPr>
          <p:nvPr/>
        </p:nvPicPr>
        <p:blipFill>
          <a:blip r:embed="rId2"/>
          <a:srcRect l="22316" r="26569"/>
          <a:stretch>
            <a:fillRect/>
          </a:stretch>
        </p:blipFill>
        <p:spPr>
          <a:xfrm>
            <a:off x="620008" y="3109603"/>
            <a:ext cx="2293649" cy="280453"/>
          </a:xfrm>
          <a:prstGeom prst="rect">
            <a:avLst/>
          </a:prstGeom>
        </p:spPr>
      </p:pic>
      <p:pic>
        <p:nvPicPr>
          <p:cNvPr id="12" name="Imagem 11">
            <a:extLst>
              <a:ext uri="{FF2B5EF4-FFF2-40B4-BE49-F238E27FC236}">
                <a16:creationId xmlns:a16="http://schemas.microsoft.com/office/drawing/2014/main" id="{EB4FABBA-15A1-3428-6910-4360FBEDC0B2}"/>
              </a:ext>
            </a:extLst>
          </p:cNvPr>
          <p:cNvPicPr>
            <a:picLocks noChangeAspect="1"/>
          </p:cNvPicPr>
          <p:nvPr/>
        </p:nvPicPr>
        <p:blipFill>
          <a:blip r:embed="rId3"/>
          <a:srcRect l="22563" r="27589"/>
          <a:stretch>
            <a:fillRect/>
          </a:stretch>
        </p:blipFill>
        <p:spPr>
          <a:xfrm>
            <a:off x="620008" y="3390056"/>
            <a:ext cx="2293649" cy="285790"/>
          </a:xfrm>
          <a:prstGeom prst="rect">
            <a:avLst/>
          </a:prstGeom>
        </p:spPr>
      </p:pic>
      <p:pic>
        <p:nvPicPr>
          <p:cNvPr id="14" name="Imagem 13">
            <a:extLst>
              <a:ext uri="{FF2B5EF4-FFF2-40B4-BE49-F238E27FC236}">
                <a16:creationId xmlns:a16="http://schemas.microsoft.com/office/drawing/2014/main" id="{A2D8EF5A-1396-212A-E416-CB6D4B4F1125}"/>
              </a:ext>
            </a:extLst>
          </p:cNvPr>
          <p:cNvPicPr>
            <a:picLocks noChangeAspect="1"/>
          </p:cNvPicPr>
          <p:nvPr/>
        </p:nvPicPr>
        <p:blipFill>
          <a:blip r:embed="rId4"/>
          <a:srcRect l="23036" r="26488"/>
          <a:stretch>
            <a:fillRect/>
          </a:stretch>
        </p:blipFill>
        <p:spPr>
          <a:xfrm>
            <a:off x="5146444" y="3763470"/>
            <a:ext cx="2293649" cy="238158"/>
          </a:xfrm>
          <a:prstGeom prst="rect">
            <a:avLst/>
          </a:prstGeom>
        </p:spPr>
      </p:pic>
      <p:pic>
        <p:nvPicPr>
          <p:cNvPr id="15" name="Imagem 14">
            <a:extLst>
              <a:ext uri="{FF2B5EF4-FFF2-40B4-BE49-F238E27FC236}">
                <a16:creationId xmlns:a16="http://schemas.microsoft.com/office/drawing/2014/main" id="{EB28995B-D38A-A142-BD7F-F3B106CD03DA}"/>
              </a:ext>
            </a:extLst>
          </p:cNvPr>
          <p:cNvPicPr>
            <a:picLocks noChangeAspect="1"/>
          </p:cNvPicPr>
          <p:nvPr/>
        </p:nvPicPr>
        <p:blipFill>
          <a:blip r:embed="rId2"/>
          <a:srcRect l="22316" r="26569"/>
          <a:stretch>
            <a:fillRect/>
          </a:stretch>
        </p:blipFill>
        <p:spPr>
          <a:xfrm>
            <a:off x="5146444" y="3490656"/>
            <a:ext cx="2293649" cy="280453"/>
          </a:xfrm>
          <a:prstGeom prst="rect">
            <a:avLst/>
          </a:prstGeom>
        </p:spPr>
      </p:pic>
      <p:sp>
        <p:nvSpPr>
          <p:cNvPr id="16" name="TextBox 15">
            <a:extLst>
              <a:ext uri="{FF2B5EF4-FFF2-40B4-BE49-F238E27FC236}">
                <a16:creationId xmlns:a16="http://schemas.microsoft.com/office/drawing/2014/main" id="{423DA2D0-DAAE-459E-992B-2BEE635ACC01}"/>
              </a:ext>
            </a:extLst>
          </p:cNvPr>
          <p:cNvSpPr txBox="1"/>
          <p:nvPr/>
        </p:nvSpPr>
        <p:spPr>
          <a:xfrm>
            <a:off x="3078462" y="311872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-53%!</a:t>
            </a:r>
          </a:p>
        </p:txBody>
      </p:sp>
      <p:sp>
        <p:nvSpPr>
          <p:cNvPr id="17" name="TextBox 15">
            <a:extLst>
              <a:ext uri="{FF2B5EF4-FFF2-40B4-BE49-F238E27FC236}">
                <a16:creationId xmlns:a16="http://schemas.microsoft.com/office/drawing/2014/main" id="{95375EAE-119E-6D49-5ACB-37FFEC18CBFD}"/>
              </a:ext>
            </a:extLst>
          </p:cNvPr>
          <p:cNvSpPr txBox="1"/>
          <p:nvPr/>
        </p:nvSpPr>
        <p:spPr>
          <a:xfrm>
            <a:off x="7514238" y="3487712"/>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-14.4%</a:t>
            </a:r>
          </a:p>
        </p:txBody>
      </p:sp>
      <p:sp>
        <p:nvSpPr>
          <p:cNvPr id="18" name="CaixaDeTexto 17">
            <a:extLst>
              <a:ext uri="{FF2B5EF4-FFF2-40B4-BE49-F238E27FC236}">
                <a16:creationId xmlns:a16="http://schemas.microsoft.com/office/drawing/2014/main" id="{71C340FF-DA58-13BA-A871-4D26B1D48F1A}"/>
              </a:ext>
            </a:extLst>
          </p:cNvPr>
          <p:cNvSpPr txBox="1"/>
          <p:nvPr/>
        </p:nvSpPr>
        <p:spPr>
          <a:xfrm>
            <a:off x="1739938" y="2848633"/>
            <a:ext cx="1173719" cy="261610"/>
          </a:xfrm>
          <a:prstGeom prst="rect">
            <a:avLst/>
          </a:prstGeom>
          <a:noFill/>
        </p:spPr>
        <p:txBody>
          <a:bodyPr wrap="none" rtlCol="0">
            <a:spAutoFit/>
          </a:bodyPr>
          <a:lstStyle/>
          <a:p>
            <a:r>
              <a:rPr lang="en-US" sz="1100" noProof="0" dirty="0"/>
              <a:t>Val F1 |Val Acc </a:t>
            </a:r>
          </a:p>
        </p:txBody>
      </p:sp>
      <p:pic>
        <p:nvPicPr>
          <p:cNvPr id="20" name="Imagem 19">
            <a:extLst>
              <a:ext uri="{FF2B5EF4-FFF2-40B4-BE49-F238E27FC236}">
                <a16:creationId xmlns:a16="http://schemas.microsoft.com/office/drawing/2014/main" id="{B6D351CF-80F4-458F-4A19-81169F8FFF38}"/>
              </a:ext>
            </a:extLst>
          </p:cNvPr>
          <p:cNvPicPr>
            <a:picLocks noChangeAspect="1"/>
          </p:cNvPicPr>
          <p:nvPr/>
        </p:nvPicPr>
        <p:blipFill>
          <a:blip r:embed="rId5"/>
          <a:stretch>
            <a:fillRect/>
          </a:stretch>
        </p:blipFill>
        <p:spPr>
          <a:xfrm>
            <a:off x="1275128" y="2831245"/>
            <a:ext cx="1638529" cy="276264"/>
          </a:xfrm>
          <a:prstGeom prst="rect">
            <a:avLst/>
          </a:prstGeom>
        </p:spPr>
      </p:pic>
      <p:pic>
        <p:nvPicPr>
          <p:cNvPr id="21" name="Imagem 20">
            <a:extLst>
              <a:ext uri="{FF2B5EF4-FFF2-40B4-BE49-F238E27FC236}">
                <a16:creationId xmlns:a16="http://schemas.microsoft.com/office/drawing/2014/main" id="{856D4D62-5FA9-F415-2E8A-24657D942C3B}"/>
              </a:ext>
            </a:extLst>
          </p:cNvPr>
          <p:cNvPicPr>
            <a:picLocks noChangeAspect="1"/>
          </p:cNvPicPr>
          <p:nvPr/>
        </p:nvPicPr>
        <p:blipFill>
          <a:blip r:embed="rId5"/>
          <a:stretch>
            <a:fillRect/>
          </a:stretch>
        </p:blipFill>
        <p:spPr>
          <a:xfrm>
            <a:off x="5801564" y="3211427"/>
            <a:ext cx="1638529" cy="276264"/>
          </a:xfrm>
          <a:prstGeom prst="rect">
            <a:avLst/>
          </a:prstGeom>
        </p:spPr>
      </p:pic>
    </p:spTree>
    <p:extLst>
      <p:ext uri="{BB962C8B-B14F-4D97-AF65-F5344CB8AC3E}">
        <p14:creationId xmlns:p14="http://schemas.microsoft.com/office/powerpoint/2010/main" val="9148990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Best Part 1 Model - SwinV2t_Base</a:t>
            </a:r>
          </a:p>
        </p:txBody>
      </p:sp>
      <p:sp>
        <p:nvSpPr>
          <p:cNvPr id="6" name="Title">
            <a:extLst>
              <a:ext uri="{FF2B5EF4-FFF2-40B4-BE49-F238E27FC236}">
                <a16:creationId xmlns:a16="http://schemas.microsoft.com/office/drawing/2014/main" id="{A1FE6103-BAEE-145A-186D-8B430306D66D}"/>
              </a:ext>
            </a:extLst>
          </p:cNvPr>
          <p:cNvSpPr/>
          <p:nvPr/>
        </p:nvSpPr>
        <p:spPr>
          <a:xfrm>
            <a:off x="274319" y="720115"/>
            <a:ext cx="3994367"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 Architecture of a </a:t>
            </a:r>
            <a:r>
              <a:rPr lang="en-US" b="1" noProof="0" dirty="0" err="1">
                <a:solidFill>
                  <a:srgbClr val="0D1B2A"/>
                </a:solidFill>
                <a:latin typeface="Trebuchet MS" pitchFamily="34" charset="0"/>
              </a:rPr>
              <a:t>swin</a:t>
            </a:r>
            <a:r>
              <a:rPr lang="en-US" b="1" noProof="0" dirty="0">
                <a:solidFill>
                  <a:srgbClr val="0D1B2A"/>
                </a:solidFill>
                <a:latin typeface="Trebuchet MS" pitchFamily="34" charset="0"/>
              </a:rPr>
              <a:t> transformer:</a:t>
            </a:r>
          </a:p>
        </p:txBody>
      </p:sp>
      <p:sp>
        <p:nvSpPr>
          <p:cNvPr id="9" name="NumCircle">
            <a:extLst>
              <a:ext uri="{FF2B5EF4-FFF2-40B4-BE49-F238E27FC236}">
                <a16:creationId xmlns:a16="http://schemas.microsoft.com/office/drawing/2014/main" id="{60965A97-3CF0-C770-CB0B-D8988B404F6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1026" name="Picture 2" descr="The architecture of a Swin Transformer (Swin-T). | Download ...">
            <a:extLst>
              <a:ext uri="{FF2B5EF4-FFF2-40B4-BE49-F238E27FC236}">
                <a16:creationId xmlns:a16="http://schemas.microsoft.com/office/drawing/2014/main" id="{4ADFA677-6D4C-3A43-57B7-E2EC5E05CD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3875" y="1296187"/>
            <a:ext cx="8096250" cy="2905125"/>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F24102D-0A3A-AAFB-E21E-98EED2D0CB02}"/>
              </a:ext>
            </a:extLst>
          </p:cNvPr>
          <p:cNvSpPr txBox="1"/>
          <p:nvPr/>
        </p:nvSpPr>
        <p:spPr>
          <a:xfrm>
            <a:off x="389637" y="4257591"/>
            <a:ext cx="8489760" cy="369332"/>
          </a:xfrm>
          <a:prstGeom prst="rect">
            <a:avLst/>
          </a:prstGeom>
          <a:noFill/>
        </p:spPr>
        <p:txBody>
          <a:bodyPr wrap="none" rtlCol="0">
            <a:spAutoFit/>
          </a:bodyPr>
          <a:lstStyle/>
          <a:p>
            <a:r>
              <a:rPr lang="en-US" noProof="0" dirty="0"/>
              <a:t>For our model we substitute the head of the model by a simple linear function with dropout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noProof="0"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L1text"/>
          <p:cNvSpPr/>
          <p:nvPr/>
        </p:nvSpPr>
        <p:spPr>
          <a:xfrm>
            <a:off x="434236" y="1485550"/>
            <a:ext cx="5547277" cy="1371437"/>
          </a:xfrm>
          <a:prstGeom prst="rect">
            <a:avLst/>
          </a:prstGeom>
          <a:noFill/>
          <a:ln/>
        </p:spPr>
        <p:txBody>
          <a:bodyPr wrap="square" lIns="91440" tIns="45720" rIns="91440" bIns="45720" rtlCol="0" anchor="t"/>
          <a:lstStyle/>
          <a:p>
            <a:pPr>
              <a:buNone/>
            </a:pPr>
            <a:r>
              <a:rPr lang="en-US" sz="1400" b="1" noProof="0" dirty="0">
                <a:solidFill>
                  <a:srgbClr val="028090"/>
                </a:solidFill>
                <a:latin typeface="Trebuchet MS"/>
              </a:rPr>
              <a:t>Optimizer + Scheduler, maintained from task 2 since it showed being the best solution</a:t>
            </a:r>
          </a:p>
          <a:p>
            <a:pPr marL="228600" indent="-228600">
              <a:buChar char="•"/>
            </a:pPr>
            <a:r>
              <a:rPr lang="en-US" sz="1200" b="1" noProof="0" dirty="0">
                <a:solidFill>
                  <a:srgbClr val="1C3A52"/>
                </a:solidFill>
                <a:latin typeface="Calibri"/>
                <a:ea typeface="Calibri"/>
                <a:cs typeface="Calibri"/>
              </a:rPr>
              <a:t>Adam </a:t>
            </a:r>
            <a:r>
              <a:rPr lang="en-US" sz="1200" b="1" noProof="0" dirty="0" err="1">
                <a:solidFill>
                  <a:srgbClr val="1C3A52"/>
                </a:solidFill>
                <a:latin typeface="Calibri"/>
                <a:ea typeface="Calibri"/>
                <a:cs typeface="Calibri"/>
              </a:rPr>
              <a:t>lr</a:t>
            </a:r>
            <a:r>
              <a:rPr lang="en-US" sz="1200" b="1" noProof="0" dirty="0">
                <a:solidFill>
                  <a:srgbClr val="1C3A52"/>
                </a:solidFill>
                <a:latin typeface="Calibri"/>
                <a:ea typeface="Calibri"/>
                <a:cs typeface="Calibri"/>
              </a:rPr>
              <a:t>=1e-3 </a:t>
            </a:r>
            <a:r>
              <a:rPr lang="en-US" sz="1200" noProof="0" dirty="0">
                <a:solidFill>
                  <a:srgbClr val="1A2B3C"/>
                </a:solidFill>
                <a:latin typeface="Calibri"/>
                <a:ea typeface="Calibri"/>
                <a:cs typeface="Calibri"/>
              </a:rPr>
              <a:t>— robust adaptive LR, standard for CNNs (Kingma &amp; Ba, 2015)</a:t>
            </a:r>
          </a:p>
          <a:p>
            <a:pPr marL="228600" indent="-228600">
              <a:buChar char="•"/>
            </a:pPr>
            <a:r>
              <a:rPr lang="en-US" sz="1200" b="1" noProof="0" dirty="0" err="1">
                <a:solidFill>
                  <a:srgbClr val="1C3A52"/>
                </a:solidFill>
                <a:latin typeface="Calibri"/>
                <a:ea typeface="Calibri"/>
                <a:cs typeface="Calibri"/>
              </a:rPr>
              <a:t>StepLR</a:t>
            </a:r>
            <a:r>
              <a:rPr lang="en-US" sz="1200" b="1" noProof="0" dirty="0">
                <a:solidFill>
                  <a:srgbClr val="1C3A52"/>
                </a:solidFill>
                <a:latin typeface="Calibri"/>
                <a:ea typeface="Calibri"/>
                <a:cs typeface="Calibri"/>
              </a:rPr>
              <a:t>(step=7, gamma=0.5) </a:t>
            </a:r>
            <a:r>
              <a:rPr lang="en-US" sz="1200" noProof="0" dirty="0">
                <a:solidFill>
                  <a:srgbClr val="1A2B3C"/>
                </a:solidFill>
                <a:latin typeface="Calibri"/>
                <a:ea typeface="Calibri"/>
                <a:cs typeface="Calibri"/>
              </a:rPr>
              <a:t>— halves LR every 7 epochs; Changed from the previous task due to the dataset being nosier.</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3" name="R1text"/>
          <p:cNvSpPr/>
          <p:nvPr/>
        </p:nvSpPr>
        <p:spPr>
          <a:xfrm>
            <a:off x="484063" y="3179744"/>
            <a:ext cx="6037170" cy="1645920"/>
          </a:xfrm>
          <a:prstGeom prst="rect">
            <a:avLst/>
          </a:prstGeom>
          <a:noFill/>
          <a:ln/>
        </p:spPr>
        <p:txBody>
          <a:bodyPr wrap="square" rtlCol="0" anchor="t"/>
          <a:lstStyle/>
          <a:p>
            <a:pPr>
              <a:buNone/>
            </a:pPr>
            <a:r>
              <a:rPr lang="en-US" sz="1400" b="1" noProof="0" dirty="0">
                <a:solidFill>
                  <a:srgbClr val="028090"/>
                </a:solidFill>
                <a:latin typeface="Trebuchet MS" pitchFamily="34" charset="0"/>
              </a:rPr>
              <a:t>Early Stopping (patience=7), also maintained from the previous task, useful when dealing with this noisy dataset</a:t>
            </a:r>
          </a:p>
          <a:p>
            <a:pPr marL="228600" indent="-228600">
              <a:buChar char="•"/>
            </a:pPr>
            <a:r>
              <a:rPr lang="en-US" sz="1200" noProof="0" dirty="0">
                <a:solidFill>
                  <a:srgbClr val="1A2B3C"/>
                </a:solidFill>
                <a:latin typeface="Calibri" pitchFamily="34" charset="0"/>
              </a:rPr>
              <a:t>Monitors -val_macro_f1 (competition metric, not </a:t>
            </a:r>
            <a:r>
              <a:rPr lang="en-US" sz="1200" noProof="0" dirty="0" err="1">
                <a:solidFill>
                  <a:srgbClr val="1A2B3C"/>
                </a:solidFill>
                <a:latin typeface="Calibri" pitchFamily="34" charset="0"/>
              </a:rPr>
              <a:t>val_loss</a:t>
            </a:r>
            <a:r>
              <a:rPr lang="en-US" sz="1200" noProof="0" dirty="0">
                <a:solidFill>
                  <a:srgbClr val="1A2B3C"/>
                </a:solidFill>
                <a:latin typeface="Calibri" pitchFamily="34" charset="0"/>
              </a:rPr>
              <a:t>)</a:t>
            </a:r>
          </a:p>
          <a:p>
            <a:pPr marL="228600" indent="-228600">
              <a:buChar char="•"/>
            </a:pPr>
            <a:r>
              <a:rPr lang="en-US" sz="1200" noProof="0" dirty="0">
                <a:solidFill>
                  <a:srgbClr val="1A2B3C"/>
                </a:solidFill>
                <a:latin typeface="Calibri" pitchFamily="34" charset="0"/>
              </a:rPr>
              <a:t>Patience=7 — val_f1 is noisy (720 </a:t>
            </a:r>
            <a:r>
              <a:rPr lang="en-US" sz="1200" noProof="0" dirty="0" err="1">
                <a:solidFill>
                  <a:srgbClr val="1A2B3C"/>
                </a:solidFill>
                <a:latin typeface="Calibri" pitchFamily="34" charset="0"/>
              </a:rPr>
              <a:t>val</a:t>
            </a:r>
            <a:r>
              <a:rPr lang="en-US" sz="1200" noProof="0" dirty="0">
                <a:solidFill>
                  <a:srgbClr val="1A2B3C"/>
                </a:solidFill>
                <a:latin typeface="Calibri" pitchFamily="34" charset="0"/>
              </a:rPr>
              <a:t> samples, ~80/class: 1 error = +-1.2% swing); 3 would fire prematurely</a:t>
            </a:r>
          </a:p>
          <a:p>
            <a:pPr marL="228600" indent="-228600">
              <a:buChar char="•"/>
            </a:pPr>
            <a:r>
              <a:rPr lang="en-US" sz="1200" noProof="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Training setup</a:t>
            </a:r>
            <a:endParaRPr lang="en-US" sz="2200" noProof="0" dirty="0">
              <a:solidFill>
                <a:srgbClr val="0D1B2A"/>
              </a:solidFill>
              <a:latin typeface="Trebuchet MS"/>
            </a:endParaRPr>
          </a:p>
        </p:txBody>
      </p:sp>
      <p:sp>
        <p:nvSpPr>
          <p:cNvPr id="9" name="NumCircle">
            <a:extLst>
              <a:ext uri="{FF2B5EF4-FFF2-40B4-BE49-F238E27FC236}">
                <a16:creationId xmlns:a16="http://schemas.microsoft.com/office/drawing/2014/main" id="{19B1823F-C1D0-A206-9152-51BE99AB140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19D1C-9E19-92D5-DF2F-0BE4DB95CF2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7ADE03-B6D4-04E2-D553-E34428341574}"/>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F741AB-49FA-A11D-58E4-5C7C053E0ED5}"/>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E7CF53C3-390A-312F-1BDA-259A5455E1C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D912A0D7-2B16-5BF3-8E47-62C309F23F2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CDC15BB3-ABCB-0240-FD53-44715355B76D}"/>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F599AB68-0A51-33A8-CB9F-90143953F2B5}"/>
              </a:ext>
            </a:extLst>
          </p:cNvPr>
          <p:cNvSpPr/>
          <p:nvPr/>
        </p:nvSpPr>
        <p:spPr>
          <a:xfrm>
            <a:off x="1274249" y="1161287"/>
            <a:ext cx="6400800" cy="822960"/>
          </a:xfrm>
          <a:prstGeom prst="rect">
            <a:avLst/>
          </a:prstGeom>
          <a:noFill/>
          <a:ln/>
        </p:spPr>
        <p:txBody>
          <a:bodyPr wrap="square" lIns="0" tIns="0" rIns="0" bIns="0" rtlCol="0" anchor="ctr"/>
          <a:lstStyle/>
          <a:p>
            <a:r>
              <a:rPr lang="en-US" sz="2000" b="1" noProof="0" dirty="0">
                <a:solidFill>
                  <a:srgbClr val="FFFFFF"/>
                </a:solidFill>
                <a:latin typeface="Trebuchet MS"/>
              </a:rPr>
              <a:t>Fine-tunning and other techniques</a:t>
            </a:r>
            <a:endParaRPr lang="en-US" sz="2000" noProof="0" dirty="0"/>
          </a:p>
        </p:txBody>
      </p:sp>
      <p:sp>
        <p:nvSpPr>
          <p:cNvPr id="14" name="Rectangle: Rounded Corners 13">
            <a:extLst>
              <a:ext uri="{FF2B5EF4-FFF2-40B4-BE49-F238E27FC236}">
                <a16:creationId xmlns:a16="http://schemas.microsoft.com/office/drawing/2014/main" id="{0B98135B-4AF5-135D-C3B7-111ACC693AD7}"/>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3.2</a:t>
            </a:r>
            <a:endParaRPr lang="en-US" b="1" noProof="0" dirty="0"/>
          </a:p>
        </p:txBody>
      </p:sp>
      <p:cxnSp>
        <p:nvCxnSpPr>
          <p:cNvPr id="16" name="Straight Connector 15">
            <a:extLst>
              <a:ext uri="{FF2B5EF4-FFF2-40B4-BE49-F238E27FC236}">
                <a16:creationId xmlns:a16="http://schemas.microsoft.com/office/drawing/2014/main" id="{29E8F743-5C72-CBEB-E4DD-E58DC09AAA97}"/>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991541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Partial 1 layer Vs Fully Frozen Vs Fully unfrozen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Analyze the impact of unfreezing on the model generalization and capacity.</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Partial</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a:solidFill>
                  <a:srgbClr val="FFFFFF"/>
                </a:solidFill>
                <a:latin typeface="Calibri"/>
              </a:rPr>
              <a:t>Full</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By only unfreezing, the last layer we observed that the model improved its validation f1 score over the full freeze version, this is due to we being essentially further customizing the model to our specific problem. </a:t>
            </a: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By fully unfreezing the model we are essentially creating a model from the ground up which might seem counter intuitive for this task, but was made with the intent of analyzing the impact of uncareful unfreezing of a model at extreme levels.</a:t>
            </a:r>
          </a:p>
          <a:p>
            <a:pPr algn="ctr">
              <a:buNone/>
            </a:pPr>
            <a:r>
              <a:rPr lang="en-US" sz="1400" noProof="0" dirty="0">
                <a:solidFill>
                  <a:srgbClr val="1C3A52"/>
                </a:solidFill>
                <a:latin typeface="Calibri"/>
                <a:ea typeface="Calibri"/>
                <a:cs typeface="Calibri"/>
              </a:rPr>
              <a:t>And so we concluded that despite having overfitted, it improved the f1 score even over the partial version, this can be explaining by the total customization that we are making, despite the improved result, the downside is the heavy computation that was needed to train, taking around 20s/Epoch Vs 17s/Epoch of the partial version.</a:t>
            </a:r>
          </a:p>
        </p:txBody>
      </p:sp>
      <p:sp>
        <p:nvSpPr>
          <p:cNvPr id="16" name="TextBox 15">
            <a:extLst>
              <a:ext uri="{FF2B5EF4-FFF2-40B4-BE49-F238E27FC236}">
                <a16:creationId xmlns:a16="http://schemas.microsoft.com/office/drawing/2014/main" id="{FD0D12E7-38EE-4D59-7537-F5A5AC20B2DA}"/>
              </a:ext>
            </a:extLst>
          </p:cNvPr>
          <p:cNvSpPr txBox="1"/>
          <p:nvPr/>
        </p:nvSpPr>
        <p:spPr>
          <a:xfrm>
            <a:off x="3197686" y="407761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+4.81%</a:t>
            </a:r>
          </a:p>
        </p:txBody>
      </p:sp>
      <p:sp>
        <p:nvSpPr>
          <p:cNvPr id="23" name="TextBox 22">
            <a:extLst>
              <a:ext uri="{FF2B5EF4-FFF2-40B4-BE49-F238E27FC236}">
                <a16:creationId xmlns:a16="http://schemas.microsoft.com/office/drawing/2014/main" id="{77FDADCB-1C13-BF33-8976-E9729F56FD9C}"/>
              </a:ext>
            </a:extLst>
          </p:cNvPr>
          <p:cNvSpPr txBox="1"/>
          <p:nvPr/>
        </p:nvSpPr>
        <p:spPr>
          <a:xfrm>
            <a:off x="8041398" y="4419217"/>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+15%!</a:t>
            </a:r>
          </a:p>
        </p:txBody>
      </p:sp>
      <p:sp>
        <p:nvSpPr>
          <p:cNvPr id="25" name="NumCircle">
            <a:extLst>
              <a:ext uri="{FF2B5EF4-FFF2-40B4-BE49-F238E27FC236}">
                <a16:creationId xmlns:a16="http://schemas.microsoft.com/office/drawing/2014/main" id="{AE338B7C-11CB-5629-826A-7F987F11EF25}"/>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4" name="Imagem 3">
            <a:extLst>
              <a:ext uri="{FF2B5EF4-FFF2-40B4-BE49-F238E27FC236}">
                <a16:creationId xmlns:a16="http://schemas.microsoft.com/office/drawing/2014/main" id="{074E1AA4-9122-52CA-214B-091F9FA11E06}"/>
              </a:ext>
            </a:extLst>
          </p:cNvPr>
          <p:cNvPicPr>
            <a:picLocks noChangeAspect="1"/>
          </p:cNvPicPr>
          <p:nvPr/>
        </p:nvPicPr>
        <p:blipFill>
          <a:blip r:embed="rId2"/>
          <a:srcRect l="22316" r="26569"/>
          <a:stretch>
            <a:fillRect/>
          </a:stretch>
        </p:blipFill>
        <p:spPr>
          <a:xfrm>
            <a:off x="904037" y="4436264"/>
            <a:ext cx="2293649" cy="280453"/>
          </a:xfrm>
          <a:prstGeom prst="rect">
            <a:avLst/>
          </a:prstGeom>
        </p:spPr>
      </p:pic>
      <p:pic>
        <p:nvPicPr>
          <p:cNvPr id="12" name="Imagem 11">
            <a:extLst>
              <a:ext uri="{FF2B5EF4-FFF2-40B4-BE49-F238E27FC236}">
                <a16:creationId xmlns:a16="http://schemas.microsoft.com/office/drawing/2014/main" id="{18739A9B-C706-9687-84CB-EB17B8F002BC}"/>
              </a:ext>
            </a:extLst>
          </p:cNvPr>
          <p:cNvPicPr>
            <a:picLocks noChangeAspect="1"/>
          </p:cNvPicPr>
          <p:nvPr/>
        </p:nvPicPr>
        <p:blipFill>
          <a:blip r:embed="rId3"/>
          <a:stretch>
            <a:fillRect/>
          </a:stretch>
        </p:blipFill>
        <p:spPr>
          <a:xfrm>
            <a:off x="1559157" y="3885174"/>
            <a:ext cx="1638529" cy="276264"/>
          </a:xfrm>
          <a:prstGeom prst="rect">
            <a:avLst/>
          </a:prstGeom>
        </p:spPr>
      </p:pic>
      <p:pic>
        <p:nvPicPr>
          <p:cNvPr id="13" name="Imagem 12">
            <a:extLst>
              <a:ext uri="{FF2B5EF4-FFF2-40B4-BE49-F238E27FC236}">
                <a16:creationId xmlns:a16="http://schemas.microsoft.com/office/drawing/2014/main" id="{9B1875FB-F9A8-E379-44BA-D771E2017031}"/>
              </a:ext>
            </a:extLst>
          </p:cNvPr>
          <p:cNvPicPr>
            <a:picLocks noChangeAspect="1"/>
          </p:cNvPicPr>
          <p:nvPr/>
        </p:nvPicPr>
        <p:blipFill>
          <a:blip r:embed="rId2"/>
          <a:srcRect l="22316" r="26569"/>
          <a:stretch>
            <a:fillRect/>
          </a:stretch>
        </p:blipFill>
        <p:spPr>
          <a:xfrm>
            <a:off x="5747749" y="4830409"/>
            <a:ext cx="2293649" cy="280453"/>
          </a:xfrm>
          <a:prstGeom prst="rect">
            <a:avLst/>
          </a:prstGeom>
        </p:spPr>
      </p:pic>
      <p:pic>
        <p:nvPicPr>
          <p:cNvPr id="14" name="Imagem 13">
            <a:extLst>
              <a:ext uri="{FF2B5EF4-FFF2-40B4-BE49-F238E27FC236}">
                <a16:creationId xmlns:a16="http://schemas.microsoft.com/office/drawing/2014/main" id="{FB987660-D0F2-5F60-2DD1-F930E56A5A0B}"/>
              </a:ext>
            </a:extLst>
          </p:cNvPr>
          <p:cNvPicPr>
            <a:picLocks noChangeAspect="1"/>
          </p:cNvPicPr>
          <p:nvPr/>
        </p:nvPicPr>
        <p:blipFill>
          <a:blip r:embed="rId3"/>
          <a:stretch>
            <a:fillRect/>
          </a:stretch>
        </p:blipFill>
        <p:spPr>
          <a:xfrm>
            <a:off x="6402869" y="4263018"/>
            <a:ext cx="1638529" cy="276264"/>
          </a:xfrm>
          <a:prstGeom prst="rect">
            <a:avLst/>
          </a:prstGeom>
        </p:spPr>
      </p:pic>
      <p:pic>
        <p:nvPicPr>
          <p:cNvPr id="18" name="Imagem 17">
            <a:extLst>
              <a:ext uri="{FF2B5EF4-FFF2-40B4-BE49-F238E27FC236}">
                <a16:creationId xmlns:a16="http://schemas.microsoft.com/office/drawing/2014/main" id="{335C1DF7-B729-8E8C-168A-2DFA612551CC}"/>
              </a:ext>
            </a:extLst>
          </p:cNvPr>
          <p:cNvPicPr>
            <a:picLocks noChangeAspect="1"/>
          </p:cNvPicPr>
          <p:nvPr/>
        </p:nvPicPr>
        <p:blipFill>
          <a:blip r:embed="rId4"/>
          <a:stretch>
            <a:fillRect/>
          </a:stretch>
        </p:blipFill>
        <p:spPr>
          <a:xfrm>
            <a:off x="111155" y="4148363"/>
            <a:ext cx="3086531" cy="295316"/>
          </a:xfrm>
          <a:prstGeom prst="rect">
            <a:avLst/>
          </a:prstGeom>
        </p:spPr>
      </p:pic>
      <p:pic>
        <p:nvPicPr>
          <p:cNvPr id="22" name="Imagem 21">
            <a:extLst>
              <a:ext uri="{FF2B5EF4-FFF2-40B4-BE49-F238E27FC236}">
                <a16:creationId xmlns:a16="http://schemas.microsoft.com/office/drawing/2014/main" id="{0C2FA1D5-8D3E-FC57-E944-86A4FC0C387F}"/>
              </a:ext>
            </a:extLst>
          </p:cNvPr>
          <p:cNvPicPr>
            <a:picLocks noChangeAspect="1"/>
          </p:cNvPicPr>
          <p:nvPr/>
        </p:nvPicPr>
        <p:blipFill>
          <a:blip r:embed="rId5"/>
          <a:srcRect l="17641" t="7359" b="6530"/>
          <a:stretch>
            <a:fillRect/>
          </a:stretch>
        </p:blipFill>
        <p:spPr>
          <a:xfrm>
            <a:off x="5138448" y="4539282"/>
            <a:ext cx="2902950" cy="295316"/>
          </a:xfrm>
          <a:prstGeom prst="rect">
            <a:avLst/>
          </a:prstGeom>
        </p:spPr>
      </p:pic>
    </p:spTree>
    <p:extLst>
      <p:ext uri="{BB962C8B-B14F-4D97-AF65-F5344CB8AC3E}">
        <p14:creationId xmlns:p14="http://schemas.microsoft.com/office/powerpoint/2010/main" val="37728897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B9A7BBBA-FDA0-89BB-E46F-248D7D3FD1C0}"/>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noProof="0" dirty="0">
                <a:solidFill>
                  <a:schemeClr val="bg1"/>
                </a:solidFill>
                <a:latin typeface="Calibri"/>
                <a:ea typeface="Calibri"/>
                <a:cs typeface="Calibri"/>
              </a:rPr>
              <a:t>On the last task we mentioned that augmentation would hurt our model, but in this task, we viewed it from a different angle</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D4D01B2-87C7-6427-9C67-AAC1A5617321}"/>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EF16EA7A-8BF6-C90D-A5B0-C71DE4180631}"/>
              </a:ext>
            </a:extLst>
          </p:cNvPr>
          <p:cNvSpPr/>
          <p:nvPr/>
        </p:nvSpPr>
        <p:spPr>
          <a:xfrm>
            <a:off x="822483" y="3088000"/>
            <a:ext cx="7247395" cy="1395706"/>
          </a:xfrm>
          <a:prstGeom prst="rect">
            <a:avLst/>
          </a:prstGeom>
          <a:noFill/>
          <a:ln/>
        </p:spPr>
        <p:txBody>
          <a:bodyPr wrap="square" lIns="0" tIns="0" rIns="0" bIns="0" rtlCol="0" anchor="t"/>
          <a:lstStyle/>
          <a:p>
            <a:r>
              <a:rPr lang="en-US" sz="1200" noProof="0" dirty="0">
                <a:solidFill>
                  <a:srgbClr val="0D1B2A"/>
                </a:solidFill>
                <a:latin typeface="Calibri"/>
                <a:ea typeface="Calibri"/>
                <a:cs typeface="Calibri"/>
              </a:rPr>
              <a:t>Since the dataset was smaller and the models had lots of parameters, it was easy for them to overfit, therefore we tried using augmentation strategies as a way to avoid the model to “memorize” and instead learn.</a:t>
            </a:r>
          </a:p>
          <a:p>
            <a:r>
              <a:rPr lang="en-US" sz="1200" noProof="0" dirty="0">
                <a:solidFill>
                  <a:srgbClr val="0D1B2A"/>
                </a:solidFill>
                <a:latin typeface="Calibri"/>
                <a:ea typeface="Calibri"/>
                <a:cs typeface="Calibri"/>
              </a:rPr>
              <a:t>For this we used a custom data loader that applied the following augmentation strategies:</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RandomHorizontalFlip</a:t>
            </a:r>
            <a:r>
              <a:rPr lang="en-US" sz="1200" noProof="0" dirty="0">
                <a:solidFill>
                  <a:srgbClr val="0D1B2A"/>
                </a:solidFill>
                <a:latin typeface="Calibri"/>
                <a:ea typeface="Calibri"/>
                <a:cs typeface="Calibri"/>
              </a:rPr>
              <a:t> (p=0.5): The image has a 50% chance of being flipped horizontally.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RandomRotation</a:t>
            </a:r>
            <a:r>
              <a:rPr lang="en-US" sz="1200" noProof="0" dirty="0">
                <a:solidFill>
                  <a:srgbClr val="0D1B2A"/>
                </a:solidFill>
                <a:latin typeface="Calibri"/>
                <a:ea typeface="Calibri"/>
                <a:cs typeface="Calibri"/>
              </a:rPr>
              <a:t> (±10°): The image is rotated by a small amount (up to 10 degrees).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ColorJitter</a:t>
            </a:r>
            <a:r>
              <a:rPr lang="en-US" sz="1200" noProof="0" dirty="0">
                <a:solidFill>
                  <a:srgbClr val="0D1B2A"/>
                </a:solidFill>
                <a:latin typeface="Calibri"/>
                <a:ea typeface="Calibri"/>
                <a:cs typeface="Calibri"/>
              </a:rPr>
              <a:t> (mild): It applies very slight changes to brightness, contrast, and saturation.</a:t>
            </a:r>
          </a:p>
        </p:txBody>
      </p:sp>
      <p:pic>
        <p:nvPicPr>
          <p:cNvPr id="1026" name="Picture 2">
            <a:extLst>
              <a:ext uri="{FF2B5EF4-FFF2-40B4-BE49-F238E27FC236}">
                <a16:creationId xmlns:a16="http://schemas.microsoft.com/office/drawing/2014/main" id="{ACE2FC4B-9351-58DD-67F6-0DE09863F3F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64" r="49949" b="83905"/>
          <a:stretch>
            <a:fillRect/>
          </a:stretch>
        </p:blipFill>
        <p:spPr bwMode="auto">
          <a:xfrm>
            <a:off x="457200" y="1235866"/>
            <a:ext cx="5194372" cy="1635748"/>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a:extLst>
              <a:ext uri="{FF2B5EF4-FFF2-40B4-BE49-F238E27FC236}">
                <a16:creationId xmlns:a16="http://schemas.microsoft.com/office/drawing/2014/main" id="{FC821E9B-7930-17E2-5822-893B09BFA54B}"/>
              </a:ext>
            </a:extLst>
          </p:cNvPr>
          <p:cNvPicPr>
            <a:picLocks noChangeAspect="1"/>
          </p:cNvPicPr>
          <p:nvPr/>
        </p:nvPicPr>
        <p:blipFill>
          <a:blip r:embed="rId3"/>
          <a:srcRect l="22316" r="26569"/>
          <a:stretch>
            <a:fillRect/>
          </a:stretch>
        </p:blipFill>
        <p:spPr>
          <a:xfrm>
            <a:off x="6668429" y="1936915"/>
            <a:ext cx="2293649" cy="280453"/>
          </a:xfrm>
          <a:prstGeom prst="rect">
            <a:avLst/>
          </a:prstGeom>
        </p:spPr>
      </p:pic>
      <p:pic>
        <p:nvPicPr>
          <p:cNvPr id="6" name="Imagem 5">
            <a:extLst>
              <a:ext uri="{FF2B5EF4-FFF2-40B4-BE49-F238E27FC236}">
                <a16:creationId xmlns:a16="http://schemas.microsoft.com/office/drawing/2014/main" id="{7DFB7684-352A-449A-DD66-A46E60145920}"/>
              </a:ext>
            </a:extLst>
          </p:cNvPr>
          <p:cNvPicPr>
            <a:picLocks noChangeAspect="1"/>
          </p:cNvPicPr>
          <p:nvPr/>
        </p:nvPicPr>
        <p:blipFill>
          <a:blip r:embed="rId4"/>
          <a:stretch>
            <a:fillRect/>
          </a:stretch>
        </p:blipFill>
        <p:spPr>
          <a:xfrm>
            <a:off x="7323549" y="1385311"/>
            <a:ext cx="1638529" cy="276264"/>
          </a:xfrm>
          <a:prstGeom prst="rect">
            <a:avLst/>
          </a:prstGeom>
        </p:spPr>
      </p:pic>
      <p:pic>
        <p:nvPicPr>
          <p:cNvPr id="8" name="Imagem 7">
            <a:extLst>
              <a:ext uri="{FF2B5EF4-FFF2-40B4-BE49-F238E27FC236}">
                <a16:creationId xmlns:a16="http://schemas.microsoft.com/office/drawing/2014/main" id="{C0D2718A-8642-39D8-E5C6-52A2698FC40B}"/>
              </a:ext>
            </a:extLst>
          </p:cNvPr>
          <p:cNvPicPr>
            <a:picLocks noChangeAspect="1"/>
          </p:cNvPicPr>
          <p:nvPr/>
        </p:nvPicPr>
        <p:blipFill>
          <a:blip r:embed="rId5"/>
          <a:srcRect l="18447" t="6272"/>
          <a:stretch>
            <a:fillRect/>
          </a:stretch>
        </p:blipFill>
        <p:spPr>
          <a:xfrm>
            <a:off x="6110868" y="1661575"/>
            <a:ext cx="2851210" cy="285726"/>
          </a:xfrm>
          <a:prstGeom prst="rect">
            <a:avLst/>
          </a:prstGeom>
        </p:spPr>
      </p:pic>
      <p:sp>
        <p:nvSpPr>
          <p:cNvPr id="9" name="TextBox 22">
            <a:extLst>
              <a:ext uri="{FF2B5EF4-FFF2-40B4-BE49-F238E27FC236}">
                <a16:creationId xmlns:a16="http://schemas.microsoft.com/office/drawing/2014/main" id="{32A05C37-3E5B-1EE1-78E7-8F93C87C2F82}"/>
              </a:ext>
            </a:extLst>
          </p:cNvPr>
          <p:cNvSpPr txBox="1"/>
          <p:nvPr/>
        </p:nvSpPr>
        <p:spPr>
          <a:xfrm>
            <a:off x="7536472" y="2384563"/>
            <a:ext cx="124176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+7.7%!</a:t>
            </a:r>
          </a:p>
        </p:txBody>
      </p:sp>
    </p:spTree>
    <p:extLst>
      <p:ext uri="{BB962C8B-B14F-4D97-AF65-F5344CB8AC3E}">
        <p14:creationId xmlns:p14="http://schemas.microsoft.com/office/powerpoint/2010/main" val="28787202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AD79D-5393-0A3D-47CF-6B032EE8A2A9}"/>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B39376AB-A907-952E-D38E-13D3A8931A8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AC66FEF2-3E28-D354-16D3-B84CDA482D2E}"/>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DF87C818-6B17-A9BF-53A6-A8593EEAD1AC}"/>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Regularization</a:t>
            </a:r>
          </a:p>
        </p:txBody>
      </p:sp>
      <p:sp>
        <p:nvSpPr>
          <p:cNvPr id="10" name="StratBG">
            <a:extLst>
              <a:ext uri="{FF2B5EF4-FFF2-40B4-BE49-F238E27FC236}">
                <a16:creationId xmlns:a16="http://schemas.microsoft.com/office/drawing/2014/main" id="{5D9ADD15-C1DD-6F41-DDE4-B29CF6EA576F}"/>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57047D50-F66E-3FFC-FB2B-3CC22DDCD4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b="1" noProof="0" dirty="0">
                <a:solidFill>
                  <a:schemeClr val="bg1"/>
                </a:solidFill>
                <a:latin typeface="Calibri"/>
                <a:ea typeface="Calibri"/>
                <a:cs typeface="Calibri"/>
              </a:rPr>
              <a:t>Use regularization techniques to prevent the model from overfitting/memorizing the images</a:t>
            </a:r>
            <a:r>
              <a:rPr lang="en-US" sz="1200" noProof="0" dirty="0">
                <a:solidFill>
                  <a:schemeClr val="bg1"/>
                </a:solidFill>
                <a:latin typeface="Calibri"/>
                <a:ea typeface="Calibri"/>
                <a:cs typeface="Calibri"/>
              </a:rPr>
              <a:t>.</a:t>
            </a:r>
          </a:p>
        </p:txBody>
      </p:sp>
      <p:sp>
        <p:nvSpPr>
          <p:cNvPr id="20" name="H1">
            <a:extLst>
              <a:ext uri="{FF2B5EF4-FFF2-40B4-BE49-F238E27FC236}">
                <a16:creationId xmlns:a16="http://schemas.microsoft.com/office/drawing/2014/main" id="{0AF0AD0B-2DE6-7E86-F205-2B8ADD6F6148}"/>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Label Smoothing</a:t>
            </a:r>
          </a:p>
        </p:txBody>
      </p:sp>
      <p:sp>
        <p:nvSpPr>
          <p:cNvPr id="21" name="H2">
            <a:extLst>
              <a:ext uri="{FF2B5EF4-FFF2-40B4-BE49-F238E27FC236}">
                <a16:creationId xmlns:a16="http://schemas.microsoft.com/office/drawing/2014/main" id="{99F6C3C7-BE13-5677-7D86-FDA68687F40A}"/>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err="1">
                <a:solidFill>
                  <a:srgbClr val="FFFFFF"/>
                </a:solidFill>
                <a:latin typeface="Calibri"/>
              </a:rPr>
              <a:t>AdamW</a:t>
            </a:r>
            <a:r>
              <a:rPr lang="en-US" sz="1400" b="1" noProof="0" dirty="0">
                <a:solidFill>
                  <a:srgbClr val="FFFFFF"/>
                </a:solidFill>
                <a:latin typeface="Calibri"/>
              </a:rPr>
              <a:t> (Adam + Weight Decay)</a:t>
            </a:r>
          </a:p>
        </p:txBody>
      </p:sp>
      <p:sp>
        <p:nvSpPr>
          <p:cNvPr id="30" name="R1C1">
            <a:extLst>
              <a:ext uri="{FF2B5EF4-FFF2-40B4-BE49-F238E27FC236}">
                <a16:creationId xmlns:a16="http://schemas.microsoft.com/office/drawing/2014/main" id="{CF48E766-0CDE-CECC-78DB-30AF814970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Technique where instead of hard targets [0,0,1,0,…], uses [ε/K, …, 1−ε+ε/K, …] (ε=0.1, K=9), this helps</a:t>
            </a:r>
          </a:p>
          <a:p>
            <a:pPr algn="ctr"/>
            <a:r>
              <a:rPr lang="en-US" sz="1300" noProof="0" dirty="0">
                <a:solidFill>
                  <a:srgbClr val="1A2B3C"/>
                </a:solidFill>
                <a:latin typeface="Calibri"/>
                <a:ea typeface="Calibri"/>
                <a:cs typeface="Calibri"/>
              </a:rPr>
              <a:t>preventing overconfident predictions, acting as an implicit </a:t>
            </a:r>
            <a:r>
              <a:rPr lang="en-US" sz="1300" noProof="0" dirty="0" err="1">
                <a:solidFill>
                  <a:srgbClr val="1A2B3C"/>
                </a:solidFill>
                <a:latin typeface="Calibri"/>
                <a:ea typeface="Calibri"/>
                <a:cs typeface="Calibri"/>
              </a:rPr>
              <a:t>regularizer</a:t>
            </a:r>
            <a:r>
              <a:rPr lang="en-US" sz="1300" noProof="0" dirty="0">
                <a:solidFill>
                  <a:srgbClr val="1A2B3C"/>
                </a:solidFill>
                <a:latin typeface="Calibri"/>
                <a:ea typeface="Calibri"/>
                <a:cs typeface="Calibri"/>
              </a:rPr>
              <a:t> when training data is small, which is the case here.</a:t>
            </a:r>
          </a:p>
        </p:txBody>
      </p:sp>
      <p:sp>
        <p:nvSpPr>
          <p:cNvPr id="31" name="R1C2">
            <a:extLst>
              <a:ext uri="{FF2B5EF4-FFF2-40B4-BE49-F238E27FC236}">
                <a16:creationId xmlns:a16="http://schemas.microsoft.com/office/drawing/2014/main" id="{A8676ECF-DA27-EB54-4DDC-65F7EC576E1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Decouples weight decay from the gradient update, avoiding its absorption into the gradient descent scaling, essentially applies “true” L2 regularization.</a:t>
            </a:r>
          </a:p>
        </p:txBody>
      </p:sp>
      <p:sp>
        <p:nvSpPr>
          <p:cNvPr id="23" name="TextBox 22">
            <a:extLst>
              <a:ext uri="{FF2B5EF4-FFF2-40B4-BE49-F238E27FC236}">
                <a16:creationId xmlns:a16="http://schemas.microsoft.com/office/drawing/2014/main" id="{F41C3CE9-747F-04CF-A9E1-5D8832F61572}"/>
              </a:ext>
            </a:extLst>
          </p:cNvPr>
          <p:cNvSpPr txBox="1"/>
          <p:nvPr/>
        </p:nvSpPr>
        <p:spPr>
          <a:xfrm>
            <a:off x="7744677" y="4474713"/>
            <a:ext cx="13648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+11.6%!</a:t>
            </a:r>
          </a:p>
        </p:txBody>
      </p:sp>
      <p:sp>
        <p:nvSpPr>
          <p:cNvPr id="25" name="NumCircle">
            <a:extLst>
              <a:ext uri="{FF2B5EF4-FFF2-40B4-BE49-F238E27FC236}">
                <a16:creationId xmlns:a16="http://schemas.microsoft.com/office/drawing/2014/main" id="{2886CCD5-F470-305F-234E-EF8EEDE7A28C}"/>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13" name="Imagem 12">
            <a:extLst>
              <a:ext uri="{FF2B5EF4-FFF2-40B4-BE49-F238E27FC236}">
                <a16:creationId xmlns:a16="http://schemas.microsoft.com/office/drawing/2014/main" id="{B687C9BE-A420-3AD0-568B-2BE08EEDF0C8}"/>
              </a:ext>
            </a:extLst>
          </p:cNvPr>
          <p:cNvPicPr>
            <a:picLocks noChangeAspect="1"/>
          </p:cNvPicPr>
          <p:nvPr/>
        </p:nvPicPr>
        <p:blipFill>
          <a:blip r:embed="rId2"/>
          <a:srcRect l="22316" r="26569"/>
          <a:stretch>
            <a:fillRect/>
          </a:stretch>
        </p:blipFill>
        <p:spPr>
          <a:xfrm>
            <a:off x="5416849" y="4848476"/>
            <a:ext cx="2293649" cy="280453"/>
          </a:xfrm>
          <a:prstGeom prst="rect">
            <a:avLst/>
          </a:prstGeom>
        </p:spPr>
      </p:pic>
      <p:pic>
        <p:nvPicPr>
          <p:cNvPr id="14" name="Imagem 13">
            <a:extLst>
              <a:ext uri="{FF2B5EF4-FFF2-40B4-BE49-F238E27FC236}">
                <a16:creationId xmlns:a16="http://schemas.microsoft.com/office/drawing/2014/main" id="{CD457219-A13D-1F2B-4E43-8529615C0D6C}"/>
              </a:ext>
            </a:extLst>
          </p:cNvPr>
          <p:cNvPicPr>
            <a:picLocks noChangeAspect="1"/>
          </p:cNvPicPr>
          <p:nvPr/>
        </p:nvPicPr>
        <p:blipFill>
          <a:blip r:embed="rId3"/>
          <a:stretch>
            <a:fillRect/>
          </a:stretch>
        </p:blipFill>
        <p:spPr>
          <a:xfrm>
            <a:off x="6054954" y="4281085"/>
            <a:ext cx="1638529" cy="276264"/>
          </a:xfrm>
          <a:prstGeom prst="rect">
            <a:avLst/>
          </a:prstGeom>
        </p:spPr>
      </p:pic>
      <p:pic>
        <p:nvPicPr>
          <p:cNvPr id="6" name="Imagem 5">
            <a:extLst>
              <a:ext uri="{FF2B5EF4-FFF2-40B4-BE49-F238E27FC236}">
                <a16:creationId xmlns:a16="http://schemas.microsoft.com/office/drawing/2014/main" id="{BD25E603-3E60-E7B4-4F37-DCB06F48C226}"/>
              </a:ext>
            </a:extLst>
          </p:cNvPr>
          <p:cNvPicPr>
            <a:picLocks noChangeAspect="1"/>
          </p:cNvPicPr>
          <p:nvPr/>
        </p:nvPicPr>
        <p:blipFill>
          <a:blip r:embed="rId2"/>
          <a:srcRect l="22316" r="26569"/>
          <a:stretch>
            <a:fillRect/>
          </a:stretch>
        </p:blipFill>
        <p:spPr>
          <a:xfrm>
            <a:off x="753822" y="4522553"/>
            <a:ext cx="2293649" cy="280453"/>
          </a:xfrm>
          <a:prstGeom prst="rect">
            <a:avLst/>
          </a:prstGeom>
        </p:spPr>
      </p:pic>
      <p:pic>
        <p:nvPicPr>
          <p:cNvPr id="7" name="Imagem 6">
            <a:extLst>
              <a:ext uri="{FF2B5EF4-FFF2-40B4-BE49-F238E27FC236}">
                <a16:creationId xmlns:a16="http://schemas.microsoft.com/office/drawing/2014/main" id="{7B8C0F2E-04CA-C16D-BA42-9286073526FC}"/>
              </a:ext>
            </a:extLst>
          </p:cNvPr>
          <p:cNvPicPr>
            <a:picLocks noChangeAspect="1"/>
          </p:cNvPicPr>
          <p:nvPr/>
        </p:nvPicPr>
        <p:blipFill>
          <a:blip r:embed="rId3"/>
          <a:stretch>
            <a:fillRect/>
          </a:stretch>
        </p:blipFill>
        <p:spPr>
          <a:xfrm>
            <a:off x="1408942" y="3962112"/>
            <a:ext cx="1638529" cy="276264"/>
          </a:xfrm>
          <a:prstGeom prst="rect">
            <a:avLst/>
          </a:prstGeom>
        </p:spPr>
      </p:pic>
      <p:sp>
        <p:nvSpPr>
          <p:cNvPr id="8" name="TextBox 22">
            <a:extLst>
              <a:ext uri="{FF2B5EF4-FFF2-40B4-BE49-F238E27FC236}">
                <a16:creationId xmlns:a16="http://schemas.microsoft.com/office/drawing/2014/main" id="{5DA54D50-CDA2-4F14-EF5B-CF1CF90D9813}"/>
              </a:ext>
            </a:extLst>
          </p:cNvPr>
          <p:cNvSpPr txBox="1"/>
          <p:nvPr/>
        </p:nvSpPr>
        <p:spPr>
          <a:xfrm>
            <a:off x="3402490" y="4195561"/>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9" name="Imagem 8">
            <a:extLst>
              <a:ext uri="{FF2B5EF4-FFF2-40B4-BE49-F238E27FC236}">
                <a16:creationId xmlns:a16="http://schemas.microsoft.com/office/drawing/2014/main" id="{71993F97-EDB8-B771-7460-BF6C94FFF273}"/>
              </a:ext>
            </a:extLst>
          </p:cNvPr>
          <p:cNvPicPr>
            <a:picLocks noChangeAspect="1"/>
          </p:cNvPicPr>
          <p:nvPr/>
        </p:nvPicPr>
        <p:blipFill>
          <a:blip r:embed="rId4"/>
          <a:srcRect l="18002" t="15259"/>
          <a:stretch>
            <a:fillRect/>
          </a:stretch>
        </p:blipFill>
        <p:spPr>
          <a:xfrm>
            <a:off x="165038" y="4238376"/>
            <a:ext cx="2882433" cy="282547"/>
          </a:xfrm>
          <a:prstGeom prst="rect">
            <a:avLst/>
          </a:prstGeom>
        </p:spPr>
      </p:pic>
      <p:pic>
        <p:nvPicPr>
          <p:cNvPr id="17" name="Imagem 16">
            <a:extLst>
              <a:ext uri="{FF2B5EF4-FFF2-40B4-BE49-F238E27FC236}">
                <a16:creationId xmlns:a16="http://schemas.microsoft.com/office/drawing/2014/main" id="{3859C8D5-1EDA-9D41-9DC0-F27D693CB7C8}"/>
              </a:ext>
            </a:extLst>
          </p:cNvPr>
          <p:cNvPicPr>
            <a:picLocks noChangeAspect="1"/>
          </p:cNvPicPr>
          <p:nvPr/>
        </p:nvPicPr>
        <p:blipFill>
          <a:blip r:embed="rId5"/>
          <a:srcRect l="13558"/>
          <a:stretch>
            <a:fillRect/>
          </a:stretch>
        </p:blipFill>
        <p:spPr>
          <a:xfrm>
            <a:off x="4638910" y="4562651"/>
            <a:ext cx="3071588" cy="285790"/>
          </a:xfrm>
          <a:prstGeom prst="rect">
            <a:avLst/>
          </a:prstGeom>
        </p:spPr>
      </p:pic>
    </p:spTree>
    <p:extLst>
      <p:ext uri="{BB962C8B-B14F-4D97-AF65-F5344CB8AC3E}">
        <p14:creationId xmlns:p14="http://schemas.microsoft.com/office/powerpoint/2010/main" val="40647511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2F2A6-7EC1-1014-48C5-790EAAFEE02A}"/>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E1D21E2-51DC-40D1-A838-9C2268754E9E}"/>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539F2DA3-301E-5832-EE3E-E4794FF6703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666D9E2F-4127-1E4A-45A8-93F32946095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WeightedRandomSampler</a:t>
            </a:r>
            <a:endParaRPr lang="en-US" sz="2200" b="1" noProof="0" dirty="0">
              <a:solidFill>
                <a:srgbClr val="0D1B2A"/>
              </a:solidFill>
              <a:latin typeface="Trebuchet MS" pitchFamily="34" charset="0"/>
            </a:endParaRPr>
          </a:p>
        </p:txBody>
      </p:sp>
      <p:sp>
        <p:nvSpPr>
          <p:cNvPr id="10" name="StratBG">
            <a:extLst>
              <a:ext uri="{FF2B5EF4-FFF2-40B4-BE49-F238E27FC236}">
                <a16:creationId xmlns:a16="http://schemas.microsoft.com/office/drawing/2014/main" id="{26275447-9581-EE57-1251-8F745A27B369}"/>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4ED0CF8-1752-5CC9-FDF6-FAD276AAFBC2}"/>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b="1" noProof="0" dirty="0">
                <a:solidFill>
                  <a:schemeClr val="bg1"/>
                </a:solidFill>
                <a:latin typeface="Calibri"/>
                <a:ea typeface="Calibri"/>
                <a:cs typeface="Calibri"/>
              </a:rPr>
              <a:t>Decrease overfitting by balancing classes frequency</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91686DB-19E5-D4DF-9BE4-E251B330BA8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6499464B-C393-C773-28B8-031F273930A1}"/>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A7439167-D3AA-4755-49EF-C7C63DF6624A}"/>
              </a:ext>
            </a:extLst>
          </p:cNvPr>
          <p:cNvSpPr/>
          <p:nvPr/>
        </p:nvSpPr>
        <p:spPr>
          <a:xfrm>
            <a:off x="822483" y="3088000"/>
            <a:ext cx="7247395" cy="1795088"/>
          </a:xfrm>
          <a:prstGeom prst="rect">
            <a:avLst/>
          </a:prstGeom>
          <a:noFill/>
          <a:ln/>
        </p:spPr>
        <p:txBody>
          <a:bodyPr wrap="square" lIns="0" tIns="0" rIns="0" bIns="0" rtlCol="0" anchor="t"/>
          <a:lstStyle/>
          <a:p>
            <a:r>
              <a:rPr lang="en-US" sz="1200" noProof="0" dirty="0" err="1">
                <a:solidFill>
                  <a:srgbClr val="0D1B2A"/>
                </a:solidFill>
                <a:latin typeface="Calibri"/>
                <a:ea typeface="Calibri"/>
                <a:cs typeface="Calibri"/>
              </a:rPr>
              <a:t>WeightedRandomSampler</a:t>
            </a:r>
            <a:r>
              <a:rPr lang="en-US" sz="1200" noProof="0" dirty="0">
                <a:solidFill>
                  <a:srgbClr val="0D1B2A"/>
                </a:solidFill>
                <a:latin typeface="Calibri"/>
                <a:ea typeface="Calibri"/>
                <a:cs typeface="Calibri"/>
              </a:rPr>
              <a:t> by using a mechanism of sampler over-samples rare classes so each batch has an approximately uniform class frequency, this way the model doesn’t specifies on a specific class and instead implicitly improves its scoring in a similar way for all classes. This is especially important in small datasets like this where if not taken care the classes can become highly unbalanced in the batches.</a:t>
            </a:r>
          </a:p>
        </p:txBody>
      </p:sp>
      <p:pic>
        <p:nvPicPr>
          <p:cNvPr id="4" name="Imagem 3">
            <a:extLst>
              <a:ext uri="{FF2B5EF4-FFF2-40B4-BE49-F238E27FC236}">
                <a16:creationId xmlns:a16="http://schemas.microsoft.com/office/drawing/2014/main" id="{D7A46EEC-4FDF-7A44-B954-68B73360C355}"/>
              </a:ext>
            </a:extLst>
          </p:cNvPr>
          <p:cNvPicPr>
            <a:picLocks noChangeAspect="1"/>
          </p:cNvPicPr>
          <p:nvPr/>
        </p:nvPicPr>
        <p:blipFill>
          <a:blip r:embed="rId2"/>
          <a:srcRect l="22316" r="26569"/>
          <a:stretch>
            <a:fillRect/>
          </a:stretch>
        </p:blipFill>
        <p:spPr>
          <a:xfrm>
            <a:off x="2761042" y="1999174"/>
            <a:ext cx="2293649" cy="280453"/>
          </a:xfrm>
          <a:prstGeom prst="rect">
            <a:avLst/>
          </a:prstGeom>
        </p:spPr>
      </p:pic>
      <p:pic>
        <p:nvPicPr>
          <p:cNvPr id="6" name="Imagem 5">
            <a:extLst>
              <a:ext uri="{FF2B5EF4-FFF2-40B4-BE49-F238E27FC236}">
                <a16:creationId xmlns:a16="http://schemas.microsoft.com/office/drawing/2014/main" id="{43A166CA-A757-1BAD-02E1-E07795391DA5}"/>
              </a:ext>
            </a:extLst>
          </p:cNvPr>
          <p:cNvPicPr>
            <a:picLocks noChangeAspect="1"/>
          </p:cNvPicPr>
          <p:nvPr/>
        </p:nvPicPr>
        <p:blipFill>
          <a:blip r:embed="rId3"/>
          <a:stretch>
            <a:fillRect/>
          </a:stretch>
        </p:blipFill>
        <p:spPr>
          <a:xfrm>
            <a:off x="3416162" y="1438733"/>
            <a:ext cx="1638529" cy="276264"/>
          </a:xfrm>
          <a:prstGeom prst="rect">
            <a:avLst/>
          </a:prstGeom>
        </p:spPr>
      </p:pic>
      <p:sp>
        <p:nvSpPr>
          <p:cNvPr id="7" name="TextBox 22">
            <a:extLst>
              <a:ext uri="{FF2B5EF4-FFF2-40B4-BE49-F238E27FC236}">
                <a16:creationId xmlns:a16="http://schemas.microsoft.com/office/drawing/2014/main" id="{EBCDCE8A-DE11-ED0D-0341-FCB3A522C1F2}"/>
              </a:ext>
            </a:extLst>
          </p:cNvPr>
          <p:cNvSpPr txBox="1"/>
          <p:nvPr/>
        </p:nvSpPr>
        <p:spPr>
          <a:xfrm>
            <a:off x="5325348" y="1638370"/>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14" name="Imagem 13">
            <a:extLst>
              <a:ext uri="{FF2B5EF4-FFF2-40B4-BE49-F238E27FC236}">
                <a16:creationId xmlns:a16="http://schemas.microsoft.com/office/drawing/2014/main" id="{5D60738E-8A01-DF4C-0533-1FC514DEF8E5}"/>
              </a:ext>
            </a:extLst>
          </p:cNvPr>
          <p:cNvPicPr>
            <a:picLocks noChangeAspect="1"/>
          </p:cNvPicPr>
          <p:nvPr/>
        </p:nvPicPr>
        <p:blipFill>
          <a:blip r:embed="rId4"/>
          <a:srcRect l="13679"/>
          <a:stretch>
            <a:fillRect/>
          </a:stretch>
        </p:blipFill>
        <p:spPr>
          <a:xfrm>
            <a:off x="2042903" y="1686780"/>
            <a:ext cx="3011788" cy="314369"/>
          </a:xfrm>
          <a:prstGeom prst="rect">
            <a:avLst/>
          </a:prstGeom>
        </p:spPr>
      </p:pic>
    </p:spTree>
    <p:extLst>
      <p:ext uri="{BB962C8B-B14F-4D97-AF65-F5344CB8AC3E}">
        <p14:creationId xmlns:p14="http://schemas.microsoft.com/office/powerpoint/2010/main" val="5110801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23B8F-6B56-0F6A-2A13-0010316D45D6}"/>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26C93554-892A-68E3-986B-53676D3EDF6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A2F1BA7-7FFB-41A2-52E6-9B388A2A758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0558BE05-B2D3-3595-E84A-5C3FA5A812AF}"/>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Vs </a:t>
            </a: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+Augmentation</a:t>
            </a:r>
          </a:p>
        </p:txBody>
      </p:sp>
      <p:sp>
        <p:nvSpPr>
          <p:cNvPr id="10" name="StratBG">
            <a:extLst>
              <a:ext uri="{FF2B5EF4-FFF2-40B4-BE49-F238E27FC236}">
                <a16:creationId xmlns:a16="http://schemas.microsoft.com/office/drawing/2014/main" id="{920CC3E3-F8C6-5EEA-371B-7F660AFA9088}"/>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B2C4F38-0FF3-FB89-40B7-ECED46168DE9}"/>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Combine the 2 main regularization techniques and see if the effect “stacks”, and at the same time compare the effects of augmentation on top of them, will it provide the best improvement?</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A9E7F128-6B9A-46BA-2616-D854A284D72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59336F49-75BC-B677-0959-819CAA044800}"/>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58A07130-17AF-44BD-415F-8F66738BADA6}"/>
              </a:ext>
            </a:extLst>
          </p:cNvPr>
          <p:cNvSpPr/>
          <p:nvPr/>
        </p:nvSpPr>
        <p:spPr>
          <a:xfrm>
            <a:off x="822483" y="3022869"/>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Combining both regularization techniques continues to improve the model but the improvement is smaller when compared with either techniques individually.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 Combining the previous model with augmentation, the model validation score decreased when compared with the basic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When analyzing this values, two possible explanations are that the swim model is simply too complex for this task, and by heavily regularizing it we are taking away its “memorization” capabilities, showcasing the model true weaknesses, or the head is not complex enough since the gap between </a:t>
            </a:r>
            <a:r>
              <a:rPr lang="en-US" sz="1200" noProof="0" dirty="0" err="1">
                <a:solidFill>
                  <a:srgbClr val="0D1B2A"/>
                </a:solidFill>
                <a:latin typeface="Calibri"/>
                <a:ea typeface="Calibri"/>
                <a:cs typeface="Calibri"/>
              </a:rPr>
              <a:t>val</a:t>
            </a:r>
            <a:r>
              <a:rPr lang="en-US" sz="1200" noProof="0" dirty="0">
                <a:solidFill>
                  <a:srgbClr val="0D1B2A"/>
                </a:solidFill>
                <a:latin typeface="Calibri"/>
                <a:ea typeface="Calibri"/>
                <a:cs typeface="Calibri"/>
              </a:rPr>
              <a:t> f1 and train f1 effectively </a:t>
            </a:r>
            <a:r>
              <a:rPr lang="en-US" sz="1200" noProof="0" dirty="0" err="1">
                <a:solidFill>
                  <a:srgbClr val="0D1B2A"/>
                </a:solidFill>
                <a:latin typeface="Calibri"/>
                <a:ea typeface="Calibri"/>
                <a:cs typeface="Calibri"/>
              </a:rPr>
              <a:t>decresed</a:t>
            </a:r>
            <a:r>
              <a:rPr lang="en-US" sz="1200" noProof="0" dirty="0">
                <a:solidFill>
                  <a:srgbClr val="0D1B2A"/>
                </a:solidFill>
                <a:latin typeface="Calibri"/>
                <a:ea typeface="Calibri"/>
                <a:cs typeface="Calibri"/>
              </a:rPr>
              <a:t>.</a:t>
            </a:r>
          </a:p>
          <a:p>
            <a:pPr marL="171450" indent="-171450">
              <a:buFont typeface="Arial" panose="020B0604020202020204" pitchFamily="34" charset="0"/>
              <a:buChar char="•"/>
            </a:pPr>
            <a:endParaRPr lang="en-US" sz="1200" noProof="0" dirty="0">
              <a:solidFill>
                <a:srgbClr val="0D1B2A"/>
              </a:solidFill>
              <a:latin typeface="Calibri"/>
              <a:ea typeface="Calibri"/>
              <a:cs typeface="Calibri"/>
            </a:endParaRPr>
          </a:p>
        </p:txBody>
      </p:sp>
      <p:pic>
        <p:nvPicPr>
          <p:cNvPr id="4" name="Imagem 3">
            <a:extLst>
              <a:ext uri="{FF2B5EF4-FFF2-40B4-BE49-F238E27FC236}">
                <a16:creationId xmlns:a16="http://schemas.microsoft.com/office/drawing/2014/main" id="{485B93F2-87E8-6A37-751C-EDDA8E9EED91}"/>
              </a:ext>
            </a:extLst>
          </p:cNvPr>
          <p:cNvPicPr>
            <a:picLocks noChangeAspect="1"/>
          </p:cNvPicPr>
          <p:nvPr/>
        </p:nvPicPr>
        <p:blipFill>
          <a:blip r:embed="rId2"/>
          <a:srcRect l="22316" r="26569"/>
          <a:stretch>
            <a:fillRect/>
          </a:stretch>
        </p:blipFill>
        <p:spPr>
          <a:xfrm>
            <a:off x="3158026" y="2106420"/>
            <a:ext cx="2293649" cy="280453"/>
          </a:xfrm>
          <a:prstGeom prst="rect">
            <a:avLst/>
          </a:prstGeom>
        </p:spPr>
      </p:pic>
      <p:pic>
        <p:nvPicPr>
          <p:cNvPr id="6" name="Imagem 5">
            <a:extLst>
              <a:ext uri="{FF2B5EF4-FFF2-40B4-BE49-F238E27FC236}">
                <a16:creationId xmlns:a16="http://schemas.microsoft.com/office/drawing/2014/main" id="{3429A58C-21CD-80BD-F023-D2894E115697}"/>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B8171CE3-0982-779A-DAF2-593361876A38}"/>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+6.5%</a:t>
            </a:r>
          </a:p>
        </p:txBody>
      </p:sp>
      <p:pic>
        <p:nvPicPr>
          <p:cNvPr id="9" name="Imagem 8">
            <a:extLst>
              <a:ext uri="{FF2B5EF4-FFF2-40B4-BE49-F238E27FC236}">
                <a16:creationId xmlns:a16="http://schemas.microsoft.com/office/drawing/2014/main" id="{E686F113-37A9-5200-5643-25CB5FB39DDE}"/>
              </a:ext>
            </a:extLst>
          </p:cNvPr>
          <p:cNvPicPr>
            <a:picLocks noChangeAspect="1"/>
          </p:cNvPicPr>
          <p:nvPr/>
        </p:nvPicPr>
        <p:blipFill>
          <a:blip r:embed="rId4"/>
          <a:srcRect l="13310"/>
          <a:stretch>
            <a:fillRect/>
          </a:stretch>
        </p:blipFill>
        <p:spPr>
          <a:xfrm>
            <a:off x="2239165" y="1820630"/>
            <a:ext cx="3212510" cy="285790"/>
          </a:xfrm>
          <a:prstGeom prst="rect">
            <a:avLst/>
          </a:prstGeom>
        </p:spPr>
      </p:pic>
      <p:pic>
        <p:nvPicPr>
          <p:cNvPr id="14" name="Imagem 13">
            <a:extLst>
              <a:ext uri="{FF2B5EF4-FFF2-40B4-BE49-F238E27FC236}">
                <a16:creationId xmlns:a16="http://schemas.microsoft.com/office/drawing/2014/main" id="{263316FF-18F3-D5BF-249B-3A01A7872427}"/>
              </a:ext>
            </a:extLst>
          </p:cNvPr>
          <p:cNvPicPr>
            <a:picLocks noChangeAspect="1"/>
          </p:cNvPicPr>
          <p:nvPr/>
        </p:nvPicPr>
        <p:blipFill>
          <a:blip r:embed="rId5"/>
          <a:srcRect l="10864"/>
          <a:stretch>
            <a:fillRect/>
          </a:stretch>
        </p:blipFill>
        <p:spPr>
          <a:xfrm>
            <a:off x="2011680" y="2359903"/>
            <a:ext cx="3439995" cy="285790"/>
          </a:xfrm>
          <a:prstGeom prst="rect">
            <a:avLst/>
          </a:prstGeom>
        </p:spPr>
      </p:pic>
      <p:sp>
        <p:nvSpPr>
          <p:cNvPr id="15" name="TextBox 22">
            <a:extLst>
              <a:ext uri="{FF2B5EF4-FFF2-40B4-BE49-F238E27FC236}">
                <a16:creationId xmlns:a16="http://schemas.microsoft.com/office/drawing/2014/main" id="{BDB02B19-0839-8634-BA0F-EBC51C08EB2F}"/>
              </a:ext>
            </a:extLst>
          </p:cNvPr>
          <p:cNvSpPr txBox="1"/>
          <p:nvPr/>
        </p:nvSpPr>
        <p:spPr>
          <a:xfrm>
            <a:off x="5597050" y="226972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-2.3%!</a:t>
            </a:r>
          </a:p>
        </p:txBody>
      </p:sp>
    </p:spTree>
    <p:extLst>
      <p:ext uri="{BB962C8B-B14F-4D97-AF65-F5344CB8AC3E}">
        <p14:creationId xmlns:p14="http://schemas.microsoft.com/office/powerpoint/2010/main" val="36226762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5A297-21E1-E374-BBEF-3E62C8FE1F75}"/>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8876A13-25E3-CB4F-C834-00140D2EC2C1}"/>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151F991-7DC2-65FE-4ACA-3351C5DE4D33}"/>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699A194-CA8D-9675-8749-5AEB2FDD167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b="1" noProof="0" dirty="0">
                <a:solidFill>
                  <a:srgbClr val="0D1B2A"/>
                </a:solidFill>
                <a:latin typeface="Trebuchet MS" pitchFamily="34" charset="0"/>
              </a:rPr>
              <a:t>Best Fine-tunning with best Augmentation/regularization</a:t>
            </a:r>
          </a:p>
        </p:txBody>
      </p:sp>
      <p:sp>
        <p:nvSpPr>
          <p:cNvPr id="10" name="StratBG">
            <a:extLst>
              <a:ext uri="{FF2B5EF4-FFF2-40B4-BE49-F238E27FC236}">
                <a16:creationId xmlns:a16="http://schemas.microsoft.com/office/drawing/2014/main" id="{B46B7CBA-ADF2-5DA2-538C-33C0A06B2E5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65ABF1D4-AA55-9D7B-BA94-27B59ADE098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Now that we have analyzed fine-tunning and augmentation/regularization separately, its time to compare the them! </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9547947-6D91-34FB-6A05-C6B709F6B5A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BB596423-D4F8-3C11-F3E3-EEC06941A605}"/>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B6CC881-9CC4-CFCA-A125-01BFBEF59FCC}"/>
              </a:ext>
            </a:extLst>
          </p:cNvPr>
          <p:cNvSpPr/>
          <p:nvPr/>
        </p:nvSpPr>
        <p:spPr>
          <a:xfrm>
            <a:off x="822483" y="3022869"/>
            <a:ext cx="7247395" cy="954805"/>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Improved is larger when compared with the previous combinations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falls short in comparation to the individual label smoothing over the fully frozen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Suggests that the model is just too complex for this task with the amount of data we have </a:t>
            </a:r>
          </a:p>
        </p:txBody>
      </p:sp>
      <p:pic>
        <p:nvPicPr>
          <p:cNvPr id="4" name="Imagem 3">
            <a:extLst>
              <a:ext uri="{FF2B5EF4-FFF2-40B4-BE49-F238E27FC236}">
                <a16:creationId xmlns:a16="http://schemas.microsoft.com/office/drawing/2014/main" id="{3B637725-BC3C-8062-26E9-255657604D8D}"/>
              </a:ext>
            </a:extLst>
          </p:cNvPr>
          <p:cNvPicPr>
            <a:picLocks noChangeAspect="1"/>
          </p:cNvPicPr>
          <p:nvPr/>
        </p:nvPicPr>
        <p:blipFill>
          <a:blip r:embed="rId2"/>
          <a:srcRect l="22316" r="26569"/>
          <a:stretch>
            <a:fillRect/>
          </a:stretch>
        </p:blipFill>
        <p:spPr>
          <a:xfrm>
            <a:off x="3158026" y="2102103"/>
            <a:ext cx="2293649" cy="280453"/>
          </a:xfrm>
          <a:prstGeom prst="rect">
            <a:avLst/>
          </a:prstGeom>
        </p:spPr>
      </p:pic>
      <p:pic>
        <p:nvPicPr>
          <p:cNvPr id="6" name="Imagem 5">
            <a:extLst>
              <a:ext uri="{FF2B5EF4-FFF2-40B4-BE49-F238E27FC236}">
                <a16:creationId xmlns:a16="http://schemas.microsoft.com/office/drawing/2014/main" id="{3DA4AD0D-4DED-F997-0F2D-C303F91F3412}"/>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D89BC109-7828-4BC0-7FD4-4D2C886AB713}"/>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+8.5%</a:t>
            </a:r>
          </a:p>
        </p:txBody>
      </p:sp>
      <p:pic>
        <p:nvPicPr>
          <p:cNvPr id="13" name="Imagem 12">
            <a:extLst>
              <a:ext uri="{FF2B5EF4-FFF2-40B4-BE49-F238E27FC236}">
                <a16:creationId xmlns:a16="http://schemas.microsoft.com/office/drawing/2014/main" id="{A148B3AB-C237-AB95-7A18-D660EFEB0BF3}"/>
              </a:ext>
            </a:extLst>
          </p:cNvPr>
          <p:cNvPicPr>
            <a:picLocks noChangeAspect="1"/>
          </p:cNvPicPr>
          <p:nvPr/>
        </p:nvPicPr>
        <p:blipFill>
          <a:blip r:embed="rId4"/>
          <a:stretch>
            <a:fillRect/>
          </a:stretch>
        </p:blipFill>
        <p:spPr>
          <a:xfrm>
            <a:off x="1393459" y="1806787"/>
            <a:ext cx="4058216" cy="295316"/>
          </a:xfrm>
          <a:prstGeom prst="rect">
            <a:avLst/>
          </a:prstGeom>
        </p:spPr>
      </p:pic>
    </p:spTree>
    <p:extLst>
      <p:ext uri="{BB962C8B-B14F-4D97-AF65-F5344CB8AC3E}">
        <p14:creationId xmlns:p14="http://schemas.microsoft.com/office/powerpoint/2010/main" val="34624483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65B2-18D5-049A-014B-DC2926958400}"/>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450D399E-B4FC-1A93-A25F-8BE414FE6EB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9A6B31F-CDB0-37B6-93EC-29C2D22647E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98B2706E-BCDA-7779-D895-1B68E4E995B4}"/>
              </a:ext>
            </a:extLst>
          </p:cNvPr>
          <p:cNvSpPr/>
          <p:nvPr/>
        </p:nvSpPr>
        <p:spPr>
          <a:xfrm>
            <a:off x="457200" y="109728"/>
            <a:ext cx="6550226" cy="530352"/>
          </a:xfrm>
          <a:prstGeom prst="rect">
            <a:avLst/>
          </a:prstGeom>
          <a:noFill/>
          <a:ln/>
        </p:spPr>
        <p:txBody>
          <a:bodyPr wrap="square" lIns="0" tIns="0" rIns="0" bIns="0" rtlCol="0" anchor="ctr"/>
          <a:lstStyle/>
          <a:p>
            <a:pPr marL="0" indent="0">
              <a:buNone/>
            </a:pPr>
            <a:r>
              <a:rPr lang="en-US" sz="1600" b="1" noProof="0" dirty="0">
                <a:solidFill>
                  <a:srgbClr val="0D1B2A"/>
                </a:solidFill>
                <a:latin typeface="Trebuchet MS" pitchFamily="34" charset="0"/>
              </a:rPr>
              <a:t>Different approach: ResNet18 with ADMW + LS + Aug</a:t>
            </a:r>
          </a:p>
        </p:txBody>
      </p:sp>
      <p:sp>
        <p:nvSpPr>
          <p:cNvPr id="10" name="StratBG">
            <a:extLst>
              <a:ext uri="{FF2B5EF4-FFF2-40B4-BE49-F238E27FC236}">
                <a16:creationId xmlns:a16="http://schemas.microsoft.com/office/drawing/2014/main" id="{52B02261-2EC0-E89F-422E-44FFF263323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7A2A0ED-B3AF-3103-8669-A0DA2910EF66}"/>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b="1" noProof="0" dirty="0">
                <a:solidFill>
                  <a:schemeClr val="bg1"/>
                </a:solidFill>
                <a:latin typeface="Calibri"/>
                <a:ea typeface="Calibri"/>
                <a:cs typeface="Calibri"/>
              </a:rPr>
              <a:t>As mentioned before </a:t>
            </a:r>
            <a:r>
              <a:rPr lang="en-US" sz="1200" b="1" noProof="0" dirty="0" err="1">
                <a:solidFill>
                  <a:schemeClr val="bg1"/>
                </a:solidFill>
                <a:latin typeface="Calibri"/>
                <a:ea typeface="Calibri"/>
                <a:cs typeface="Calibri"/>
              </a:rPr>
              <a:t>swin</a:t>
            </a:r>
            <a:r>
              <a:rPr lang="en-US" sz="1200" b="1" noProof="0" dirty="0">
                <a:solidFill>
                  <a:schemeClr val="bg1"/>
                </a:solidFill>
                <a:latin typeface="Calibri"/>
                <a:ea typeface="Calibri"/>
                <a:cs typeface="Calibri"/>
              </a:rPr>
              <a:t> is just too complex for this task, with the amount of data we have, and to test this theory we are changing models</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D47D475-35AE-F5EC-8F7A-B92CE2649ED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6ABBB5F-D19F-1482-E120-902B95041E8D}"/>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C40531E-A3D5-1CF1-6D4B-59C0F4124D3A}"/>
              </a:ext>
            </a:extLst>
          </p:cNvPr>
          <p:cNvSpPr/>
          <p:nvPr/>
        </p:nvSpPr>
        <p:spPr>
          <a:xfrm>
            <a:off x="822483" y="3088000"/>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New model:</a:t>
            </a:r>
          </a:p>
          <a:p>
            <a:pPr marL="171450" indent="-171450">
              <a:buFont typeface="Arial" panose="020B0604020202020204" pitchFamily="34" charset="0"/>
              <a:buChar char="•"/>
            </a:pPr>
            <a:r>
              <a:rPr lang="en-US" sz="1200" b="1" noProof="0" dirty="0">
                <a:solidFill>
                  <a:srgbClr val="0D1B2A"/>
                </a:solidFill>
                <a:latin typeface="Calibri"/>
                <a:ea typeface="Calibri"/>
                <a:cs typeface="Calibri"/>
              </a:rPr>
              <a:t>ResNet18 with custom 2 linear (</a:t>
            </a:r>
            <a:r>
              <a:rPr lang="en-US" sz="1200" b="1" noProof="0" dirty="0" err="1">
                <a:solidFill>
                  <a:srgbClr val="0D1B2A"/>
                </a:solidFill>
                <a:latin typeface="Calibri"/>
                <a:ea typeface="Calibri"/>
                <a:cs typeface="Calibri"/>
              </a:rPr>
              <a:t>in_features</a:t>
            </a:r>
            <a:r>
              <a:rPr lang="en-US" sz="1200" b="1" noProof="0" dirty="0">
                <a:solidFill>
                  <a:srgbClr val="0D1B2A"/>
                </a:solidFill>
                <a:latin typeface="Calibri"/>
                <a:ea typeface="Calibri"/>
                <a:cs typeface="Calibri"/>
              </a:rPr>
              <a:t> -&gt; 128 -&gt; 9) + </a:t>
            </a:r>
            <a:r>
              <a:rPr lang="en-US" sz="1200" b="1" noProof="0" dirty="0" err="1">
                <a:solidFill>
                  <a:srgbClr val="0D1B2A"/>
                </a:solidFill>
                <a:latin typeface="Calibri"/>
                <a:ea typeface="Calibri"/>
                <a:cs typeface="Calibri"/>
              </a:rPr>
              <a:t>ReLu</a:t>
            </a:r>
            <a:r>
              <a:rPr lang="en-US" sz="1200" b="1" noProof="0" dirty="0">
                <a:solidFill>
                  <a:srgbClr val="0D1B2A"/>
                </a:solidFill>
                <a:latin typeface="Calibri"/>
                <a:ea typeface="Calibri"/>
                <a:cs typeface="Calibri"/>
              </a:rPr>
              <a:t> + batch norm and dropout </a:t>
            </a:r>
            <a:r>
              <a:rPr lang="en-US" sz="1200" noProof="0" dirty="0">
                <a:solidFill>
                  <a:srgbClr val="0D1B2A"/>
                </a:solidFill>
                <a:latin typeface="Calibri"/>
                <a:ea typeface="Calibri"/>
                <a:cs typeface="Calibri"/>
              </a:rPr>
              <a:t>: It’s one of the simpler models on our list, perfect for small datasets, the head is slightly more complex to be a middle ground between MLP and the new custom head that could not be capturing the patterns.</a:t>
            </a:r>
          </a:p>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Significant improvement over the base </a:t>
            </a:r>
            <a:r>
              <a:rPr lang="en-US" sz="1200" noProof="0" dirty="0" err="1">
                <a:solidFill>
                  <a:srgbClr val="0D1B2A"/>
                </a:solidFill>
                <a:latin typeface="Calibri"/>
                <a:ea typeface="Calibri"/>
                <a:cs typeface="Calibri"/>
              </a:rPr>
              <a:t>swin</a:t>
            </a:r>
            <a:r>
              <a:rPr lang="en-US" sz="1200" noProof="0" dirty="0">
                <a:solidFill>
                  <a:srgbClr val="0D1B2A"/>
                </a:solidFill>
                <a:latin typeface="Calibri"/>
                <a:ea typeface="Calibri"/>
                <a:cs typeface="Calibri"/>
              </a:rPr>
              <a:t> and over the previous best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The model is now in the “sweet spot” between complexity and efficiency.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need to improve generalization, since train score even got to 1.</a:t>
            </a:r>
          </a:p>
        </p:txBody>
      </p:sp>
      <p:pic>
        <p:nvPicPr>
          <p:cNvPr id="4" name="Imagem 3">
            <a:extLst>
              <a:ext uri="{FF2B5EF4-FFF2-40B4-BE49-F238E27FC236}">
                <a16:creationId xmlns:a16="http://schemas.microsoft.com/office/drawing/2014/main" id="{89194A87-1094-6F5E-355F-ECD632C3A090}"/>
              </a:ext>
            </a:extLst>
          </p:cNvPr>
          <p:cNvPicPr>
            <a:picLocks noChangeAspect="1"/>
          </p:cNvPicPr>
          <p:nvPr/>
        </p:nvPicPr>
        <p:blipFill>
          <a:blip r:embed="rId2"/>
          <a:srcRect l="22316" r="26569"/>
          <a:stretch>
            <a:fillRect/>
          </a:stretch>
        </p:blipFill>
        <p:spPr>
          <a:xfrm>
            <a:off x="2877014" y="2149659"/>
            <a:ext cx="2293649" cy="280453"/>
          </a:xfrm>
          <a:prstGeom prst="rect">
            <a:avLst/>
          </a:prstGeom>
        </p:spPr>
      </p:pic>
      <p:pic>
        <p:nvPicPr>
          <p:cNvPr id="6" name="Imagem 5">
            <a:extLst>
              <a:ext uri="{FF2B5EF4-FFF2-40B4-BE49-F238E27FC236}">
                <a16:creationId xmlns:a16="http://schemas.microsoft.com/office/drawing/2014/main" id="{D7E92F37-AE81-F817-D1E5-F295E8288DAB}"/>
              </a:ext>
            </a:extLst>
          </p:cNvPr>
          <p:cNvPicPr>
            <a:picLocks noChangeAspect="1"/>
          </p:cNvPicPr>
          <p:nvPr/>
        </p:nvPicPr>
        <p:blipFill>
          <a:blip r:embed="rId3"/>
          <a:stretch>
            <a:fillRect/>
          </a:stretch>
        </p:blipFill>
        <p:spPr>
          <a:xfrm>
            <a:off x="3532134" y="1441025"/>
            <a:ext cx="1638529" cy="276264"/>
          </a:xfrm>
          <a:prstGeom prst="rect">
            <a:avLst/>
          </a:prstGeom>
        </p:spPr>
      </p:pic>
      <p:sp>
        <p:nvSpPr>
          <p:cNvPr id="7" name="TextBox 22">
            <a:extLst>
              <a:ext uri="{FF2B5EF4-FFF2-40B4-BE49-F238E27FC236}">
                <a16:creationId xmlns:a16="http://schemas.microsoft.com/office/drawing/2014/main" id="{DF8242B6-BA61-0E40-DBFD-71D41E7E6027}"/>
              </a:ext>
            </a:extLst>
          </p:cNvPr>
          <p:cNvSpPr txBox="1"/>
          <p:nvPr/>
        </p:nvSpPr>
        <p:spPr>
          <a:xfrm>
            <a:off x="5170663" y="1629114"/>
            <a:ext cx="4007288"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+24.6%! (over the base </a:t>
            </a:r>
            <a:r>
              <a:rPr lang="en-US" sz="2400" b="1" noProof="0" dirty="0" err="1">
                <a:solidFill>
                  <a:srgbClr val="00B050"/>
                </a:solidFill>
              </a:rPr>
              <a:t>swin</a:t>
            </a:r>
            <a:r>
              <a:rPr lang="en-US" sz="2400" b="1" noProof="0" dirty="0">
                <a:solidFill>
                  <a:srgbClr val="00B050"/>
                </a:solidFill>
              </a:rPr>
              <a:t>)</a:t>
            </a:r>
          </a:p>
        </p:txBody>
      </p:sp>
      <p:pic>
        <p:nvPicPr>
          <p:cNvPr id="9" name="Imagem 8">
            <a:extLst>
              <a:ext uri="{FF2B5EF4-FFF2-40B4-BE49-F238E27FC236}">
                <a16:creationId xmlns:a16="http://schemas.microsoft.com/office/drawing/2014/main" id="{0C42D740-2BE6-58C8-EE94-4C08F2CCE7B4}"/>
              </a:ext>
            </a:extLst>
          </p:cNvPr>
          <p:cNvPicPr>
            <a:picLocks noChangeAspect="1"/>
          </p:cNvPicPr>
          <p:nvPr/>
        </p:nvPicPr>
        <p:blipFill>
          <a:blip r:embed="rId4"/>
          <a:srcRect l="9796"/>
          <a:stretch>
            <a:fillRect/>
          </a:stretch>
        </p:blipFill>
        <p:spPr>
          <a:xfrm>
            <a:off x="1338146" y="1638506"/>
            <a:ext cx="3832517" cy="276264"/>
          </a:xfrm>
          <a:prstGeom prst="rect">
            <a:avLst/>
          </a:prstGeom>
        </p:spPr>
      </p:pic>
      <p:pic>
        <p:nvPicPr>
          <p:cNvPr id="14" name="Imagem 13">
            <a:extLst>
              <a:ext uri="{FF2B5EF4-FFF2-40B4-BE49-F238E27FC236}">
                <a16:creationId xmlns:a16="http://schemas.microsoft.com/office/drawing/2014/main" id="{BBB2CA0C-0A69-DCEB-DA34-E0F5A1CE576A}"/>
              </a:ext>
            </a:extLst>
          </p:cNvPr>
          <p:cNvPicPr>
            <a:picLocks noChangeAspect="1"/>
          </p:cNvPicPr>
          <p:nvPr/>
        </p:nvPicPr>
        <p:blipFill>
          <a:blip r:embed="rId5"/>
          <a:srcRect l="32053"/>
          <a:stretch>
            <a:fillRect/>
          </a:stretch>
        </p:blipFill>
        <p:spPr>
          <a:xfrm>
            <a:off x="2283769" y="1894083"/>
            <a:ext cx="2886894" cy="276264"/>
          </a:xfrm>
          <a:prstGeom prst="rect">
            <a:avLst/>
          </a:prstGeom>
        </p:spPr>
      </p:pic>
      <p:cxnSp>
        <p:nvCxnSpPr>
          <p:cNvPr id="17" name="Conexão reta unidirecional 16">
            <a:extLst>
              <a:ext uri="{FF2B5EF4-FFF2-40B4-BE49-F238E27FC236}">
                <a16:creationId xmlns:a16="http://schemas.microsoft.com/office/drawing/2014/main" id="{ED81F3AE-4B54-6531-A9A9-B549BFC2A37A}"/>
              </a:ext>
            </a:extLst>
          </p:cNvPr>
          <p:cNvCxnSpPr/>
          <p:nvPr/>
        </p:nvCxnSpPr>
        <p:spPr>
          <a:xfrm flipV="1">
            <a:off x="1556710" y="2090779"/>
            <a:ext cx="606627" cy="19910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9" name="CaixaDeTexto 18">
            <a:extLst>
              <a:ext uri="{FF2B5EF4-FFF2-40B4-BE49-F238E27FC236}">
                <a16:creationId xmlns:a16="http://schemas.microsoft.com/office/drawing/2014/main" id="{C75724C5-12E9-5100-F7B6-13EE90E40046}"/>
              </a:ext>
            </a:extLst>
          </p:cNvPr>
          <p:cNvSpPr txBox="1"/>
          <p:nvPr/>
        </p:nvSpPr>
        <p:spPr>
          <a:xfrm>
            <a:off x="779625" y="2265206"/>
            <a:ext cx="1383712" cy="369332"/>
          </a:xfrm>
          <a:prstGeom prst="rect">
            <a:avLst/>
          </a:prstGeom>
          <a:noFill/>
        </p:spPr>
        <p:txBody>
          <a:bodyPr wrap="none" rtlCol="0">
            <a:spAutoFit/>
          </a:bodyPr>
          <a:lstStyle/>
          <a:p>
            <a:r>
              <a:rPr lang="en-US" noProof="0" dirty="0"/>
              <a:t>Previous best</a:t>
            </a:r>
          </a:p>
        </p:txBody>
      </p:sp>
    </p:spTree>
    <p:extLst>
      <p:ext uri="{BB962C8B-B14F-4D97-AF65-F5344CB8AC3E}">
        <p14:creationId xmlns:p14="http://schemas.microsoft.com/office/powerpoint/2010/main" val="21926842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67E573CD-D168-C91A-2665-4C531A2E637F}"/>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3471080" y="740160"/>
            <a:ext cx="5398599" cy="988556"/>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DF70A316-BC22-B5CA-52C0-184DD0665105}"/>
              </a:ext>
            </a:extLst>
          </p:cNvPr>
          <p:cNvSpPr/>
          <p:nvPr/>
        </p:nvSpPr>
        <p:spPr>
          <a:xfrm>
            <a:off x="3520983" y="740160"/>
            <a:ext cx="5168787" cy="98855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Strategy</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Test the impact of ensembles on our new best, can we improve further its score?</a:t>
            </a:r>
          </a:p>
          <a:p>
            <a:r>
              <a:rPr lang="en-US" sz="1200" noProof="0" dirty="0">
                <a:solidFill>
                  <a:schemeClr val="bg1"/>
                </a:solidFill>
                <a:latin typeface="Calibri"/>
                <a:ea typeface="Calibri"/>
                <a:cs typeface="Calibri"/>
              </a:rPr>
              <a:t>For this we are using both </a:t>
            </a:r>
            <a:r>
              <a:rPr lang="en-US" sz="1200" noProof="0" dirty="0" err="1">
                <a:solidFill>
                  <a:schemeClr val="bg1"/>
                </a:solidFill>
                <a:latin typeface="Calibri"/>
                <a:ea typeface="Calibri"/>
                <a:cs typeface="Calibri"/>
              </a:rPr>
              <a:t>ResNets</a:t>
            </a:r>
            <a:r>
              <a:rPr lang="en-US" sz="1200" noProof="0" dirty="0">
                <a:solidFill>
                  <a:schemeClr val="bg1"/>
                </a:solidFill>
                <a:latin typeface="Calibri"/>
                <a:ea typeface="Calibri"/>
                <a:cs typeface="Calibri"/>
              </a:rPr>
              <a:t>, 34 and the best 18, with the theory that the similar architectures and the fact that both are good for smaller datasets might create a good combination.</a:t>
            </a:r>
          </a:p>
        </p:txBody>
      </p:sp>
      <p:sp>
        <p:nvSpPr>
          <p:cNvPr id="15" name="Shape 5">
            <a:extLst>
              <a:ext uri="{FF2B5EF4-FFF2-40B4-BE49-F238E27FC236}">
                <a16:creationId xmlns:a16="http://schemas.microsoft.com/office/drawing/2014/main" id="{E0663452-87F6-D497-728F-C9322AD6EC4A}"/>
              </a:ext>
            </a:extLst>
          </p:cNvPr>
          <p:cNvSpPr/>
          <p:nvPr/>
        </p:nvSpPr>
        <p:spPr>
          <a:xfrm>
            <a:off x="4249003" y="2182507"/>
            <a:ext cx="4624809" cy="285126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a:p>
            <a:endParaRPr lang="en-US" noProof="0" dirty="0"/>
          </a:p>
        </p:txBody>
      </p:sp>
      <p:sp>
        <p:nvSpPr>
          <p:cNvPr id="17" name="Text 7">
            <a:extLst>
              <a:ext uri="{FF2B5EF4-FFF2-40B4-BE49-F238E27FC236}">
                <a16:creationId xmlns:a16="http://schemas.microsoft.com/office/drawing/2014/main" id="{AD56327E-0491-8598-A5AA-01C1F736B423}"/>
              </a:ext>
            </a:extLst>
          </p:cNvPr>
          <p:cNvSpPr/>
          <p:nvPr/>
        </p:nvSpPr>
        <p:spPr>
          <a:xfrm>
            <a:off x="5450645" y="2182507"/>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Ensemble ~ Solo ?</a:t>
            </a:r>
            <a:endParaRPr lang="en-US" sz="2000" noProof="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endParaRPr lang="en-US" sz="1100" noProof="0" dirty="0">
              <a:solidFill>
                <a:srgbClr val="3D5A73"/>
              </a:solidFill>
              <a:latin typeface="Calibri"/>
              <a:ea typeface="Calibri"/>
              <a:cs typeface="Calibri"/>
            </a:endParaRPr>
          </a:p>
        </p:txBody>
      </p:sp>
      <p:sp>
        <p:nvSpPr>
          <p:cNvPr id="9" name="NumCircle">
            <a:extLst>
              <a:ext uri="{FF2B5EF4-FFF2-40B4-BE49-F238E27FC236}">
                <a16:creationId xmlns:a16="http://schemas.microsoft.com/office/drawing/2014/main" id="{3FC19CEC-77FF-F306-BE08-9D032A075334}"/>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a:t>
            </a:r>
            <a:endParaRPr lang="en-US" sz="2000" b="1" noProof="0" dirty="0">
              <a:solidFill>
                <a:srgbClr val="E97C35"/>
              </a:solidFill>
              <a:latin typeface="Trebuchet MS"/>
            </a:endParaRPr>
          </a:p>
        </p:txBody>
      </p:sp>
      <p:pic>
        <p:nvPicPr>
          <p:cNvPr id="2050" name="Picture 2">
            <a:extLst>
              <a:ext uri="{FF2B5EF4-FFF2-40B4-BE49-F238E27FC236}">
                <a16:creationId xmlns:a16="http://schemas.microsoft.com/office/drawing/2014/main" id="{82656D82-FAA4-570D-286D-67C3E461E6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069" y="638423"/>
            <a:ext cx="3166280" cy="4395350"/>
          </a:xfrm>
          <a:prstGeom prst="rect">
            <a:avLst/>
          </a:prstGeom>
          <a:noFill/>
          <a:extLst>
            <a:ext uri="{909E8E84-426E-40DD-AFC4-6F175D3DCCD1}">
              <a14:hiddenFill xmlns:a14="http://schemas.microsoft.com/office/drawing/2010/main">
                <a:solidFill>
                  <a:srgbClr val="FFFFFF"/>
                </a:solidFill>
              </a14:hiddenFill>
            </a:ext>
          </a:extLst>
        </p:spPr>
      </p:pic>
      <p:pic>
        <p:nvPicPr>
          <p:cNvPr id="19" name="Imagem 18">
            <a:extLst>
              <a:ext uri="{FF2B5EF4-FFF2-40B4-BE49-F238E27FC236}">
                <a16:creationId xmlns:a16="http://schemas.microsoft.com/office/drawing/2014/main" id="{DF1CBA86-5323-9B89-DCF5-5CC486758519}"/>
              </a:ext>
            </a:extLst>
          </p:cNvPr>
          <p:cNvPicPr>
            <a:picLocks noChangeAspect="1"/>
          </p:cNvPicPr>
          <p:nvPr/>
        </p:nvPicPr>
        <p:blipFill>
          <a:blip r:embed="rId3"/>
          <a:srcRect l="30155" t="5100" b="9605"/>
          <a:stretch>
            <a:fillRect/>
          </a:stretch>
        </p:blipFill>
        <p:spPr>
          <a:xfrm>
            <a:off x="5248881" y="3206337"/>
            <a:ext cx="2994135" cy="276265"/>
          </a:xfrm>
          <a:prstGeom prst="rect">
            <a:avLst/>
          </a:prstGeom>
        </p:spPr>
      </p:pic>
      <p:pic>
        <p:nvPicPr>
          <p:cNvPr id="20" name="Imagem 19">
            <a:extLst>
              <a:ext uri="{FF2B5EF4-FFF2-40B4-BE49-F238E27FC236}">
                <a16:creationId xmlns:a16="http://schemas.microsoft.com/office/drawing/2014/main" id="{4897C157-1076-9A61-4A5E-99A10E71C86A}"/>
              </a:ext>
            </a:extLst>
          </p:cNvPr>
          <p:cNvPicPr>
            <a:picLocks noChangeAspect="1"/>
          </p:cNvPicPr>
          <p:nvPr/>
        </p:nvPicPr>
        <p:blipFill>
          <a:blip r:embed="rId4"/>
          <a:srcRect l="9796"/>
          <a:stretch>
            <a:fillRect/>
          </a:stretch>
        </p:blipFill>
        <p:spPr>
          <a:xfrm>
            <a:off x="4410501" y="2930073"/>
            <a:ext cx="3832516" cy="276264"/>
          </a:xfrm>
          <a:prstGeom prst="rect">
            <a:avLst/>
          </a:prstGeom>
        </p:spPr>
      </p:pic>
      <p:pic>
        <p:nvPicPr>
          <p:cNvPr id="21" name="Imagem 20">
            <a:extLst>
              <a:ext uri="{FF2B5EF4-FFF2-40B4-BE49-F238E27FC236}">
                <a16:creationId xmlns:a16="http://schemas.microsoft.com/office/drawing/2014/main" id="{5436107D-D011-3E01-7455-C3C3FFFAB53D}"/>
              </a:ext>
            </a:extLst>
          </p:cNvPr>
          <p:cNvPicPr>
            <a:picLocks noChangeAspect="1"/>
          </p:cNvPicPr>
          <p:nvPr/>
        </p:nvPicPr>
        <p:blipFill>
          <a:blip r:embed="rId5"/>
          <a:stretch>
            <a:fillRect/>
          </a:stretch>
        </p:blipFill>
        <p:spPr>
          <a:xfrm>
            <a:off x="6604488" y="2679647"/>
            <a:ext cx="1638529" cy="276264"/>
          </a:xfrm>
          <a:prstGeom prst="rect">
            <a:avLst/>
          </a:prstGeom>
        </p:spPr>
      </p:pic>
      <p:pic>
        <p:nvPicPr>
          <p:cNvPr id="22" name="Imagem 21">
            <a:extLst>
              <a:ext uri="{FF2B5EF4-FFF2-40B4-BE49-F238E27FC236}">
                <a16:creationId xmlns:a16="http://schemas.microsoft.com/office/drawing/2014/main" id="{9593A4B3-5268-BD59-AFDD-297588443AAC}"/>
              </a:ext>
            </a:extLst>
          </p:cNvPr>
          <p:cNvPicPr>
            <a:picLocks noChangeAspect="1"/>
          </p:cNvPicPr>
          <p:nvPr/>
        </p:nvPicPr>
        <p:blipFill>
          <a:blip r:embed="rId6"/>
          <a:srcRect l="42613"/>
          <a:stretch>
            <a:fillRect/>
          </a:stretch>
        </p:blipFill>
        <p:spPr>
          <a:xfrm>
            <a:off x="5799342" y="3472557"/>
            <a:ext cx="2443674" cy="314369"/>
          </a:xfrm>
          <a:prstGeom prst="rect">
            <a:avLst/>
          </a:prstGeom>
        </p:spPr>
      </p:pic>
      <p:sp>
        <p:nvSpPr>
          <p:cNvPr id="23" name="CaixaDeTexto 22">
            <a:extLst>
              <a:ext uri="{FF2B5EF4-FFF2-40B4-BE49-F238E27FC236}">
                <a16:creationId xmlns:a16="http://schemas.microsoft.com/office/drawing/2014/main" id="{056A3E4D-D120-5046-8025-2BB978FC10E8}"/>
              </a:ext>
            </a:extLst>
          </p:cNvPr>
          <p:cNvSpPr txBox="1"/>
          <p:nvPr/>
        </p:nvSpPr>
        <p:spPr>
          <a:xfrm>
            <a:off x="4413826" y="3828979"/>
            <a:ext cx="4381323" cy="1200329"/>
          </a:xfrm>
          <a:prstGeom prst="rect">
            <a:avLst/>
          </a:prstGeom>
          <a:noFill/>
        </p:spPr>
        <p:txBody>
          <a:bodyPr wrap="square" rtlCol="0">
            <a:spAutoFit/>
          </a:bodyPr>
          <a:lstStyle/>
          <a:p>
            <a:r>
              <a:rPr lang="en-US" noProof="0" dirty="0"/>
              <a:t>Despite improving over the ResNet34_cust, it falls short when compared to the current best, a good next step might be applying the same fine-tuning/augment to the ResNet34 model</a:t>
            </a:r>
          </a:p>
        </p:txBody>
      </p:sp>
    </p:spTree>
    <p:extLst>
      <p:ext uri="{BB962C8B-B14F-4D97-AF65-F5344CB8AC3E}">
        <p14:creationId xmlns:p14="http://schemas.microsoft.com/office/powerpoint/2010/main" val="13772094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noProof="0" dirty="0"/>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noProof="0" dirty="0">
                <a:solidFill>
                  <a:srgbClr val="00A896"/>
                </a:solidFill>
                <a:latin typeface="Trebuchet MS"/>
              </a:rPr>
              <a:t>What Worked</a:t>
            </a:r>
          </a:p>
          <a:p>
            <a:pPr marL="228600" indent="-228600">
              <a:buChar char="✓"/>
            </a:pPr>
            <a:r>
              <a:rPr lang="en-US" sz="1100" b="1" noProof="0" dirty="0">
                <a:solidFill>
                  <a:srgbClr val="028090"/>
                </a:solidFill>
                <a:latin typeface="Calibri" pitchFamily="34" charset="0"/>
              </a:rPr>
              <a:t>Label Smoothing</a:t>
            </a:r>
          </a:p>
          <a:p>
            <a:r>
              <a:rPr lang="en-US" sz="1100" b="1" noProof="0" dirty="0">
                <a:solidFill>
                  <a:srgbClr val="028090"/>
                </a:solidFill>
                <a:latin typeface="Calibri" pitchFamily="34" charset="0"/>
              </a:rPr>
              <a:t>	</a:t>
            </a:r>
            <a:r>
              <a:rPr lang="en-US" sz="1000" noProof="0" dirty="0">
                <a:solidFill>
                  <a:srgbClr val="1A2B3C"/>
                </a:solidFill>
                <a:latin typeface="Calibri" pitchFamily="34" charset="0"/>
              </a:rPr>
              <a:t>Huge improvement over the base model, contains the overfitting</a:t>
            </a:r>
          </a:p>
          <a:p>
            <a:pPr marL="228600" indent="-228600">
              <a:buChar char="✓"/>
            </a:pPr>
            <a:r>
              <a:rPr lang="en-US" sz="1100" b="1" noProof="0" dirty="0">
                <a:solidFill>
                  <a:srgbClr val="028090"/>
                </a:solidFill>
                <a:latin typeface="Calibri" pitchFamily="34" charset="0"/>
              </a:rPr>
              <a:t>Augmentation</a:t>
            </a:r>
          </a:p>
          <a:p>
            <a:pPr lvl="1"/>
            <a:r>
              <a:rPr lang="en-US" sz="1000" noProof="0" dirty="0">
                <a:solidFill>
                  <a:srgbClr val="1A2B3C"/>
                </a:solidFill>
                <a:latin typeface="Calibri" pitchFamily="34" charset="0"/>
              </a:rPr>
              <a:t>Helps the model to extract the right information from the small and noisy data set</a:t>
            </a:r>
          </a:p>
          <a:p>
            <a:pPr marL="228600" indent="-228600">
              <a:buChar char="✓"/>
            </a:pPr>
            <a:r>
              <a:rPr lang="en-US" sz="1100" b="1" noProof="0" dirty="0" err="1">
                <a:solidFill>
                  <a:srgbClr val="028090"/>
                </a:solidFill>
                <a:latin typeface="Calibri" pitchFamily="34" charset="0"/>
              </a:rPr>
              <a:t>AdamW</a:t>
            </a:r>
            <a:r>
              <a:rPr lang="en-US" sz="1100" b="1" noProof="0" dirty="0">
                <a:solidFill>
                  <a:srgbClr val="028090"/>
                </a:solidFill>
                <a:latin typeface="Calibri" pitchFamily="34" charset="0"/>
              </a:rPr>
              <a:t> </a:t>
            </a:r>
          </a:p>
          <a:p>
            <a:pPr lvl="1"/>
            <a:r>
              <a:rPr lang="en-US" sz="1000" dirty="0">
                <a:solidFill>
                  <a:srgbClr val="1A2B3C"/>
                </a:solidFill>
                <a:latin typeface="Calibri"/>
                <a:ea typeface="Calibri"/>
                <a:cs typeface="Calibri"/>
              </a:rPr>
              <a:t>Punishes the heavy overfitting of the models that contain main parameters</a:t>
            </a:r>
            <a:endParaRPr lang="en-US" sz="1000" noProof="0" dirty="0">
              <a:solidFill>
                <a:srgbClr val="1A2B3C"/>
              </a:solidFill>
              <a:latin typeface="Calibri"/>
              <a:ea typeface="Calibri"/>
              <a:cs typeface="Calibri"/>
            </a:endParaRPr>
          </a:p>
          <a:p>
            <a:pPr marL="228600" indent="-228600">
              <a:buChar char="✓"/>
            </a:pPr>
            <a:r>
              <a:rPr lang="en-US" sz="1100" b="1" noProof="0" dirty="0" err="1">
                <a:solidFill>
                  <a:srgbClr val="028090"/>
                </a:solidFill>
                <a:latin typeface="Calibri"/>
                <a:ea typeface="Calibri"/>
                <a:cs typeface="Calibri"/>
              </a:rPr>
              <a:t>WeightedRandomSampler</a:t>
            </a:r>
            <a:endParaRPr lang="en-US" sz="1100" b="1" noProof="0" dirty="0">
              <a:solidFill>
                <a:srgbClr val="028090"/>
              </a:solidFill>
              <a:latin typeface="Calibri" pitchFamily="34" charset="0"/>
              <a:ea typeface="Calibri"/>
              <a:cs typeface="Calibri"/>
            </a:endParaRPr>
          </a:p>
          <a:p>
            <a:pPr lvl="1"/>
            <a:r>
              <a:rPr lang="en-US" sz="1000" noProof="0" dirty="0">
                <a:solidFill>
                  <a:srgbClr val="1A2B3C"/>
                </a:solidFill>
                <a:latin typeface="Calibri"/>
                <a:ea typeface="Calibri"/>
                <a:cs typeface="Calibri"/>
              </a:rPr>
              <a:t>Makes the model “see” the</a:t>
            </a:r>
            <a:r>
              <a:rPr lang="en-US" sz="1000" dirty="0">
                <a:solidFill>
                  <a:srgbClr val="1A2B3C"/>
                </a:solidFill>
                <a:latin typeface="Calibri"/>
                <a:ea typeface="Calibri"/>
                <a:cs typeface="Calibri"/>
              </a:rPr>
              <a:t> different classes with a more uniform frequency, especially important when we have small datasets</a:t>
            </a:r>
            <a:endParaRPr lang="en-US" sz="1000" noProof="0" dirty="0">
              <a:solidFill>
                <a:srgbClr val="1A2B3C"/>
              </a:solidFill>
              <a:latin typeface="Calibri"/>
              <a:ea typeface="Calibri"/>
              <a:cs typeface="Calibri"/>
            </a:endParaRPr>
          </a:p>
          <a:p>
            <a:pPr marL="228600" indent="-228600">
              <a:buChar char="✓"/>
            </a:pPr>
            <a:r>
              <a:rPr lang="en-US" sz="1100" b="1" dirty="0">
                <a:solidFill>
                  <a:srgbClr val="028090"/>
                </a:solidFill>
                <a:latin typeface="Calibri"/>
                <a:ea typeface="Calibri"/>
                <a:cs typeface="Calibri"/>
              </a:rPr>
              <a:t>Changing to a simpler model</a:t>
            </a:r>
          </a:p>
          <a:p>
            <a:pPr lvl="1"/>
            <a:r>
              <a:rPr lang="en-US" sz="1000" dirty="0">
                <a:solidFill>
                  <a:srgbClr val="0D1B2A"/>
                </a:solidFill>
                <a:latin typeface="Calibri"/>
                <a:ea typeface="Calibri"/>
                <a:cs typeface="Calibri"/>
              </a:rPr>
              <a:t>Swin is just to complex for this task, ResNet18 with all the augmentations, despite still overfitting, can capture the patterns much better</a:t>
            </a:r>
            <a:endParaRPr lang="en-US" sz="1000" noProof="0" dirty="0">
              <a:solidFill>
                <a:srgbClr val="1A2B3C"/>
              </a:solidFill>
              <a:latin typeface="Calibri"/>
              <a:ea typeface="Calibri"/>
              <a:cs typeface="Calibri"/>
            </a:endParaRP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noProof="0" dirty="0"/>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noProof="0" dirty="0">
                <a:solidFill>
                  <a:srgbClr val="C0392B"/>
                </a:solidFill>
                <a:latin typeface="Trebuchet MS"/>
              </a:rPr>
              <a:t>What Did Not Work</a:t>
            </a:r>
          </a:p>
          <a:p>
            <a:pPr marL="228600" indent="-228600">
              <a:buChar char="✗"/>
            </a:pPr>
            <a:r>
              <a:rPr lang="en-US" sz="1100" b="1" noProof="0" dirty="0">
                <a:solidFill>
                  <a:srgbClr val="C0392B"/>
                </a:solidFill>
                <a:latin typeface="Calibri"/>
                <a:ea typeface="Calibri"/>
                <a:cs typeface="Calibri"/>
              </a:rPr>
              <a:t>Combining Regularization strategies on the previous best</a:t>
            </a:r>
          </a:p>
          <a:p>
            <a:pPr lvl="1"/>
            <a:r>
              <a:rPr lang="en-US" sz="1000" dirty="0">
                <a:solidFill>
                  <a:srgbClr val="0D1B2A"/>
                </a:solidFill>
                <a:latin typeface="Calibri"/>
                <a:ea typeface="Calibri"/>
                <a:cs typeface="Calibri"/>
              </a:rPr>
              <a:t>Improvement doesn’t stack, due to the underlying model complexity</a:t>
            </a:r>
            <a:endParaRPr lang="en-US" sz="1000" noProof="0" dirty="0">
              <a:solidFill>
                <a:srgbClr val="1A2B3C"/>
              </a:solidFill>
              <a:latin typeface="Calibri"/>
              <a:ea typeface="Calibri"/>
              <a:cs typeface="Calibri"/>
            </a:endParaRPr>
          </a:p>
          <a:p>
            <a:pPr marL="228600" indent="-228600">
              <a:buChar char="✗"/>
            </a:pPr>
            <a:r>
              <a:rPr lang="en-US" sz="1100" b="1" noProof="0" dirty="0">
                <a:solidFill>
                  <a:srgbClr val="C0392B"/>
                </a:solidFill>
                <a:latin typeface="Calibri"/>
                <a:ea typeface="Calibri"/>
                <a:cs typeface="Calibri"/>
              </a:rPr>
              <a:t>Combining best fine-tuning + augmentation on </a:t>
            </a:r>
            <a:r>
              <a:rPr lang="en-US" sz="1100" b="1" noProof="0" dirty="0" err="1">
                <a:solidFill>
                  <a:srgbClr val="C0392B"/>
                </a:solidFill>
                <a:latin typeface="Calibri"/>
                <a:ea typeface="Calibri"/>
                <a:cs typeface="Calibri"/>
              </a:rPr>
              <a:t>swin</a:t>
            </a:r>
            <a:endParaRPr lang="en-US" sz="1100" b="1" noProof="0" dirty="0">
              <a:solidFill>
                <a:srgbClr val="C0392B"/>
              </a:solidFill>
              <a:latin typeface="Calibri"/>
              <a:ea typeface="Calibri"/>
              <a:cs typeface="Calibri"/>
            </a:endParaRPr>
          </a:p>
          <a:p>
            <a:pPr lvl="1"/>
            <a:r>
              <a:rPr lang="en-US" sz="1000" noProof="0" dirty="0">
                <a:solidFill>
                  <a:srgbClr val="1A2B3C"/>
                </a:solidFill>
                <a:latin typeface="Calibri"/>
                <a:ea typeface="Calibri"/>
                <a:cs typeface="Calibri"/>
              </a:rPr>
              <a:t>The added augmentation further exposes the underlying model pattern recognition problems</a:t>
            </a:r>
          </a:p>
          <a:p>
            <a:pPr marL="228600" indent="-228600">
              <a:buChar char="✗"/>
            </a:pPr>
            <a:r>
              <a:rPr lang="en-US" sz="1100" b="1" noProof="0" dirty="0">
                <a:solidFill>
                  <a:srgbClr val="C0392B"/>
                </a:solidFill>
                <a:latin typeface="Calibri" pitchFamily="34" charset="0"/>
              </a:rPr>
              <a:t>Ensembles</a:t>
            </a:r>
          </a:p>
          <a:p>
            <a:pPr lvl="1"/>
            <a:r>
              <a:rPr lang="en-US" sz="1000" dirty="0">
                <a:solidFill>
                  <a:srgbClr val="0D1B2A"/>
                </a:solidFill>
                <a:latin typeface="Calibri" pitchFamily="34" charset="0"/>
                <a:ea typeface="Calibri"/>
                <a:cs typeface="Calibri"/>
              </a:rPr>
              <a:t>Despite being an improvement over the solo ResNet34 with custom head, didn’t surpass the best model, maybe applying the same strategies that we applied to the ResNet18 to the ResNet34 might be a logic next step.</a:t>
            </a:r>
            <a:endParaRPr lang="en-US" sz="1000" noProof="0" dirty="0">
              <a:solidFill>
                <a:srgbClr val="0D1B2A"/>
              </a:solidFill>
              <a:latin typeface="Calibri"/>
              <a:ea typeface="Calibri"/>
              <a:cs typeface="Calibri"/>
            </a:endParaRPr>
          </a:p>
          <a:p>
            <a:pPr lvl="1"/>
            <a:endParaRPr lang="en-US" sz="1000" noProof="0" dirty="0">
              <a:solidFill>
                <a:srgbClr val="1A2B3C"/>
              </a:solidFill>
              <a:latin typeface="Calibri" pitchFamily="34" charset="0"/>
              <a:ea typeface="Calibri"/>
              <a:cs typeface="Calibri"/>
            </a:endParaRPr>
          </a:p>
        </p:txBody>
      </p:sp>
      <p:sp>
        <p:nvSpPr>
          <p:cNvPr id="7" name="NumCircle">
            <a:extLst>
              <a:ext uri="{FF2B5EF4-FFF2-40B4-BE49-F238E27FC236}">
                <a16:creationId xmlns:a16="http://schemas.microsoft.com/office/drawing/2014/main" id="{7A802B6A-95BB-C879-9108-BFFAB4284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200" b="1" noProof="0" dirty="0">
                <a:solidFill>
                  <a:srgbClr val="FFFFFF"/>
                </a:solidFill>
                <a:latin typeface="Trebuchet MS" pitchFamily="34" charset="0"/>
                <a:ea typeface="Trebuchet MS" pitchFamily="34" charset="-122"/>
                <a:cs typeface="Trebuchet MS" pitchFamily="34" charset="-120"/>
              </a:rPr>
              <a:t>Performance Evaluation</a:t>
            </a:r>
            <a:endParaRPr lang="en-US" sz="3200" noProof="0" dirty="0"/>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noProof="0" dirty="0"/>
              <a:t>3.3</a:t>
            </a:r>
            <a:endParaRPr lang="en-US" b="1" noProof="0"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Did we maintain the CNN scoring?</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noProof="0" dirty="0"/>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Overfitting consequences</a:t>
            </a:r>
            <a:endParaRPr lang="en-US" sz="1300" b="1" noProof="0" dirty="0">
              <a:solidFill>
                <a:srgbClr val="00A896"/>
              </a:solidFill>
              <a:latin typeface="Trebuchet MS" pitchFamily="34" charset="0"/>
            </a:endParaRPr>
          </a:p>
          <a:p>
            <a:pPr>
              <a:buNone/>
            </a:pPr>
            <a:endParaRPr lang="en-US" sz="1000" noProof="0" dirty="0">
              <a:solidFill>
                <a:srgbClr val="AACCD8"/>
              </a:solidFill>
              <a:latin typeface="Calibri" pitchFamily="34" charset="0"/>
            </a:endParaRPr>
          </a:p>
          <a:p>
            <a:r>
              <a:rPr lang="en-US" sz="1000" noProof="0" dirty="0">
                <a:solidFill>
                  <a:srgbClr val="AACCD8"/>
                </a:solidFill>
                <a:latin typeface="Calibri"/>
                <a:ea typeface="Calibri"/>
                <a:cs typeface="Calibri"/>
              </a:rPr>
              <a:t>best </a:t>
            </a:r>
            <a:r>
              <a:rPr lang="en-US" sz="1000" noProof="0" dirty="0" err="1">
                <a:solidFill>
                  <a:srgbClr val="AACCD8"/>
                </a:solidFill>
                <a:latin typeface="Calibri"/>
                <a:ea typeface="Calibri"/>
                <a:cs typeface="Calibri"/>
              </a:rPr>
              <a:t>val</a:t>
            </a:r>
            <a:r>
              <a:rPr lang="en-US" sz="1000" noProof="0" dirty="0">
                <a:solidFill>
                  <a:srgbClr val="AACCD8"/>
                </a:solidFill>
                <a:latin typeface="Calibri"/>
                <a:ea typeface="Calibri"/>
                <a:cs typeface="Calibri"/>
              </a:rPr>
              <a:t> macro-F1 (M with full augment and partial unfreezing)</a:t>
            </a:r>
            <a:endParaRPr lang="en-US" sz="1000" noProof="0" dirty="0">
              <a:solidFill>
                <a:srgbClr val="AACCD8"/>
              </a:solidFill>
              <a:latin typeface="Calibri" pitchFamily="34" charset="0"/>
              <a:ea typeface="Calibri"/>
              <a:cs typeface="Calibri"/>
            </a:endParaRPr>
          </a:p>
          <a:p>
            <a:r>
              <a:rPr lang="en-US" sz="2800" b="1" noProof="0" dirty="0">
                <a:solidFill>
                  <a:srgbClr val="FFFFFF"/>
                </a:solidFill>
                <a:latin typeface="Trebuchet MS"/>
              </a:rPr>
              <a:t>0.2244</a:t>
            </a:r>
            <a:endParaRPr lang="en-US" sz="2800" b="1" noProof="0" dirty="0">
              <a:solidFill>
                <a:srgbClr val="FFFFFF"/>
              </a:solidFill>
              <a:latin typeface="Trebuchet MS" pitchFamily="34" charset="0"/>
            </a:endParaRPr>
          </a:p>
          <a:p>
            <a:pPr>
              <a:buNone/>
            </a:pPr>
            <a:endParaRPr lang="en-US" sz="1000" noProof="0" dirty="0">
              <a:solidFill>
                <a:srgbClr val="AACCD8"/>
              </a:solidFill>
              <a:latin typeface="Calibri" pitchFamily="34" charset="0"/>
            </a:endParaRPr>
          </a:p>
          <a:p>
            <a:pPr>
              <a:buNone/>
            </a:pPr>
            <a:r>
              <a:rPr lang="en-US" sz="1000" noProof="0" dirty="0">
                <a:solidFill>
                  <a:srgbClr val="AACCD8"/>
                </a:solidFill>
                <a:latin typeface="Calibri" pitchFamily="34" charset="0"/>
              </a:rPr>
              <a:t>Kaggle public score</a:t>
            </a:r>
          </a:p>
          <a:p>
            <a:r>
              <a:rPr lang="en-US" sz="2800" b="1" noProof="0" dirty="0">
                <a:solidFill>
                  <a:srgbClr val="FFFFFF"/>
                </a:solidFill>
                <a:latin typeface="Trebuchet MS"/>
              </a:rPr>
              <a:t>0.19966</a:t>
            </a:r>
          </a:p>
          <a:p>
            <a:pPr>
              <a:buNone/>
            </a:pPr>
            <a:endParaRPr lang="en-US" sz="1000" noProof="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noProof="0" dirty="0"/>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noProof="0" dirty="0">
                <a:solidFill>
                  <a:srgbClr val="00A896"/>
                </a:solidFill>
                <a:latin typeface="Trebuchet MS"/>
              </a:rPr>
              <a:t>Why </a:t>
            </a:r>
            <a:r>
              <a:rPr lang="en-US" sz="1300" b="1" dirty="0">
                <a:solidFill>
                  <a:srgbClr val="00A896"/>
                </a:solidFill>
                <a:latin typeface="Trebuchet MS"/>
              </a:rPr>
              <a:t>weren’t we able to improve more</a:t>
            </a:r>
            <a:r>
              <a:rPr lang="en-US" sz="1300" b="1" noProof="0" dirty="0">
                <a:solidFill>
                  <a:srgbClr val="00A896"/>
                </a:solidFill>
                <a:latin typeface="Trebuchet MS"/>
              </a:rPr>
              <a:t>?</a:t>
            </a:r>
            <a:endParaRPr lang="en-US" sz="1300" b="1" noProof="0" dirty="0">
              <a:solidFill>
                <a:srgbClr val="00A896"/>
              </a:solidFill>
              <a:latin typeface="Trebuchet MS" pitchFamily="34" charset="0"/>
            </a:endParaRPr>
          </a:p>
          <a:p>
            <a:pPr marL="228600" indent="-228600">
              <a:buChar char="•"/>
            </a:pPr>
            <a:r>
              <a:rPr lang="en-US" sz="1100" noProof="0" dirty="0">
                <a:solidFill>
                  <a:schemeClr val="bg1"/>
                </a:solidFill>
                <a:latin typeface="Calibri"/>
                <a:ea typeface="Calibri"/>
                <a:cs typeface="Calibri"/>
              </a:rPr>
              <a:t>The</a:t>
            </a:r>
            <a:r>
              <a:rPr lang="en-US" sz="1100" dirty="0">
                <a:solidFill>
                  <a:schemeClr val="bg1"/>
                </a:solidFill>
                <a:latin typeface="Calibri"/>
                <a:ea typeface="Calibri"/>
                <a:cs typeface="Calibri"/>
              </a:rPr>
              <a:t> small amount and its noisier nature when compared to different tasks difficulted from the start this task</a:t>
            </a:r>
          </a:p>
          <a:p>
            <a:pPr marL="228600" indent="-228600">
              <a:buChar char="•"/>
            </a:pPr>
            <a:r>
              <a:rPr lang="en-US" sz="1100" dirty="0">
                <a:solidFill>
                  <a:schemeClr val="bg1"/>
                </a:solidFill>
                <a:latin typeface="Calibri"/>
                <a:ea typeface="Calibri"/>
                <a:cs typeface="Calibri"/>
              </a:rPr>
              <a:t>Even with heavy regularization and data augmentation the overfitting was still very present</a:t>
            </a:r>
          </a:p>
          <a:p>
            <a:pPr marL="228600" indent="-228600">
              <a:buChar char="•"/>
            </a:pPr>
            <a:r>
              <a:rPr lang="en-US" sz="1100" noProof="0" dirty="0">
                <a:solidFill>
                  <a:schemeClr val="bg1"/>
                </a:solidFill>
                <a:latin typeface="Calibri"/>
                <a:ea typeface="Calibri"/>
                <a:cs typeface="Calibri"/>
              </a:rPr>
              <a:t>Suggests that we might have nee</a:t>
            </a:r>
            <a:r>
              <a:rPr lang="en-US" sz="1100" dirty="0" err="1">
                <a:solidFill>
                  <a:schemeClr val="bg1"/>
                </a:solidFill>
                <a:latin typeface="Calibri"/>
                <a:ea typeface="Calibri"/>
                <a:cs typeface="Calibri"/>
              </a:rPr>
              <a:t>ded</a:t>
            </a:r>
            <a:r>
              <a:rPr lang="en-US" sz="1100" dirty="0">
                <a:solidFill>
                  <a:schemeClr val="bg1"/>
                </a:solidFill>
                <a:latin typeface="Calibri"/>
                <a:ea typeface="Calibri"/>
                <a:cs typeface="Calibri"/>
              </a:rPr>
              <a:t> a different model or be even more careful with the fine tunning</a:t>
            </a:r>
            <a:r>
              <a:rPr lang="en-US" sz="1100" noProof="0" dirty="0">
                <a:solidFill>
                  <a:schemeClr val="bg1"/>
                </a:solidFill>
                <a:latin typeface="Calibri"/>
                <a:ea typeface="Calibri"/>
                <a:cs typeface="Calibri"/>
              </a:rPr>
              <a:t> </a:t>
            </a:r>
          </a:p>
        </p:txBody>
      </p:sp>
      <p:sp>
        <p:nvSpPr>
          <p:cNvPr id="10" name="NumCircle">
            <a:extLst>
              <a:ext uri="{FF2B5EF4-FFF2-40B4-BE49-F238E27FC236}">
                <a16:creationId xmlns:a16="http://schemas.microsoft.com/office/drawing/2014/main" id="{95FB885E-C505-9EB3-195B-57A20793EF1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pic>
        <p:nvPicPr>
          <p:cNvPr id="7" name="Imagem 6">
            <a:extLst>
              <a:ext uri="{FF2B5EF4-FFF2-40B4-BE49-F238E27FC236}">
                <a16:creationId xmlns:a16="http://schemas.microsoft.com/office/drawing/2014/main" id="{7D11F3CC-D40D-BF39-F693-CF0F2AE08357}"/>
              </a:ext>
            </a:extLst>
          </p:cNvPr>
          <p:cNvPicPr>
            <a:picLocks noChangeAspect="1"/>
          </p:cNvPicPr>
          <p:nvPr/>
        </p:nvPicPr>
        <p:blipFill>
          <a:blip r:embed="rId2"/>
          <a:stretch>
            <a:fillRect/>
          </a:stretch>
        </p:blipFill>
        <p:spPr>
          <a:xfrm>
            <a:off x="0" y="520885"/>
            <a:ext cx="9144000" cy="2215918"/>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Compute Strategy &amp; Resource Usage</a:t>
            </a:r>
            <a:endParaRPr lang="en-US" sz="2200" noProof="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Train Eff</a:t>
            </a:r>
            <a:endParaRPr lang="en-US" sz="1000" noProof="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00A896"/>
                </a:solidFill>
                <a:latin typeface="Trebuchet MS" pitchFamily="34" charset="0"/>
                <a:ea typeface="Trebuchet MS" pitchFamily="34" charset="-122"/>
                <a:cs typeface="Trebuchet MS" pitchFamily="34" charset="-120"/>
              </a:rPr>
              <a:t>T4 GPU</a:t>
            </a:r>
            <a:endParaRPr lang="en-US" sz="2200" noProof="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noProof="0" dirty="0" err="1">
                <a:solidFill>
                  <a:srgbClr val="3D5A73"/>
                </a:solidFill>
                <a:latin typeface="Calibri" pitchFamily="34" charset="0"/>
                <a:ea typeface="Calibri" pitchFamily="34" charset="-122"/>
                <a:cs typeface="Calibri" pitchFamily="34" charset="-120"/>
              </a:rPr>
              <a:t>Colab</a:t>
            </a:r>
            <a:r>
              <a:rPr lang="en-US" sz="1000" noProof="0" dirty="0">
                <a:solidFill>
                  <a:srgbClr val="3D5A73"/>
                </a:solidFill>
                <a:latin typeface="Calibri" pitchFamily="34" charset="0"/>
                <a:ea typeface="Calibri" pitchFamily="34" charset="-122"/>
                <a:cs typeface="Calibri" pitchFamily="34" charset="-120"/>
              </a:rPr>
              <a:t> free tier / 15 GB VRAM</a:t>
            </a:r>
            <a:endParaRPr lang="en-US" sz="1000" noProof="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noProof="0" dirty="0">
                <a:solidFill>
                  <a:srgbClr val="00A896"/>
                </a:solidFill>
                <a:latin typeface="Trebuchet MS"/>
                <a:ea typeface="Trebuchet MS" pitchFamily="34" charset="-122"/>
                <a:cs typeface="Trebuchet MS" pitchFamily="34" charset="-120"/>
              </a:rPr>
              <a:t>2:10 h</a:t>
            </a:r>
            <a:endParaRPr lang="en-US" sz="2200" noProof="0" dirty="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total wall-clock (</a:t>
            </a:r>
            <a:r>
              <a:rPr lang="en-US" sz="1000" dirty="0">
                <a:solidFill>
                  <a:srgbClr val="3D5A73"/>
                </a:solidFill>
                <a:latin typeface="Calibri"/>
                <a:ea typeface="Calibri"/>
                <a:cs typeface="Calibri"/>
              </a:rPr>
              <a:t>26</a:t>
            </a:r>
            <a:r>
              <a:rPr lang="en-US" sz="1000" noProof="0" dirty="0">
                <a:solidFill>
                  <a:srgbClr val="3D5A73"/>
                </a:solidFill>
                <a:latin typeface="Calibri"/>
                <a:ea typeface="Calibri"/>
                <a:cs typeface="Calibri"/>
              </a:rPr>
              <a:t> solo runs + data pre-processing/augmentation and ensembles)</a:t>
            </a:r>
            <a:endParaRPr lang="en-US" sz="1000" noProof="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en-US" noProof="0" dirty="0"/>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noProof="0" dirty="0">
                <a:solidFill>
                  <a:srgbClr val="27AE60"/>
                </a:solidFill>
                <a:latin typeface="Trebuchet MS"/>
                <a:ea typeface="Trebuchet MS" pitchFamily="34" charset="-122"/>
                <a:cs typeface="Trebuchet MS" pitchFamily="34" charset="-120"/>
              </a:rPr>
              <a:t>&lt; 15000 MB</a:t>
            </a:r>
            <a:endParaRPr lang="en-US" sz="2200" noProof="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GPU memory peak (more than CNN and MLP),</a:t>
            </a:r>
          </a:p>
          <a:p>
            <a:pPr algn="ctr"/>
            <a:r>
              <a:rPr lang="en-US" sz="1000" noProof="0" dirty="0">
                <a:solidFill>
                  <a:srgbClr val="3D5A73"/>
                </a:solidFill>
                <a:latin typeface="Calibri"/>
                <a:ea typeface="Calibri"/>
                <a:cs typeface="Calibri"/>
              </a:rPr>
              <a:t>according to W&amp;B</a:t>
            </a: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en-US" noProof="0" dirty="0"/>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E97C35"/>
                </a:solidFill>
                <a:latin typeface="Trebuchet MS"/>
                <a:ea typeface="Trebuchet MS" pitchFamily="34" charset="-122"/>
                <a:cs typeface="Trebuchet MS" pitchFamily="34" charset="-120"/>
              </a:rPr>
              <a:t>72%</a:t>
            </a:r>
            <a:endParaRPr lang="en-US" sz="2200" noProof="0" dirty="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noProof="0" dirty="0">
                <a:solidFill>
                  <a:srgbClr val="3D5A73"/>
                </a:solidFill>
                <a:latin typeface="Calibri" pitchFamily="34" charset="0"/>
                <a:ea typeface="Calibri" pitchFamily="34" charset="-122"/>
                <a:cs typeface="Calibri" pitchFamily="34" charset="-120"/>
              </a:rPr>
              <a:t>of 3h budget used</a:t>
            </a:r>
            <a:endParaRPr lang="en-US" sz="1000" noProof="0" dirty="0"/>
          </a:p>
        </p:txBody>
      </p:sp>
      <p:graphicFrame>
        <p:nvGraphicFramePr>
          <p:cNvPr id="22" name="Table 0"/>
          <p:cNvGraphicFramePr>
            <a:graphicFrameLocks noGrp="1"/>
          </p:cNvGraphicFramePr>
          <p:nvPr>
            <p:extLst>
              <p:ext uri="{D42A27DB-BD31-4B8C-83A1-F6EECF244321}">
                <p14:modId xmlns:p14="http://schemas.microsoft.com/office/powerpoint/2010/main" val="3123605731"/>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Metric</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Value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Note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F_EfficNetB0_Cus  -  124.4 s (excluding ensembles)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Stopped at epoch 9, severely overfitted, had no regularization strategies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Slowest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C_SwinV2t_Base_H_Aug  —  403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Full 20 epochs; data augmentation gives us more 73.8 seconds than base model, but better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Avg per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noProof="0" dirty="0">
                          <a:solidFill>
                            <a:srgbClr val="000000"/>
                          </a:solidFill>
                          <a:latin typeface="Calibri"/>
                          <a:ea typeface="Calibri"/>
                          <a:cs typeface="Calibri"/>
                        </a:rPr>
                        <a:t>~233.3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Across 26 solo runs (excluding ensemble)</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Best solo (R)</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281.9 s  -  20 epochs</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No early stopping needed</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FAST_RUN flag</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FAST_RUN=True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Smoke-test mode: 2 epochs, 1 patience - used for debugging</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en-US" noProof="0" dirty="0"/>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en-US" noProof="0" dirty="0"/>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noProof="0" dirty="0">
                <a:solidFill>
                  <a:srgbClr val="0D1B2A"/>
                </a:solidFill>
                <a:latin typeface="Trebuchet MS" pitchFamily="34" charset="0"/>
                <a:ea typeface="Trebuchet MS" pitchFamily="34" charset="-122"/>
                <a:cs typeface="Trebuchet MS" pitchFamily="34" charset="-120"/>
              </a:rPr>
              <a:t>Why 80/20 split instead of K-Fold CV?</a:t>
            </a:r>
            <a:endParaRPr lang="en-US" sz="1200" noProof="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noProof="0" dirty="0">
                <a:solidFill>
                  <a:srgbClr val="1A2B3C"/>
                </a:solidFill>
                <a:latin typeface="Calibri"/>
                <a:ea typeface="Calibri"/>
                <a:cs typeface="Calibri"/>
              </a:rPr>
              <a:t>5-fold CV × </a:t>
            </a:r>
            <a:r>
              <a:rPr lang="en-US" sz="1200" dirty="0">
                <a:solidFill>
                  <a:srgbClr val="1A2B3C"/>
                </a:solidFill>
                <a:latin typeface="Calibri"/>
                <a:ea typeface="Calibri"/>
                <a:cs typeface="Calibri"/>
              </a:rPr>
              <a:t>27</a:t>
            </a:r>
            <a:r>
              <a:rPr lang="en-US" sz="1200" noProof="0" dirty="0">
                <a:solidFill>
                  <a:srgbClr val="1A2B3C"/>
                </a:solidFill>
                <a:latin typeface="Calibri"/>
                <a:ea typeface="Calibri"/>
                <a:cs typeface="Calibri"/>
              </a:rPr>
              <a:t> experiments ≈ </a:t>
            </a:r>
            <a:r>
              <a:rPr lang="en-US" sz="1200" dirty="0">
                <a:solidFill>
                  <a:srgbClr val="1A2B3C"/>
                </a:solidFill>
                <a:latin typeface="Calibri"/>
                <a:ea typeface="Calibri"/>
                <a:cs typeface="Calibri"/>
              </a:rPr>
              <a:t>135</a:t>
            </a:r>
            <a:r>
              <a:rPr lang="en-US" sz="1200" noProof="0" dirty="0">
                <a:solidFill>
                  <a:srgbClr val="1A2B3C"/>
                </a:solidFill>
                <a:latin typeface="Calibri"/>
                <a:ea typeface="Calibri"/>
                <a:cs typeface="Calibri"/>
              </a:rPr>
              <a:t> training runs ≈ which will exceed the 3h </a:t>
            </a:r>
            <a:r>
              <a:rPr lang="en-US" sz="1200" noProof="0" dirty="0" err="1">
                <a:solidFill>
                  <a:srgbClr val="1A2B3C"/>
                </a:solidFill>
                <a:latin typeface="Calibri"/>
                <a:ea typeface="Calibri"/>
                <a:cs typeface="Calibri"/>
              </a:rPr>
              <a:t>Colab</a:t>
            </a:r>
            <a:r>
              <a:rPr lang="en-US" sz="1200" noProof="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noProof="0" dirty="0">
              <a:latin typeface="Calibri"/>
              <a:ea typeface="Calibri"/>
              <a:cs typeface="Calibri"/>
            </a:endParaRPr>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1400" b="1" noProof="0" dirty="0">
                <a:solidFill>
                  <a:srgbClr val="0D1B2A"/>
                </a:solidFill>
                <a:latin typeface="Trebuchet MS" pitchFamily="34" charset="0"/>
              </a:rPr>
              <a:t>Training Curves — Best Solo M_ResNet18_Cust_FT_Partial_Ls_Admw</a:t>
            </a: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en-US" noProof="0" dirty="0"/>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en-US" noProof="0" dirty="0"/>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noProof="0" dirty="0" err="1">
                <a:solidFill>
                  <a:srgbClr val="0D1B2A"/>
                </a:solidFill>
                <a:latin typeface="Trebuchet MS" pitchFamily="34" charset="0"/>
                <a:ea typeface="Trebuchet MS" pitchFamily="34" charset="-122"/>
                <a:cs typeface="Trebuchet MS" pitchFamily="34" charset="-120"/>
              </a:rPr>
              <a:t>EarlyStopping</a:t>
            </a:r>
            <a:r>
              <a:rPr lang="en-US" sz="1600" b="1" noProof="0" dirty="0">
                <a:solidFill>
                  <a:srgbClr val="0D1B2A"/>
                </a:solidFill>
                <a:latin typeface="Trebuchet MS" pitchFamily="34" charset="0"/>
                <a:ea typeface="Trebuchet MS" pitchFamily="34" charset="-122"/>
                <a:cs typeface="Trebuchet MS" pitchFamily="34" charset="-120"/>
              </a:rPr>
              <a:t> metric:</a:t>
            </a:r>
            <a:endParaRPr lang="en-US" sz="1600" b="1" noProof="0" dirty="0"/>
          </a:p>
          <a:p>
            <a:pPr marL="800100" lvl="1" indent="-342900">
              <a:buSzPct val="100000"/>
              <a:buFontTx/>
              <a:buChar char="•"/>
            </a:pPr>
            <a:r>
              <a:rPr lang="en-US" sz="1200" b="1" noProof="0" dirty="0" err="1">
                <a:solidFill>
                  <a:srgbClr val="0D1B2A"/>
                </a:solidFill>
                <a:latin typeface="Trebuchet MS" pitchFamily="34" charset="0"/>
                <a:ea typeface="Trebuchet MS" pitchFamily="34" charset="-122"/>
                <a:cs typeface="Trebuchet MS" pitchFamily="34" charset="-120"/>
              </a:rPr>
              <a:t>val_loss</a:t>
            </a:r>
            <a:r>
              <a:rPr lang="en-US" sz="1200" b="1" noProof="0"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noProof="0" dirty="0">
                <a:solidFill>
                  <a:srgbClr val="1A2B3C"/>
                </a:solidFill>
                <a:latin typeface="Calibri" pitchFamily="34" charset="0"/>
                <a:ea typeface="Calibri" pitchFamily="34" charset="-122"/>
                <a:cs typeface="Calibri" pitchFamily="34" charset="-120"/>
              </a:rPr>
              <a:t>we use val_macro_f1 (lower = better)</a:t>
            </a:r>
          </a:p>
          <a:p>
            <a:pPr marL="342900" indent="-342900">
              <a:buSzPct val="100000"/>
              <a:buChar char="•"/>
            </a:pPr>
            <a:r>
              <a:rPr lang="en-US" sz="1600" b="1" noProof="0" dirty="0">
                <a:solidFill>
                  <a:srgbClr val="1A2B3C"/>
                </a:solidFill>
                <a:latin typeface="Calibri" pitchFamily="34" charset="0"/>
                <a:ea typeface="Calibri" pitchFamily="34" charset="-122"/>
                <a:cs typeface="Calibri" pitchFamily="34" charset="-120"/>
              </a:rPr>
              <a:t>Patience</a:t>
            </a:r>
            <a:r>
              <a:rPr lang="en-US" sz="1600" noProof="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Used full 20</a:t>
            </a:r>
            <a:r>
              <a:rPr lang="en-US" sz="1200" noProof="0" dirty="0">
                <a:solidFill>
                  <a:srgbClr val="1A2B3C"/>
                </a:solidFill>
                <a:latin typeface="Calibri" pitchFamily="34" charset="0"/>
                <a:ea typeface="Calibri" pitchFamily="34" charset="-122"/>
                <a:cs typeface="Calibri" pitchFamily="34" charset="-120"/>
              </a:rPr>
              <a:t> epochs</a:t>
            </a:r>
            <a:endParaRPr lang="en-US" sz="1200" noProof="0" dirty="0"/>
          </a:p>
          <a:p>
            <a:pPr marL="800100" lvl="1" indent="-342900">
              <a:buSzPct val="100000"/>
              <a:buChar char="•"/>
            </a:pPr>
            <a:r>
              <a:rPr lang="en-US" sz="1200" noProof="0" dirty="0">
                <a:solidFill>
                  <a:srgbClr val="1A2B3C"/>
                </a:solidFill>
                <a:latin typeface="Calibri"/>
                <a:ea typeface="Calibri"/>
                <a:cs typeface="Calibri"/>
              </a:rPr>
              <a:t>Saves best checkpoint .</a:t>
            </a:r>
            <a:r>
              <a:rPr lang="en-US" sz="1200" noProof="0" dirty="0" err="1">
                <a:solidFill>
                  <a:srgbClr val="1A2B3C"/>
                </a:solidFill>
                <a:latin typeface="Calibri"/>
                <a:ea typeface="Calibri"/>
                <a:cs typeface="Calibri"/>
              </a:rPr>
              <a:t>pth</a:t>
            </a:r>
            <a:r>
              <a:rPr lang="en-US" sz="1200" noProof="0" dirty="0">
                <a:solidFill>
                  <a:srgbClr val="1A2B3C"/>
                </a:solidFill>
                <a:latin typeface="Calibri"/>
                <a:ea typeface="Calibri"/>
                <a:cs typeface="Calibri"/>
              </a:rPr>
              <a:t> per run</a:t>
            </a:r>
            <a:endParaRPr lang="en-US" sz="1200" noProof="0" dirty="0">
              <a:latin typeface="Calibri"/>
              <a:ea typeface="Calibri"/>
              <a:cs typeface="Calibri"/>
            </a:endParaRPr>
          </a:p>
          <a:p>
            <a:pPr marL="800100" lvl="1" indent="-342900">
              <a:buSzPct val="100000"/>
              <a:buChar char="•"/>
            </a:pPr>
            <a:r>
              <a:rPr lang="en-US" sz="1200" noProof="0" dirty="0">
                <a:solidFill>
                  <a:srgbClr val="1A2B3C"/>
                </a:solidFill>
                <a:latin typeface="Calibri"/>
                <a:ea typeface="Calibri"/>
                <a:cs typeface="Calibri"/>
              </a:rPr>
              <a:t>Allows to compute the 20 epochs when plateau is slow even with early stopping</a:t>
            </a:r>
            <a:endParaRPr lang="en-US" sz="1200" noProof="0" dirty="0">
              <a:latin typeface="Calibri"/>
              <a:ea typeface="Calibri"/>
              <a:cs typeface="Calibri"/>
            </a:endParaRPr>
          </a:p>
        </p:txBody>
      </p:sp>
      <p:pic>
        <p:nvPicPr>
          <p:cNvPr id="4098" name="Picture 2">
            <a:extLst>
              <a:ext uri="{FF2B5EF4-FFF2-40B4-BE49-F238E27FC236}">
                <a16:creationId xmlns:a16="http://schemas.microsoft.com/office/drawing/2014/main" id="{B069867F-9C98-87F9-754F-4BFEB87C14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0523" y="2632927"/>
            <a:ext cx="7418713" cy="243297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noProof="0"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Results at a Glance</a:t>
            </a:r>
            <a:endParaRPr lang="en-US" sz="2200" noProof="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a:rPr>
              <a:t>0.2244</a:t>
            </a:r>
            <a:endParaRPr lang="en-US" sz="3200" noProof="0" dirty="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a:ea typeface="Calibri"/>
                <a:cs typeface="Calibri"/>
              </a:rPr>
              <a:t>Best </a:t>
            </a:r>
            <a:r>
              <a:rPr lang="en-US" sz="1100" noProof="0" dirty="0" err="1">
                <a:solidFill>
                  <a:srgbClr val="FFFFFF"/>
                </a:solidFill>
                <a:latin typeface="Calibri"/>
                <a:ea typeface="Calibri"/>
                <a:cs typeface="Calibri"/>
              </a:rPr>
              <a:t>val</a:t>
            </a:r>
            <a:r>
              <a:rPr lang="en-US" sz="1100" noProof="0" dirty="0">
                <a:solidFill>
                  <a:srgbClr val="FFFFFF"/>
                </a:solidFill>
                <a:latin typeface="Calibri"/>
                <a:ea typeface="Calibri"/>
                <a:cs typeface="Calibri"/>
              </a:rPr>
              <a:t> Macro-F1</a:t>
            </a:r>
            <a:endParaRPr lang="en-US" sz="1100" noProof="0" dirty="0">
              <a:latin typeface="Calibri"/>
              <a:ea typeface="Calibri"/>
              <a:cs typeface="Calibri"/>
            </a:endParaRPr>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0.2244</a:t>
            </a:r>
            <a:endParaRPr lang="en-US" sz="3200" noProof="0" dirty="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pitchFamily="34" charset="0"/>
                <a:ea typeface="Calibri" pitchFamily="34" charset="-122"/>
                <a:cs typeface="Calibri" pitchFamily="34" charset="-120"/>
              </a:rPr>
              <a:t>Best solo Macro-F1</a:t>
            </a:r>
            <a:endParaRPr lang="en-US" sz="1100" noProof="0" dirty="0"/>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0.19966</a:t>
            </a:r>
            <a:endParaRPr lang="en-US" sz="3200" noProof="0" dirty="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public score</a:t>
            </a:r>
          </a:p>
          <a:p>
            <a:pPr algn="ctr"/>
            <a:r>
              <a:rPr lang="en-US" sz="1100" noProof="0" dirty="0">
                <a:solidFill>
                  <a:srgbClr val="FFFFFF"/>
                </a:solidFill>
                <a:latin typeface="Calibri"/>
                <a:ea typeface="Calibri"/>
                <a:cs typeface="Calibri"/>
              </a:rPr>
              <a:t>(submitted best ResNet18)</a:t>
            </a:r>
            <a:endParaRPr lang="en-US" sz="1100" noProof="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noProof="0" dirty="0">
                <a:solidFill>
                  <a:srgbClr val="1C3A52"/>
                </a:solidFill>
                <a:latin typeface="Calibri"/>
              </a:rPr>
              <a:t>System                    			macro-F1   	acc    </a:t>
            </a:r>
          </a:p>
          <a:p>
            <a:pPr>
              <a:buNone/>
            </a:pPr>
            <a:r>
              <a:rPr lang="en-US" noProof="0" dirty="0">
                <a:solidFill>
                  <a:srgbClr val="888888"/>
                </a:solidFill>
                <a:latin typeface="Calibri"/>
              </a:rPr>
              <a:t>Random baseline           		0.111      		11.1%</a:t>
            </a:r>
          </a:p>
          <a:p>
            <a:r>
              <a:rPr lang="en-US" noProof="0" dirty="0">
                <a:solidFill>
                  <a:srgbClr val="888888"/>
                </a:solidFill>
                <a:latin typeface="Calibri"/>
              </a:rPr>
              <a:t>Always-Water              		0.021      		18.7%</a:t>
            </a:r>
          </a:p>
          <a:p>
            <a:r>
              <a:rPr lang="en-US" b="1" dirty="0">
                <a:solidFill>
                  <a:srgbClr val="00A896"/>
                </a:solidFill>
                <a:latin typeface="Calibri"/>
                <a:ea typeface="Calibri"/>
                <a:cs typeface="Calibri"/>
              </a:rPr>
              <a:t>ResNet18_best ★ 			0.2244		29.3%</a:t>
            </a:r>
            <a:endParaRPr lang="en-US" b="1" noProof="0" dirty="0">
              <a:solidFill>
                <a:srgbClr val="00A896"/>
              </a:solidFill>
              <a:latin typeface="Calibri"/>
              <a:ea typeface="Calibri"/>
              <a:cs typeface="Calibri"/>
            </a:endParaRPr>
          </a:p>
          <a:p>
            <a:r>
              <a:rPr lang="en-US" noProof="0" dirty="0">
                <a:solidFill>
                  <a:srgbClr val="1C3A52"/>
                </a:solidFill>
                <a:latin typeface="Calibri"/>
              </a:rPr>
              <a:t>Kaggle public test                     0.19966                —  </a:t>
            </a:r>
            <a:endParaRPr lang="en-US" noProof="0" dirty="0">
              <a:solidFill>
                <a:srgbClr val="1C3A52"/>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0.18981</a:t>
            </a: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private score</a:t>
            </a:r>
          </a:p>
          <a:p>
            <a:pPr algn="ctr"/>
            <a:r>
              <a:rPr lang="en-US" sz="1100" noProof="0" dirty="0">
                <a:solidFill>
                  <a:srgbClr val="FFFFFF"/>
                </a:solidFill>
                <a:latin typeface="Calibri"/>
                <a:ea typeface="Calibri"/>
                <a:cs typeface="Calibri"/>
              </a:rPr>
              <a:t>(submitted best ResNet18)</a:t>
            </a:r>
            <a:endParaRPr lang="en-US" sz="1100" noProof="0" dirty="0">
              <a:latin typeface="Calibri"/>
              <a:ea typeface="Calibri"/>
              <a:cs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noProof="0" dirty="0"/>
          </a:p>
        </p:txBody>
      </p:sp>
      <p:sp>
        <p:nvSpPr>
          <p:cNvPr id="51" name="InsightText"/>
          <p:cNvSpPr/>
          <p:nvPr/>
        </p:nvSpPr>
        <p:spPr>
          <a:xfrm>
            <a:off x="122830" y="4567451"/>
            <a:ext cx="8696474" cy="429291"/>
          </a:xfrm>
          <a:prstGeom prst="rect">
            <a:avLst/>
          </a:prstGeom>
          <a:noFill/>
          <a:ln/>
        </p:spPr>
        <p:txBody>
          <a:bodyPr wrap="square" lIns="91440" tIns="45720" rIns="91440" bIns="45720" rtlCol="0" anchor="ctr"/>
          <a:lstStyle/>
          <a:p>
            <a:r>
              <a:rPr lang="en-US" sz="1100" b="1" noProof="0" dirty="0">
                <a:solidFill>
                  <a:schemeClr val="accent2">
                    <a:lumMod val="40000"/>
                    <a:lumOff val="60000"/>
                  </a:schemeClr>
                </a:solidFill>
                <a:latin typeface="Trebuchet MS"/>
              </a:rPr>
              <a:t>Despite the smaller and noisier dataset our new model showed improvements over the MLP in the majority of the classes when comparing their values for the other tasks.</a:t>
            </a:r>
          </a:p>
          <a:p>
            <a:r>
              <a:rPr lang="en-US" sz="1100" b="1" noProof="0" dirty="0">
                <a:solidFill>
                  <a:schemeClr val="accent2">
                    <a:lumMod val="40000"/>
                    <a:lumOff val="60000"/>
                  </a:schemeClr>
                </a:solidFill>
                <a:latin typeface="Trebuchet MS"/>
                <a:ea typeface="Calibri"/>
                <a:cs typeface="Calibri"/>
              </a:rPr>
              <a:t>On the other hand, when we compare the models on the cur</a:t>
            </a:r>
            <a:r>
              <a:rPr lang="en-US" sz="1100" b="1" dirty="0">
                <a:solidFill>
                  <a:schemeClr val="accent2">
                    <a:lumMod val="40000"/>
                    <a:lumOff val="60000"/>
                  </a:schemeClr>
                </a:solidFill>
                <a:latin typeface="Trebuchet MS"/>
                <a:ea typeface="Calibri"/>
                <a:cs typeface="Calibri"/>
              </a:rPr>
              <a:t>rent task, our model is clearly better in F1 score.</a:t>
            </a:r>
            <a:endParaRPr lang="en-US" sz="1200" noProof="0" dirty="0">
              <a:solidFill>
                <a:srgbClr val="AACCD8"/>
              </a:solidFill>
              <a:latin typeface="Calibri"/>
              <a:ea typeface="Calibri"/>
              <a:cs typeface="Calibri"/>
            </a:endParaRPr>
          </a:p>
        </p:txBody>
      </p:sp>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extLst>
              <p:ext uri="{D42A27DB-BD31-4B8C-83A1-F6EECF244321}">
                <p14:modId xmlns:p14="http://schemas.microsoft.com/office/powerpoint/2010/main" val="3405373583"/>
              </p:ext>
            </p:extLst>
          </p:nvPr>
        </p:nvGraphicFramePr>
        <p:xfrm>
          <a:off x="122830" y="705794"/>
          <a:ext cx="4913193" cy="3467559"/>
        </p:xfrm>
        <a:graphic>
          <a:graphicData uri="http://schemas.openxmlformats.org/drawingml/2006/table">
            <a:tbl>
              <a:tblPr/>
              <a:tblGrid>
                <a:gridCol w="948601">
                  <a:extLst>
                    <a:ext uri="{9D8B030D-6E8A-4147-A177-3AD203B41FA5}">
                      <a16:colId xmlns:a16="http://schemas.microsoft.com/office/drawing/2014/main" val="20000"/>
                    </a:ext>
                  </a:extLst>
                </a:gridCol>
                <a:gridCol w="830512">
                  <a:extLst>
                    <a:ext uri="{9D8B030D-6E8A-4147-A177-3AD203B41FA5}">
                      <a16:colId xmlns:a16="http://schemas.microsoft.com/office/drawing/2014/main" val="20001"/>
                    </a:ext>
                  </a:extLst>
                </a:gridCol>
                <a:gridCol w="819330">
                  <a:extLst>
                    <a:ext uri="{9D8B030D-6E8A-4147-A177-3AD203B41FA5}">
                      <a16:colId xmlns:a16="http://schemas.microsoft.com/office/drawing/2014/main" val="4133161899"/>
                    </a:ext>
                  </a:extLst>
                </a:gridCol>
                <a:gridCol w="819330">
                  <a:extLst>
                    <a:ext uri="{9D8B030D-6E8A-4147-A177-3AD203B41FA5}">
                      <a16:colId xmlns:a16="http://schemas.microsoft.com/office/drawing/2014/main" val="2649835281"/>
                    </a:ext>
                  </a:extLst>
                </a:gridCol>
                <a:gridCol w="1495420">
                  <a:extLst>
                    <a:ext uri="{9D8B030D-6E8A-4147-A177-3AD203B41FA5}">
                      <a16:colId xmlns:a16="http://schemas.microsoft.com/office/drawing/2014/main" val="20002"/>
                    </a:ext>
                  </a:extLst>
                </a:gridCol>
              </a:tblGrid>
              <a:tr h="371659">
                <a:tc>
                  <a:txBody>
                    <a:bodyPr/>
                    <a:lstStyle/>
                    <a:p>
                      <a:pPr marL="0" indent="0">
                        <a:buNone/>
                      </a:pPr>
                      <a:r>
                        <a:rPr lang="en-US" sz="1100" b="1" noProof="0" dirty="0">
                          <a:solidFill>
                            <a:srgbClr val="FFFFFF"/>
                          </a:solidFill>
                          <a:latin typeface="Calibri" pitchFamily="34" charset="0"/>
                          <a:ea typeface="Calibri" pitchFamily="34" charset="-122"/>
                          <a:cs typeface="Calibri" pitchFamily="34" charset="-120"/>
                        </a:rPr>
                        <a:t>Class</a:t>
                      </a:r>
                      <a:endParaRPr lang="en-US" sz="11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noProof="0" dirty="0">
                          <a:solidFill>
                            <a:srgbClr val="FFFFFF"/>
                          </a:solidFill>
                          <a:latin typeface="Calibri"/>
                          <a:ea typeface="Calibri"/>
                          <a:cs typeface="Calibri"/>
                        </a:rPr>
                        <a:t>CNN F1</a:t>
                      </a:r>
                      <a:endParaRPr lang="en-US" sz="11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MLP F1</a:t>
                      </a: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ResNet18 TL F1</a:t>
                      </a:r>
                    </a:p>
                  </a:txBody>
                  <a:tcPr>
                    <a:lnL w="5079"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Improvement</a:t>
                      </a:r>
                    </a:p>
                    <a:p>
                      <a:pPr marL="0" lvl="0" indent="0" algn="ctr">
                        <a:buNone/>
                      </a:pPr>
                      <a:r>
                        <a:rPr lang="en-US" sz="1100" b="1" noProof="0" dirty="0">
                          <a:solidFill>
                            <a:srgbClr val="FFFFFF"/>
                          </a:solidFill>
                          <a:latin typeface="Calibri"/>
                          <a:ea typeface="Calibri"/>
                          <a:cs typeface="Calibri"/>
                        </a:rPr>
                        <a:t>(over the MLP)</a:t>
                      </a:r>
                      <a:endParaRPr lang="en-US" noProof="0" dirty="0"/>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Fire</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noProof="0" dirty="0">
                          <a:solidFill>
                            <a:srgbClr val="00B050"/>
                          </a:solidFill>
                          <a:latin typeface="Calibri"/>
                          <a:ea typeface="Calibri"/>
                          <a:cs typeface="Calibri"/>
                        </a:rPr>
                        <a:t>+0.033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Poison</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-0.359</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noProof="0" dirty="0">
                          <a:solidFill>
                            <a:srgbClr val="000000"/>
                          </a:solidFill>
                          <a:latin typeface="Calibri"/>
                          <a:ea typeface="Calibri"/>
                          <a:cs typeface="Calibri"/>
                        </a:rPr>
                        <a:t>Water</a:t>
                      </a:r>
                      <a:endParaRPr lang="en-US" sz="1100" b="1" noProof="0" dirty="0">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0.332</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+0.048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Grass</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0.286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+0.094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Normal</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0.215</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+0.075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Bug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0.140</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+0.18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Fighting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Rock</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0.134</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0.06</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-0.074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Ground</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0.107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-0.107</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5" name="Imagem 4">
            <a:extLst>
              <a:ext uri="{FF2B5EF4-FFF2-40B4-BE49-F238E27FC236}">
                <a16:creationId xmlns:a16="http://schemas.microsoft.com/office/drawing/2014/main" id="{85A72D4C-8FC6-AEF9-FADA-30517D4D45B3}"/>
              </a:ext>
            </a:extLst>
          </p:cNvPr>
          <p:cNvPicPr>
            <a:picLocks noChangeAspect="1"/>
          </p:cNvPicPr>
          <p:nvPr/>
        </p:nvPicPr>
        <p:blipFill>
          <a:blip r:embed="rId2"/>
          <a:srcRect l="9796"/>
          <a:stretch>
            <a:fillRect/>
          </a:stretch>
        </p:blipFill>
        <p:spPr>
          <a:xfrm>
            <a:off x="5097438" y="2047339"/>
            <a:ext cx="3832516" cy="276264"/>
          </a:xfrm>
          <a:prstGeom prst="rect">
            <a:avLst/>
          </a:prstGeom>
        </p:spPr>
      </p:pic>
      <p:pic>
        <p:nvPicPr>
          <p:cNvPr id="7" name="Imagem 6">
            <a:extLst>
              <a:ext uri="{FF2B5EF4-FFF2-40B4-BE49-F238E27FC236}">
                <a16:creationId xmlns:a16="http://schemas.microsoft.com/office/drawing/2014/main" id="{013E7EB7-8A85-F9D2-B366-7836DC7C8E1A}"/>
              </a:ext>
            </a:extLst>
          </p:cNvPr>
          <p:cNvPicPr>
            <a:picLocks noChangeAspect="1"/>
          </p:cNvPicPr>
          <p:nvPr/>
        </p:nvPicPr>
        <p:blipFill>
          <a:blip r:embed="rId3"/>
          <a:stretch>
            <a:fillRect/>
          </a:stretch>
        </p:blipFill>
        <p:spPr>
          <a:xfrm>
            <a:off x="7291425" y="1796913"/>
            <a:ext cx="1638529" cy="276264"/>
          </a:xfrm>
          <a:prstGeom prst="rect">
            <a:avLst/>
          </a:prstGeom>
        </p:spPr>
      </p:pic>
      <p:pic>
        <p:nvPicPr>
          <p:cNvPr id="9" name="Imagem 8">
            <a:extLst>
              <a:ext uri="{FF2B5EF4-FFF2-40B4-BE49-F238E27FC236}">
                <a16:creationId xmlns:a16="http://schemas.microsoft.com/office/drawing/2014/main" id="{5DAF7F6D-377D-F5CB-3A6F-F8665E0780C7}"/>
              </a:ext>
            </a:extLst>
          </p:cNvPr>
          <p:cNvPicPr>
            <a:picLocks noChangeAspect="1"/>
          </p:cNvPicPr>
          <p:nvPr/>
        </p:nvPicPr>
        <p:blipFill>
          <a:blip r:embed="rId4"/>
          <a:srcRect l="56554"/>
          <a:stretch>
            <a:fillRect/>
          </a:stretch>
        </p:blipFill>
        <p:spPr>
          <a:xfrm>
            <a:off x="7088176" y="2323603"/>
            <a:ext cx="1841778" cy="304843"/>
          </a:xfrm>
          <a:prstGeom prst="rect">
            <a:avLst/>
          </a:prstGeom>
        </p:spPr>
      </p:pic>
      <p:pic>
        <p:nvPicPr>
          <p:cNvPr id="12" name="Imagem 11">
            <a:extLst>
              <a:ext uri="{FF2B5EF4-FFF2-40B4-BE49-F238E27FC236}">
                <a16:creationId xmlns:a16="http://schemas.microsoft.com/office/drawing/2014/main" id="{78CD4199-8093-4D53-C7BA-24DB405B81F0}"/>
              </a:ext>
            </a:extLst>
          </p:cNvPr>
          <p:cNvPicPr>
            <a:picLocks noChangeAspect="1"/>
          </p:cNvPicPr>
          <p:nvPr/>
        </p:nvPicPr>
        <p:blipFill>
          <a:blip r:embed="rId5"/>
          <a:srcRect l="56748"/>
          <a:stretch>
            <a:fillRect/>
          </a:stretch>
        </p:blipFill>
        <p:spPr>
          <a:xfrm>
            <a:off x="7088176" y="2628446"/>
            <a:ext cx="1841778" cy="314369"/>
          </a:xfrm>
          <a:prstGeom prst="rect">
            <a:avLst/>
          </a:prstGeom>
        </p:spPr>
      </p:pic>
      <p:sp>
        <p:nvSpPr>
          <p:cNvPr id="13" name="TextBox 22">
            <a:extLst>
              <a:ext uri="{FF2B5EF4-FFF2-40B4-BE49-F238E27FC236}">
                <a16:creationId xmlns:a16="http://schemas.microsoft.com/office/drawing/2014/main" id="{433763E0-5144-CEEF-3BB4-25D50219A80D}"/>
              </a:ext>
            </a:extLst>
          </p:cNvPr>
          <p:cNvSpPr txBox="1"/>
          <p:nvPr/>
        </p:nvSpPr>
        <p:spPr>
          <a:xfrm>
            <a:off x="5477479" y="3183686"/>
            <a:ext cx="354369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noProof="0" dirty="0">
                <a:solidFill>
                  <a:srgbClr val="00B050"/>
                </a:solidFill>
              </a:rPr>
              <a:t>+</a:t>
            </a:r>
            <a:r>
              <a:rPr lang="en-US" sz="2400" b="1" dirty="0">
                <a:solidFill>
                  <a:srgbClr val="00B050"/>
                </a:solidFill>
              </a:rPr>
              <a:t>91.6</a:t>
            </a:r>
            <a:r>
              <a:rPr lang="en-US" sz="2400" b="1" noProof="0" dirty="0">
                <a:solidFill>
                  <a:srgbClr val="00B050"/>
                </a:solidFill>
              </a:rPr>
              <a:t>% (over the CNN)!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Confusion Matrix — Normal as the Catch-All Class</a:t>
            </a:r>
          </a:p>
        </p:txBody>
      </p:sp>
      <p:sp>
        <p:nvSpPr>
          <p:cNvPr id="14" name="CatchBG">
            <a:extLst>
              <a:ext uri="{FF2B5EF4-FFF2-40B4-BE49-F238E27FC236}">
                <a16:creationId xmlns:a16="http://schemas.microsoft.com/office/drawing/2014/main" id="{6E306E00-2890-9B44-D47E-21C5D109AD13}"/>
              </a:ext>
            </a:extLst>
          </p:cNvPr>
          <p:cNvSpPr/>
          <p:nvPr/>
        </p:nvSpPr>
        <p:spPr>
          <a:xfrm>
            <a:off x="-11537" y="4194658"/>
            <a:ext cx="9143999" cy="954705"/>
          </a:xfrm>
          <a:prstGeom prst="rect">
            <a:avLst/>
          </a:prstGeom>
          <a:solidFill>
            <a:srgbClr val="0D1B2A"/>
          </a:solidFill>
          <a:ln w="0">
            <a:noFill/>
          </a:ln>
        </p:spPr>
        <p:txBody>
          <a:bodyPr/>
          <a:lstStyle/>
          <a:p>
            <a:endParaRPr lang="en-US" noProof="0" dirty="0"/>
          </a:p>
        </p:txBody>
      </p:sp>
      <p:sp>
        <p:nvSpPr>
          <p:cNvPr id="15" name="CatchText">
            <a:extLst>
              <a:ext uri="{FF2B5EF4-FFF2-40B4-BE49-F238E27FC236}">
                <a16:creationId xmlns:a16="http://schemas.microsoft.com/office/drawing/2014/main" id="{B4E6DBCC-BEFA-D387-E58B-1D8FA5762AB6}"/>
              </a:ext>
            </a:extLst>
          </p:cNvPr>
          <p:cNvSpPr/>
          <p:nvPr/>
        </p:nvSpPr>
        <p:spPr>
          <a:xfrm>
            <a:off x="11537" y="4173474"/>
            <a:ext cx="9132462" cy="1324344"/>
          </a:xfrm>
          <a:prstGeom prst="rect">
            <a:avLst/>
          </a:prstGeom>
          <a:noFill/>
          <a:ln/>
        </p:spPr>
        <p:txBody>
          <a:bodyPr wrap="square" lIns="91440" tIns="45720" rIns="91440" bIns="45720" rtlCol="0" anchor="t"/>
          <a:lstStyle/>
          <a:p>
            <a:r>
              <a:rPr lang="en-US" sz="1200" b="1" noProof="0" dirty="0">
                <a:solidFill>
                  <a:srgbClr val="00A896"/>
                </a:solidFill>
                <a:latin typeface="Trebuchet MS"/>
              </a:rPr>
              <a:t>Transfer Learning:</a:t>
            </a:r>
          </a:p>
          <a:p>
            <a:pPr marL="285750" indent="-285750">
              <a:buFont typeface="Arial" panose="020B0604020202020204" pitchFamily="34" charset="0"/>
              <a:buChar char="•"/>
            </a:pPr>
            <a:r>
              <a:rPr lang="en-US" sz="1200" dirty="0">
                <a:solidFill>
                  <a:schemeClr val="bg1"/>
                </a:solidFill>
                <a:latin typeface="Trebuchet MS"/>
              </a:rPr>
              <a:t>Worse than CNN, but improved over MLP</a:t>
            </a:r>
          </a:p>
          <a:p>
            <a:pPr marL="285750" indent="-285750">
              <a:buFont typeface="Arial" panose="020B0604020202020204" pitchFamily="34" charset="0"/>
              <a:buChar char="•"/>
            </a:pPr>
            <a:r>
              <a:rPr lang="en-US" sz="1200" noProof="0" dirty="0">
                <a:solidFill>
                  <a:schemeClr val="bg1"/>
                </a:solidFill>
                <a:latin typeface="Trebuchet MS"/>
              </a:rPr>
              <a:t>The pre-trained model </a:t>
            </a:r>
            <a:r>
              <a:rPr lang="en-US" sz="1200" dirty="0">
                <a:solidFill>
                  <a:schemeClr val="bg1"/>
                </a:solidFill>
                <a:latin typeface="Trebuchet MS"/>
              </a:rPr>
              <a:t>gives the capacity to extract the important features using the CNN computer vision efficiency, but the head, regularization and small data set didn’t allow for a larger improvement.</a:t>
            </a:r>
            <a:endParaRPr lang="en-US" noProof="0" dirty="0">
              <a:solidFill>
                <a:schemeClr val="bg1"/>
              </a:solidFill>
            </a:endParaRPr>
          </a:p>
        </p:txBody>
      </p:sp>
      <p:sp>
        <p:nvSpPr>
          <p:cNvPr id="16" name="CatchText">
            <a:extLst>
              <a:ext uri="{FF2B5EF4-FFF2-40B4-BE49-F238E27FC236}">
                <a16:creationId xmlns:a16="http://schemas.microsoft.com/office/drawing/2014/main" id="{7999AF14-4CB2-B054-1934-616B39B0E07A}"/>
              </a:ext>
            </a:extLst>
          </p:cNvPr>
          <p:cNvSpPr/>
          <p:nvPr/>
        </p:nvSpPr>
        <p:spPr>
          <a:xfrm>
            <a:off x="3086373" y="643425"/>
            <a:ext cx="2181567" cy="413516"/>
          </a:xfrm>
          <a:prstGeom prst="rect">
            <a:avLst/>
          </a:prstGeom>
          <a:noFill/>
          <a:ln/>
        </p:spPr>
        <p:txBody>
          <a:bodyPr wrap="square" lIns="91440" tIns="45720" rIns="91440" bIns="45720" rtlCol="0" anchor="t"/>
          <a:lstStyle/>
          <a:p>
            <a:r>
              <a:rPr lang="en-US" sz="2000" b="1" noProof="0" dirty="0" err="1">
                <a:latin typeface="Trebuchet MS"/>
              </a:rPr>
              <a:t>ResNet</a:t>
            </a:r>
            <a:r>
              <a:rPr lang="en-US" sz="2000" b="1" noProof="0" dirty="0">
                <a:latin typeface="Trebuchet MS"/>
              </a:rPr>
              <a:t> 18 best</a:t>
            </a:r>
            <a:endParaRPr lang="en-US" sz="2000" noProof="0" dirty="0"/>
          </a:p>
          <a:p>
            <a:pPr marL="228600" indent="-228600">
              <a:buChar char="•"/>
            </a:pPr>
            <a:endParaRPr lang="en-US" sz="1100" noProof="0" dirty="0">
              <a:latin typeface="Calibri"/>
              <a:ea typeface="Calibri"/>
              <a:cs typeface="Calibri"/>
            </a:endParaRPr>
          </a:p>
        </p:txBody>
      </p:sp>
      <p:pic>
        <p:nvPicPr>
          <p:cNvPr id="3074" name="Picture 2">
            <a:extLst>
              <a:ext uri="{FF2B5EF4-FFF2-40B4-BE49-F238E27FC236}">
                <a16:creationId xmlns:a16="http://schemas.microsoft.com/office/drawing/2014/main" id="{85FEDE4C-3E3C-102D-2D56-0A95F7F290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9033" y="1099316"/>
            <a:ext cx="3486961" cy="27724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Kaggle Gap</a:t>
            </a: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noProof="0" dirty="0">
                <a:solidFill>
                  <a:srgbClr val="028090"/>
                </a:solidFill>
                <a:latin typeface="Trebuchet MS"/>
              </a:rPr>
              <a:t>Gap Explanation:</a:t>
            </a:r>
          </a:p>
          <a:p>
            <a:pPr marL="171450" indent="-171450">
              <a:buFont typeface="Arial" panose="020B0604020202020204" pitchFamily="34" charset="0"/>
              <a:buChar char="•"/>
            </a:pPr>
            <a:r>
              <a:rPr lang="en-US" sz="1200" dirty="0">
                <a:latin typeface="Trebuchet MS"/>
                <a:ea typeface="Calibri"/>
                <a:cs typeface="Calibri"/>
              </a:rPr>
              <a:t>As mentioned previously the best model still suffered from overfitting even with the heavy regularization, this led to the discrepancy in values, even if it isn’t much bigger</a:t>
            </a:r>
            <a:endParaRPr lang="en-US" sz="1100" noProof="0" dirty="0">
              <a:solidFill>
                <a:srgbClr val="0D1B2A"/>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noProof="0" dirty="0"/>
          </a:p>
        </p:txBody>
      </p:sp>
      <p:sp>
        <p:nvSpPr>
          <p:cNvPr id="51" name="RText"/>
          <p:cNvSpPr/>
          <p:nvPr/>
        </p:nvSpPr>
        <p:spPr>
          <a:xfrm>
            <a:off x="4846800" y="2431223"/>
            <a:ext cx="3840480" cy="1270982"/>
          </a:xfrm>
          <a:prstGeom prst="rect">
            <a:avLst/>
          </a:prstGeom>
          <a:noFill/>
          <a:ln/>
        </p:spPr>
        <p:txBody>
          <a:bodyPr wrap="square" lIns="91440" tIns="45720" rIns="91440" bIns="45720" rtlCol="0" anchor="t"/>
          <a:lstStyle/>
          <a:p>
            <a:pPr>
              <a:buNone/>
            </a:pPr>
            <a:r>
              <a:rPr lang="en-US" sz="1200" b="1" noProof="0" dirty="0">
                <a:solidFill>
                  <a:srgbClr val="00A896"/>
                </a:solidFill>
                <a:latin typeface="Trebuchet MS"/>
              </a:rPr>
              <a:t>Kaggle validation gap</a:t>
            </a:r>
          </a:p>
          <a:p>
            <a:r>
              <a:rPr lang="en-US" sz="1200" b="1" noProof="0" dirty="0">
                <a:solidFill>
                  <a:srgbClr val="00A896"/>
                </a:solidFill>
                <a:latin typeface="Trebuchet MS"/>
              </a:rPr>
              <a:t>	</a:t>
            </a:r>
            <a:r>
              <a:rPr lang="en-US" sz="1200" b="1" noProof="0" dirty="0" err="1">
                <a:solidFill>
                  <a:srgbClr val="00A896"/>
                </a:solidFill>
                <a:latin typeface="Trebuchet MS"/>
              </a:rPr>
              <a:t>val</a:t>
            </a:r>
            <a:r>
              <a:rPr lang="en-US" sz="1200" b="1" noProof="0" dirty="0">
                <a:solidFill>
                  <a:srgbClr val="00A896"/>
                </a:solidFill>
                <a:latin typeface="Trebuchet MS"/>
              </a:rPr>
              <a:t> – 0.2244</a:t>
            </a:r>
          </a:p>
          <a:p>
            <a:r>
              <a:rPr lang="en-US" sz="1200" b="1" noProof="0" dirty="0">
                <a:solidFill>
                  <a:srgbClr val="00A896"/>
                </a:solidFill>
                <a:latin typeface="Trebuchet MS"/>
              </a:rPr>
              <a:t>	</a:t>
            </a:r>
            <a:r>
              <a:rPr lang="en-US" sz="1200" b="1" noProof="0" dirty="0" err="1">
                <a:solidFill>
                  <a:srgbClr val="00A896"/>
                </a:solidFill>
                <a:latin typeface="Trebuchet MS"/>
              </a:rPr>
              <a:t>kaggle</a:t>
            </a:r>
            <a:r>
              <a:rPr lang="en-US" sz="1200" b="1" noProof="0" dirty="0">
                <a:solidFill>
                  <a:srgbClr val="00A896"/>
                </a:solidFill>
                <a:latin typeface="Trebuchet MS"/>
              </a:rPr>
              <a:t> – 0.19966</a:t>
            </a:r>
          </a:p>
          <a:p>
            <a:r>
              <a:rPr lang="en-US" sz="2000" b="1" noProof="0" dirty="0">
                <a:solidFill>
                  <a:srgbClr val="FFFFFF"/>
                </a:solidFill>
                <a:latin typeface="Trebuchet MS"/>
              </a:rPr>
              <a:t>	−</a:t>
            </a:r>
            <a:r>
              <a:rPr lang="en-US" sz="2000" b="1" dirty="0">
                <a:solidFill>
                  <a:srgbClr val="FFFFFF"/>
                </a:solidFill>
                <a:latin typeface="Trebuchet MS"/>
              </a:rPr>
              <a:t>0.02474</a:t>
            </a:r>
            <a:r>
              <a:rPr lang="en-US" sz="2000" b="1" noProof="0" dirty="0">
                <a:solidFill>
                  <a:srgbClr val="FFFFFF"/>
                </a:solidFill>
                <a:latin typeface="Trebuchet MS"/>
              </a:rPr>
              <a:t> (-0.11%)</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noProof="0" dirty="0">
                <a:solidFill>
                  <a:srgbClr val="0D1B2A"/>
                </a:solidFill>
                <a:latin typeface="Trebuchet MS"/>
                <a:ea typeface="Trebuchet MS" pitchFamily="34" charset="-122"/>
                <a:cs typeface="Trebuchet MS" pitchFamily="34" charset="-120"/>
              </a:rPr>
              <a:t>What can be improved &amp; Possible Next Steps?</a:t>
            </a:r>
            <a:endParaRPr lang="en-US" sz="2200" b="1" noProof="0" dirty="0">
              <a:solidFill>
                <a:srgbClr val="0D1B2A"/>
              </a:solidFill>
              <a:latin typeface="Trebuchet MS"/>
            </a:endParaRPr>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Theoretical reasons</a:t>
            </a:r>
            <a:endParaRPr lang="en-US" sz="1300" noProof="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dirty="0">
                <a:solidFill>
                  <a:srgbClr val="0D1B2A"/>
                </a:solidFill>
                <a:latin typeface="Trebuchet MS"/>
              </a:rPr>
              <a:t>Try new ensembles</a:t>
            </a:r>
            <a:endParaRPr lang="en-US" sz="1200" noProof="0" dirty="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Train a new ResNet34 with a similar configuration (regularization and augmentation) than the best model.</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Try even more aggressive regularization</a:t>
            </a:r>
            <a:endParaRPr lang="en-US" noProof="0" dirty="0"/>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 main problem of our best model is the quick increase on the training set, reaching an f1 score of 1, while not generalizing to the training set.</a:t>
            </a: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New data augmentation</a:t>
            </a:r>
            <a:endParaRPr lang="en-US" noProof="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Use different strategies that can reduce the image noise and let the model focus on the </a:t>
            </a:r>
            <a:r>
              <a:rPr lang="en-US" sz="1100" noProof="0" dirty="0" err="1">
                <a:solidFill>
                  <a:srgbClr val="3D5A73"/>
                </a:solidFill>
                <a:latin typeface="Calibri"/>
                <a:ea typeface="Calibri"/>
                <a:cs typeface="Calibri"/>
              </a:rPr>
              <a:t>pokemon</a:t>
            </a:r>
            <a:r>
              <a:rPr lang="en-US" sz="1100" noProof="0" dirty="0">
                <a:solidFill>
                  <a:srgbClr val="3D5A73"/>
                </a:solidFill>
                <a:latin typeface="Calibri"/>
                <a:ea typeface="Calibri"/>
                <a:cs typeface="Calibri"/>
              </a:rPr>
              <a:t>.</a:t>
            </a:r>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Empirical confirmation</a:t>
            </a:r>
            <a:endParaRPr lang="en-US" sz="1300" noProof="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en-US" noProof="0" dirty="0"/>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new base models</a:t>
            </a:r>
            <a:endParaRPr lang="en-US" sz="1200" noProof="0" dirty="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Mobile net </a:t>
            </a:r>
            <a:r>
              <a:rPr lang="en-US" sz="1100" dirty="0">
                <a:solidFill>
                  <a:srgbClr val="3D5A73"/>
                </a:solidFill>
                <a:latin typeface="Calibri"/>
                <a:ea typeface="Calibri"/>
                <a:cs typeface="Calibri"/>
              </a:rPr>
              <a:t>small can also be a good option for small datasets like this one.</a:t>
            </a:r>
            <a:endParaRPr lang="en-US" sz="1100" noProof="0" dirty="0">
              <a:solidFill>
                <a:srgbClr val="3D5A73"/>
              </a:solidFill>
              <a:latin typeface="Calibri"/>
              <a:ea typeface="Calibri"/>
              <a:cs typeface="Calibri"/>
            </a:endParaRP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en-US" noProof="0" dirty="0"/>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to let the model focus on its weaker classes</a:t>
            </a:r>
            <a:endParaRPr lang="en-US" sz="1200" b="1" noProof="0" dirty="0">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There are classes where the model as a 0 score, making the model see more examples of this class at training with different sampling strategies might increase our overall score.</a:t>
            </a:r>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en-US" noProof="0" dirty="0"/>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en-US" noProof="0" dirty="0"/>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Conclusions</a:t>
            </a:r>
            <a:endParaRPr lang="en-US" sz="2200" noProof="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493776" y="859535"/>
            <a:ext cx="5715000" cy="582577"/>
          </a:xfrm>
          <a:prstGeom prst="rect">
            <a:avLst/>
          </a:prstGeom>
          <a:noFill/>
          <a:ln/>
        </p:spPr>
        <p:txBody>
          <a:bodyPr wrap="square" lIns="0" tIns="0" rIns="0" bIns="0" rtlCol="0" anchor="ctr"/>
          <a:lstStyle/>
          <a:p>
            <a:r>
              <a:rPr lang="en-US" sz="1100" noProof="0" dirty="0">
                <a:latin typeface="Trebuchet MS"/>
              </a:rPr>
              <a:t>With the decrease of the data set, overfitting becomes very easy to accomplish</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en-US" noProof="0" dirty="0"/>
          </a:p>
        </p:txBody>
      </p:sp>
      <p:sp>
        <p:nvSpPr>
          <p:cNvPr id="12" name="Text 10"/>
          <p:cNvSpPr/>
          <p:nvPr/>
        </p:nvSpPr>
        <p:spPr>
          <a:xfrm>
            <a:off x="493776" y="1682496"/>
            <a:ext cx="5715000" cy="576072"/>
          </a:xfrm>
          <a:prstGeom prst="rect">
            <a:avLst/>
          </a:prstGeom>
          <a:noFill/>
          <a:ln/>
        </p:spPr>
        <p:txBody>
          <a:bodyPr wrap="square" lIns="0" tIns="0" rIns="0" bIns="0" rtlCol="0" anchor="ctr"/>
          <a:lstStyle/>
          <a:p>
            <a:r>
              <a:rPr lang="en-US" sz="1100" dirty="0">
                <a:latin typeface="Trebuchet MS"/>
              </a:rPr>
              <a:t>Unfreezing models shapes them better to the current task but has complexity drawbacks and can ruin the feature extraction capabilities inherent to their original weights</a:t>
            </a:r>
            <a:endParaRPr lang="en-US" sz="1100" noProof="0" dirty="0">
              <a:latin typeface="Trebuchet MS"/>
            </a:endParaRPr>
          </a:p>
        </p:txBody>
      </p:sp>
      <p:sp>
        <p:nvSpPr>
          <p:cNvPr id="14" name="Shape 12"/>
          <p:cNvSpPr/>
          <p:nvPr/>
        </p:nvSpPr>
        <p:spPr>
          <a:xfrm>
            <a:off x="347472" y="2441448"/>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sz="2000" noProof="0" dirty="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en-US" noProof="0" dirty="0"/>
          </a:p>
        </p:txBody>
      </p:sp>
      <p:sp>
        <p:nvSpPr>
          <p:cNvPr id="16" name="Text 14"/>
          <p:cNvSpPr/>
          <p:nvPr/>
        </p:nvSpPr>
        <p:spPr>
          <a:xfrm>
            <a:off x="493776" y="2505456"/>
            <a:ext cx="5715000" cy="565290"/>
          </a:xfrm>
          <a:prstGeom prst="rect">
            <a:avLst/>
          </a:prstGeom>
          <a:noFill/>
          <a:ln/>
        </p:spPr>
        <p:txBody>
          <a:bodyPr wrap="square" lIns="0" tIns="0" rIns="0" bIns="0" rtlCol="0" anchor="ctr"/>
          <a:lstStyle/>
          <a:p>
            <a:pPr marL="0" indent="0">
              <a:buNone/>
            </a:pPr>
            <a:r>
              <a:rPr lang="en-US" sz="1100" noProof="0" dirty="0">
                <a:latin typeface="Trebuchet MS"/>
              </a:rPr>
              <a:t>Regularization</a:t>
            </a:r>
            <a:r>
              <a:rPr lang="en-US" sz="1100" dirty="0">
                <a:latin typeface="Trebuchet MS"/>
              </a:rPr>
              <a:t>n techniques become essential, and data augmentation can help with seeing variety in the dataset</a:t>
            </a:r>
            <a:endParaRPr lang="en-US" sz="1100" noProof="0" dirty="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endParaRPr lang="en-US" sz="1050" noProof="0" dirty="0">
              <a:solidFill>
                <a:schemeClr val="accent2">
                  <a:lumMod val="40000"/>
                  <a:lumOff val="60000"/>
                </a:schemeClr>
              </a:solidFill>
              <a:latin typeface="Calibri"/>
              <a:ea typeface="Calibri"/>
              <a:cs typeface="Calibri"/>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493776" y="3328416"/>
            <a:ext cx="5715000" cy="547548"/>
          </a:xfrm>
          <a:prstGeom prst="rect">
            <a:avLst/>
          </a:prstGeom>
          <a:noFill/>
          <a:ln/>
        </p:spPr>
        <p:txBody>
          <a:bodyPr wrap="square" lIns="0" tIns="0" rIns="0" bIns="0" rtlCol="0" anchor="ctr"/>
          <a:lstStyle/>
          <a:p>
            <a:r>
              <a:rPr lang="en-US" sz="1100" noProof="0" dirty="0"/>
              <a:t>Simpler Models are better then highly complex ones, models with high numbers of parameters easily overfit by “memorizing” the images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en-US" noProof="0" dirty="0"/>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noProof="0" dirty="0">
                <a:latin typeface="Trebuchet MS"/>
              </a:rPr>
              <a:t>No need for ensembles</a:t>
            </a: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noProof="0" dirty="0">
                <a:solidFill>
                  <a:schemeClr val="accent2">
                    <a:lumMod val="40000"/>
                    <a:lumOff val="60000"/>
                  </a:schemeClr>
                </a:solidFill>
                <a:latin typeface="Calibri"/>
                <a:ea typeface="Calibri"/>
                <a:cs typeface="Calibri"/>
              </a:rPr>
              <a:t>Ensembled experiments returned similar results; Best solo is already good enough for this task</a:t>
            </a: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en-US" noProof="0" dirty="0"/>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noProof="0" dirty="0">
                <a:solidFill>
                  <a:srgbClr val="FFFFFF"/>
                </a:solidFill>
                <a:latin typeface="Calibri"/>
                <a:ea typeface="Calibri"/>
                <a:cs typeface="Calibri"/>
              </a:rPr>
              <a:t>Task 3 complete  ·  Kaggle score: 0.19966 · </a:t>
            </a:r>
            <a:r>
              <a:rPr lang="en-US" sz="1000" dirty="0">
                <a:solidFill>
                  <a:srgbClr val="FFFFFF"/>
                </a:solidFill>
                <a:latin typeface="Calibri"/>
                <a:ea typeface="Calibri"/>
                <a:cs typeface="Calibri"/>
              </a:rPr>
              <a:t>27</a:t>
            </a:r>
            <a:r>
              <a:rPr lang="en-US" sz="1000" noProof="0" dirty="0">
                <a:solidFill>
                  <a:srgbClr val="FFFFFF"/>
                </a:solidFill>
                <a:latin typeface="Calibri"/>
                <a:ea typeface="Calibri"/>
                <a:cs typeface="Calibri"/>
              </a:rPr>
              <a:t> experiments  ·  ~</a:t>
            </a:r>
            <a:r>
              <a:rPr lang="en-US" sz="1000" dirty="0">
                <a:solidFill>
                  <a:srgbClr val="FFFFFF"/>
                </a:solidFill>
                <a:latin typeface="Calibri"/>
                <a:ea typeface="Calibri"/>
                <a:cs typeface="Calibri"/>
              </a:rPr>
              <a:t>2:10</a:t>
            </a:r>
            <a:r>
              <a:rPr lang="en-US" sz="1000" noProof="0" dirty="0">
                <a:solidFill>
                  <a:srgbClr val="FFFFFF"/>
                </a:solidFill>
                <a:latin typeface="Calibri"/>
                <a:ea typeface="Calibri"/>
                <a:cs typeface="Calibri"/>
              </a:rPr>
              <a:t> h on T4</a:t>
            </a:r>
            <a:endParaRPr lang="en-US" sz="1000" noProof="0" dirty="0">
              <a:latin typeface="Calibri"/>
              <a:ea typeface="Calibri"/>
              <a:cs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noProof="0" dirty="0">
                <a:solidFill>
                  <a:srgbClr val="02C39A"/>
                </a:solidFill>
                <a:latin typeface="Calibri"/>
                <a:ea typeface="Calibri"/>
                <a:cs typeface="Calibri"/>
              </a:rPr>
              <a:t>DEEP LEARNING  ·  ASSIGNMENT 1  ·  TASK 3</a:t>
            </a:r>
            <a:endParaRPr lang="en-US" sz="1000" noProof="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noProof="0" dirty="0">
                <a:solidFill>
                  <a:srgbClr val="FFFFFF"/>
                </a:solidFill>
                <a:latin typeface="Trebuchet MS" pitchFamily="34" charset="0"/>
                <a:ea typeface="Trebuchet MS" pitchFamily="34" charset="-122"/>
                <a:cs typeface="Trebuchet MS" pitchFamily="34" charset="-120"/>
              </a:rPr>
              <a:t>Pokémon Type Classification</a:t>
            </a:r>
            <a:endParaRPr lang="en-US" sz="3400" noProof="0" dirty="0"/>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en-US" noProof="0" dirty="0"/>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noProof="0" dirty="0">
                <a:solidFill>
                  <a:srgbClr val="AACDE0"/>
                </a:solidFill>
                <a:latin typeface="Calibri" pitchFamily="34" charset="0"/>
                <a:ea typeface="Calibri" pitchFamily="34" charset="-122"/>
                <a:cs typeface="Calibri" pitchFamily="34" charset="-120"/>
              </a:rPr>
              <a:t>70698 – Francisco Silva</a:t>
            </a:r>
          </a:p>
          <a:p>
            <a:r>
              <a:rPr lang="en-US" sz="1300" noProof="0" dirty="0">
                <a:solidFill>
                  <a:srgbClr val="AACDE0"/>
                </a:solidFill>
                <a:latin typeface="Calibri" pitchFamily="34" charset="0"/>
                <a:cs typeface="Calibri" pitchFamily="34" charset="-120"/>
              </a:rPr>
              <a:t>73208 </a:t>
            </a:r>
            <a:r>
              <a:rPr lang="en-US" sz="1300" noProof="0" dirty="0">
                <a:solidFill>
                  <a:srgbClr val="AACDE0"/>
                </a:solidFill>
                <a:latin typeface="Calibri" pitchFamily="34" charset="0"/>
                <a:ea typeface="Calibri" pitchFamily="34" charset="-122"/>
                <a:cs typeface="Calibri" pitchFamily="34" charset="-120"/>
              </a:rPr>
              <a:t>– Rúben Silva</a:t>
            </a:r>
            <a:endParaRPr lang="en-US" sz="1300" noProof="0" dirty="0"/>
          </a:p>
          <a:p>
            <a:pPr marL="0" indent="0">
              <a:buNone/>
            </a:pPr>
            <a:r>
              <a:rPr lang="en-US" sz="1300" noProof="0" dirty="0">
                <a:solidFill>
                  <a:srgbClr val="AACDE0"/>
                </a:solidFill>
                <a:latin typeface="Calibri" pitchFamily="34" charset="0"/>
                <a:ea typeface="Calibri" pitchFamily="34" charset="-122"/>
                <a:cs typeface="Calibri" pitchFamily="34" charset="-120"/>
              </a:rPr>
              <a:t>73554 – Miguel Cangalhas</a:t>
            </a: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1164</TotalTime>
  <Words>10716</Words>
  <Application>Microsoft Office PowerPoint</Application>
  <PresentationFormat>Apresentação no Ecrã (16:9)</PresentationFormat>
  <Paragraphs>1564</Paragraphs>
  <Slides>85</Slides>
  <Notes>40</Notes>
  <HiddenSlides>0</HiddenSlides>
  <MMClips>0</MMClips>
  <ScaleCrop>false</ScaleCrop>
  <HeadingPairs>
    <vt:vector size="6" baseType="variant">
      <vt:variant>
        <vt:lpstr>Tipos de letra usados</vt:lpstr>
      </vt:variant>
      <vt:variant>
        <vt:i4>8</vt:i4>
      </vt:variant>
      <vt:variant>
        <vt:lpstr>Tema</vt:lpstr>
      </vt:variant>
      <vt:variant>
        <vt:i4>2</vt:i4>
      </vt:variant>
      <vt:variant>
        <vt:lpstr>Títulos dos diapositivos</vt:lpstr>
      </vt:variant>
      <vt:variant>
        <vt:i4>85</vt:i4>
      </vt:variant>
    </vt:vector>
  </HeadingPairs>
  <TitlesOfParts>
    <vt:vector size="95" baseType="lpstr">
      <vt:lpstr>Arial</vt:lpstr>
      <vt:lpstr>Berlin Sans FB</vt:lpstr>
      <vt:lpstr>Bierstadt</vt:lpstr>
      <vt:lpstr>Calibri</vt:lpstr>
      <vt:lpstr>Consolas</vt:lpstr>
      <vt:lpstr>Corbel</vt:lpstr>
      <vt:lpstr>Trebuchet MS</vt:lpstr>
      <vt:lpstr>Tw Cen MT</vt:lpstr>
      <vt:lpstr>Depth</vt:lpstr>
      <vt:lpstr>Droplet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Miguel Jose de Melo Ferreira Cangalhas</cp:lastModifiedBy>
  <cp:revision>1998</cp:revision>
  <dcterms:created xsi:type="dcterms:W3CDTF">2026-03-07T01:48:48Z</dcterms:created>
  <dcterms:modified xsi:type="dcterms:W3CDTF">2026-04-14T21:57:42Z</dcterms:modified>
</cp:coreProperties>
</file>