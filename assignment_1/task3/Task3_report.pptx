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1"/>
  </p:notesMasterIdLst>
  <p:sldIdLst>
    <p:sldId id="256" r:id="rId3"/>
    <p:sldId id="257" r:id="rId4"/>
    <p:sldId id="281" r:id="rId5"/>
    <p:sldId id="288" r:id="rId6"/>
    <p:sldId id="309" r:id="rId7"/>
    <p:sldId id="285" r:id="rId8"/>
    <p:sldId id="287" r:id="rId9"/>
    <p:sldId id="306" r:id="rId10"/>
    <p:sldId id="295" r:id="rId11"/>
    <p:sldId id="303" r:id="rId12"/>
    <p:sldId id="314" r:id="rId13"/>
    <p:sldId id="307" r:id="rId14"/>
    <p:sldId id="310" r:id="rId15"/>
    <p:sldId id="315" r:id="rId16"/>
    <p:sldId id="313" r:id="rId17"/>
    <p:sldId id="304" r:id="rId18"/>
    <p:sldId id="289" r:id="rId19"/>
    <p:sldId id="284" r:id="rId20"/>
    <p:sldId id="290" r:id="rId21"/>
    <p:sldId id="271" r:id="rId22"/>
    <p:sldId id="293" r:id="rId23"/>
    <p:sldId id="275" r:id="rId24"/>
    <p:sldId id="297" r:id="rId25"/>
    <p:sldId id="298" r:id="rId26"/>
    <p:sldId id="299" r:id="rId27"/>
    <p:sldId id="278" r:id="rId28"/>
    <p:sldId id="279" r:id="rId29"/>
    <p:sldId id="300" r:id="rId30"/>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guel Jose de Melo Ferreira Cangalhas" initials="MJdMFC" lastIdx="1" clrIdx="0">
    <p:extLst>
      <p:ext uri="{19B8F6BF-5375-455C-9EA6-DF929625EA0E}">
        <p15:presenceInfo xmlns:p15="http://schemas.microsoft.com/office/powerpoint/2012/main" userId="S::m.cangalhas@FCT.UNL.PT::1e0500b3-a803-4c7a-b4e4-a78ce357e9d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61B2E9"/>
    <a:srgbClr val="0D1B2A"/>
    <a:srgbClr val="6692AE"/>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968B7-DA67-72A4-3DF0-AEB616358612}" v="7715" dt="2026-03-25T11:10:53.253"/>
    <p1510:client id="{767BBB93-3087-B744-08BA-B89B3F0EEC89}" v="2734" dt="2026-03-25T17:11:20.895"/>
    <p1510:client id="{8CD50E63-8E47-5A93-9879-8D2832121154}" v="1381" dt="2026-03-25T22:05:17.5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210" d="100"/>
          <a:sy n="210" d="100"/>
        </p:scale>
        <p:origin x="150" y="2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commentAuthors" Target="commentAuthors.xml"/><Relationship Id="rId37" Type="http://schemas.microsoft.com/office/2015/10/relationships/revisionInfo" Target="revisionInfo.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2631D-F7A4-533F-6E3F-B87FBAB9F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6501F-AD7D-19EE-62E7-86FC558D1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722F70-F58F-73A5-1BCE-4E1AEEE5FB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56D381-E069-BB1A-7ABD-615C1BC714F6}"/>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115686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4/14/2026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4/14/2026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‹nº›</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4/14/2026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‹nº›</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4/14/2026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‹nº›</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36.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36.xml"/><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5.png"/><Relationship Id="rId1" Type="http://schemas.openxmlformats.org/officeDocument/2006/relationships/slideLayout" Target="../slideLayouts/slideLayout36.xml"/><Relationship Id="rId5" Type="http://schemas.openxmlformats.org/officeDocument/2006/relationships/image" Target="../media/image16.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36.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36.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36.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36.xml"/><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Layout" Target="../slideLayouts/slideLayout36.xml"/><Relationship Id="rId5" Type="http://schemas.openxmlformats.org/officeDocument/2006/relationships/image" Target="../media/image24.png"/><Relationship Id="rId4" Type="http://schemas.openxmlformats.org/officeDocument/2006/relationships/image" Target="../media/image23.png"/></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6.xml"/><Relationship Id="rId6" Type="http://schemas.openxmlformats.org/officeDocument/2006/relationships/image" Target="../media/image27.png"/><Relationship Id="rId5" Type="http://schemas.openxmlformats.org/officeDocument/2006/relationships/image" Target="../media/image11.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6.xml"/></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3.png"/><Relationship Id="rId1" Type="http://schemas.openxmlformats.org/officeDocument/2006/relationships/slideLayout" Target="../slideLayouts/slideLayout36.xml"/><Relationship Id="rId5" Type="http://schemas.openxmlformats.org/officeDocument/2006/relationships/image" Target="../media/image31.png"/><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noProof="0" dirty="0">
                <a:solidFill>
                  <a:srgbClr val="02C39A"/>
                </a:solidFill>
                <a:latin typeface="Calibri" pitchFamily="34" charset="0"/>
                <a:ea typeface="Calibri" pitchFamily="34" charset="-122"/>
                <a:cs typeface="Calibri" pitchFamily="34" charset="-120"/>
              </a:rPr>
              <a:t>DEEP LEARNING  ·  ASSIGNMENT 1  ·  TASK 3</a:t>
            </a:r>
            <a:endParaRPr lang="en-US" sz="1000" noProof="0" dirty="0"/>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noProof="0" dirty="0">
                <a:solidFill>
                  <a:srgbClr val="FFFFFF"/>
                </a:solidFill>
                <a:latin typeface="Trebuchet MS" pitchFamily="34" charset="0"/>
                <a:ea typeface="Trebuchet MS" pitchFamily="34" charset="-122"/>
                <a:cs typeface="Trebuchet MS" pitchFamily="34" charset="-120"/>
              </a:rPr>
              <a:t>Pokémon Type Classification</a:t>
            </a:r>
            <a:endParaRPr lang="en-US" sz="3400" noProof="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noProof="0" dirty="0">
                <a:solidFill>
                  <a:srgbClr val="7AADCC"/>
                </a:solidFill>
                <a:latin typeface="Calibri"/>
                <a:ea typeface="Calibri"/>
                <a:cs typeface="Calibri"/>
              </a:rPr>
              <a:t>TASK 3 - </a:t>
            </a:r>
            <a:r>
              <a:rPr lang="en-US" sz="1600" noProof="0" dirty="0">
                <a:solidFill>
                  <a:srgbClr val="6692AE"/>
                </a:solidFill>
              </a:rPr>
              <a:t>Transfer Learning and Fine-Tuning</a:t>
            </a:r>
            <a:endParaRPr lang="en-US" sz="1600" noProof="0" dirty="0">
              <a:solidFill>
                <a:srgbClr val="6692AE"/>
              </a:solidFill>
              <a:latin typeface="Calibri"/>
              <a:ea typeface="Calibri"/>
              <a:cs typeface="Calibri"/>
            </a:endParaRP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en-US" noProof="0" dirty="0"/>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noProof="0" dirty="0">
                <a:solidFill>
                  <a:srgbClr val="AACDE0"/>
                </a:solidFill>
                <a:latin typeface="Calibri" pitchFamily="34" charset="0"/>
                <a:ea typeface="Calibri" pitchFamily="34" charset="-122"/>
                <a:cs typeface="Calibri" pitchFamily="34" charset="-120"/>
              </a:rPr>
              <a:t>70698 – Francisco Silva</a:t>
            </a:r>
          </a:p>
          <a:p>
            <a:r>
              <a:rPr lang="en-US" sz="1300" noProof="0" dirty="0">
                <a:solidFill>
                  <a:srgbClr val="AACDE0"/>
                </a:solidFill>
                <a:latin typeface="Calibri" pitchFamily="34" charset="0"/>
                <a:cs typeface="Calibri" pitchFamily="34" charset="-120"/>
              </a:rPr>
              <a:t>73208 </a:t>
            </a:r>
            <a:r>
              <a:rPr lang="en-US" sz="1300" noProof="0" dirty="0">
                <a:solidFill>
                  <a:srgbClr val="AACDE0"/>
                </a:solidFill>
                <a:latin typeface="Calibri" pitchFamily="34" charset="0"/>
                <a:ea typeface="Calibri" pitchFamily="34" charset="-122"/>
                <a:cs typeface="Calibri" pitchFamily="34" charset="-120"/>
              </a:rPr>
              <a:t>– Rúben Silva</a:t>
            </a:r>
            <a:endParaRPr lang="en-US" sz="1300" noProof="0" dirty="0"/>
          </a:p>
          <a:p>
            <a:pPr marL="0" indent="0">
              <a:buNone/>
            </a:pPr>
            <a:r>
              <a:rPr lang="en-US" sz="1300" noProof="0" dirty="0">
                <a:solidFill>
                  <a:srgbClr val="AACDE0"/>
                </a:solidFill>
                <a:latin typeface="Calibri" pitchFamily="34" charset="0"/>
                <a:ea typeface="Calibri" pitchFamily="34" charset="-122"/>
                <a:cs typeface="Calibri" pitchFamily="34" charset="-120"/>
              </a:rPr>
              <a:t>73554 – Miguel Cangalhas</a:t>
            </a: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What We Cover</a:t>
            </a:r>
            <a:endParaRPr lang="en-US" sz="2200" noProof="0" dirty="0"/>
          </a:p>
        </p:txBody>
      </p:sp>
      <p:sp>
        <p:nvSpPr>
          <p:cNvPr id="4" name="Shape 2"/>
          <p:cNvSpPr/>
          <p:nvPr/>
        </p:nvSpPr>
        <p:spPr>
          <a:xfrm>
            <a:off x="365760" y="809244"/>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1</a:t>
            </a:r>
            <a:endParaRPr lang="en-US" sz="2200" noProof="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noProof="0" dirty="0">
                <a:solidFill>
                  <a:srgbClr val="FFFFFF"/>
                </a:solidFill>
                <a:latin typeface="Trebuchet MS" pitchFamily="34" charset="0"/>
                <a:ea typeface="Trebuchet MS" pitchFamily="34" charset="-122"/>
                <a:cs typeface="Trebuchet MS" pitchFamily="34" charset="-120"/>
              </a:rPr>
              <a:t>Model Development</a:t>
            </a:r>
            <a:endParaRPr lang="en-US" sz="1400" noProof="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Architectures  · Experiments · Results</a:t>
            </a:r>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2</a:t>
            </a:r>
            <a:endParaRPr lang="en-US" sz="2200" noProof="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Fine-tunning, augmentation and regularization</a:t>
            </a:r>
            <a:endParaRPr lang="en-US" noProof="0" dirty="0"/>
          </a:p>
        </p:txBody>
      </p:sp>
      <p:sp>
        <p:nvSpPr>
          <p:cNvPr id="17" name="Text 15"/>
          <p:cNvSpPr/>
          <p:nvPr/>
        </p:nvSpPr>
        <p:spPr>
          <a:xfrm>
            <a:off x="5416296" y="1531620"/>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Only Head vs Head and Last Layer vs Full </a:t>
            </a:r>
            <a:r>
              <a:rPr lang="en-US" sz="1400" noProof="0" dirty="0">
                <a:solidFill>
                  <a:srgbClr val="7AADCC"/>
                </a:solidFill>
                <a:latin typeface="Calibri" pitchFamily="34" charset="0"/>
                <a:ea typeface="Calibri" pitchFamily="34" charset="-122"/>
                <a:cs typeface="Calibri" pitchFamily="34" charset="-120"/>
              </a:rPr>
              <a:t>·</a:t>
            </a:r>
            <a:r>
              <a:rPr lang="en-US" sz="1400" noProof="0" dirty="0">
                <a:solidFill>
                  <a:srgbClr val="7AADCC"/>
                </a:solidFill>
                <a:latin typeface="Calibri"/>
                <a:ea typeface="Calibri"/>
                <a:cs typeface="Calibri"/>
              </a:rPr>
              <a:t> Augmentation techniques</a:t>
            </a:r>
            <a:r>
              <a:rPr lang="en-US" sz="1400" noProof="0" dirty="0">
                <a:solidFill>
                  <a:srgbClr val="7AADCC"/>
                </a:solidFill>
                <a:latin typeface="Calibri" pitchFamily="34" charset="0"/>
                <a:ea typeface="Calibri" pitchFamily="34" charset="-122"/>
                <a:cs typeface="Calibri" pitchFamily="34" charset="-120"/>
              </a:rPr>
              <a:t> · ADMW · Label smoothing · Ensembles </a:t>
            </a:r>
            <a:r>
              <a:rPr lang="en-US" sz="1400" noProof="0" dirty="0">
                <a:solidFill>
                  <a:srgbClr val="7AADCC"/>
                </a:solidFill>
                <a:latin typeface="Calibri"/>
                <a:ea typeface="Calibri"/>
                <a:cs typeface="Calibri"/>
              </a:rPr>
              <a:t> </a:t>
            </a:r>
          </a:p>
          <a:p>
            <a:endParaRPr lang="en-US" sz="1400" noProof="0" dirty="0">
              <a:solidFill>
                <a:srgbClr val="7AADCC"/>
              </a:solidFill>
              <a:latin typeface="Calibri"/>
              <a:ea typeface="Calibri"/>
              <a:cs typeface="Calibri"/>
            </a:endParaRPr>
          </a:p>
          <a:p>
            <a:pPr marL="0" indent="0">
              <a:buNone/>
            </a:pPr>
            <a:endParaRPr lang="en-US" sz="1400" noProof="0" dirty="0">
              <a:solidFill>
                <a:srgbClr val="7AADCC"/>
              </a:solidFill>
              <a:latin typeface="Calibri"/>
              <a:ea typeface="Calibri"/>
              <a:cs typeface="Calibri"/>
            </a:endParaRPr>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3</a:t>
            </a:r>
            <a:endParaRPr lang="en-US" sz="2200" noProof="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Performance Evaluation</a:t>
            </a:r>
            <a:endParaRPr lang="en-US" sz="1400" b="1" noProof="0" dirty="0">
              <a:latin typeface="Trebuchet MS"/>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r>
              <a:rPr lang="en-US" sz="1400" noProof="0" dirty="0">
                <a:solidFill>
                  <a:srgbClr val="7AADCC"/>
                </a:solidFill>
                <a:latin typeface="Calibri" pitchFamily="34" charset="0"/>
                <a:ea typeface="Calibri" pitchFamily="34" charset="-122"/>
                <a:cs typeface="Calibri" pitchFamily="34" charset="-120"/>
              </a:rPr>
              <a:t>Macro-F1  ·  Per-class  ·  Confusion Matrix</a:t>
            </a:r>
            <a:endParaRPr lang="en-US" sz="1400" noProof="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noProof="0"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1</a:t>
            </a:r>
            <a:endParaRPr lang="en-US" b="1" noProof="0"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78998"/>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Exploration strategy</a:t>
            </a:r>
            <a:endParaRPr lang="en-US" sz="2200" noProof="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2531038483"/>
              </p:ext>
            </p:extLst>
          </p:nvPr>
        </p:nvGraphicFramePr>
        <p:xfrm>
          <a:off x="174433" y="1255677"/>
          <a:ext cx="8653017" cy="340776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1306601">
                  <a:extLst>
                    <a:ext uri="{9D8B030D-6E8A-4147-A177-3AD203B41FA5}">
                      <a16:colId xmlns:a16="http://schemas.microsoft.com/office/drawing/2014/main" val="3394786443"/>
                    </a:ext>
                  </a:extLst>
                </a:gridCol>
                <a:gridCol w="2071782">
                  <a:extLst>
                    <a:ext uri="{9D8B030D-6E8A-4147-A177-3AD203B41FA5}">
                      <a16:colId xmlns:a16="http://schemas.microsoft.com/office/drawing/2014/main" val="2858452526"/>
                    </a:ext>
                  </a:extLst>
                </a:gridCol>
                <a:gridCol w="1068401">
                  <a:extLst>
                    <a:ext uri="{9D8B030D-6E8A-4147-A177-3AD203B41FA5}">
                      <a16:colId xmlns:a16="http://schemas.microsoft.com/office/drawing/2014/main" val="2404321311"/>
                    </a:ext>
                  </a:extLst>
                </a:gridCol>
                <a:gridCol w="1512395">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en-US" sz="1050" b="1" u="none" strike="noStrike" noProof="0" dirty="0">
                          <a:effectLst/>
                          <a:latin typeface="Calibri" panose="020F0502020204030204" pitchFamily="34" charset="0"/>
                          <a:ea typeface="Calibri" panose="020F0502020204030204" pitchFamily="34" charset="0"/>
                          <a:cs typeface="Calibri" panose="020F0502020204030204" pitchFamily="34" charset="0"/>
                        </a:rPr>
                        <a:t>ID</a:t>
                      </a:r>
                      <a:endParaRPr lang="en-US" sz="1050" b="1"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Name</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Model</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Criterion (~loss function)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Optimizer</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Rationale behind base model selection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EfficNetB0_Base</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EfficientNet-B0 [total params: 4,019,077]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Used as a baseline by google, made to be simpler than other popular choices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a:ea typeface="Calibri"/>
                          <a:cs typeface="Calibri"/>
                        </a:rPr>
                        <a:t>VGG16_Base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VGG 16 [total params: 134,297,417]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Simple architecture, excellent feature extractor, highly used in transfer learning tasks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SwinV2-Tiny [total params: 27,589,491]</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ResNet34_Base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ResNet34 [total params: 21,289,289]</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Made for small datasets, efficient and lightweight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a:ea typeface="Calibri"/>
                          <a:cs typeface="Calibri"/>
                        </a:rPr>
                        <a:t>ConvNext_Base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ConvNeXt</a:t>
                      </a: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Tiny [total params: 27,827,049]</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Combines transformers performance with CNN’s speed and efficiency, smaller than the original</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ResNet18_Cust</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ResNet18 with custom head [total params (base version): 11,756,593]</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Similar to ResNet18 but with even less layers, might be better for our small dataset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Efficientnet_v2_s_Cust</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EfficientNetV2-S with custom head[total params (base version): 20,189,017]</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Optimized for image classification, improves upon the original </a:t>
                      </a:r>
                      <a:r>
                        <a:rPr lang="en-US" sz="1050" b="0" i="0" u="none" strike="noStrike" noProof="0" dirty="0" err="1">
                          <a:solidFill>
                            <a:srgbClr val="000000"/>
                          </a:solidFill>
                          <a:effectLst/>
                          <a:latin typeface="Calibri"/>
                          <a:ea typeface="Calibri"/>
                          <a:cs typeface="Calibri"/>
                        </a:rPr>
                        <a:t>EfficientNet</a:t>
                      </a:r>
                      <a:r>
                        <a:rPr lang="en-US" sz="1050" b="0" i="0" u="none" strike="noStrike" noProof="0" dirty="0">
                          <a:solidFill>
                            <a:srgbClr val="000000"/>
                          </a:solidFill>
                          <a:effectLst/>
                          <a:latin typeface="Calibri"/>
                          <a:ea typeface="Calibri"/>
                          <a:cs typeface="Calibri"/>
                        </a:rPr>
                        <a:t>, and is the smaller version</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N</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SwinV2t_MLP</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SwinV2-Tiny with best MLP head</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noProof="0" dirty="0"/>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noProof="0" dirty="0">
                <a:solidFill>
                  <a:schemeClr val="accent2">
                    <a:lumMod val="40000"/>
                    <a:lumOff val="60000"/>
                  </a:schemeClr>
                </a:solidFill>
                <a:latin typeface="Trebuchet MS" pitchFamily="34" charset="0"/>
              </a:rPr>
              <a:t>Strategy</a:t>
            </a:r>
            <a:r>
              <a:rPr lang="en-US" sz="1200" b="1" noProof="0" dirty="0">
                <a:solidFill>
                  <a:srgbClr val="00A896"/>
                </a:solidFill>
                <a:latin typeface="Trebuchet MS" pitchFamily="34" charset="0"/>
              </a:rPr>
              <a:t>: </a:t>
            </a:r>
            <a:r>
              <a:rPr lang="en-US" sz="1200" noProof="0" dirty="0">
                <a:solidFill>
                  <a:schemeClr val="bg1"/>
                </a:solidFill>
                <a:latin typeface="Calibri" pitchFamily="34" charset="0"/>
              </a:rPr>
              <a:t>We explored different pre-trained models from </a:t>
            </a:r>
            <a:r>
              <a:rPr lang="en-US" sz="1200" noProof="0" dirty="0" err="1">
                <a:solidFill>
                  <a:schemeClr val="bg1"/>
                </a:solidFill>
                <a:latin typeface="Calibri" pitchFamily="34" charset="0"/>
              </a:rPr>
              <a:t>pytorch</a:t>
            </a:r>
            <a:r>
              <a:rPr lang="en-US" sz="1200" noProof="0" dirty="0">
                <a:solidFill>
                  <a:schemeClr val="bg1"/>
                </a:solidFill>
                <a:latin typeface="Calibri" pitchFamily="34" charset="0"/>
              </a:rPr>
              <a:t>. For each one we tested with 2 different heads, a basic linear and another with two </a:t>
            </a:r>
            <a:r>
              <a:rPr lang="en-US" sz="1200" noProof="0" dirty="0" err="1">
                <a:solidFill>
                  <a:schemeClr val="bg1"/>
                </a:solidFill>
                <a:latin typeface="Calibri" pitchFamily="34" charset="0"/>
              </a:rPr>
              <a:t>linears</a:t>
            </a:r>
            <a:r>
              <a:rPr lang="en-US" sz="1200" noProof="0" dirty="0">
                <a:solidFill>
                  <a:schemeClr val="bg1"/>
                </a:solidFill>
                <a:latin typeface="Calibri" pitchFamily="34" charset="0"/>
              </a:rPr>
              <a:t> + </a:t>
            </a:r>
            <a:r>
              <a:rPr lang="en-US" sz="1200" noProof="0" dirty="0" err="1">
                <a:solidFill>
                  <a:schemeClr val="bg1"/>
                </a:solidFill>
                <a:latin typeface="Calibri" pitchFamily="34" charset="0"/>
              </a:rPr>
              <a:t>ReLu</a:t>
            </a:r>
            <a:r>
              <a:rPr lang="en-US" sz="1200" noProof="0" dirty="0">
                <a:solidFill>
                  <a:schemeClr val="bg1"/>
                </a:solidFill>
                <a:latin typeface="Calibri" pitchFamily="34" charset="0"/>
              </a:rPr>
              <a:t>, on some of the models we also tested with the best MLP as the head.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1044207" y="2433250"/>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noProof="0" dirty="0"/>
              <a:t>⭐</a:t>
            </a:r>
          </a:p>
        </p:txBody>
      </p:sp>
      <p:sp>
        <p:nvSpPr>
          <p:cNvPr id="6" name="CaixaDeTexto 5">
            <a:extLst>
              <a:ext uri="{FF2B5EF4-FFF2-40B4-BE49-F238E27FC236}">
                <a16:creationId xmlns:a16="http://schemas.microsoft.com/office/drawing/2014/main" id="{4967A679-6548-4A8A-77E7-F42A4DDE136C}"/>
              </a:ext>
            </a:extLst>
          </p:cNvPr>
          <p:cNvSpPr txBox="1"/>
          <p:nvPr/>
        </p:nvSpPr>
        <p:spPr>
          <a:xfrm>
            <a:off x="174433" y="4752312"/>
            <a:ext cx="6169446" cy="276999"/>
          </a:xfrm>
          <a:prstGeom prst="rect">
            <a:avLst/>
          </a:prstGeom>
          <a:noFill/>
        </p:spPr>
        <p:txBody>
          <a:bodyPr wrap="none" rtlCol="0">
            <a:spAutoFit/>
          </a:bodyPr>
          <a:lstStyle/>
          <a:p>
            <a:r>
              <a:rPr lang="en-US" sz="1200" noProof="0" dirty="0"/>
              <a:t>We prefer the smaller versions due to the resource constraints but manly due to the small dataset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1FDB-018F-A5E6-3EC0-1727AC51565D}"/>
            </a:ext>
          </a:extLst>
        </p:cNvPr>
        <p:cNvGrpSpPr/>
        <p:nvPr/>
      </p:nvGrpSpPr>
      <p:grpSpPr>
        <a:xfrm>
          <a:off x="0" y="0"/>
          <a:ext cx="0" cy="0"/>
          <a:chOff x="0" y="0"/>
          <a:chExt cx="0" cy="0"/>
        </a:xfrm>
      </p:grpSpPr>
      <p:sp>
        <p:nvSpPr>
          <p:cNvPr id="40" name="LeftCard">
            <a:extLst>
              <a:ext uri="{FF2B5EF4-FFF2-40B4-BE49-F238E27FC236}">
                <a16:creationId xmlns:a16="http://schemas.microsoft.com/office/drawing/2014/main" id="{A4A7C0B3-F935-D987-B2D8-6B56C031A3B8}"/>
              </a:ext>
            </a:extLst>
          </p:cNvPr>
          <p:cNvSpPr/>
          <p:nvPr/>
        </p:nvSpPr>
        <p:spPr>
          <a:xfrm>
            <a:off x="274081" y="1482693"/>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2" name="RightCard">
            <a:extLst>
              <a:ext uri="{FF2B5EF4-FFF2-40B4-BE49-F238E27FC236}">
                <a16:creationId xmlns:a16="http://schemas.microsoft.com/office/drawing/2014/main" id="{009B56BA-DD69-9FF5-1548-4CEA838320EC}"/>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 name="TopBar">
            <a:extLst>
              <a:ext uri="{FF2B5EF4-FFF2-40B4-BE49-F238E27FC236}">
                <a16:creationId xmlns:a16="http://schemas.microsoft.com/office/drawing/2014/main" id="{B5AC42FE-EE48-30ED-3DD8-3C14122F7937}"/>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171B7CE7-6D8E-7FA2-9CBD-9F4BFDA0C0DD}"/>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a:extLst>
              <a:ext uri="{FF2B5EF4-FFF2-40B4-BE49-F238E27FC236}">
                <a16:creationId xmlns:a16="http://schemas.microsoft.com/office/drawing/2014/main" id="{A98067DF-9036-AABB-A12E-F440820D639B}"/>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Rationale for head choices</a:t>
            </a:r>
          </a:p>
        </p:txBody>
      </p:sp>
      <p:sp>
        <p:nvSpPr>
          <p:cNvPr id="41" name="LeftText">
            <a:extLst>
              <a:ext uri="{FF2B5EF4-FFF2-40B4-BE49-F238E27FC236}">
                <a16:creationId xmlns:a16="http://schemas.microsoft.com/office/drawing/2014/main" id="{57825AC3-402E-6234-0430-E9E4A9026139}"/>
              </a:ext>
            </a:extLst>
          </p:cNvPr>
          <p:cNvSpPr/>
          <p:nvPr/>
        </p:nvSpPr>
        <p:spPr>
          <a:xfrm>
            <a:off x="4846919" y="1555721"/>
            <a:ext cx="3840480" cy="2816640"/>
          </a:xfrm>
          <a:prstGeom prst="rect">
            <a:avLst/>
          </a:prstGeom>
          <a:noFill/>
          <a:ln/>
        </p:spPr>
        <p:txBody>
          <a:bodyPr wrap="square" lIns="91440" tIns="45720" rIns="91440" bIns="45720" rtlCol="0" anchor="t"/>
          <a:lstStyle/>
          <a:p>
            <a:r>
              <a:rPr lang="en-US" sz="1300" b="1" noProof="0" dirty="0">
                <a:solidFill>
                  <a:srgbClr val="028090"/>
                </a:solidFill>
                <a:latin typeface="Trebuchet MS"/>
              </a:rPr>
              <a:t>Simple 2 Linear (</a:t>
            </a:r>
            <a:r>
              <a:rPr lang="en-US" sz="1300" b="1" noProof="0" dirty="0" err="1">
                <a:solidFill>
                  <a:srgbClr val="028090"/>
                </a:solidFill>
                <a:latin typeface="Trebuchet MS"/>
              </a:rPr>
              <a:t>in_features</a:t>
            </a:r>
            <a:r>
              <a:rPr lang="en-US" sz="1300" b="1" noProof="0" dirty="0">
                <a:solidFill>
                  <a:srgbClr val="028090"/>
                </a:solidFill>
                <a:latin typeface="Trebuchet MS"/>
              </a:rPr>
              <a:t> -&gt; 64 -&gt; 9) + </a:t>
            </a:r>
            <a:r>
              <a:rPr lang="en-US" sz="1300" b="1" noProof="0" dirty="0" err="1">
                <a:solidFill>
                  <a:srgbClr val="028090"/>
                </a:solidFill>
                <a:latin typeface="Trebuchet MS"/>
              </a:rPr>
              <a:t>Relu</a:t>
            </a:r>
            <a:r>
              <a:rPr lang="en-US" sz="1300" b="1" noProof="0" dirty="0">
                <a:solidFill>
                  <a:srgbClr val="028090"/>
                </a:solidFill>
                <a:latin typeface="Trebuchet MS"/>
              </a:rPr>
              <a:t> Layer + Layer norm</a:t>
            </a:r>
            <a:endParaRPr lang="en-US" sz="1300" b="1" noProof="0" dirty="0">
              <a:solidFill>
                <a:srgbClr val="028090"/>
              </a:solidFill>
              <a:latin typeface="Trebuchet MS" pitchFamily="34" charset="0"/>
            </a:endParaRP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Uses smaller layers than the original MLP, preventing overfit but at the same time giving “space” for the model to capture the patterns.</a:t>
            </a:r>
          </a:p>
          <a:p>
            <a:pPr marL="228600" indent="-228600">
              <a:buChar char="•"/>
            </a:pPr>
            <a:r>
              <a:rPr lang="en-US" sz="1100" b="1" noProof="0" dirty="0">
                <a:solidFill>
                  <a:srgbClr val="1A2B3C"/>
                </a:solidFill>
                <a:latin typeface="Calibri"/>
                <a:ea typeface="Calibri"/>
                <a:cs typeface="Calibri"/>
              </a:rPr>
              <a:t>Outcome:</a:t>
            </a:r>
            <a:r>
              <a:rPr lang="en-US" sz="1100" noProof="0" dirty="0">
                <a:solidFill>
                  <a:srgbClr val="1A2B3C"/>
                </a:solidFill>
                <a:latin typeface="Calibri"/>
                <a:ea typeface="Calibri"/>
                <a:cs typeface="Calibri"/>
              </a:rPr>
              <a:t> We still got overfit on the models, but they were converging faster, and got better results than the MLP heads, meaning the model is capturing better the patterns, and with regularization we might beat the base model.</a:t>
            </a:r>
          </a:p>
          <a:p>
            <a:pPr marL="228600" indent="-228600">
              <a:buChar char="•"/>
            </a:pPr>
            <a:endParaRPr lang="en-US" sz="1100" b="1" noProof="0" dirty="0">
              <a:solidFill>
                <a:srgbClr val="1A2B3C"/>
              </a:solidFill>
              <a:latin typeface="Calibri" pitchFamily="34" charset="0"/>
            </a:endParaRPr>
          </a:p>
        </p:txBody>
      </p:sp>
      <p:sp>
        <p:nvSpPr>
          <p:cNvPr id="43" name="RightText">
            <a:extLst>
              <a:ext uri="{FF2B5EF4-FFF2-40B4-BE49-F238E27FC236}">
                <a16:creationId xmlns:a16="http://schemas.microsoft.com/office/drawing/2014/main" id="{789896B8-C619-09B5-0D95-DDF507CCFC65}"/>
              </a:ext>
            </a:extLst>
          </p:cNvPr>
          <p:cNvSpPr/>
          <p:nvPr/>
        </p:nvSpPr>
        <p:spPr>
          <a:xfrm>
            <a:off x="319883" y="1555721"/>
            <a:ext cx="3840480" cy="2816640"/>
          </a:xfrm>
          <a:prstGeom prst="rect">
            <a:avLst/>
          </a:prstGeom>
          <a:noFill/>
          <a:ln/>
        </p:spPr>
        <p:txBody>
          <a:bodyPr wrap="square" lIns="91440" tIns="45720" rIns="91440" bIns="45720" rtlCol="0" anchor="t"/>
          <a:lstStyle/>
          <a:p>
            <a:pPr>
              <a:buNone/>
            </a:pPr>
            <a:r>
              <a:rPr lang="en-US" sz="1300" b="1" noProof="0" dirty="0">
                <a:solidFill>
                  <a:srgbClr val="028090"/>
                </a:solidFill>
                <a:latin typeface="Trebuchet MS"/>
              </a:rPr>
              <a:t>Best MLP from task 1</a:t>
            </a: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Take advantage of the already extracted features coming from the pre-trained model to improve the original MLP scoring.</a:t>
            </a:r>
          </a:p>
          <a:p>
            <a:pPr marL="228600" indent="-228600">
              <a:buChar char="•"/>
            </a:pPr>
            <a:r>
              <a:rPr lang="en-US" sz="1100" b="1" noProof="0" dirty="0">
                <a:solidFill>
                  <a:srgbClr val="1A2B3C"/>
                </a:solidFill>
                <a:latin typeface="Calibri"/>
                <a:ea typeface="Calibri"/>
                <a:cs typeface="Calibri"/>
              </a:rPr>
              <a:t>Outcome: </a:t>
            </a:r>
            <a:r>
              <a:rPr lang="en-US" sz="1100" noProof="0" dirty="0">
                <a:solidFill>
                  <a:srgbClr val="1A2B3C"/>
                </a:solidFill>
                <a:latin typeface="Calibri"/>
                <a:ea typeface="Calibri"/>
                <a:cs typeface="Calibri"/>
              </a:rPr>
              <a:t>The large number of layers and the big dimension of those layers, together with the small dataset led to the models having an hard time capturing the patterns.</a:t>
            </a:r>
          </a:p>
        </p:txBody>
      </p:sp>
      <p:sp>
        <p:nvSpPr>
          <p:cNvPr id="7" name="NumCircle">
            <a:extLst>
              <a:ext uri="{FF2B5EF4-FFF2-40B4-BE49-F238E27FC236}">
                <a16:creationId xmlns:a16="http://schemas.microsoft.com/office/drawing/2014/main" id="{DADDC0C3-2477-0C7A-4DD5-0899009ED76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6" name="Imagem 5">
            <a:extLst>
              <a:ext uri="{FF2B5EF4-FFF2-40B4-BE49-F238E27FC236}">
                <a16:creationId xmlns:a16="http://schemas.microsoft.com/office/drawing/2014/main" id="{DBAA4F29-1EF3-98B1-117F-677310EA1CB6}"/>
              </a:ext>
            </a:extLst>
          </p:cNvPr>
          <p:cNvPicPr>
            <a:picLocks noChangeAspect="1"/>
          </p:cNvPicPr>
          <p:nvPr/>
        </p:nvPicPr>
        <p:blipFill>
          <a:blip r:embed="rId2"/>
          <a:srcRect l="22316" r="26569"/>
          <a:stretch>
            <a:fillRect/>
          </a:stretch>
        </p:blipFill>
        <p:spPr>
          <a:xfrm>
            <a:off x="620008" y="3109603"/>
            <a:ext cx="2293649" cy="280453"/>
          </a:xfrm>
          <a:prstGeom prst="rect">
            <a:avLst/>
          </a:prstGeom>
        </p:spPr>
      </p:pic>
      <p:pic>
        <p:nvPicPr>
          <p:cNvPr id="12" name="Imagem 11">
            <a:extLst>
              <a:ext uri="{FF2B5EF4-FFF2-40B4-BE49-F238E27FC236}">
                <a16:creationId xmlns:a16="http://schemas.microsoft.com/office/drawing/2014/main" id="{EB4FABBA-15A1-3428-6910-4360FBEDC0B2}"/>
              </a:ext>
            </a:extLst>
          </p:cNvPr>
          <p:cNvPicPr>
            <a:picLocks noChangeAspect="1"/>
          </p:cNvPicPr>
          <p:nvPr/>
        </p:nvPicPr>
        <p:blipFill>
          <a:blip r:embed="rId3"/>
          <a:srcRect l="22563" r="27589"/>
          <a:stretch>
            <a:fillRect/>
          </a:stretch>
        </p:blipFill>
        <p:spPr>
          <a:xfrm>
            <a:off x="620008" y="3390056"/>
            <a:ext cx="2293649" cy="285790"/>
          </a:xfrm>
          <a:prstGeom prst="rect">
            <a:avLst/>
          </a:prstGeom>
        </p:spPr>
      </p:pic>
      <p:pic>
        <p:nvPicPr>
          <p:cNvPr id="14" name="Imagem 13">
            <a:extLst>
              <a:ext uri="{FF2B5EF4-FFF2-40B4-BE49-F238E27FC236}">
                <a16:creationId xmlns:a16="http://schemas.microsoft.com/office/drawing/2014/main" id="{A2D8EF5A-1396-212A-E416-CB6D4B4F1125}"/>
              </a:ext>
            </a:extLst>
          </p:cNvPr>
          <p:cNvPicPr>
            <a:picLocks noChangeAspect="1"/>
          </p:cNvPicPr>
          <p:nvPr/>
        </p:nvPicPr>
        <p:blipFill>
          <a:blip r:embed="rId4"/>
          <a:srcRect l="23036" r="26488"/>
          <a:stretch>
            <a:fillRect/>
          </a:stretch>
        </p:blipFill>
        <p:spPr>
          <a:xfrm>
            <a:off x="5146444" y="3763470"/>
            <a:ext cx="2293649" cy="238158"/>
          </a:xfrm>
          <a:prstGeom prst="rect">
            <a:avLst/>
          </a:prstGeom>
        </p:spPr>
      </p:pic>
      <p:pic>
        <p:nvPicPr>
          <p:cNvPr id="15" name="Imagem 14">
            <a:extLst>
              <a:ext uri="{FF2B5EF4-FFF2-40B4-BE49-F238E27FC236}">
                <a16:creationId xmlns:a16="http://schemas.microsoft.com/office/drawing/2014/main" id="{EB28995B-D38A-A142-BD7F-F3B106CD03DA}"/>
              </a:ext>
            </a:extLst>
          </p:cNvPr>
          <p:cNvPicPr>
            <a:picLocks noChangeAspect="1"/>
          </p:cNvPicPr>
          <p:nvPr/>
        </p:nvPicPr>
        <p:blipFill>
          <a:blip r:embed="rId2"/>
          <a:srcRect l="22316" r="26569"/>
          <a:stretch>
            <a:fillRect/>
          </a:stretch>
        </p:blipFill>
        <p:spPr>
          <a:xfrm>
            <a:off x="5146444" y="3490656"/>
            <a:ext cx="2293649" cy="280453"/>
          </a:xfrm>
          <a:prstGeom prst="rect">
            <a:avLst/>
          </a:prstGeom>
        </p:spPr>
      </p:pic>
      <p:sp>
        <p:nvSpPr>
          <p:cNvPr id="16" name="TextBox 15">
            <a:extLst>
              <a:ext uri="{FF2B5EF4-FFF2-40B4-BE49-F238E27FC236}">
                <a16:creationId xmlns:a16="http://schemas.microsoft.com/office/drawing/2014/main" id="{423DA2D0-DAAE-459E-992B-2BEE635ACC01}"/>
              </a:ext>
            </a:extLst>
          </p:cNvPr>
          <p:cNvSpPr txBox="1"/>
          <p:nvPr/>
        </p:nvSpPr>
        <p:spPr>
          <a:xfrm>
            <a:off x="3078462" y="311872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-53%!</a:t>
            </a:r>
          </a:p>
        </p:txBody>
      </p:sp>
      <p:sp>
        <p:nvSpPr>
          <p:cNvPr id="17" name="TextBox 15">
            <a:extLst>
              <a:ext uri="{FF2B5EF4-FFF2-40B4-BE49-F238E27FC236}">
                <a16:creationId xmlns:a16="http://schemas.microsoft.com/office/drawing/2014/main" id="{95375EAE-119E-6D49-5ACB-37FFEC18CBFD}"/>
              </a:ext>
            </a:extLst>
          </p:cNvPr>
          <p:cNvSpPr txBox="1"/>
          <p:nvPr/>
        </p:nvSpPr>
        <p:spPr>
          <a:xfrm>
            <a:off x="7514238" y="3487712"/>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-14.4%</a:t>
            </a:r>
          </a:p>
        </p:txBody>
      </p:sp>
      <p:sp>
        <p:nvSpPr>
          <p:cNvPr id="18" name="CaixaDeTexto 17">
            <a:extLst>
              <a:ext uri="{FF2B5EF4-FFF2-40B4-BE49-F238E27FC236}">
                <a16:creationId xmlns:a16="http://schemas.microsoft.com/office/drawing/2014/main" id="{71C340FF-DA58-13BA-A871-4D26B1D48F1A}"/>
              </a:ext>
            </a:extLst>
          </p:cNvPr>
          <p:cNvSpPr txBox="1"/>
          <p:nvPr/>
        </p:nvSpPr>
        <p:spPr>
          <a:xfrm>
            <a:off x="1739938" y="2848633"/>
            <a:ext cx="1173719" cy="261610"/>
          </a:xfrm>
          <a:prstGeom prst="rect">
            <a:avLst/>
          </a:prstGeom>
          <a:noFill/>
        </p:spPr>
        <p:txBody>
          <a:bodyPr wrap="none" rtlCol="0">
            <a:spAutoFit/>
          </a:bodyPr>
          <a:lstStyle/>
          <a:p>
            <a:r>
              <a:rPr lang="en-US" sz="1100" noProof="0" dirty="0"/>
              <a:t>Val F1 |Val Acc </a:t>
            </a:r>
          </a:p>
        </p:txBody>
      </p:sp>
      <p:pic>
        <p:nvPicPr>
          <p:cNvPr id="20" name="Imagem 19">
            <a:extLst>
              <a:ext uri="{FF2B5EF4-FFF2-40B4-BE49-F238E27FC236}">
                <a16:creationId xmlns:a16="http://schemas.microsoft.com/office/drawing/2014/main" id="{B6D351CF-80F4-458F-4A19-81169F8FFF38}"/>
              </a:ext>
            </a:extLst>
          </p:cNvPr>
          <p:cNvPicPr>
            <a:picLocks noChangeAspect="1"/>
          </p:cNvPicPr>
          <p:nvPr/>
        </p:nvPicPr>
        <p:blipFill>
          <a:blip r:embed="rId5"/>
          <a:stretch>
            <a:fillRect/>
          </a:stretch>
        </p:blipFill>
        <p:spPr>
          <a:xfrm>
            <a:off x="1275128" y="2831245"/>
            <a:ext cx="1638529" cy="276264"/>
          </a:xfrm>
          <a:prstGeom prst="rect">
            <a:avLst/>
          </a:prstGeom>
        </p:spPr>
      </p:pic>
      <p:pic>
        <p:nvPicPr>
          <p:cNvPr id="21" name="Imagem 20">
            <a:extLst>
              <a:ext uri="{FF2B5EF4-FFF2-40B4-BE49-F238E27FC236}">
                <a16:creationId xmlns:a16="http://schemas.microsoft.com/office/drawing/2014/main" id="{856D4D62-5FA9-F415-2E8A-24657D942C3B}"/>
              </a:ext>
            </a:extLst>
          </p:cNvPr>
          <p:cNvPicPr>
            <a:picLocks noChangeAspect="1"/>
          </p:cNvPicPr>
          <p:nvPr/>
        </p:nvPicPr>
        <p:blipFill>
          <a:blip r:embed="rId5"/>
          <a:stretch>
            <a:fillRect/>
          </a:stretch>
        </p:blipFill>
        <p:spPr>
          <a:xfrm>
            <a:off x="5801564" y="3211427"/>
            <a:ext cx="1638529" cy="276264"/>
          </a:xfrm>
          <a:prstGeom prst="rect">
            <a:avLst/>
          </a:prstGeom>
        </p:spPr>
      </p:pic>
    </p:spTree>
    <p:extLst>
      <p:ext uri="{BB962C8B-B14F-4D97-AF65-F5344CB8AC3E}">
        <p14:creationId xmlns:p14="http://schemas.microsoft.com/office/powerpoint/2010/main" val="914899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Best Part 1 Model - SwinV2t_Base</a:t>
            </a:r>
          </a:p>
        </p:txBody>
      </p:sp>
      <p:sp>
        <p:nvSpPr>
          <p:cNvPr id="6" name="Title">
            <a:extLst>
              <a:ext uri="{FF2B5EF4-FFF2-40B4-BE49-F238E27FC236}">
                <a16:creationId xmlns:a16="http://schemas.microsoft.com/office/drawing/2014/main" id="{A1FE6103-BAEE-145A-186D-8B430306D66D}"/>
              </a:ext>
            </a:extLst>
          </p:cNvPr>
          <p:cNvSpPr/>
          <p:nvPr/>
        </p:nvSpPr>
        <p:spPr>
          <a:xfrm>
            <a:off x="274319" y="720115"/>
            <a:ext cx="3994367"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 Architecture of a </a:t>
            </a:r>
            <a:r>
              <a:rPr lang="en-US" b="1" noProof="0" dirty="0" err="1">
                <a:solidFill>
                  <a:srgbClr val="0D1B2A"/>
                </a:solidFill>
                <a:latin typeface="Trebuchet MS" pitchFamily="34" charset="0"/>
              </a:rPr>
              <a:t>swin</a:t>
            </a:r>
            <a:r>
              <a:rPr lang="en-US" b="1" noProof="0" dirty="0">
                <a:solidFill>
                  <a:srgbClr val="0D1B2A"/>
                </a:solidFill>
                <a:latin typeface="Trebuchet MS" pitchFamily="34" charset="0"/>
              </a:rPr>
              <a:t> transformer:</a:t>
            </a:r>
          </a:p>
        </p:txBody>
      </p:sp>
      <p:sp>
        <p:nvSpPr>
          <p:cNvPr id="9" name="NumCircle">
            <a:extLst>
              <a:ext uri="{FF2B5EF4-FFF2-40B4-BE49-F238E27FC236}">
                <a16:creationId xmlns:a16="http://schemas.microsoft.com/office/drawing/2014/main" id="{60965A97-3CF0-C770-CB0B-D8988B404F6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1026" name="Picture 2" descr="The architecture of a Swin Transformer (Swin-T). | Download ...">
            <a:extLst>
              <a:ext uri="{FF2B5EF4-FFF2-40B4-BE49-F238E27FC236}">
                <a16:creationId xmlns:a16="http://schemas.microsoft.com/office/drawing/2014/main" id="{4ADFA677-6D4C-3A43-57B7-E2EC5E05CD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3875" y="1296187"/>
            <a:ext cx="8096250" cy="2905125"/>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F24102D-0A3A-AAFB-E21E-98EED2D0CB02}"/>
              </a:ext>
            </a:extLst>
          </p:cNvPr>
          <p:cNvSpPr txBox="1"/>
          <p:nvPr/>
        </p:nvSpPr>
        <p:spPr>
          <a:xfrm>
            <a:off x="389637" y="4257591"/>
            <a:ext cx="8489760" cy="369332"/>
          </a:xfrm>
          <a:prstGeom prst="rect">
            <a:avLst/>
          </a:prstGeom>
          <a:noFill/>
        </p:spPr>
        <p:txBody>
          <a:bodyPr wrap="none" rtlCol="0">
            <a:spAutoFit/>
          </a:bodyPr>
          <a:lstStyle/>
          <a:p>
            <a:r>
              <a:rPr lang="en-US" noProof="0" dirty="0"/>
              <a:t>For our model we substitute the head of the model by a simple linear function with dropout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noProof="0"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L1text"/>
          <p:cNvSpPr/>
          <p:nvPr/>
        </p:nvSpPr>
        <p:spPr>
          <a:xfrm>
            <a:off x="434236" y="1485550"/>
            <a:ext cx="5547277" cy="1371437"/>
          </a:xfrm>
          <a:prstGeom prst="rect">
            <a:avLst/>
          </a:prstGeom>
          <a:noFill/>
          <a:ln/>
        </p:spPr>
        <p:txBody>
          <a:bodyPr wrap="square" lIns="91440" tIns="45720" rIns="91440" bIns="45720" rtlCol="0" anchor="t"/>
          <a:lstStyle/>
          <a:p>
            <a:pPr>
              <a:buNone/>
            </a:pPr>
            <a:r>
              <a:rPr lang="en-US" sz="1400" b="1" noProof="0" dirty="0">
                <a:solidFill>
                  <a:srgbClr val="028090"/>
                </a:solidFill>
                <a:latin typeface="Trebuchet MS"/>
              </a:rPr>
              <a:t>Optimizer + Scheduler, maintained from task 2 since it showed being the best solution</a:t>
            </a:r>
          </a:p>
          <a:p>
            <a:pPr marL="228600" indent="-228600">
              <a:buChar char="•"/>
            </a:pPr>
            <a:r>
              <a:rPr lang="en-US" sz="1200" b="1" noProof="0" dirty="0">
                <a:solidFill>
                  <a:srgbClr val="1C3A52"/>
                </a:solidFill>
                <a:latin typeface="Calibri"/>
                <a:ea typeface="Calibri"/>
                <a:cs typeface="Calibri"/>
              </a:rPr>
              <a:t>Adam </a:t>
            </a:r>
            <a:r>
              <a:rPr lang="en-US" sz="1200" b="1" noProof="0" dirty="0" err="1">
                <a:solidFill>
                  <a:srgbClr val="1C3A52"/>
                </a:solidFill>
                <a:latin typeface="Calibri"/>
                <a:ea typeface="Calibri"/>
                <a:cs typeface="Calibri"/>
              </a:rPr>
              <a:t>lr</a:t>
            </a:r>
            <a:r>
              <a:rPr lang="en-US" sz="1200" b="1" noProof="0" dirty="0">
                <a:solidFill>
                  <a:srgbClr val="1C3A52"/>
                </a:solidFill>
                <a:latin typeface="Calibri"/>
                <a:ea typeface="Calibri"/>
                <a:cs typeface="Calibri"/>
              </a:rPr>
              <a:t>=1e-3 </a:t>
            </a:r>
            <a:r>
              <a:rPr lang="en-US" sz="1200" noProof="0" dirty="0">
                <a:solidFill>
                  <a:srgbClr val="1A2B3C"/>
                </a:solidFill>
                <a:latin typeface="Calibri"/>
                <a:ea typeface="Calibri"/>
                <a:cs typeface="Calibri"/>
              </a:rPr>
              <a:t>— robust adaptive LR, standard for CNNs (Kingma &amp; Ba, 2015)</a:t>
            </a:r>
          </a:p>
          <a:p>
            <a:pPr marL="228600" indent="-228600">
              <a:buChar char="•"/>
            </a:pPr>
            <a:r>
              <a:rPr lang="en-US" sz="1200" b="1" noProof="0" dirty="0" err="1">
                <a:solidFill>
                  <a:srgbClr val="1C3A52"/>
                </a:solidFill>
                <a:latin typeface="Calibri"/>
                <a:ea typeface="Calibri"/>
                <a:cs typeface="Calibri"/>
              </a:rPr>
              <a:t>StepLR</a:t>
            </a:r>
            <a:r>
              <a:rPr lang="en-US" sz="1200" b="1" noProof="0" dirty="0">
                <a:solidFill>
                  <a:srgbClr val="1C3A52"/>
                </a:solidFill>
                <a:latin typeface="Calibri"/>
                <a:ea typeface="Calibri"/>
                <a:cs typeface="Calibri"/>
              </a:rPr>
              <a:t>(step=7, gamma=0.5) </a:t>
            </a:r>
            <a:r>
              <a:rPr lang="en-US" sz="1200" noProof="0" dirty="0">
                <a:solidFill>
                  <a:srgbClr val="1A2B3C"/>
                </a:solidFill>
                <a:latin typeface="Calibri"/>
                <a:ea typeface="Calibri"/>
                <a:cs typeface="Calibri"/>
              </a:rPr>
              <a:t>— halves LR every 7 epochs; Changed from the previous task due to the dataset being nosier.</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3" name="R1text"/>
          <p:cNvSpPr/>
          <p:nvPr/>
        </p:nvSpPr>
        <p:spPr>
          <a:xfrm>
            <a:off x="484063" y="3179744"/>
            <a:ext cx="6037170" cy="1645920"/>
          </a:xfrm>
          <a:prstGeom prst="rect">
            <a:avLst/>
          </a:prstGeom>
          <a:noFill/>
          <a:ln/>
        </p:spPr>
        <p:txBody>
          <a:bodyPr wrap="square" rtlCol="0" anchor="t"/>
          <a:lstStyle/>
          <a:p>
            <a:pPr>
              <a:buNone/>
            </a:pPr>
            <a:r>
              <a:rPr lang="en-US" sz="1400" b="1" noProof="0" dirty="0">
                <a:solidFill>
                  <a:srgbClr val="028090"/>
                </a:solidFill>
                <a:latin typeface="Trebuchet MS" pitchFamily="34" charset="0"/>
              </a:rPr>
              <a:t>Early Stopping (patience=7), also maintained from the previous task, useful when dealing with this noisy dataset</a:t>
            </a:r>
          </a:p>
          <a:p>
            <a:pPr marL="228600" indent="-228600">
              <a:buChar char="•"/>
            </a:pPr>
            <a:r>
              <a:rPr lang="en-US" sz="1200" noProof="0" dirty="0">
                <a:solidFill>
                  <a:srgbClr val="1A2B3C"/>
                </a:solidFill>
                <a:latin typeface="Calibri" pitchFamily="34" charset="0"/>
              </a:rPr>
              <a:t>Monitors -val_macro_f1 (competition metric, not </a:t>
            </a:r>
            <a:r>
              <a:rPr lang="en-US" sz="1200" noProof="0" dirty="0" err="1">
                <a:solidFill>
                  <a:srgbClr val="1A2B3C"/>
                </a:solidFill>
                <a:latin typeface="Calibri" pitchFamily="34" charset="0"/>
              </a:rPr>
              <a:t>val_loss</a:t>
            </a:r>
            <a:r>
              <a:rPr lang="en-US" sz="1200" noProof="0" dirty="0">
                <a:solidFill>
                  <a:srgbClr val="1A2B3C"/>
                </a:solidFill>
                <a:latin typeface="Calibri" pitchFamily="34" charset="0"/>
              </a:rPr>
              <a:t>)</a:t>
            </a:r>
          </a:p>
          <a:p>
            <a:pPr marL="228600" indent="-228600">
              <a:buChar char="•"/>
            </a:pPr>
            <a:r>
              <a:rPr lang="en-US" sz="1200" noProof="0" dirty="0">
                <a:solidFill>
                  <a:srgbClr val="1A2B3C"/>
                </a:solidFill>
                <a:latin typeface="Calibri" pitchFamily="34" charset="0"/>
              </a:rPr>
              <a:t>Patience=7 — val_f1 is noisy (720 </a:t>
            </a:r>
            <a:r>
              <a:rPr lang="en-US" sz="1200" noProof="0" dirty="0" err="1">
                <a:solidFill>
                  <a:srgbClr val="1A2B3C"/>
                </a:solidFill>
                <a:latin typeface="Calibri" pitchFamily="34" charset="0"/>
              </a:rPr>
              <a:t>val</a:t>
            </a:r>
            <a:r>
              <a:rPr lang="en-US" sz="1200" noProof="0" dirty="0">
                <a:solidFill>
                  <a:srgbClr val="1A2B3C"/>
                </a:solidFill>
                <a:latin typeface="Calibri" pitchFamily="34" charset="0"/>
              </a:rPr>
              <a:t> samples, ~80/class: 1 error = +-1.2% swing); 3 would fire prematurely</a:t>
            </a:r>
          </a:p>
          <a:p>
            <a:pPr marL="228600" indent="-228600">
              <a:buChar char="•"/>
            </a:pPr>
            <a:r>
              <a:rPr lang="en-US" sz="1200" noProof="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Training setup</a:t>
            </a:r>
            <a:endParaRPr lang="en-US" sz="2200" noProof="0" dirty="0">
              <a:solidFill>
                <a:srgbClr val="0D1B2A"/>
              </a:solidFill>
              <a:latin typeface="Trebuchet MS"/>
            </a:endParaRPr>
          </a:p>
        </p:txBody>
      </p:sp>
      <p:sp>
        <p:nvSpPr>
          <p:cNvPr id="9" name="NumCircle">
            <a:extLst>
              <a:ext uri="{FF2B5EF4-FFF2-40B4-BE49-F238E27FC236}">
                <a16:creationId xmlns:a16="http://schemas.microsoft.com/office/drawing/2014/main" id="{19B1823F-C1D0-A206-9152-51BE99AB140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19D1C-9E19-92D5-DF2F-0BE4DB95CF2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7ADE03-B6D4-04E2-D553-E34428341574}"/>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F741AB-49FA-A11D-58E4-5C7C053E0ED5}"/>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E7CF53C3-390A-312F-1BDA-259A5455E1C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D912A0D7-2B16-5BF3-8E47-62C309F23F2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CDC15BB3-ABCB-0240-FD53-44715355B76D}"/>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F599AB68-0A51-33A8-CB9F-90143953F2B5}"/>
              </a:ext>
            </a:extLst>
          </p:cNvPr>
          <p:cNvSpPr/>
          <p:nvPr/>
        </p:nvSpPr>
        <p:spPr>
          <a:xfrm>
            <a:off x="1274249" y="1161287"/>
            <a:ext cx="6400800" cy="822960"/>
          </a:xfrm>
          <a:prstGeom prst="rect">
            <a:avLst/>
          </a:prstGeom>
          <a:noFill/>
          <a:ln/>
        </p:spPr>
        <p:txBody>
          <a:bodyPr wrap="square" lIns="0" tIns="0" rIns="0" bIns="0" rtlCol="0" anchor="ctr"/>
          <a:lstStyle/>
          <a:p>
            <a:r>
              <a:rPr lang="en-US" sz="2000" b="1" noProof="0" dirty="0">
                <a:solidFill>
                  <a:srgbClr val="FFFFFF"/>
                </a:solidFill>
                <a:latin typeface="Trebuchet MS"/>
              </a:rPr>
              <a:t>Fine-tunning and other techniques</a:t>
            </a:r>
            <a:endParaRPr lang="en-US" sz="2000" noProof="0" dirty="0"/>
          </a:p>
        </p:txBody>
      </p:sp>
      <p:sp>
        <p:nvSpPr>
          <p:cNvPr id="14" name="Rectangle: Rounded Corners 13">
            <a:extLst>
              <a:ext uri="{FF2B5EF4-FFF2-40B4-BE49-F238E27FC236}">
                <a16:creationId xmlns:a16="http://schemas.microsoft.com/office/drawing/2014/main" id="{0B98135B-4AF5-135D-C3B7-111ACC693AD7}"/>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2</a:t>
            </a:r>
            <a:endParaRPr lang="en-US" b="1" noProof="0" dirty="0"/>
          </a:p>
        </p:txBody>
      </p:sp>
      <p:cxnSp>
        <p:nvCxnSpPr>
          <p:cNvPr id="16" name="Straight Connector 15">
            <a:extLst>
              <a:ext uri="{FF2B5EF4-FFF2-40B4-BE49-F238E27FC236}">
                <a16:creationId xmlns:a16="http://schemas.microsoft.com/office/drawing/2014/main" id="{29E8F743-5C72-CBEB-E4DD-E58DC09AAA97}"/>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99154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Partial 1 layer Vs Fully Frozen Vs Fully unfrozen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Analyze the impact of unfreezing on the model generalization and capacity.</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Partial</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a:solidFill>
                  <a:srgbClr val="FFFFFF"/>
                </a:solidFill>
                <a:latin typeface="Calibri"/>
              </a:rPr>
              <a:t>Full</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By only unfreezing, the last layer we observed that the model improved its validation f1 score over the full freeze version, this is due to we being essentially further customizing the model to our specific problem. </a:t>
            </a: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By fully unfreezing the model we are essentially creating a model from the ground up which might seem counter intuitive for this task, but was made with the intent of analyzing the impact of uncareful unfreezing of a model at extreme levels.</a:t>
            </a:r>
          </a:p>
          <a:p>
            <a:pPr algn="ctr">
              <a:buNone/>
            </a:pPr>
            <a:r>
              <a:rPr lang="en-US" sz="1400" noProof="0" dirty="0">
                <a:solidFill>
                  <a:srgbClr val="1C3A52"/>
                </a:solidFill>
                <a:latin typeface="Calibri"/>
                <a:ea typeface="Calibri"/>
                <a:cs typeface="Calibri"/>
              </a:rPr>
              <a:t>And so we concluded that despite having overfitted, it improved the f1 score even over the partial version, this can be explaining by the total customization that we are making, despite the improved result, the downside is the heavy computation that was needed to train, taking around 20s/Epoch Vs 17s/Epoch of the partial version.</a:t>
            </a:r>
          </a:p>
        </p:txBody>
      </p:sp>
      <p:sp>
        <p:nvSpPr>
          <p:cNvPr id="16" name="TextBox 15">
            <a:extLst>
              <a:ext uri="{FF2B5EF4-FFF2-40B4-BE49-F238E27FC236}">
                <a16:creationId xmlns:a16="http://schemas.microsoft.com/office/drawing/2014/main" id="{FD0D12E7-38EE-4D59-7537-F5A5AC20B2DA}"/>
              </a:ext>
            </a:extLst>
          </p:cNvPr>
          <p:cNvSpPr txBox="1"/>
          <p:nvPr/>
        </p:nvSpPr>
        <p:spPr>
          <a:xfrm>
            <a:off x="3197686" y="407761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+4.81%</a:t>
            </a:r>
          </a:p>
        </p:txBody>
      </p:sp>
      <p:sp>
        <p:nvSpPr>
          <p:cNvPr id="23" name="TextBox 22">
            <a:extLst>
              <a:ext uri="{FF2B5EF4-FFF2-40B4-BE49-F238E27FC236}">
                <a16:creationId xmlns:a16="http://schemas.microsoft.com/office/drawing/2014/main" id="{77FDADCB-1C13-BF33-8976-E9729F56FD9C}"/>
              </a:ext>
            </a:extLst>
          </p:cNvPr>
          <p:cNvSpPr txBox="1"/>
          <p:nvPr/>
        </p:nvSpPr>
        <p:spPr>
          <a:xfrm>
            <a:off x="8041398" y="4419217"/>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+15%!</a:t>
            </a:r>
          </a:p>
        </p:txBody>
      </p:sp>
      <p:sp>
        <p:nvSpPr>
          <p:cNvPr id="25" name="NumCircle">
            <a:extLst>
              <a:ext uri="{FF2B5EF4-FFF2-40B4-BE49-F238E27FC236}">
                <a16:creationId xmlns:a16="http://schemas.microsoft.com/office/drawing/2014/main" id="{AE338B7C-11CB-5629-826A-7F987F11EF25}"/>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4" name="Imagem 3">
            <a:extLst>
              <a:ext uri="{FF2B5EF4-FFF2-40B4-BE49-F238E27FC236}">
                <a16:creationId xmlns:a16="http://schemas.microsoft.com/office/drawing/2014/main" id="{074E1AA4-9122-52CA-214B-091F9FA11E06}"/>
              </a:ext>
            </a:extLst>
          </p:cNvPr>
          <p:cNvPicPr>
            <a:picLocks noChangeAspect="1"/>
          </p:cNvPicPr>
          <p:nvPr/>
        </p:nvPicPr>
        <p:blipFill>
          <a:blip r:embed="rId2"/>
          <a:srcRect l="22316" r="26569"/>
          <a:stretch>
            <a:fillRect/>
          </a:stretch>
        </p:blipFill>
        <p:spPr>
          <a:xfrm>
            <a:off x="904037" y="4436264"/>
            <a:ext cx="2293649" cy="280453"/>
          </a:xfrm>
          <a:prstGeom prst="rect">
            <a:avLst/>
          </a:prstGeom>
        </p:spPr>
      </p:pic>
      <p:pic>
        <p:nvPicPr>
          <p:cNvPr id="12" name="Imagem 11">
            <a:extLst>
              <a:ext uri="{FF2B5EF4-FFF2-40B4-BE49-F238E27FC236}">
                <a16:creationId xmlns:a16="http://schemas.microsoft.com/office/drawing/2014/main" id="{18739A9B-C706-9687-84CB-EB17B8F002BC}"/>
              </a:ext>
            </a:extLst>
          </p:cNvPr>
          <p:cNvPicPr>
            <a:picLocks noChangeAspect="1"/>
          </p:cNvPicPr>
          <p:nvPr/>
        </p:nvPicPr>
        <p:blipFill>
          <a:blip r:embed="rId3"/>
          <a:stretch>
            <a:fillRect/>
          </a:stretch>
        </p:blipFill>
        <p:spPr>
          <a:xfrm>
            <a:off x="1559157" y="3885174"/>
            <a:ext cx="1638529" cy="276264"/>
          </a:xfrm>
          <a:prstGeom prst="rect">
            <a:avLst/>
          </a:prstGeom>
        </p:spPr>
      </p:pic>
      <p:pic>
        <p:nvPicPr>
          <p:cNvPr id="13" name="Imagem 12">
            <a:extLst>
              <a:ext uri="{FF2B5EF4-FFF2-40B4-BE49-F238E27FC236}">
                <a16:creationId xmlns:a16="http://schemas.microsoft.com/office/drawing/2014/main" id="{9B1875FB-F9A8-E379-44BA-D771E2017031}"/>
              </a:ext>
            </a:extLst>
          </p:cNvPr>
          <p:cNvPicPr>
            <a:picLocks noChangeAspect="1"/>
          </p:cNvPicPr>
          <p:nvPr/>
        </p:nvPicPr>
        <p:blipFill>
          <a:blip r:embed="rId2"/>
          <a:srcRect l="22316" r="26569"/>
          <a:stretch>
            <a:fillRect/>
          </a:stretch>
        </p:blipFill>
        <p:spPr>
          <a:xfrm>
            <a:off x="5747749" y="4830409"/>
            <a:ext cx="2293649" cy="280453"/>
          </a:xfrm>
          <a:prstGeom prst="rect">
            <a:avLst/>
          </a:prstGeom>
        </p:spPr>
      </p:pic>
      <p:pic>
        <p:nvPicPr>
          <p:cNvPr id="14" name="Imagem 13">
            <a:extLst>
              <a:ext uri="{FF2B5EF4-FFF2-40B4-BE49-F238E27FC236}">
                <a16:creationId xmlns:a16="http://schemas.microsoft.com/office/drawing/2014/main" id="{FB987660-D0F2-5F60-2DD1-F930E56A5A0B}"/>
              </a:ext>
            </a:extLst>
          </p:cNvPr>
          <p:cNvPicPr>
            <a:picLocks noChangeAspect="1"/>
          </p:cNvPicPr>
          <p:nvPr/>
        </p:nvPicPr>
        <p:blipFill>
          <a:blip r:embed="rId3"/>
          <a:stretch>
            <a:fillRect/>
          </a:stretch>
        </p:blipFill>
        <p:spPr>
          <a:xfrm>
            <a:off x="6402869" y="4263018"/>
            <a:ext cx="1638529" cy="276264"/>
          </a:xfrm>
          <a:prstGeom prst="rect">
            <a:avLst/>
          </a:prstGeom>
        </p:spPr>
      </p:pic>
      <p:pic>
        <p:nvPicPr>
          <p:cNvPr id="18" name="Imagem 17">
            <a:extLst>
              <a:ext uri="{FF2B5EF4-FFF2-40B4-BE49-F238E27FC236}">
                <a16:creationId xmlns:a16="http://schemas.microsoft.com/office/drawing/2014/main" id="{335C1DF7-B729-8E8C-168A-2DFA612551CC}"/>
              </a:ext>
            </a:extLst>
          </p:cNvPr>
          <p:cNvPicPr>
            <a:picLocks noChangeAspect="1"/>
          </p:cNvPicPr>
          <p:nvPr/>
        </p:nvPicPr>
        <p:blipFill>
          <a:blip r:embed="rId4"/>
          <a:stretch>
            <a:fillRect/>
          </a:stretch>
        </p:blipFill>
        <p:spPr>
          <a:xfrm>
            <a:off x="111155" y="4148363"/>
            <a:ext cx="3086531" cy="295316"/>
          </a:xfrm>
          <a:prstGeom prst="rect">
            <a:avLst/>
          </a:prstGeom>
        </p:spPr>
      </p:pic>
      <p:pic>
        <p:nvPicPr>
          <p:cNvPr id="22" name="Imagem 21">
            <a:extLst>
              <a:ext uri="{FF2B5EF4-FFF2-40B4-BE49-F238E27FC236}">
                <a16:creationId xmlns:a16="http://schemas.microsoft.com/office/drawing/2014/main" id="{0C2FA1D5-8D3E-FC57-E944-86A4FC0C387F}"/>
              </a:ext>
            </a:extLst>
          </p:cNvPr>
          <p:cNvPicPr>
            <a:picLocks noChangeAspect="1"/>
          </p:cNvPicPr>
          <p:nvPr/>
        </p:nvPicPr>
        <p:blipFill>
          <a:blip r:embed="rId5"/>
          <a:srcRect l="17641" t="7359" b="6530"/>
          <a:stretch>
            <a:fillRect/>
          </a:stretch>
        </p:blipFill>
        <p:spPr>
          <a:xfrm>
            <a:off x="5138448" y="4539282"/>
            <a:ext cx="2902950" cy="295316"/>
          </a:xfrm>
          <a:prstGeom prst="rect">
            <a:avLst/>
          </a:prstGeom>
        </p:spPr>
      </p:pic>
    </p:spTree>
    <p:extLst>
      <p:ext uri="{BB962C8B-B14F-4D97-AF65-F5344CB8AC3E}">
        <p14:creationId xmlns:p14="http://schemas.microsoft.com/office/powerpoint/2010/main" val="3772889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B9A7BBBA-FDA0-89BB-E46F-248D7D3FD1C0}"/>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noProof="0" dirty="0">
                <a:solidFill>
                  <a:schemeClr val="bg1"/>
                </a:solidFill>
                <a:latin typeface="Calibri"/>
                <a:ea typeface="Calibri"/>
                <a:cs typeface="Calibri"/>
              </a:rPr>
              <a:t>On the last task we mentioned that augmentation would hurt our model, but in this task, we viewed it from a different angle</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D4D01B2-87C7-6427-9C67-AAC1A5617321}"/>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EF16EA7A-8BF6-C90D-A5B0-C71DE4180631}"/>
              </a:ext>
            </a:extLst>
          </p:cNvPr>
          <p:cNvSpPr/>
          <p:nvPr/>
        </p:nvSpPr>
        <p:spPr>
          <a:xfrm>
            <a:off x="822483" y="3088000"/>
            <a:ext cx="7247395" cy="1395706"/>
          </a:xfrm>
          <a:prstGeom prst="rect">
            <a:avLst/>
          </a:prstGeom>
          <a:noFill/>
          <a:ln/>
        </p:spPr>
        <p:txBody>
          <a:bodyPr wrap="square" lIns="0" tIns="0" rIns="0" bIns="0" rtlCol="0" anchor="t"/>
          <a:lstStyle/>
          <a:p>
            <a:r>
              <a:rPr lang="en-US" sz="1200" noProof="0" dirty="0">
                <a:solidFill>
                  <a:srgbClr val="0D1B2A"/>
                </a:solidFill>
                <a:latin typeface="Calibri"/>
                <a:ea typeface="Calibri"/>
                <a:cs typeface="Calibri"/>
              </a:rPr>
              <a:t>Since the dataset was smaller and the models had lots of parameters, it was easy for them to overfit, therefore we tried using augmentation strategies as a way to avoid the model to “memorize” and instead learn.</a:t>
            </a:r>
          </a:p>
          <a:p>
            <a:r>
              <a:rPr lang="en-US" sz="1200" noProof="0" dirty="0">
                <a:solidFill>
                  <a:srgbClr val="0D1B2A"/>
                </a:solidFill>
                <a:latin typeface="Calibri"/>
                <a:ea typeface="Calibri"/>
                <a:cs typeface="Calibri"/>
              </a:rPr>
              <a:t>For this we used a custom data loader that applied the following augmentation strategies:</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RandomHorizontalFlip</a:t>
            </a:r>
            <a:r>
              <a:rPr lang="en-US" sz="1200" noProof="0" dirty="0">
                <a:solidFill>
                  <a:srgbClr val="0D1B2A"/>
                </a:solidFill>
                <a:latin typeface="Calibri"/>
                <a:ea typeface="Calibri"/>
                <a:cs typeface="Calibri"/>
              </a:rPr>
              <a:t> (p=0.5): The image has a 50% chance of being flipped horizontally.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RandomRotation</a:t>
            </a:r>
            <a:r>
              <a:rPr lang="en-US" sz="1200" noProof="0" dirty="0">
                <a:solidFill>
                  <a:srgbClr val="0D1B2A"/>
                </a:solidFill>
                <a:latin typeface="Calibri"/>
                <a:ea typeface="Calibri"/>
                <a:cs typeface="Calibri"/>
              </a:rPr>
              <a:t> (±10°): The image is rotated by a small amount (up to 10 degrees).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ColorJitter</a:t>
            </a:r>
            <a:r>
              <a:rPr lang="en-US" sz="1200" noProof="0" dirty="0">
                <a:solidFill>
                  <a:srgbClr val="0D1B2A"/>
                </a:solidFill>
                <a:latin typeface="Calibri"/>
                <a:ea typeface="Calibri"/>
                <a:cs typeface="Calibri"/>
              </a:rPr>
              <a:t> (mild): It applies very slight changes to brightness, contrast, and saturation.</a:t>
            </a:r>
          </a:p>
        </p:txBody>
      </p:sp>
      <p:pic>
        <p:nvPicPr>
          <p:cNvPr id="1026" name="Picture 2">
            <a:extLst>
              <a:ext uri="{FF2B5EF4-FFF2-40B4-BE49-F238E27FC236}">
                <a16:creationId xmlns:a16="http://schemas.microsoft.com/office/drawing/2014/main" id="{ACE2FC4B-9351-58DD-67F6-0DE09863F3F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64" r="49949" b="83905"/>
          <a:stretch>
            <a:fillRect/>
          </a:stretch>
        </p:blipFill>
        <p:spPr bwMode="auto">
          <a:xfrm>
            <a:off x="457200" y="1235866"/>
            <a:ext cx="5194372" cy="1635748"/>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a:extLst>
              <a:ext uri="{FF2B5EF4-FFF2-40B4-BE49-F238E27FC236}">
                <a16:creationId xmlns:a16="http://schemas.microsoft.com/office/drawing/2014/main" id="{FC821E9B-7930-17E2-5822-893B09BFA54B}"/>
              </a:ext>
            </a:extLst>
          </p:cNvPr>
          <p:cNvPicPr>
            <a:picLocks noChangeAspect="1"/>
          </p:cNvPicPr>
          <p:nvPr/>
        </p:nvPicPr>
        <p:blipFill>
          <a:blip r:embed="rId3"/>
          <a:srcRect l="22316" r="26569"/>
          <a:stretch>
            <a:fillRect/>
          </a:stretch>
        </p:blipFill>
        <p:spPr>
          <a:xfrm>
            <a:off x="6668429" y="1936915"/>
            <a:ext cx="2293649" cy="280453"/>
          </a:xfrm>
          <a:prstGeom prst="rect">
            <a:avLst/>
          </a:prstGeom>
        </p:spPr>
      </p:pic>
      <p:pic>
        <p:nvPicPr>
          <p:cNvPr id="6" name="Imagem 5">
            <a:extLst>
              <a:ext uri="{FF2B5EF4-FFF2-40B4-BE49-F238E27FC236}">
                <a16:creationId xmlns:a16="http://schemas.microsoft.com/office/drawing/2014/main" id="{7DFB7684-352A-449A-DD66-A46E60145920}"/>
              </a:ext>
            </a:extLst>
          </p:cNvPr>
          <p:cNvPicPr>
            <a:picLocks noChangeAspect="1"/>
          </p:cNvPicPr>
          <p:nvPr/>
        </p:nvPicPr>
        <p:blipFill>
          <a:blip r:embed="rId4"/>
          <a:stretch>
            <a:fillRect/>
          </a:stretch>
        </p:blipFill>
        <p:spPr>
          <a:xfrm>
            <a:off x="7323549" y="1385311"/>
            <a:ext cx="1638529" cy="276264"/>
          </a:xfrm>
          <a:prstGeom prst="rect">
            <a:avLst/>
          </a:prstGeom>
        </p:spPr>
      </p:pic>
      <p:pic>
        <p:nvPicPr>
          <p:cNvPr id="8" name="Imagem 7">
            <a:extLst>
              <a:ext uri="{FF2B5EF4-FFF2-40B4-BE49-F238E27FC236}">
                <a16:creationId xmlns:a16="http://schemas.microsoft.com/office/drawing/2014/main" id="{C0D2718A-8642-39D8-E5C6-52A2698FC40B}"/>
              </a:ext>
            </a:extLst>
          </p:cNvPr>
          <p:cNvPicPr>
            <a:picLocks noChangeAspect="1"/>
          </p:cNvPicPr>
          <p:nvPr/>
        </p:nvPicPr>
        <p:blipFill>
          <a:blip r:embed="rId5"/>
          <a:srcRect l="18447" t="6272"/>
          <a:stretch>
            <a:fillRect/>
          </a:stretch>
        </p:blipFill>
        <p:spPr>
          <a:xfrm>
            <a:off x="6110868" y="1661575"/>
            <a:ext cx="2851210" cy="285726"/>
          </a:xfrm>
          <a:prstGeom prst="rect">
            <a:avLst/>
          </a:prstGeom>
        </p:spPr>
      </p:pic>
      <p:sp>
        <p:nvSpPr>
          <p:cNvPr id="9" name="TextBox 22">
            <a:extLst>
              <a:ext uri="{FF2B5EF4-FFF2-40B4-BE49-F238E27FC236}">
                <a16:creationId xmlns:a16="http://schemas.microsoft.com/office/drawing/2014/main" id="{32A05C37-3E5B-1EE1-78E7-8F93C87C2F82}"/>
              </a:ext>
            </a:extLst>
          </p:cNvPr>
          <p:cNvSpPr txBox="1"/>
          <p:nvPr/>
        </p:nvSpPr>
        <p:spPr>
          <a:xfrm>
            <a:off x="7536472" y="2384563"/>
            <a:ext cx="124176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+7.7%!</a:t>
            </a:r>
          </a:p>
        </p:txBody>
      </p:sp>
    </p:spTree>
    <p:extLst>
      <p:ext uri="{BB962C8B-B14F-4D97-AF65-F5344CB8AC3E}">
        <p14:creationId xmlns:p14="http://schemas.microsoft.com/office/powerpoint/2010/main" val="2878720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AD79D-5393-0A3D-47CF-6B032EE8A2A9}"/>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B39376AB-A907-952E-D38E-13D3A8931A8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AC66FEF2-3E28-D354-16D3-B84CDA482D2E}"/>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DF87C818-6B17-A9BF-53A6-A8593EEAD1AC}"/>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Regularization</a:t>
            </a:r>
          </a:p>
        </p:txBody>
      </p:sp>
      <p:sp>
        <p:nvSpPr>
          <p:cNvPr id="10" name="StratBG">
            <a:extLst>
              <a:ext uri="{FF2B5EF4-FFF2-40B4-BE49-F238E27FC236}">
                <a16:creationId xmlns:a16="http://schemas.microsoft.com/office/drawing/2014/main" id="{5D9ADD15-C1DD-6F41-DDE4-B29CF6EA576F}"/>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57047D50-F66E-3FFC-FB2B-3CC22DDCD4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b="1" noProof="0" dirty="0">
                <a:solidFill>
                  <a:schemeClr val="bg1"/>
                </a:solidFill>
                <a:latin typeface="Calibri"/>
                <a:ea typeface="Calibri"/>
                <a:cs typeface="Calibri"/>
              </a:rPr>
              <a:t>Use regularization techniques to prevent the model from overfitting/memorizing the images</a:t>
            </a:r>
            <a:r>
              <a:rPr lang="en-US" sz="1200" noProof="0" dirty="0">
                <a:solidFill>
                  <a:schemeClr val="bg1"/>
                </a:solidFill>
                <a:latin typeface="Calibri"/>
                <a:ea typeface="Calibri"/>
                <a:cs typeface="Calibri"/>
              </a:rPr>
              <a:t>.</a:t>
            </a:r>
          </a:p>
        </p:txBody>
      </p:sp>
      <p:sp>
        <p:nvSpPr>
          <p:cNvPr id="20" name="H1">
            <a:extLst>
              <a:ext uri="{FF2B5EF4-FFF2-40B4-BE49-F238E27FC236}">
                <a16:creationId xmlns:a16="http://schemas.microsoft.com/office/drawing/2014/main" id="{0AF0AD0B-2DE6-7E86-F205-2B8ADD6F6148}"/>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Label Smoothing</a:t>
            </a:r>
          </a:p>
        </p:txBody>
      </p:sp>
      <p:sp>
        <p:nvSpPr>
          <p:cNvPr id="21" name="H2">
            <a:extLst>
              <a:ext uri="{FF2B5EF4-FFF2-40B4-BE49-F238E27FC236}">
                <a16:creationId xmlns:a16="http://schemas.microsoft.com/office/drawing/2014/main" id="{99F6C3C7-BE13-5677-7D86-FDA68687F40A}"/>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err="1">
                <a:solidFill>
                  <a:srgbClr val="FFFFFF"/>
                </a:solidFill>
                <a:latin typeface="Calibri"/>
              </a:rPr>
              <a:t>AdamW</a:t>
            </a:r>
            <a:r>
              <a:rPr lang="en-US" sz="1400" b="1" noProof="0" dirty="0">
                <a:solidFill>
                  <a:srgbClr val="FFFFFF"/>
                </a:solidFill>
                <a:latin typeface="Calibri"/>
              </a:rPr>
              <a:t> (Adam + Weight Decay)</a:t>
            </a:r>
          </a:p>
        </p:txBody>
      </p:sp>
      <p:sp>
        <p:nvSpPr>
          <p:cNvPr id="30" name="R1C1">
            <a:extLst>
              <a:ext uri="{FF2B5EF4-FFF2-40B4-BE49-F238E27FC236}">
                <a16:creationId xmlns:a16="http://schemas.microsoft.com/office/drawing/2014/main" id="{CF48E766-0CDE-CECC-78DB-30AF814970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Technique where instead of hard targets [0,0,1,0,…], uses [ε/K, …, 1−ε+ε/K, …] (ε=0.1, K=9), this helps</a:t>
            </a:r>
          </a:p>
          <a:p>
            <a:pPr algn="ctr"/>
            <a:r>
              <a:rPr lang="en-US" sz="1300" noProof="0" dirty="0">
                <a:solidFill>
                  <a:srgbClr val="1A2B3C"/>
                </a:solidFill>
                <a:latin typeface="Calibri"/>
                <a:ea typeface="Calibri"/>
                <a:cs typeface="Calibri"/>
              </a:rPr>
              <a:t>preventing overconfident predictions, acting as an implicit </a:t>
            </a:r>
            <a:r>
              <a:rPr lang="en-US" sz="1300" noProof="0" dirty="0" err="1">
                <a:solidFill>
                  <a:srgbClr val="1A2B3C"/>
                </a:solidFill>
                <a:latin typeface="Calibri"/>
                <a:ea typeface="Calibri"/>
                <a:cs typeface="Calibri"/>
              </a:rPr>
              <a:t>regularizer</a:t>
            </a:r>
            <a:r>
              <a:rPr lang="en-US" sz="1300" noProof="0" dirty="0">
                <a:solidFill>
                  <a:srgbClr val="1A2B3C"/>
                </a:solidFill>
                <a:latin typeface="Calibri"/>
                <a:ea typeface="Calibri"/>
                <a:cs typeface="Calibri"/>
              </a:rPr>
              <a:t> when training data is small, which is the case here.</a:t>
            </a:r>
          </a:p>
        </p:txBody>
      </p:sp>
      <p:sp>
        <p:nvSpPr>
          <p:cNvPr id="31" name="R1C2">
            <a:extLst>
              <a:ext uri="{FF2B5EF4-FFF2-40B4-BE49-F238E27FC236}">
                <a16:creationId xmlns:a16="http://schemas.microsoft.com/office/drawing/2014/main" id="{A8676ECF-DA27-EB54-4DDC-65F7EC576E1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Decouples weight decay from the gradient update, avoiding its absorption into the gradient descent scaling, essentially applies “true” L2 regularization.</a:t>
            </a:r>
          </a:p>
        </p:txBody>
      </p:sp>
      <p:sp>
        <p:nvSpPr>
          <p:cNvPr id="23" name="TextBox 22">
            <a:extLst>
              <a:ext uri="{FF2B5EF4-FFF2-40B4-BE49-F238E27FC236}">
                <a16:creationId xmlns:a16="http://schemas.microsoft.com/office/drawing/2014/main" id="{F41C3CE9-747F-04CF-A9E1-5D8832F61572}"/>
              </a:ext>
            </a:extLst>
          </p:cNvPr>
          <p:cNvSpPr txBox="1"/>
          <p:nvPr/>
        </p:nvSpPr>
        <p:spPr>
          <a:xfrm>
            <a:off x="7744677" y="4474713"/>
            <a:ext cx="13648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+11.6%!</a:t>
            </a:r>
          </a:p>
        </p:txBody>
      </p:sp>
      <p:sp>
        <p:nvSpPr>
          <p:cNvPr id="25" name="NumCircle">
            <a:extLst>
              <a:ext uri="{FF2B5EF4-FFF2-40B4-BE49-F238E27FC236}">
                <a16:creationId xmlns:a16="http://schemas.microsoft.com/office/drawing/2014/main" id="{2886CCD5-F470-305F-234E-EF8EEDE7A28C}"/>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13" name="Imagem 12">
            <a:extLst>
              <a:ext uri="{FF2B5EF4-FFF2-40B4-BE49-F238E27FC236}">
                <a16:creationId xmlns:a16="http://schemas.microsoft.com/office/drawing/2014/main" id="{B687C9BE-A420-3AD0-568B-2BE08EEDF0C8}"/>
              </a:ext>
            </a:extLst>
          </p:cNvPr>
          <p:cNvPicPr>
            <a:picLocks noChangeAspect="1"/>
          </p:cNvPicPr>
          <p:nvPr/>
        </p:nvPicPr>
        <p:blipFill>
          <a:blip r:embed="rId2"/>
          <a:srcRect l="22316" r="26569"/>
          <a:stretch>
            <a:fillRect/>
          </a:stretch>
        </p:blipFill>
        <p:spPr>
          <a:xfrm>
            <a:off x="5416849" y="4848476"/>
            <a:ext cx="2293649" cy="280453"/>
          </a:xfrm>
          <a:prstGeom prst="rect">
            <a:avLst/>
          </a:prstGeom>
        </p:spPr>
      </p:pic>
      <p:pic>
        <p:nvPicPr>
          <p:cNvPr id="14" name="Imagem 13">
            <a:extLst>
              <a:ext uri="{FF2B5EF4-FFF2-40B4-BE49-F238E27FC236}">
                <a16:creationId xmlns:a16="http://schemas.microsoft.com/office/drawing/2014/main" id="{CD457219-A13D-1F2B-4E43-8529615C0D6C}"/>
              </a:ext>
            </a:extLst>
          </p:cNvPr>
          <p:cNvPicPr>
            <a:picLocks noChangeAspect="1"/>
          </p:cNvPicPr>
          <p:nvPr/>
        </p:nvPicPr>
        <p:blipFill>
          <a:blip r:embed="rId3"/>
          <a:stretch>
            <a:fillRect/>
          </a:stretch>
        </p:blipFill>
        <p:spPr>
          <a:xfrm>
            <a:off x="6054954" y="4281085"/>
            <a:ext cx="1638529" cy="276264"/>
          </a:xfrm>
          <a:prstGeom prst="rect">
            <a:avLst/>
          </a:prstGeom>
        </p:spPr>
      </p:pic>
      <p:pic>
        <p:nvPicPr>
          <p:cNvPr id="6" name="Imagem 5">
            <a:extLst>
              <a:ext uri="{FF2B5EF4-FFF2-40B4-BE49-F238E27FC236}">
                <a16:creationId xmlns:a16="http://schemas.microsoft.com/office/drawing/2014/main" id="{BD25E603-3E60-E7B4-4F37-DCB06F48C226}"/>
              </a:ext>
            </a:extLst>
          </p:cNvPr>
          <p:cNvPicPr>
            <a:picLocks noChangeAspect="1"/>
          </p:cNvPicPr>
          <p:nvPr/>
        </p:nvPicPr>
        <p:blipFill>
          <a:blip r:embed="rId2"/>
          <a:srcRect l="22316" r="26569"/>
          <a:stretch>
            <a:fillRect/>
          </a:stretch>
        </p:blipFill>
        <p:spPr>
          <a:xfrm>
            <a:off x="753822" y="4522553"/>
            <a:ext cx="2293649" cy="280453"/>
          </a:xfrm>
          <a:prstGeom prst="rect">
            <a:avLst/>
          </a:prstGeom>
        </p:spPr>
      </p:pic>
      <p:pic>
        <p:nvPicPr>
          <p:cNvPr id="7" name="Imagem 6">
            <a:extLst>
              <a:ext uri="{FF2B5EF4-FFF2-40B4-BE49-F238E27FC236}">
                <a16:creationId xmlns:a16="http://schemas.microsoft.com/office/drawing/2014/main" id="{7B8C0F2E-04CA-C16D-BA42-9286073526FC}"/>
              </a:ext>
            </a:extLst>
          </p:cNvPr>
          <p:cNvPicPr>
            <a:picLocks noChangeAspect="1"/>
          </p:cNvPicPr>
          <p:nvPr/>
        </p:nvPicPr>
        <p:blipFill>
          <a:blip r:embed="rId3"/>
          <a:stretch>
            <a:fillRect/>
          </a:stretch>
        </p:blipFill>
        <p:spPr>
          <a:xfrm>
            <a:off x="1408942" y="3962112"/>
            <a:ext cx="1638529" cy="276264"/>
          </a:xfrm>
          <a:prstGeom prst="rect">
            <a:avLst/>
          </a:prstGeom>
        </p:spPr>
      </p:pic>
      <p:sp>
        <p:nvSpPr>
          <p:cNvPr id="8" name="TextBox 22">
            <a:extLst>
              <a:ext uri="{FF2B5EF4-FFF2-40B4-BE49-F238E27FC236}">
                <a16:creationId xmlns:a16="http://schemas.microsoft.com/office/drawing/2014/main" id="{5DA54D50-CDA2-4F14-EF5B-CF1CF90D9813}"/>
              </a:ext>
            </a:extLst>
          </p:cNvPr>
          <p:cNvSpPr txBox="1"/>
          <p:nvPr/>
        </p:nvSpPr>
        <p:spPr>
          <a:xfrm>
            <a:off x="3402490" y="4195561"/>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9" name="Imagem 8">
            <a:extLst>
              <a:ext uri="{FF2B5EF4-FFF2-40B4-BE49-F238E27FC236}">
                <a16:creationId xmlns:a16="http://schemas.microsoft.com/office/drawing/2014/main" id="{71993F97-EDB8-B771-7460-BF6C94FFF273}"/>
              </a:ext>
            </a:extLst>
          </p:cNvPr>
          <p:cNvPicPr>
            <a:picLocks noChangeAspect="1"/>
          </p:cNvPicPr>
          <p:nvPr/>
        </p:nvPicPr>
        <p:blipFill>
          <a:blip r:embed="rId4"/>
          <a:srcRect l="18002" t="15259"/>
          <a:stretch>
            <a:fillRect/>
          </a:stretch>
        </p:blipFill>
        <p:spPr>
          <a:xfrm>
            <a:off x="165038" y="4238376"/>
            <a:ext cx="2882433" cy="282547"/>
          </a:xfrm>
          <a:prstGeom prst="rect">
            <a:avLst/>
          </a:prstGeom>
        </p:spPr>
      </p:pic>
      <p:pic>
        <p:nvPicPr>
          <p:cNvPr id="17" name="Imagem 16">
            <a:extLst>
              <a:ext uri="{FF2B5EF4-FFF2-40B4-BE49-F238E27FC236}">
                <a16:creationId xmlns:a16="http://schemas.microsoft.com/office/drawing/2014/main" id="{3859C8D5-1EDA-9D41-9DC0-F27D693CB7C8}"/>
              </a:ext>
            </a:extLst>
          </p:cNvPr>
          <p:cNvPicPr>
            <a:picLocks noChangeAspect="1"/>
          </p:cNvPicPr>
          <p:nvPr/>
        </p:nvPicPr>
        <p:blipFill>
          <a:blip r:embed="rId5"/>
          <a:srcRect l="13558"/>
          <a:stretch>
            <a:fillRect/>
          </a:stretch>
        </p:blipFill>
        <p:spPr>
          <a:xfrm>
            <a:off x="4638910" y="4562651"/>
            <a:ext cx="3071588" cy="285790"/>
          </a:xfrm>
          <a:prstGeom prst="rect">
            <a:avLst/>
          </a:prstGeom>
        </p:spPr>
      </p:pic>
    </p:spTree>
    <p:extLst>
      <p:ext uri="{BB962C8B-B14F-4D97-AF65-F5344CB8AC3E}">
        <p14:creationId xmlns:p14="http://schemas.microsoft.com/office/powerpoint/2010/main" val="40647511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2F2A6-7EC1-1014-48C5-790EAAFEE02A}"/>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E1D21E2-51DC-40D1-A838-9C2268754E9E}"/>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539F2DA3-301E-5832-EE3E-E4794FF6703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666D9E2F-4127-1E4A-45A8-93F32946095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WeightedRandomSampler</a:t>
            </a:r>
            <a:endParaRPr lang="en-US" sz="2200" b="1" noProof="0" dirty="0">
              <a:solidFill>
                <a:srgbClr val="0D1B2A"/>
              </a:solidFill>
              <a:latin typeface="Trebuchet MS" pitchFamily="34" charset="0"/>
            </a:endParaRPr>
          </a:p>
        </p:txBody>
      </p:sp>
      <p:sp>
        <p:nvSpPr>
          <p:cNvPr id="10" name="StratBG">
            <a:extLst>
              <a:ext uri="{FF2B5EF4-FFF2-40B4-BE49-F238E27FC236}">
                <a16:creationId xmlns:a16="http://schemas.microsoft.com/office/drawing/2014/main" id="{26275447-9581-EE57-1251-8F745A27B369}"/>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4ED0CF8-1752-5CC9-FDF6-FAD276AAFBC2}"/>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b="1" noProof="0" dirty="0">
                <a:solidFill>
                  <a:schemeClr val="bg1"/>
                </a:solidFill>
                <a:latin typeface="Calibri"/>
                <a:ea typeface="Calibri"/>
                <a:cs typeface="Calibri"/>
              </a:rPr>
              <a:t>Decrease overfitting by balancing classes frequency</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91686DB-19E5-D4DF-9BE4-E251B330BA8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6499464B-C393-C773-28B8-031F273930A1}"/>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A7439167-D3AA-4755-49EF-C7C63DF6624A}"/>
              </a:ext>
            </a:extLst>
          </p:cNvPr>
          <p:cNvSpPr/>
          <p:nvPr/>
        </p:nvSpPr>
        <p:spPr>
          <a:xfrm>
            <a:off x="822483" y="3088000"/>
            <a:ext cx="7247395" cy="1795088"/>
          </a:xfrm>
          <a:prstGeom prst="rect">
            <a:avLst/>
          </a:prstGeom>
          <a:noFill/>
          <a:ln/>
        </p:spPr>
        <p:txBody>
          <a:bodyPr wrap="square" lIns="0" tIns="0" rIns="0" bIns="0" rtlCol="0" anchor="t"/>
          <a:lstStyle/>
          <a:p>
            <a:r>
              <a:rPr lang="en-US" sz="1200" noProof="0" dirty="0" err="1">
                <a:solidFill>
                  <a:srgbClr val="0D1B2A"/>
                </a:solidFill>
                <a:latin typeface="Calibri"/>
                <a:ea typeface="Calibri"/>
                <a:cs typeface="Calibri"/>
              </a:rPr>
              <a:t>WeightedRandomSampler</a:t>
            </a:r>
            <a:r>
              <a:rPr lang="en-US" sz="1200" noProof="0" dirty="0">
                <a:solidFill>
                  <a:srgbClr val="0D1B2A"/>
                </a:solidFill>
                <a:latin typeface="Calibri"/>
                <a:ea typeface="Calibri"/>
                <a:cs typeface="Calibri"/>
              </a:rPr>
              <a:t> by using a mechanism of sampler over-samples rare classes so each batch has an approximately uniform class frequency, this way the model doesn’t specifies on a specific class and instead implicitly improves its scoring in a similar way for all classes. This is especially important in small datasets like this where if not taken care the classes can become highly unbalanced in the batches.</a:t>
            </a:r>
          </a:p>
        </p:txBody>
      </p:sp>
      <p:pic>
        <p:nvPicPr>
          <p:cNvPr id="4" name="Imagem 3">
            <a:extLst>
              <a:ext uri="{FF2B5EF4-FFF2-40B4-BE49-F238E27FC236}">
                <a16:creationId xmlns:a16="http://schemas.microsoft.com/office/drawing/2014/main" id="{D7A46EEC-4FDF-7A44-B954-68B73360C355}"/>
              </a:ext>
            </a:extLst>
          </p:cNvPr>
          <p:cNvPicPr>
            <a:picLocks noChangeAspect="1"/>
          </p:cNvPicPr>
          <p:nvPr/>
        </p:nvPicPr>
        <p:blipFill>
          <a:blip r:embed="rId2"/>
          <a:srcRect l="22316" r="26569"/>
          <a:stretch>
            <a:fillRect/>
          </a:stretch>
        </p:blipFill>
        <p:spPr>
          <a:xfrm>
            <a:off x="2761042" y="1999174"/>
            <a:ext cx="2293649" cy="280453"/>
          </a:xfrm>
          <a:prstGeom prst="rect">
            <a:avLst/>
          </a:prstGeom>
        </p:spPr>
      </p:pic>
      <p:pic>
        <p:nvPicPr>
          <p:cNvPr id="6" name="Imagem 5">
            <a:extLst>
              <a:ext uri="{FF2B5EF4-FFF2-40B4-BE49-F238E27FC236}">
                <a16:creationId xmlns:a16="http://schemas.microsoft.com/office/drawing/2014/main" id="{43A166CA-A757-1BAD-02E1-E07795391DA5}"/>
              </a:ext>
            </a:extLst>
          </p:cNvPr>
          <p:cNvPicPr>
            <a:picLocks noChangeAspect="1"/>
          </p:cNvPicPr>
          <p:nvPr/>
        </p:nvPicPr>
        <p:blipFill>
          <a:blip r:embed="rId3"/>
          <a:stretch>
            <a:fillRect/>
          </a:stretch>
        </p:blipFill>
        <p:spPr>
          <a:xfrm>
            <a:off x="3416162" y="1438733"/>
            <a:ext cx="1638529" cy="276264"/>
          </a:xfrm>
          <a:prstGeom prst="rect">
            <a:avLst/>
          </a:prstGeom>
        </p:spPr>
      </p:pic>
      <p:sp>
        <p:nvSpPr>
          <p:cNvPr id="7" name="TextBox 22">
            <a:extLst>
              <a:ext uri="{FF2B5EF4-FFF2-40B4-BE49-F238E27FC236}">
                <a16:creationId xmlns:a16="http://schemas.microsoft.com/office/drawing/2014/main" id="{EBCDCE8A-DE11-ED0D-0341-FCB3A522C1F2}"/>
              </a:ext>
            </a:extLst>
          </p:cNvPr>
          <p:cNvSpPr txBox="1"/>
          <p:nvPr/>
        </p:nvSpPr>
        <p:spPr>
          <a:xfrm>
            <a:off x="5325348" y="1638370"/>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14" name="Imagem 13">
            <a:extLst>
              <a:ext uri="{FF2B5EF4-FFF2-40B4-BE49-F238E27FC236}">
                <a16:creationId xmlns:a16="http://schemas.microsoft.com/office/drawing/2014/main" id="{5D60738E-8A01-DF4C-0533-1FC514DEF8E5}"/>
              </a:ext>
            </a:extLst>
          </p:cNvPr>
          <p:cNvPicPr>
            <a:picLocks noChangeAspect="1"/>
          </p:cNvPicPr>
          <p:nvPr/>
        </p:nvPicPr>
        <p:blipFill>
          <a:blip r:embed="rId4"/>
          <a:srcRect l="13679"/>
          <a:stretch>
            <a:fillRect/>
          </a:stretch>
        </p:blipFill>
        <p:spPr>
          <a:xfrm>
            <a:off x="2042903" y="1686780"/>
            <a:ext cx="3011788" cy="314369"/>
          </a:xfrm>
          <a:prstGeom prst="rect">
            <a:avLst/>
          </a:prstGeom>
        </p:spPr>
      </p:pic>
    </p:spTree>
    <p:extLst>
      <p:ext uri="{BB962C8B-B14F-4D97-AF65-F5344CB8AC3E}">
        <p14:creationId xmlns:p14="http://schemas.microsoft.com/office/powerpoint/2010/main" val="5110801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23B8F-6B56-0F6A-2A13-0010316D45D6}"/>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26C93554-892A-68E3-986B-53676D3EDF6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A2F1BA7-7FFB-41A2-52E6-9B388A2A758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0558BE05-B2D3-3595-E84A-5C3FA5A812AF}"/>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Vs </a:t>
            </a: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+Augmentation</a:t>
            </a:r>
          </a:p>
        </p:txBody>
      </p:sp>
      <p:sp>
        <p:nvSpPr>
          <p:cNvPr id="10" name="StratBG">
            <a:extLst>
              <a:ext uri="{FF2B5EF4-FFF2-40B4-BE49-F238E27FC236}">
                <a16:creationId xmlns:a16="http://schemas.microsoft.com/office/drawing/2014/main" id="{920CC3E3-F8C6-5EEA-371B-7F660AFA9088}"/>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B2C4F38-0FF3-FB89-40B7-ECED46168DE9}"/>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Combine the 2 main regularization techniques and see if the effect “stacks”, and at the same time compare the effects of augmentation on top of them, will it provide the best improvement?</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A9E7F128-6B9A-46BA-2616-D854A284D72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59336F49-75BC-B677-0959-819CAA044800}"/>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58A07130-17AF-44BD-415F-8F66738BADA6}"/>
              </a:ext>
            </a:extLst>
          </p:cNvPr>
          <p:cNvSpPr/>
          <p:nvPr/>
        </p:nvSpPr>
        <p:spPr>
          <a:xfrm>
            <a:off x="822483" y="3022869"/>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Combining both regularization techniques continues to improve the model but the improvement is smaller when compared with either techniques individually.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 Combining the previous model with augmentation, the model validation score decreased when compared with the basic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When analyzing this values, two possible explanations are that the swim model is simply too complex for this task, and by heavily regularizing it we are taking away its “memorization” capabilities, showcasing the model true weaknesses, or the head is not complex enough since the gap between </a:t>
            </a:r>
            <a:r>
              <a:rPr lang="en-US" sz="1200" noProof="0" dirty="0" err="1">
                <a:solidFill>
                  <a:srgbClr val="0D1B2A"/>
                </a:solidFill>
                <a:latin typeface="Calibri"/>
                <a:ea typeface="Calibri"/>
                <a:cs typeface="Calibri"/>
              </a:rPr>
              <a:t>val</a:t>
            </a:r>
            <a:r>
              <a:rPr lang="en-US" sz="1200" noProof="0" dirty="0">
                <a:solidFill>
                  <a:srgbClr val="0D1B2A"/>
                </a:solidFill>
                <a:latin typeface="Calibri"/>
                <a:ea typeface="Calibri"/>
                <a:cs typeface="Calibri"/>
              </a:rPr>
              <a:t> f1 and train f1 effectively </a:t>
            </a:r>
            <a:r>
              <a:rPr lang="en-US" sz="1200" noProof="0" dirty="0" err="1">
                <a:solidFill>
                  <a:srgbClr val="0D1B2A"/>
                </a:solidFill>
                <a:latin typeface="Calibri"/>
                <a:ea typeface="Calibri"/>
                <a:cs typeface="Calibri"/>
              </a:rPr>
              <a:t>decresed</a:t>
            </a:r>
            <a:r>
              <a:rPr lang="en-US" sz="1200" noProof="0" dirty="0">
                <a:solidFill>
                  <a:srgbClr val="0D1B2A"/>
                </a:solidFill>
                <a:latin typeface="Calibri"/>
                <a:ea typeface="Calibri"/>
                <a:cs typeface="Calibri"/>
              </a:rPr>
              <a:t>.</a:t>
            </a:r>
          </a:p>
          <a:p>
            <a:pPr marL="171450" indent="-171450">
              <a:buFont typeface="Arial" panose="020B0604020202020204" pitchFamily="34" charset="0"/>
              <a:buChar char="•"/>
            </a:pPr>
            <a:endParaRPr lang="en-US" sz="1200" noProof="0" dirty="0">
              <a:solidFill>
                <a:srgbClr val="0D1B2A"/>
              </a:solidFill>
              <a:latin typeface="Calibri"/>
              <a:ea typeface="Calibri"/>
              <a:cs typeface="Calibri"/>
            </a:endParaRPr>
          </a:p>
        </p:txBody>
      </p:sp>
      <p:pic>
        <p:nvPicPr>
          <p:cNvPr id="4" name="Imagem 3">
            <a:extLst>
              <a:ext uri="{FF2B5EF4-FFF2-40B4-BE49-F238E27FC236}">
                <a16:creationId xmlns:a16="http://schemas.microsoft.com/office/drawing/2014/main" id="{485B93F2-87E8-6A37-751C-EDDA8E9EED91}"/>
              </a:ext>
            </a:extLst>
          </p:cNvPr>
          <p:cNvPicPr>
            <a:picLocks noChangeAspect="1"/>
          </p:cNvPicPr>
          <p:nvPr/>
        </p:nvPicPr>
        <p:blipFill>
          <a:blip r:embed="rId2"/>
          <a:srcRect l="22316" r="26569"/>
          <a:stretch>
            <a:fillRect/>
          </a:stretch>
        </p:blipFill>
        <p:spPr>
          <a:xfrm>
            <a:off x="3158026" y="2106420"/>
            <a:ext cx="2293649" cy="280453"/>
          </a:xfrm>
          <a:prstGeom prst="rect">
            <a:avLst/>
          </a:prstGeom>
        </p:spPr>
      </p:pic>
      <p:pic>
        <p:nvPicPr>
          <p:cNvPr id="6" name="Imagem 5">
            <a:extLst>
              <a:ext uri="{FF2B5EF4-FFF2-40B4-BE49-F238E27FC236}">
                <a16:creationId xmlns:a16="http://schemas.microsoft.com/office/drawing/2014/main" id="{3429A58C-21CD-80BD-F023-D2894E115697}"/>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B8171CE3-0982-779A-DAF2-593361876A38}"/>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+6.5%</a:t>
            </a:r>
          </a:p>
        </p:txBody>
      </p:sp>
      <p:pic>
        <p:nvPicPr>
          <p:cNvPr id="9" name="Imagem 8">
            <a:extLst>
              <a:ext uri="{FF2B5EF4-FFF2-40B4-BE49-F238E27FC236}">
                <a16:creationId xmlns:a16="http://schemas.microsoft.com/office/drawing/2014/main" id="{E686F113-37A9-5200-5643-25CB5FB39DDE}"/>
              </a:ext>
            </a:extLst>
          </p:cNvPr>
          <p:cNvPicPr>
            <a:picLocks noChangeAspect="1"/>
          </p:cNvPicPr>
          <p:nvPr/>
        </p:nvPicPr>
        <p:blipFill>
          <a:blip r:embed="rId4"/>
          <a:srcRect l="13310"/>
          <a:stretch>
            <a:fillRect/>
          </a:stretch>
        </p:blipFill>
        <p:spPr>
          <a:xfrm>
            <a:off x="2239165" y="1820630"/>
            <a:ext cx="3212510" cy="285790"/>
          </a:xfrm>
          <a:prstGeom prst="rect">
            <a:avLst/>
          </a:prstGeom>
        </p:spPr>
      </p:pic>
      <p:pic>
        <p:nvPicPr>
          <p:cNvPr id="14" name="Imagem 13">
            <a:extLst>
              <a:ext uri="{FF2B5EF4-FFF2-40B4-BE49-F238E27FC236}">
                <a16:creationId xmlns:a16="http://schemas.microsoft.com/office/drawing/2014/main" id="{263316FF-18F3-D5BF-249B-3A01A7872427}"/>
              </a:ext>
            </a:extLst>
          </p:cNvPr>
          <p:cNvPicPr>
            <a:picLocks noChangeAspect="1"/>
          </p:cNvPicPr>
          <p:nvPr/>
        </p:nvPicPr>
        <p:blipFill>
          <a:blip r:embed="rId5"/>
          <a:srcRect l="10864"/>
          <a:stretch>
            <a:fillRect/>
          </a:stretch>
        </p:blipFill>
        <p:spPr>
          <a:xfrm>
            <a:off x="2011680" y="2359903"/>
            <a:ext cx="3439995" cy="285790"/>
          </a:xfrm>
          <a:prstGeom prst="rect">
            <a:avLst/>
          </a:prstGeom>
        </p:spPr>
      </p:pic>
      <p:sp>
        <p:nvSpPr>
          <p:cNvPr id="15" name="TextBox 22">
            <a:extLst>
              <a:ext uri="{FF2B5EF4-FFF2-40B4-BE49-F238E27FC236}">
                <a16:creationId xmlns:a16="http://schemas.microsoft.com/office/drawing/2014/main" id="{BDB02B19-0839-8634-BA0F-EBC51C08EB2F}"/>
              </a:ext>
            </a:extLst>
          </p:cNvPr>
          <p:cNvSpPr txBox="1"/>
          <p:nvPr/>
        </p:nvSpPr>
        <p:spPr>
          <a:xfrm>
            <a:off x="5597050" y="226972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-2.3%!</a:t>
            </a:r>
          </a:p>
        </p:txBody>
      </p:sp>
    </p:spTree>
    <p:extLst>
      <p:ext uri="{BB962C8B-B14F-4D97-AF65-F5344CB8AC3E}">
        <p14:creationId xmlns:p14="http://schemas.microsoft.com/office/powerpoint/2010/main" val="36226762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5A297-21E1-E374-BBEF-3E62C8FE1F75}"/>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8876A13-25E3-CB4F-C834-00140D2EC2C1}"/>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151F991-7DC2-65FE-4ACA-3351C5DE4D33}"/>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699A194-CA8D-9675-8749-5AEB2FDD167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b="1" noProof="0" dirty="0">
                <a:solidFill>
                  <a:srgbClr val="0D1B2A"/>
                </a:solidFill>
                <a:latin typeface="Trebuchet MS" pitchFamily="34" charset="0"/>
              </a:rPr>
              <a:t>Best Fine-tunning with best Augmentation/regularization</a:t>
            </a:r>
          </a:p>
        </p:txBody>
      </p:sp>
      <p:sp>
        <p:nvSpPr>
          <p:cNvPr id="10" name="StratBG">
            <a:extLst>
              <a:ext uri="{FF2B5EF4-FFF2-40B4-BE49-F238E27FC236}">
                <a16:creationId xmlns:a16="http://schemas.microsoft.com/office/drawing/2014/main" id="{B46B7CBA-ADF2-5DA2-538C-33C0A06B2E5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65ABF1D4-AA55-9D7B-BA94-27B59ADE098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Now that we have analyzed fine-tunning and augmentation/regularization separately, its time to compare the them! </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9547947-6D91-34FB-6A05-C6B709F6B5A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BB596423-D4F8-3C11-F3E3-EEC06941A605}"/>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B6CC881-9CC4-CFCA-A125-01BFBEF59FCC}"/>
              </a:ext>
            </a:extLst>
          </p:cNvPr>
          <p:cNvSpPr/>
          <p:nvPr/>
        </p:nvSpPr>
        <p:spPr>
          <a:xfrm>
            <a:off x="822483" y="3022869"/>
            <a:ext cx="7247395" cy="954805"/>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Improved is larger when compared with the previous combinations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falls short in comparation to the individual label smoothing over the fully frozen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Suggests that the model is just too complex for this task with the amount of data we have </a:t>
            </a:r>
          </a:p>
        </p:txBody>
      </p:sp>
      <p:pic>
        <p:nvPicPr>
          <p:cNvPr id="4" name="Imagem 3">
            <a:extLst>
              <a:ext uri="{FF2B5EF4-FFF2-40B4-BE49-F238E27FC236}">
                <a16:creationId xmlns:a16="http://schemas.microsoft.com/office/drawing/2014/main" id="{3B637725-BC3C-8062-26E9-255657604D8D}"/>
              </a:ext>
            </a:extLst>
          </p:cNvPr>
          <p:cNvPicPr>
            <a:picLocks noChangeAspect="1"/>
          </p:cNvPicPr>
          <p:nvPr/>
        </p:nvPicPr>
        <p:blipFill>
          <a:blip r:embed="rId2"/>
          <a:srcRect l="22316" r="26569"/>
          <a:stretch>
            <a:fillRect/>
          </a:stretch>
        </p:blipFill>
        <p:spPr>
          <a:xfrm>
            <a:off x="3158026" y="2102103"/>
            <a:ext cx="2293649" cy="280453"/>
          </a:xfrm>
          <a:prstGeom prst="rect">
            <a:avLst/>
          </a:prstGeom>
        </p:spPr>
      </p:pic>
      <p:pic>
        <p:nvPicPr>
          <p:cNvPr id="6" name="Imagem 5">
            <a:extLst>
              <a:ext uri="{FF2B5EF4-FFF2-40B4-BE49-F238E27FC236}">
                <a16:creationId xmlns:a16="http://schemas.microsoft.com/office/drawing/2014/main" id="{3DA4AD0D-4DED-F997-0F2D-C303F91F3412}"/>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D89BC109-7828-4BC0-7FD4-4D2C886AB713}"/>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+8.5%</a:t>
            </a:r>
          </a:p>
        </p:txBody>
      </p:sp>
      <p:pic>
        <p:nvPicPr>
          <p:cNvPr id="13" name="Imagem 12">
            <a:extLst>
              <a:ext uri="{FF2B5EF4-FFF2-40B4-BE49-F238E27FC236}">
                <a16:creationId xmlns:a16="http://schemas.microsoft.com/office/drawing/2014/main" id="{A148B3AB-C237-AB95-7A18-D660EFEB0BF3}"/>
              </a:ext>
            </a:extLst>
          </p:cNvPr>
          <p:cNvPicPr>
            <a:picLocks noChangeAspect="1"/>
          </p:cNvPicPr>
          <p:nvPr/>
        </p:nvPicPr>
        <p:blipFill>
          <a:blip r:embed="rId4"/>
          <a:stretch>
            <a:fillRect/>
          </a:stretch>
        </p:blipFill>
        <p:spPr>
          <a:xfrm>
            <a:off x="1393459" y="1806787"/>
            <a:ext cx="4058216" cy="295316"/>
          </a:xfrm>
          <a:prstGeom prst="rect">
            <a:avLst/>
          </a:prstGeom>
        </p:spPr>
      </p:pic>
    </p:spTree>
    <p:extLst>
      <p:ext uri="{BB962C8B-B14F-4D97-AF65-F5344CB8AC3E}">
        <p14:creationId xmlns:p14="http://schemas.microsoft.com/office/powerpoint/2010/main" val="3462448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65B2-18D5-049A-014B-DC2926958400}"/>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450D399E-B4FC-1A93-A25F-8BE414FE6EB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9A6B31F-CDB0-37B6-93EC-29C2D22647E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98B2706E-BCDA-7779-D895-1B68E4E995B4}"/>
              </a:ext>
            </a:extLst>
          </p:cNvPr>
          <p:cNvSpPr/>
          <p:nvPr/>
        </p:nvSpPr>
        <p:spPr>
          <a:xfrm>
            <a:off x="457200" y="109728"/>
            <a:ext cx="6550226" cy="530352"/>
          </a:xfrm>
          <a:prstGeom prst="rect">
            <a:avLst/>
          </a:prstGeom>
          <a:noFill/>
          <a:ln/>
        </p:spPr>
        <p:txBody>
          <a:bodyPr wrap="square" lIns="0" tIns="0" rIns="0" bIns="0" rtlCol="0" anchor="ctr"/>
          <a:lstStyle/>
          <a:p>
            <a:pPr marL="0" indent="0">
              <a:buNone/>
            </a:pPr>
            <a:r>
              <a:rPr lang="en-US" sz="1600" b="1" noProof="0" dirty="0">
                <a:solidFill>
                  <a:srgbClr val="0D1B2A"/>
                </a:solidFill>
                <a:latin typeface="Trebuchet MS" pitchFamily="34" charset="0"/>
              </a:rPr>
              <a:t>Different approach: ResNet18 with ADMW + LS + Aug</a:t>
            </a:r>
          </a:p>
        </p:txBody>
      </p:sp>
      <p:sp>
        <p:nvSpPr>
          <p:cNvPr id="10" name="StratBG">
            <a:extLst>
              <a:ext uri="{FF2B5EF4-FFF2-40B4-BE49-F238E27FC236}">
                <a16:creationId xmlns:a16="http://schemas.microsoft.com/office/drawing/2014/main" id="{52B02261-2EC0-E89F-422E-44FFF263323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7A2A0ED-B3AF-3103-8669-A0DA2910EF66}"/>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b="1" noProof="0" dirty="0">
                <a:solidFill>
                  <a:schemeClr val="bg1"/>
                </a:solidFill>
                <a:latin typeface="Calibri"/>
                <a:ea typeface="Calibri"/>
                <a:cs typeface="Calibri"/>
              </a:rPr>
              <a:t>As mentioned before </a:t>
            </a:r>
            <a:r>
              <a:rPr lang="en-US" sz="1200" b="1" noProof="0" dirty="0" err="1">
                <a:solidFill>
                  <a:schemeClr val="bg1"/>
                </a:solidFill>
                <a:latin typeface="Calibri"/>
                <a:ea typeface="Calibri"/>
                <a:cs typeface="Calibri"/>
              </a:rPr>
              <a:t>swin</a:t>
            </a:r>
            <a:r>
              <a:rPr lang="en-US" sz="1200" b="1" noProof="0" dirty="0">
                <a:solidFill>
                  <a:schemeClr val="bg1"/>
                </a:solidFill>
                <a:latin typeface="Calibri"/>
                <a:ea typeface="Calibri"/>
                <a:cs typeface="Calibri"/>
              </a:rPr>
              <a:t> is just too complex for this task, with the amount of data we have, and to test this theory we are changing models</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D47D475-35AE-F5EC-8F7A-B92CE2649ED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6ABBB5F-D19F-1482-E120-902B95041E8D}"/>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C40531E-A3D5-1CF1-6D4B-59C0F4124D3A}"/>
              </a:ext>
            </a:extLst>
          </p:cNvPr>
          <p:cNvSpPr/>
          <p:nvPr/>
        </p:nvSpPr>
        <p:spPr>
          <a:xfrm>
            <a:off x="822483" y="3088000"/>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New model:</a:t>
            </a:r>
          </a:p>
          <a:p>
            <a:pPr marL="171450" indent="-171450">
              <a:buFont typeface="Arial" panose="020B0604020202020204" pitchFamily="34" charset="0"/>
              <a:buChar char="•"/>
            </a:pPr>
            <a:r>
              <a:rPr lang="en-US" sz="1200" b="1" noProof="0" dirty="0">
                <a:solidFill>
                  <a:srgbClr val="0D1B2A"/>
                </a:solidFill>
                <a:latin typeface="Calibri"/>
                <a:ea typeface="Calibri"/>
                <a:cs typeface="Calibri"/>
              </a:rPr>
              <a:t>ResNet18 with custom 2 linear (</a:t>
            </a:r>
            <a:r>
              <a:rPr lang="en-US" sz="1200" b="1" noProof="0" dirty="0" err="1">
                <a:solidFill>
                  <a:srgbClr val="0D1B2A"/>
                </a:solidFill>
                <a:latin typeface="Calibri"/>
                <a:ea typeface="Calibri"/>
                <a:cs typeface="Calibri"/>
              </a:rPr>
              <a:t>in_features</a:t>
            </a:r>
            <a:r>
              <a:rPr lang="en-US" sz="1200" b="1" noProof="0" dirty="0">
                <a:solidFill>
                  <a:srgbClr val="0D1B2A"/>
                </a:solidFill>
                <a:latin typeface="Calibri"/>
                <a:ea typeface="Calibri"/>
                <a:cs typeface="Calibri"/>
              </a:rPr>
              <a:t> -&gt; 128 -&gt; 9) + </a:t>
            </a:r>
            <a:r>
              <a:rPr lang="en-US" sz="1200" b="1" noProof="0" dirty="0" err="1">
                <a:solidFill>
                  <a:srgbClr val="0D1B2A"/>
                </a:solidFill>
                <a:latin typeface="Calibri"/>
                <a:ea typeface="Calibri"/>
                <a:cs typeface="Calibri"/>
              </a:rPr>
              <a:t>ReLu</a:t>
            </a:r>
            <a:r>
              <a:rPr lang="en-US" sz="1200" b="1" noProof="0" dirty="0">
                <a:solidFill>
                  <a:srgbClr val="0D1B2A"/>
                </a:solidFill>
                <a:latin typeface="Calibri"/>
                <a:ea typeface="Calibri"/>
                <a:cs typeface="Calibri"/>
              </a:rPr>
              <a:t> + batch norm and dropout </a:t>
            </a:r>
            <a:r>
              <a:rPr lang="en-US" sz="1200" noProof="0" dirty="0">
                <a:solidFill>
                  <a:srgbClr val="0D1B2A"/>
                </a:solidFill>
                <a:latin typeface="Calibri"/>
                <a:ea typeface="Calibri"/>
                <a:cs typeface="Calibri"/>
              </a:rPr>
              <a:t>: It’s one of the simpler models on our list, perfect for small datasets, the head is slightly more complex to be a middle ground between MLP and the new custom head that could not be capturing the patterns.</a:t>
            </a:r>
          </a:p>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Significant improvement over the base </a:t>
            </a:r>
            <a:r>
              <a:rPr lang="en-US" sz="1200" noProof="0" dirty="0" err="1">
                <a:solidFill>
                  <a:srgbClr val="0D1B2A"/>
                </a:solidFill>
                <a:latin typeface="Calibri"/>
                <a:ea typeface="Calibri"/>
                <a:cs typeface="Calibri"/>
              </a:rPr>
              <a:t>swin</a:t>
            </a:r>
            <a:r>
              <a:rPr lang="en-US" sz="1200" noProof="0" dirty="0">
                <a:solidFill>
                  <a:srgbClr val="0D1B2A"/>
                </a:solidFill>
                <a:latin typeface="Calibri"/>
                <a:ea typeface="Calibri"/>
                <a:cs typeface="Calibri"/>
              </a:rPr>
              <a:t> and over the previous best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The model is now in the “sweet spot” between complexity and efficiency.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need to improve generalization, since train score even got to 1.</a:t>
            </a:r>
          </a:p>
        </p:txBody>
      </p:sp>
      <p:pic>
        <p:nvPicPr>
          <p:cNvPr id="4" name="Imagem 3">
            <a:extLst>
              <a:ext uri="{FF2B5EF4-FFF2-40B4-BE49-F238E27FC236}">
                <a16:creationId xmlns:a16="http://schemas.microsoft.com/office/drawing/2014/main" id="{89194A87-1094-6F5E-355F-ECD632C3A090}"/>
              </a:ext>
            </a:extLst>
          </p:cNvPr>
          <p:cNvPicPr>
            <a:picLocks noChangeAspect="1"/>
          </p:cNvPicPr>
          <p:nvPr/>
        </p:nvPicPr>
        <p:blipFill>
          <a:blip r:embed="rId2"/>
          <a:srcRect l="22316" r="26569"/>
          <a:stretch>
            <a:fillRect/>
          </a:stretch>
        </p:blipFill>
        <p:spPr>
          <a:xfrm>
            <a:off x="2877014" y="2149659"/>
            <a:ext cx="2293649" cy="280453"/>
          </a:xfrm>
          <a:prstGeom prst="rect">
            <a:avLst/>
          </a:prstGeom>
        </p:spPr>
      </p:pic>
      <p:pic>
        <p:nvPicPr>
          <p:cNvPr id="6" name="Imagem 5">
            <a:extLst>
              <a:ext uri="{FF2B5EF4-FFF2-40B4-BE49-F238E27FC236}">
                <a16:creationId xmlns:a16="http://schemas.microsoft.com/office/drawing/2014/main" id="{D7E92F37-AE81-F817-D1E5-F295E8288DAB}"/>
              </a:ext>
            </a:extLst>
          </p:cNvPr>
          <p:cNvPicPr>
            <a:picLocks noChangeAspect="1"/>
          </p:cNvPicPr>
          <p:nvPr/>
        </p:nvPicPr>
        <p:blipFill>
          <a:blip r:embed="rId3"/>
          <a:stretch>
            <a:fillRect/>
          </a:stretch>
        </p:blipFill>
        <p:spPr>
          <a:xfrm>
            <a:off x="3532134" y="1441025"/>
            <a:ext cx="1638529" cy="276264"/>
          </a:xfrm>
          <a:prstGeom prst="rect">
            <a:avLst/>
          </a:prstGeom>
        </p:spPr>
      </p:pic>
      <p:sp>
        <p:nvSpPr>
          <p:cNvPr id="7" name="TextBox 22">
            <a:extLst>
              <a:ext uri="{FF2B5EF4-FFF2-40B4-BE49-F238E27FC236}">
                <a16:creationId xmlns:a16="http://schemas.microsoft.com/office/drawing/2014/main" id="{DF8242B6-BA61-0E40-DBFD-71D41E7E6027}"/>
              </a:ext>
            </a:extLst>
          </p:cNvPr>
          <p:cNvSpPr txBox="1"/>
          <p:nvPr/>
        </p:nvSpPr>
        <p:spPr>
          <a:xfrm>
            <a:off x="5170663" y="1629114"/>
            <a:ext cx="4007288"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+24.6%! (over the base </a:t>
            </a:r>
            <a:r>
              <a:rPr lang="en-US" sz="2400" b="1" noProof="0" dirty="0" err="1">
                <a:solidFill>
                  <a:srgbClr val="00B050"/>
                </a:solidFill>
              </a:rPr>
              <a:t>swin</a:t>
            </a:r>
            <a:r>
              <a:rPr lang="en-US" sz="2400" b="1" noProof="0" dirty="0">
                <a:solidFill>
                  <a:srgbClr val="00B050"/>
                </a:solidFill>
              </a:rPr>
              <a:t>)</a:t>
            </a:r>
          </a:p>
        </p:txBody>
      </p:sp>
      <p:pic>
        <p:nvPicPr>
          <p:cNvPr id="9" name="Imagem 8">
            <a:extLst>
              <a:ext uri="{FF2B5EF4-FFF2-40B4-BE49-F238E27FC236}">
                <a16:creationId xmlns:a16="http://schemas.microsoft.com/office/drawing/2014/main" id="{0C42D740-2BE6-58C8-EE94-4C08F2CCE7B4}"/>
              </a:ext>
            </a:extLst>
          </p:cNvPr>
          <p:cNvPicPr>
            <a:picLocks noChangeAspect="1"/>
          </p:cNvPicPr>
          <p:nvPr/>
        </p:nvPicPr>
        <p:blipFill>
          <a:blip r:embed="rId4"/>
          <a:srcRect l="9796"/>
          <a:stretch>
            <a:fillRect/>
          </a:stretch>
        </p:blipFill>
        <p:spPr>
          <a:xfrm>
            <a:off x="1338146" y="1638506"/>
            <a:ext cx="3832517" cy="276264"/>
          </a:xfrm>
          <a:prstGeom prst="rect">
            <a:avLst/>
          </a:prstGeom>
        </p:spPr>
      </p:pic>
      <p:pic>
        <p:nvPicPr>
          <p:cNvPr id="14" name="Imagem 13">
            <a:extLst>
              <a:ext uri="{FF2B5EF4-FFF2-40B4-BE49-F238E27FC236}">
                <a16:creationId xmlns:a16="http://schemas.microsoft.com/office/drawing/2014/main" id="{BBB2CA0C-0A69-DCEB-DA34-E0F5A1CE576A}"/>
              </a:ext>
            </a:extLst>
          </p:cNvPr>
          <p:cNvPicPr>
            <a:picLocks noChangeAspect="1"/>
          </p:cNvPicPr>
          <p:nvPr/>
        </p:nvPicPr>
        <p:blipFill>
          <a:blip r:embed="rId5"/>
          <a:srcRect l="32053"/>
          <a:stretch>
            <a:fillRect/>
          </a:stretch>
        </p:blipFill>
        <p:spPr>
          <a:xfrm>
            <a:off x="2283769" y="1894083"/>
            <a:ext cx="2886894" cy="276264"/>
          </a:xfrm>
          <a:prstGeom prst="rect">
            <a:avLst/>
          </a:prstGeom>
        </p:spPr>
      </p:pic>
      <p:cxnSp>
        <p:nvCxnSpPr>
          <p:cNvPr id="17" name="Conexão reta unidirecional 16">
            <a:extLst>
              <a:ext uri="{FF2B5EF4-FFF2-40B4-BE49-F238E27FC236}">
                <a16:creationId xmlns:a16="http://schemas.microsoft.com/office/drawing/2014/main" id="{ED81F3AE-4B54-6531-A9A9-B549BFC2A37A}"/>
              </a:ext>
            </a:extLst>
          </p:cNvPr>
          <p:cNvCxnSpPr/>
          <p:nvPr/>
        </p:nvCxnSpPr>
        <p:spPr>
          <a:xfrm flipV="1">
            <a:off x="1556710" y="2090779"/>
            <a:ext cx="606627" cy="19910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9" name="CaixaDeTexto 18">
            <a:extLst>
              <a:ext uri="{FF2B5EF4-FFF2-40B4-BE49-F238E27FC236}">
                <a16:creationId xmlns:a16="http://schemas.microsoft.com/office/drawing/2014/main" id="{C75724C5-12E9-5100-F7B6-13EE90E40046}"/>
              </a:ext>
            </a:extLst>
          </p:cNvPr>
          <p:cNvSpPr txBox="1"/>
          <p:nvPr/>
        </p:nvSpPr>
        <p:spPr>
          <a:xfrm>
            <a:off x="779625" y="2265206"/>
            <a:ext cx="1383712" cy="369332"/>
          </a:xfrm>
          <a:prstGeom prst="rect">
            <a:avLst/>
          </a:prstGeom>
          <a:noFill/>
        </p:spPr>
        <p:txBody>
          <a:bodyPr wrap="none" rtlCol="0">
            <a:spAutoFit/>
          </a:bodyPr>
          <a:lstStyle/>
          <a:p>
            <a:r>
              <a:rPr lang="en-US" noProof="0" dirty="0"/>
              <a:t>Previous best</a:t>
            </a:r>
          </a:p>
        </p:txBody>
      </p:sp>
    </p:spTree>
    <p:extLst>
      <p:ext uri="{BB962C8B-B14F-4D97-AF65-F5344CB8AC3E}">
        <p14:creationId xmlns:p14="http://schemas.microsoft.com/office/powerpoint/2010/main" val="21926842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67E573CD-D168-C91A-2665-4C531A2E637F}"/>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3471080" y="740160"/>
            <a:ext cx="5398599" cy="988556"/>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DF70A316-BC22-B5CA-52C0-184DD0665105}"/>
              </a:ext>
            </a:extLst>
          </p:cNvPr>
          <p:cNvSpPr/>
          <p:nvPr/>
        </p:nvSpPr>
        <p:spPr>
          <a:xfrm>
            <a:off x="3520983" y="740160"/>
            <a:ext cx="5168787" cy="98855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Strategy</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Test the impact of ensembles on our new best, can we improve further its score?</a:t>
            </a:r>
          </a:p>
          <a:p>
            <a:r>
              <a:rPr lang="en-US" sz="1200" noProof="0" dirty="0">
                <a:solidFill>
                  <a:schemeClr val="bg1"/>
                </a:solidFill>
                <a:latin typeface="Calibri"/>
                <a:ea typeface="Calibri"/>
                <a:cs typeface="Calibri"/>
              </a:rPr>
              <a:t>For this we are using both </a:t>
            </a:r>
            <a:r>
              <a:rPr lang="en-US" sz="1200" noProof="0" dirty="0" err="1">
                <a:solidFill>
                  <a:schemeClr val="bg1"/>
                </a:solidFill>
                <a:latin typeface="Calibri"/>
                <a:ea typeface="Calibri"/>
                <a:cs typeface="Calibri"/>
              </a:rPr>
              <a:t>ResNets</a:t>
            </a:r>
            <a:r>
              <a:rPr lang="en-US" sz="1200" noProof="0" dirty="0">
                <a:solidFill>
                  <a:schemeClr val="bg1"/>
                </a:solidFill>
                <a:latin typeface="Calibri"/>
                <a:ea typeface="Calibri"/>
                <a:cs typeface="Calibri"/>
              </a:rPr>
              <a:t>, 34 and the best 18, with the theory that the similar architectures and the fact that both are good for smaller datasets might create a good combination.</a:t>
            </a:r>
          </a:p>
        </p:txBody>
      </p:sp>
      <p:sp>
        <p:nvSpPr>
          <p:cNvPr id="15" name="Shape 5">
            <a:extLst>
              <a:ext uri="{FF2B5EF4-FFF2-40B4-BE49-F238E27FC236}">
                <a16:creationId xmlns:a16="http://schemas.microsoft.com/office/drawing/2014/main" id="{E0663452-87F6-D497-728F-C9322AD6EC4A}"/>
              </a:ext>
            </a:extLst>
          </p:cNvPr>
          <p:cNvSpPr/>
          <p:nvPr/>
        </p:nvSpPr>
        <p:spPr>
          <a:xfrm>
            <a:off x="4249003" y="2182507"/>
            <a:ext cx="4624809" cy="285126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a:p>
            <a:endParaRPr lang="en-US" noProof="0" dirty="0"/>
          </a:p>
        </p:txBody>
      </p:sp>
      <p:sp>
        <p:nvSpPr>
          <p:cNvPr id="17" name="Text 7">
            <a:extLst>
              <a:ext uri="{FF2B5EF4-FFF2-40B4-BE49-F238E27FC236}">
                <a16:creationId xmlns:a16="http://schemas.microsoft.com/office/drawing/2014/main" id="{AD56327E-0491-8598-A5AA-01C1F736B423}"/>
              </a:ext>
            </a:extLst>
          </p:cNvPr>
          <p:cNvSpPr/>
          <p:nvPr/>
        </p:nvSpPr>
        <p:spPr>
          <a:xfrm>
            <a:off x="5450645" y="2182507"/>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Ensemble ~ Solo ?</a:t>
            </a:r>
            <a:endParaRPr lang="en-US" sz="2000" noProof="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endParaRPr lang="en-US" sz="1100" noProof="0" dirty="0">
              <a:solidFill>
                <a:srgbClr val="3D5A73"/>
              </a:solidFill>
              <a:latin typeface="Calibri"/>
              <a:ea typeface="Calibri"/>
              <a:cs typeface="Calibri"/>
            </a:endParaRPr>
          </a:p>
        </p:txBody>
      </p:sp>
      <p:sp>
        <p:nvSpPr>
          <p:cNvPr id="9" name="NumCircle">
            <a:extLst>
              <a:ext uri="{FF2B5EF4-FFF2-40B4-BE49-F238E27FC236}">
                <a16:creationId xmlns:a16="http://schemas.microsoft.com/office/drawing/2014/main" id="{3FC19CEC-77FF-F306-BE08-9D032A075334}"/>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a:t>
            </a:r>
            <a:endParaRPr lang="en-US" sz="2000" b="1" noProof="0" dirty="0">
              <a:solidFill>
                <a:srgbClr val="E97C35"/>
              </a:solidFill>
              <a:latin typeface="Trebuchet MS"/>
            </a:endParaRPr>
          </a:p>
        </p:txBody>
      </p:sp>
      <p:pic>
        <p:nvPicPr>
          <p:cNvPr id="2050" name="Picture 2">
            <a:extLst>
              <a:ext uri="{FF2B5EF4-FFF2-40B4-BE49-F238E27FC236}">
                <a16:creationId xmlns:a16="http://schemas.microsoft.com/office/drawing/2014/main" id="{82656D82-FAA4-570D-286D-67C3E461E6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069" y="638423"/>
            <a:ext cx="3166280" cy="4395350"/>
          </a:xfrm>
          <a:prstGeom prst="rect">
            <a:avLst/>
          </a:prstGeom>
          <a:noFill/>
          <a:extLst>
            <a:ext uri="{909E8E84-426E-40DD-AFC4-6F175D3DCCD1}">
              <a14:hiddenFill xmlns:a14="http://schemas.microsoft.com/office/drawing/2010/main">
                <a:solidFill>
                  <a:srgbClr val="FFFFFF"/>
                </a:solidFill>
              </a14:hiddenFill>
            </a:ext>
          </a:extLst>
        </p:spPr>
      </p:pic>
      <p:pic>
        <p:nvPicPr>
          <p:cNvPr id="19" name="Imagem 18">
            <a:extLst>
              <a:ext uri="{FF2B5EF4-FFF2-40B4-BE49-F238E27FC236}">
                <a16:creationId xmlns:a16="http://schemas.microsoft.com/office/drawing/2014/main" id="{DF1CBA86-5323-9B89-DCF5-5CC486758519}"/>
              </a:ext>
            </a:extLst>
          </p:cNvPr>
          <p:cNvPicPr>
            <a:picLocks noChangeAspect="1"/>
          </p:cNvPicPr>
          <p:nvPr/>
        </p:nvPicPr>
        <p:blipFill>
          <a:blip r:embed="rId3"/>
          <a:srcRect l="30155" t="5100" b="9605"/>
          <a:stretch>
            <a:fillRect/>
          </a:stretch>
        </p:blipFill>
        <p:spPr>
          <a:xfrm>
            <a:off x="5248881" y="3206337"/>
            <a:ext cx="2994135" cy="276265"/>
          </a:xfrm>
          <a:prstGeom prst="rect">
            <a:avLst/>
          </a:prstGeom>
        </p:spPr>
      </p:pic>
      <p:pic>
        <p:nvPicPr>
          <p:cNvPr id="20" name="Imagem 19">
            <a:extLst>
              <a:ext uri="{FF2B5EF4-FFF2-40B4-BE49-F238E27FC236}">
                <a16:creationId xmlns:a16="http://schemas.microsoft.com/office/drawing/2014/main" id="{4897C157-1076-9A61-4A5E-99A10E71C86A}"/>
              </a:ext>
            </a:extLst>
          </p:cNvPr>
          <p:cNvPicPr>
            <a:picLocks noChangeAspect="1"/>
          </p:cNvPicPr>
          <p:nvPr/>
        </p:nvPicPr>
        <p:blipFill>
          <a:blip r:embed="rId4"/>
          <a:srcRect l="9796"/>
          <a:stretch>
            <a:fillRect/>
          </a:stretch>
        </p:blipFill>
        <p:spPr>
          <a:xfrm>
            <a:off x="4410501" y="2930073"/>
            <a:ext cx="3832516" cy="276264"/>
          </a:xfrm>
          <a:prstGeom prst="rect">
            <a:avLst/>
          </a:prstGeom>
        </p:spPr>
      </p:pic>
      <p:pic>
        <p:nvPicPr>
          <p:cNvPr id="21" name="Imagem 20">
            <a:extLst>
              <a:ext uri="{FF2B5EF4-FFF2-40B4-BE49-F238E27FC236}">
                <a16:creationId xmlns:a16="http://schemas.microsoft.com/office/drawing/2014/main" id="{5436107D-D011-3E01-7455-C3C3FFFAB53D}"/>
              </a:ext>
            </a:extLst>
          </p:cNvPr>
          <p:cNvPicPr>
            <a:picLocks noChangeAspect="1"/>
          </p:cNvPicPr>
          <p:nvPr/>
        </p:nvPicPr>
        <p:blipFill>
          <a:blip r:embed="rId5"/>
          <a:stretch>
            <a:fillRect/>
          </a:stretch>
        </p:blipFill>
        <p:spPr>
          <a:xfrm>
            <a:off x="6604488" y="2679647"/>
            <a:ext cx="1638529" cy="276264"/>
          </a:xfrm>
          <a:prstGeom prst="rect">
            <a:avLst/>
          </a:prstGeom>
        </p:spPr>
      </p:pic>
      <p:pic>
        <p:nvPicPr>
          <p:cNvPr id="22" name="Imagem 21">
            <a:extLst>
              <a:ext uri="{FF2B5EF4-FFF2-40B4-BE49-F238E27FC236}">
                <a16:creationId xmlns:a16="http://schemas.microsoft.com/office/drawing/2014/main" id="{9593A4B3-5268-BD59-AFDD-297588443AAC}"/>
              </a:ext>
            </a:extLst>
          </p:cNvPr>
          <p:cNvPicPr>
            <a:picLocks noChangeAspect="1"/>
          </p:cNvPicPr>
          <p:nvPr/>
        </p:nvPicPr>
        <p:blipFill>
          <a:blip r:embed="rId6"/>
          <a:srcRect l="42613"/>
          <a:stretch>
            <a:fillRect/>
          </a:stretch>
        </p:blipFill>
        <p:spPr>
          <a:xfrm>
            <a:off x="5799342" y="3472557"/>
            <a:ext cx="2443674" cy="314369"/>
          </a:xfrm>
          <a:prstGeom prst="rect">
            <a:avLst/>
          </a:prstGeom>
        </p:spPr>
      </p:pic>
      <p:sp>
        <p:nvSpPr>
          <p:cNvPr id="23" name="CaixaDeTexto 22">
            <a:extLst>
              <a:ext uri="{FF2B5EF4-FFF2-40B4-BE49-F238E27FC236}">
                <a16:creationId xmlns:a16="http://schemas.microsoft.com/office/drawing/2014/main" id="{056A3E4D-D120-5046-8025-2BB978FC10E8}"/>
              </a:ext>
            </a:extLst>
          </p:cNvPr>
          <p:cNvSpPr txBox="1"/>
          <p:nvPr/>
        </p:nvSpPr>
        <p:spPr>
          <a:xfrm>
            <a:off x="4413826" y="3828979"/>
            <a:ext cx="4381323" cy="1200329"/>
          </a:xfrm>
          <a:prstGeom prst="rect">
            <a:avLst/>
          </a:prstGeom>
          <a:noFill/>
        </p:spPr>
        <p:txBody>
          <a:bodyPr wrap="square" rtlCol="0">
            <a:spAutoFit/>
          </a:bodyPr>
          <a:lstStyle/>
          <a:p>
            <a:r>
              <a:rPr lang="en-US" noProof="0" dirty="0"/>
              <a:t>Despite improving over the ResNet34_cust, it falls short when compared to the current best, a good next step might be applying the same fine-tuning/augment to the ResNet34 model</a:t>
            </a:r>
          </a:p>
        </p:txBody>
      </p:sp>
    </p:spTree>
    <p:extLst>
      <p:ext uri="{BB962C8B-B14F-4D97-AF65-F5344CB8AC3E}">
        <p14:creationId xmlns:p14="http://schemas.microsoft.com/office/powerpoint/2010/main" val="1377209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noProof="0" dirty="0"/>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noProof="0" dirty="0">
                <a:solidFill>
                  <a:srgbClr val="00A896"/>
                </a:solidFill>
                <a:latin typeface="Trebuchet MS"/>
              </a:rPr>
              <a:t>What Worked</a:t>
            </a:r>
          </a:p>
          <a:p>
            <a:pPr marL="228600" indent="-228600">
              <a:buChar char="✓"/>
            </a:pPr>
            <a:r>
              <a:rPr lang="en-US" sz="1100" b="1" noProof="0" dirty="0">
                <a:solidFill>
                  <a:srgbClr val="028090"/>
                </a:solidFill>
                <a:latin typeface="Calibri" pitchFamily="34" charset="0"/>
              </a:rPr>
              <a:t>Label Smoothing</a:t>
            </a:r>
          </a:p>
          <a:p>
            <a:r>
              <a:rPr lang="en-US" sz="1100" b="1" noProof="0" dirty="0">
                <a:solidFill>
                  <a:srgbClr val="028090"/>
                </a:solidFill>
                <a:latin typeface="Calibri" pitchFamily="34" charset="0"/>
              </a:rPr>
              <a:t>	</a:t>
            </a:r>
            <a:r>
              <a:rPr lang="en-US" sz="1000" noProof="0" dirty="0">
                <a:solidFill>
                  <a:srgbClr val="1A2B3C"/>
                </a:solidFill>
                <a:latin typeface="Calibri" pitchFamily="34" charset="0"/>
              </a:rPr>
              <a:t>Huge improvement over the base model, contains the overfitting</a:t>
            </a:r>
          </a:p>
          <a:p>
            <a:pPr marL="228600" indent="-228600">
              <a:buChar char="✓"/>
            </a:pPr>
            <a:r>
              <a:rPr lang="en-US" sz="1100" b="1" noProof="0" dirty="0">
                <a:solidFill>
                  <a:srgbClr val="028090"/>
                </a:solidFill>
                <a:latin typeface="Calibri" pitchFamily="34" charset="0"/>
              </a:rPr>
              <a:t>Augmentation</a:t>
            </a:r>
          </a:p>
          <a:p>
            <a:pPr lvl="1"/>
            <a:r>
              <a:rPr lang="en-US" sz="1000" noProof="0" dirty="0">
                <a:solidFill>
                  <a:srgbClr val="1A2B3C"/>
                </a:solidFill>
                <a:latin typeface="Calibri" pitchFamily="34" charset="0"/>
              </a:rPr>
              <a:t>Helps the model to extract the right information from the small and noisy data set</a:t>
            </a:r>
          </a:p>
          <a:p>
            <a:pPr marL="228600" indent="-228600">
              <a:buChar char="✓"/>
            </a:pPr>
            <a:r>
              <a:rPr lang="en-US" sz="1100" b="1" noProof="0" dirty="0" err="1">
                <a:solidFill>
                  <a:srgbClr val="028090"/>
                </a:solidFill>
                <a:latin typeface="Calibri" pitchFamily="34" charset="0"/>
              </a:rPr>
              <a:t>AdamW</a:t>
            </a:r>
            <a:r>
              <a:rPr lang="en-US" sz="1100" b="1" noProof="0" dirty="0">
                <a:solidFill>
                  <a:srgbClr val="028090"/>
                </a:solidFill>
                <a:latin typeface="Calibri" pitchFamily="34" charset="0"/>
              </a:rPr>
              <a:t> </a:t>
            </a:r>
          </a:p>
          <a:p>
            <a:pPr lvl="1"/>
            <a:r>
              <a:rPr lang="en-US" sz="1000" dirty="0">
                <a:solidFill>
                  <a:srgbClr val="1A2B3C"/>
                </a:solidFill>
                <a:latin typeface="Calibri"/>
                <a:ea typeface="Calibri"/>
                <a:cs typeface="Calibri"/>
              </a:rPr>
              <a:t>Punishes the heavy overfitting of the models that contain main parameters</a:t>
            </a:r>
            <a:endParaRPr lang="en-US" sz="1000" noProof="0" dirty="0">
              <a:solidFill>
                <a:srgbClr val="1A2B3C"/>
              </a:solidFill>
              <a:latin typeface="Calibri"/>
              <a:ea typeface="Calibri"/>
              <a:cs typeface="Calibri"/>
            </a:endParaRPr>
          </a:p>
          <a:p>
            <a:pPr marL="228600" indent="-228600">
              <a:buChar char="✓"/>
            </a:pPr>
            <a:r>
              <a:rPr lang="en-US" sz="1100" b="1" noProof="0" dirty="0" err="1">
                <a:solidFill>
                  <a:srgbClr val="028090"/>
                </a:solidFill>
                <a:latin typeface="Calibri"/>
                <a:ea typeface="Calibri"/>
                <a:cs typeface="Calibri"/>
              </a:rPr>
              <a:t>WeightedRandomSampler</a:t>
            </a:r>
            <a:endParaRPr lang="en-US" sz="1100" b="1" noProof="0" dirty="0">
              <a:solidFill>
                <a:srgbClr val="028090"/>
              </a:solidFill>
              <a:latin typeface="Calibri" pitchFamily="34" charset="0"/>
              <a:ea typeface="Calibri"/>
              <a:cs typeface="Calibri"/>
            </a:endParaRPr>
          </a:p>
          <a:p>
            <a:pPr lvl="1"/>
            <a:r>
              <a:rPr lang="en-US" sz="1000" noProof="0" dirty="0">
                <a:solidFill>
                  <a:srgbClr val="1A2B3C"/>
                </a:solidFill>
                <a:latin typeface="Calibri"/>
                <a:ea typeface="Calibri"/>
                <a:cs typeface="Calibri"/>
              </a:rPr>
              <a:t>Makes the model “see” the</a:t>
            </a:r>
            <a:r>
              <a:rPr lang="en-US" sz="1000" dirty="0">
                <a:solidFill>
                  <a:srgbClr val="1A2B3C"/>
                </a:solidFill>
                <a:latin typeface="Calibri"/>
                <a:ea typeface="Calibri"/>
                <a:cs typeface="Calibri"/>
              </a:rPr>
              <a:t> different classes with a more uniform frequency, especially important when we have small datasets</a:t>
            </a:r>
            <a:endParaRPr lang="en-US" sz="1000" noProof="0" dirty="0">
              <a:solidFill>
                <a:srgbClr val="1A2B3C"/>
              </a:solidFill>
              <a:latin typeface="Calibri"/>
              <a:ea typeface="Calibri"/>
              <a:cs typeface="Calibri"/>
            </a:endParaRPr>
          </a:p>
          <a:p>
            <a:pPr marL="228600" indent="-228600">
              <a:buChar char="✓"/>
            </a:pPr>
            <a:r>
              <a:rPr lang="en-US" sz="1100" b="1" dirty="0">
                <a:solidFill>
                  <a:srgbClr val="028090"/>
                </a:solidFill>
                <a:latin typeface="Calibri"/>
                <a:ea typeface="Calibri"/>
                <a:cs typeface="Calibri"/>
              </a:rPr>
              <a:t>Changing to a simpler model</a:t>
            </a:r>
          </a:p>
          <a:p>
            <a:pPr lvl="1"/>
            <a:r>
              <a:rPr lang="en-US" sz="1000" dirty="0">
                <a:solidFill>
                  <a:srgbClr val="0D1B2A"/>
                </a:solidFill>
                <a:latin typeface="Calibri"/>
                <a:ea typeface="Calibri"/>
                <a:cs typeface="Calibri"/>
              </a:rPr>
              <a:t>Swin is just to complex for this task, ResNet18 with all the augmentations, despite still overfitting, can capture the patterns much better</a:t>
            </a:r>
            <a:endParaRPr lang="en-US" sz="1000" noProof="0" dirty="0">
              <a:solidFill>
                <a:srgbClr val="1A2B3C"/>
              </a:solidFill>
              <a:latin typeface="Calibri"/>
              <a:ea typeface="Calibri"/>
              <a:cs typeface="Calibri"/>
            </a:endParaRP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noProof="0" dirty="0"/>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noProof="0" dirty="0">
                <a:solidFill>
                  <a:srgbClr val="C0392B"/>
                </a:solidFill>
                <a:latin typeface="Trebuchet MS"/>
              </a:rPr>
              <a:t>What Did Not Work</a:t>
            </a:r>
          </a:p>
          <a:p>
            <a:pPr marL="228600" indent="-228600">
              <a:buChar char="✗"/>
            </a:pPr>
            <a:r>
              <a:rPr lang="en-US" sz="1100" b="1" noProof="0" dirty="0">
                <a:solidFill>
                  <a:srgbClr val="C0392B"/>
                </a:solidFill>
                <a:latin typeface="Calibri"/>
                <a:ea typeface="Calibri"/>
                <a:cs typeface="Calibri"/>
              </a:rPr>
              <a:t>Combining Regularization strategies on the previous best</a:t>
            </a:r>
          </a:p>
          <a:p>
            <a:pPr lvl="1"/>
            <a:r>
              <a:rPr lang="en-US" sz="1000" dirty="0">
                <a:solidFill>
                  <a:srgbClr val="0D1B2A"/>
                </a:solidFill>
                <a:latin typeface="Calibri"/>
                <a:ea typeface="Calibri"/>
                <a:cs typeface="Calibri"/>
              </a:rPr>
              <a:t>Improvement doesn’t stack, due to the underlying model complexity</a:t>
            </a:r>
            <a:endParaRPr lang="en-US" sz="1000" noProof="0" dirty="0">
              <a:solidFill>
                <a:srgbClr val="1A2B3C"/>
              </a:solidFill>
              <a:latin typeface="Calibri"/>
              <a:ea typeface="Calibri"/>
              <a:cs typeface="Calibri"/>
            </a:endParaRPr>
          </a:p>
          <a:p>
            <a:pPr marL="228600" indent="-228600">
              <a:buChar char="✗"/>
            </a:pPr>
            <a:r>
              <a:rPr lang="en-US" sz="1100" b="1" noProof="0" dirty="0">
                <a:solidFill>
                  <a:srgbClr val="C0392B"/>
                </a:solidFill>
                <a:latin typeface="Calibri"/>
                <a:ea typeface="Calibri"/>
                <a:cs typeface="Calibri"/>
              </a:rPr>
              <a:t>Combining best fine-tuning + augmentation on </a:t>
            </a:r>
            <a:r>
              <a:rPr lang="en-US" sz="1100" b="1" noProof="0" dirty="0" err="1">
                <a:solidFill>
                  <a:srgbClr val="C0392B"/>
                </a:solidFill>
                <a:latin typeface="Calibri"/>
                <a:ea typeface="Calibri"/>
                <a:cs typeface="Calibri"/>
              </a:rPr>
              <a:t>swin</a:t>
            </a:r>
            <a:endParaRPr lang="en-US" sz="1100" b="1" noProof="0" dirty="0">
              <a:solidFill>
                <a:srgbClr val="C0392B"/>
              </a:solidFill>
              <a:latin typeface="Calibri"/>
              <a:ea typeface="Calibri"/>
              <a:cs typeface="Calibri"/>
            </a:endParaRPr>
          </a:p>
          <a:p>
            <a:pPr lvl="1"/>
            <a:r>
              <a:rPr lang="en-US" sz="1000" noProof="0" dirty="0">
                <a:solidFill>
                  <a:srgbClr val="1A2B3C"/>
                </a:solidFill>
                <a:latin typeface="Calibri"/>
                <a:ea typeface="Calibri"/>
                <a:cs typeface="Calibri"/>
              </a:rPr>
              <a:t>The added augmentation further exposes the underlying model pattern recognition problems</a:t>
            </a:r>
          </a:p>
          <a:p>
            <a:pPr marL="228600" indent="-228600">
              <a:buChar char="✗"/>
            </a:pPr>
            <a:r>
              <a:rPr lang="en-US" sz="1100" b="1" noProof="0" dirty="0">
                <a:solidFill>
                  <a:srgbClr val="C0392B"/>
                </a:solidFill>
                <a:latin typeface="Calibri" pitchFamily="34" charset="0"/>
              </a:rPr>
              <a:t>Ensembles</a:t>
            </a:r>
          </a:p>
          <a:p>
            <a:pPr lvl="1"/>
            <a:r>
              <a:rPr lang="en-US" sz="1000" dirty="0">
                <a:solidFill>
                  <a:srgbClr val="0D1B2A"/>
                </a:solidFill>
                <a:latin typeface="Calibri" pitchFamily="34" charset="0"/>
                <a:ea typeface="Calibri"/>
                <a:cs typeface="Calibri"/>
              </a:rPr>
              <a:t>Despite being an improvement over the solo ResNet34 with custom head, didn’t surpass the best model, maybe applying the same strategies that we applied to the ResNet18 to the ResNet34 might be a logic next step.</a:t>
            </a:r>
            <a:endParaRPr lang="en-US" sz="1000" noProof="0" dirty="0">
              <a:solidFill>
                <a:srgbClr val="0D1B2A"/>
              </a:solidFill>
              <a:latin typeface="Calibri"/>
              <a:ea typeface="Calibri"/>
              <a:cs typeface="Calibri"/>
            </a:endParaRPr>
          </a:p>
          <a:p>
            <a:pPr lvl="1"/>
            <a:endParaRPr lang="en-US" sz="1000" noProof="0" dirty="0">
              <a:solidFill>
                <a:srgbClr val="1A2B3C"/>
              </a:solidFill>
              <a:latin typeface="Calibri" pitchFamily="34" charset="0"/>
              <a:ea typeface="Calibri"/>
              <a:cs typeface="Calibri"/>
            </a:endParaRPr>
          </a:p>
        </p:txBody>
      </p:sp>
      <p:sp>
        <p:nvSpPr>
          <p:cNvPr id="7" name="NumCircle">
            <a:extLst>
              <a:ext uri="{FF2B5EF4-FFF2-40B4-BE49-F238E27FC236}">
                <a16:creationId xmlns:a16="http://schemas.microsoft.com/office/drawing/2014/main" id="{7A802B6A-95BB-C879-9108-BFFAB4284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200" b="1" noProof="0" dirty="0">
                <a:solidFill>
                  <a:srgbClr val="FFFFFF"/>
                </a:solidFill>
                <a:latin typeface="Trebuchet MS" pitchFamily="34" charset="0"/>
                <a:ea typeface="Trebuchet MS" pitchFamily="34" charset="-122"/>
                <a:cs typeface="Trebuchet MS" pitchFamily="34" charset="-120"/>
              </a:rPr>
              <a:t>Performance Evaluation</a:t>
            </a:r>
            <a:endParaRPr lang="en-US" sz="3200" noProof="0" dirty="0"/>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noProof="0" dirty="0"/>
              <a:t>3</a:t>
            </a:r>
            <a:endParaRPr lang="en-US" b="1" noProof="0"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Did we maintain the CNN scoring?</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noProof="0" dirty="0"/>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Overfitting consequences</a:t>
            </a:r>
            <a:endParaRPr lang="en-US" sz="1300" b="1" noProof="0" dirty="0">
              <a:solidFill>
                <a:srgbClr val="00A896"/>
              </a:solidFill>
              <a:latin typeface="Trebuchet MS" pitchFamily="34" charset="0"/>
            </a:endParaRPr>
          </a:p>
          <a:p>
            <a:pPr>
              <a:buNone/>
            </a:pPr>
            <a:endParaRPr lang="en-US" sz="1000" noProof="0" dirty="0">
              <a:solidFill>
                <a:srgbClr val="AACCD8"/>
              </a:solidFill>
              <a:latin typeface="Calibri" pitchFamily="34" charset="0"/>
            </a:endParaRPr>
          </a:p>
          <a:p>
            <a:r>
              <a:rPr lang="en-US" sz="1000" noProof="0" dirty="0">
                <a:solidFill>
                  <a:srgbClr val="AACCD8"/>
                </a:solidFill>
                <a:latin typeface="Calibri"/>
                <a:ea typeface="Calibri"/>
                <a:cs typeface="Calibri"/>
              </a:rPr>
              <a:t>best </a:t>
            </a:r>
            <a:r>
              <a:rPr lang="en-US" sz="1000" noProof="0" dirty="0" err="1">
                <a:solidFill>
                  <a:srgbClr val="AACCD8"/>
                </a:solidFill>
                <a:latin typeface="Calibri"/>
                <a:ea typeface="Calibri"/>
                <a:cs typeface="Calibri"/>
              </a:rPr>
              <a:t>val</a:t>
            </a:r>
            <a:r>
              <a:rPr lang="en-US" sz="1000" noProof="0" dirty="0">
                <a:solidFill>
                  <a:srgbClr val="AACCD8"/>
                </a:solidFill>
                <a:latin typeface="Calibri"/>
                <a:ea typeface="Calibri"/>
                <a:cs typeface="Calibri"/>
              </a:rPr>
              <a:t> macro-F1 (M with full augment and partial unfreezing)</a:t>
            </a:r>
            <a:endParaRPr lang="en-US" sz="1000" noProof="0" dirty="0">
              <a:solidFill>
                <a:srgbClr val="AACCD8"/>
              </a:solidFill>
              <a:latin typeface="Calibri" pitchFamily="34" charset="0"/>
              <a:ea typeface="Calibri"/>
              <a:cs typeface="Calibri"/>
            </a:endParaRPr>
          </a:p>
          <a:p>
            <a:r>
              <a:rPr lang="en-US" sz="2800" b="1" noProof="0" dirty="0">
                <a:solidFill>
                  <a:srgbClr val="FFFFFF"/>
                </a:solidFill>
                <a:latin typeface="Trebuchet MS"/>
              </a:rPr>
              <a:t>0.2244</a:t>
            </a:r>
            <a:endParaRPr lang="en-US" sz="2800" b="1" noProof="0" dirty="0">
              <a:solidFill>
                <a:srgbClr val="FFFFFF"/>
              </a:solidFill>
              <a:latin typeface="Trebuchet MS" pitchFamily="34" charset="0"/>
            </a:endParaRPr>
          </a:p>
          <a:p>
            <a:pPr>
              <a:buNone/>
            </a:pPr>
            <a:endParaRPr lang="en-US" sz="1000" noProof="0" dirty="0">
              <a:solidFill>
                <a:srgbClr val="AACCD8"/>
              </a:solidFill>
              <a:latin typeface="Calibri" pitchFamily="34" charset="0"/>
            </a:endParaRPr>
          </a:p>
          <a:p>
            <a:pPr>
              <a:buNone/>
            </a:pPr>
            <a:r>
              <a:rPr lang="en-US" sz="1000" noProof="0" dirty="0">
                <a:solidFill>
                  <a:srgbClr val="AACCD8"/>
                </a:solidFill>
                <a:latin typeface="Calibri" pitchFamily="34" charset="0"/>
              </a:rPr>
              <a:t>Kaggle public score</a:t>
            </a:r>
          </a:p>
          <a:p>
            <a:r>
              <a:rPr lang="en-US" sz="2800" b="1" noProof="0" dirty="0">
                <a:solidFill>
                  <a:srgbClr val="FFFFFF"/>
                </a:solidFill>
                <a:latin typeface="Trebuchet MS"/>
              </a:rPr>
              <a:t>0.19966</a:t>
            </a:r>
          </a:p>
          <a:p>
            <a:pPr>
              <a:buNone/>
            </a:pPr>
            <a:endParaRPr lang="en-US" sz="1000" noProof="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noProof="0" dirty="0"/>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noProof="0" dirty="0">
                <a:solidFill>
                  <a:srgbClr val="00A896"/>
                </a:solidFill>
                <a:latin typeface="Trebuchet MS"/>
              </a:rPr>
              <a:t>Why </a:t>
            </a:r>
            <a:r>
              <a:rPr lang="en-US" sz="1300" b="1" dirty="0">
                <a:solidFill>
                  <a:srgbClr val="00A896"/>
                </a:solidFill>
                <a:latin typeface="Trebuchet MS"/>
              </a:rPr>
              <a:t>weren’t we able to improve more</a:t>
            </a:r>
            <a:r>
              <a:rPr lang="en-US" sz="1300" b="1" noProof="0" dirty="0">
                <a:solidFill>
                  <a:srgbClr val="00A896"/>
                </a:solidFill>
                <a:latin typeface="Trebuchet MS"/>
              </a:rPr>
              <a:t>?</a:t>
            </a:r>
            <a:endParaRPr lang="en-US" sz="1300" b="1" noProof="0" dirty="0">
              <a:solidFill>
                <a:srgbClr val="00A896"/>
              </a:solidFill>
              <a:latin typeface="Trebuchet MS" pitchFamily="34" charset="0"/>
            </a:endParaRPr>
          </a:p>
          <a:p>
            <a:pPr marL="228600" indent="-228600">
              <a:buChar char="•"/>
            </a:pPr>
            <a:r>
              <a:rPr lang="en-US" sz="1100" noProof="0" dirty="0">
                <a:solidFill>
                  <a:schemeClr val="bg1"/>
                </a:solidFill>
                <a:latin typeface="Calibri"/>
                <a:ea typeface="Calibri"/>
                <a:cs typeface="Calibri"/>
              </a:rPr>
              <a:t>The</a:t>
            </a:r>
            <a:r>
              <a:rPr lang="en-US" sz="1100" dirty="0">
                <a:solidFill>
                  <a:schemeClr val="bg1"/>
                </a:solidFill>
                <a:latin typeface="Calibri"/>
                <a:ea typeface="Calibri"/>
                <a:cs typeface="Calibri"/>
              </a:rPr>
              <a:t> small amount and its noisier nature when compared to different tasks difficulted from the start this task</a:t>
            </a:r>
          </a:p>
          <a:p>
            <a:pPr marL="228600" indent="-228600">
              <a:buChar char="•"/>
            </a:pPr>
            <a:r>
              <a:rPr lang="en-US" sz="1100" dirty="0">
                <a:solidFill>
                  <a:schemeClr val="bg1"/>
                </a:solidFill>
                <a:latin typeface="Calibri"/>
                <a:ea typeface="Calibri"/>
                <a:cs typeface="Calibri"/>
              </a:rPr>
              <a:t>Even with heavy regularization and data augmentation the overfitting was still very present</a:t>
            </a:r>
          </a:p>
          <a:p>
            <a:pPr marL="228600" indent="-228600">
              <a:buChar char="•"/>
            </a:pPr>
            <a:r>
              <a:rPr lang="en-US" sz="1100" noProof="0" dirty="0">
                <a:solidFill>
                  <a:schemeClr val="bg1"/>
                </a:solidFill>
                <a:latin typeface="Calibri"/>
                <a:ea typeface="Calibri"/>
                <a:cs typeface="Calibri"/>
              </a:rPr>
              <a:t>Suggests that we might have nee</a:t>
            </a:r>
            <a:r>
              <a:rPr lang="en-US" sz="1100" dirty="0" err="1">
                <a:solidFill>
                  <a:schemeClr val="bg1"/>
                </a:solidFill>
                <a:latin typeface="Calibri"/>
                <a:ea typeface="Calibri"/>
                <a:cs typeface="Calibri"/>
              </a:rPr>
              <a:t>ded</a:t>
            </a:r>
            <a:r>
              <a:rPr lang="en-US" sz="1100" dirty="0">
                <a:solidFill>
                  <a:schemeClr val="bg1"/>
                </a:solidFill>
                <a:latin typeface="Calibri"/>
                <a:ea typeface="Calibri"/>
                <a:cs typeface="Calibri"/>
              </a:rPr>
              <a:t> a different model or be even more careful with the fine tunning</a:t>
            </a:r>
            <a:r>
              <a:rPr lang="en-US" sz="1100" noProof="0" dirty="0">
                <a:solidFill>
                  <a:schemeClr val="bg1"/>
                </a:solidFill>
                <a:latin typeface="Calibri"/>
                <a:ea typeface="Calibri"/>
                <a:cs typeface="Calibri"/>
              </a:rPr>
              <a:t> </a:t>
            </a:r>
          </a:p>
        </p:txBody>
      </p:sp>
      <p:sp>
        <p:nvSpPr>
          <p:cNvPr id="10" name="NumCircle">
            <a:extLst>
              <a:ext uri="{FF2B5EF4-FFF2-40B4-BE49-F238E27FC236}">
                <a16:creationId xmlns:a16="http://schemas.microsoft.com/office/drawing/2014/main" id="{95FB885E-C505-9EB3-195B-57A20793EF1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pic>
        <p:nvPicPr>
          <p:cNvPr id="7" name="Imagem 6">
            <a:extLst>
              <a:ext uri="{FF2B5EF4-FFF2-40B4-BE49-F238E27FC236}">
                <a16:creationId xmlns:a16="http://schemas.microsoft.com/office/drawing/2014/main" id="{7D11F3CC-D40D-BF39-F693-CF0F2AE08357}"/>
              </a:ext>
            </a:extLst>
          </p:cNvPr>
          <p:cNvPicPr>
            <a:picLocks noChangeAspect="1"/>
          </p:cNvPicPr>
          <p:nvPr/>
        </p:nvPicPr>
        <p:blipFill>
          <a:blip r:embed="rId2"/>
          <a:stretch>
            <a:fillRect/>
          </a:stretch>
        </p:blipFill>
        <p:spPr>
          <a:xfrm>
            <a:off x="0" y="520885"/>
            <a:ext cx="9144000" cy="221591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Compute Strategy &amp; Resource Usage</a:t>
            </a:r>
            <a:endParaRPr lang="en-US" sz="2200" noProof="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Train Eff</a:t>
            </a:r>
            <a:endParaRPr lang="en-US" sz="1000" noProof="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00A896"/>
                </a:solidFill>
                <a:latin typeface="Trebuchet MS" pitchFamily="34" charset="0"/>
                <a:ea typeface="Trebuchet MS" pitchFamily="34" charset="-122"/>
                <a:cs typeface="Trebuchet MS" pitchFamily="34" charset="-120"/>
              </a:rPr>
              <a:t>T4 GPU</a:t>
            </a:r>
            <a:endParaRPr lang="en-US" sz="2200" noProof="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noProof="0" dirty="0" err="1">
                <a:solidFill>
                  <a:srgbClr val="3D5A73"/>
                </a:solidFill>
                <a:latin typeface="Calibri" pitchFamily="34" charset="0"/>
                <a:ea typeface="Calibri" pitchFamily="34" charset="-122"/>
                <a:cs typeface="Calibri" pitchFamily="34" charset="-120"/>
              </a:rPr>
              <a:t>Colab</a:t>
            </a:r>
            <a:r>
              <a:rPr lang="en-US" sz="1000" noProof="0" dirty="0">
                <a:solidFill>
                  <a:srgbClr val="3D5A73"/>
                </a:solidFill>
                <a:latin typeface="Calibri" pitchFamily="34" charset="0"/>
                <a:ea typeface="Calibri" pitchFamily="34" charset="-122"/>
                <a:cs typeface="Calibri" pitchFamily="34" charset="-120"/>
              </a:rPr>
              <a:t> free tier / 15 GB VRAM</a:t>
            </a:r>
            <a:endParaRPr lang="en-US" sz="1000" noProof="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noProof="0" dirty="0">
                <a:solidFill>
                  <a:srgbClr val="00A896"/>
                </a:solidFill>
                <a:latin typeface="Trebuchet MS"/>
                <a:ea typeface="Trebuchet MS" pitchFamily="34" charset="-122"/>
                <a:cs typeface="Trebuchet MS" pitchFamily="34" charset="-120"/>
              </a:rPr>
              <a:t>2:10 h</a:t>
            </a:r>
            <a:endParaRPr lang="en-US" sz="2200" noProof="0" dirty="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total wall-clock (</a:t>
            </a:r>
            <a:r>
              <a:rPr lang="en-US" sz="1000" dirty="0">
                <a:solidFill>
                  <a:srgbClr val="3D5A73"/>
                </a:solidFill>
                <a:latin typeface="Calibri"/>
                <a:ea typeface="Calibri"/>
                <a:cs typeface="Calibri"/>
              </a:rPr>
              <a:t>26</a:t>
            </a:r>
            <a:r>
              <a:rPr lang="en-US" sz="1000" noProof="0" dirty="0">
                <a:solidFill>
                  <a:srgbClr val="3D5A73"/>
                </a:solidFill>
                <a:latin typeface="Calibri"/>
                <a:ea typeface="Calibri"/>
                <a:cs typeface="Calibri"/>
              </a:rPr>
              <a:t> solo runs + data pre-processing/augmentation and ensembles)</a:t>
            </a:r>
            <a:endParaRPr lang="en-US" sz="1000" noProof="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en-US" noProof="0" dirty="0"/>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noProof="0" dirty="0">
                <a:solidFill>
                  <a:srgbClr val="27AE60"/>
                </a:solidFill>
                <a:latin typeface="Trebuchet MS"/>
                <a:ea typeface="Trebuchet MS" pitchFamily="34" charset="-122"/>
                <a:cs typeface="Trebuchet MS" pitchFamily="34" charset="-120"/>
              </a:rPr>
              <a:t>&lt; 15000 MB</a:t>
            </a:r>
            <a:endParaRPr lang="en-US" sz="2200" noProof="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GPU memory peak (more than CNN and MLP),</a:t>
            </a:r>
          </a:p>
          <a:p>
            <a:pPr algn="ctr"/>
            <a:r>
              <a:rPr lang="en-US" sz="1000" noProof="0" dirty="0">
                <a:solidFill>
                  <a:srgbClr val="3D5A73"/>
                </a:solidFill>
                <a:latin typeface="Calibri"/>
                <a:ea typeface="Calibri"/>
                <a:cs typeface="Calibri"/>
              </a:rPr>
              <a:t>according to W&amp;B</a:t>
            </a: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en-US" noProof="0" dirty="0"/>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E97C35"/>
                </a:solidFill>
                <a:latin typeface="Trebuchet MS"/>
                <a:ea typeface="Trebuchet MS" pitchFamily="34" charset="-122"/>
                <a:cs typeface="Trebuchet MS" pitchFamily="34" charset="-120"/>
              </a:rPr>
              <a:t>72%</a:t>
            </a:r>
            <a:endParaRPr lang="en-US" sz="2200" noProof="0" dirty="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noProof="0" dirty="0">
                <a:solidFill>
                  <a:srgbClr val="3D5A73"/>
                </a:solidFill>
                <a:latin typeface="Calibri" pitchFamily="34" charset="0"/>
                <a:ea typeface="Calibri" pitchFamily="34" charset="-122"/>
                <a:cs typeface="Calibri" pitchFamily="34" charset="-120"/>
              </a:rPr>
              <a:t>of 3h budget used</a:t>
            </a:r>
            <a:endParaRPr lang="en-US" sz="1000" noProof="0" dirty="0"/>
          </a:p>
        </p:txBody>
      </p:sp>
      <p:graphicFrame>
        <p:nvGraphicFramePr>
          <p:cNvPr id="22" name="Table 0"/>
          <p:cNvGraphicFramePr>
            <a:graphicFrameLocks noGrp="1"/>
          </p:cNvGraphicFramePr>
          <p:nvPr>
            <p:extLst>
              <p:ext uri="{D42A27DB-BD31-4B8C-83A1-F6EECF244321}">
                <p14:modId xmlns:p14="http://schemas.microsoft.com/office/powerpoint/2010/main" val="3123605731"/>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Metric</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Value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Note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F_EfficNetB0_Cus  -  124.4 s (excluding ensembles)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Stopped at epoch 9, severely overfitted, had no regularization strategies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Slowest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C_SwinV2t_Base_H_Aug  —  403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Full 20 epochs; data augmentation gives us more 73.8 seconds than base model, but better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Avg per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noProof="0" dirty="0">
                          <a:solidFill>
                            <a:srgbClr val="000000"/>
                          </a:solidFill>
                          <a:latin typeface="Calibri"/>
                          <a:ea typeface="Calibri"/>
                          <a:cs typeface="Calibri"/>
                        </a:rPr>
                        <a:t>~233.3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Across 26 solo runs (excluding ensemble)</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Best solo (R)</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281.9 s  -  20 epochs</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No early stopping needed</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FAST_RUN flag</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FAST_RUN=True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Smoke-test mode: 2 epochs, 1 patience - used for debugging</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en-US" noProof="0" dirty="0"/>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en-US" noProof="0" dirty="0"/>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noProof="0" dirty="0">
                <a:solidFill>
                  <a:srgbClr val="0D1B2A"/>
                </a:solidFill>
                <a:latin typeface="Trebuchet MS" pitchFamily="34" charset="0"/>
                <a:ea typeface="Trebuchet MS" pitchFamily="34" charset="-122"/>
                <a:cs typeface="Trebuchet MS" pitchFamily="34" charset="-120"/>
              </a:rPr>
              <a:t>Why 80/20 split instead of K-Fold CV?</a:t>
            </a:r>
            <a:endParaRPr lang="en-US" sz="1200" noProof="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noProof="0" dirty="0">
                <a:solidFill>
                  <a:srgbClr val="1A2B3C"/>
                </a:solidFill>
                <a:latin typeface="Calibri"/>
                <a:ea typeface="Calibri"/>
                <a:cs typeface="Calibri"/>
              </a:rPr>
              <a:t>5-fold CV × </a:t>
            </a:r>
            <a:r>
              <a:rPr lang="en-US" sz="1200" dirty="0">
                <a:solidFill>
                  <a:srgbClr val="1A2B3C"/>
                </a:solidFill>
                <a:latin typeface="Calibri"/>
                <a:ea typeface="Calibri"/>
                <a:cs typeface="Calibri"/>
              </a:rPr>
              <a:t>27</a:t>
            </a:r>
            <a:r>
              <a:rPr lang="en-US" sz="1200" noProof="0" dirty="0">
                <a:solidFill>
                  <a:srgbClr val="1A2B3C"/>
                </a:solidFill>
                <a:latin typeface="Calibri"/>
                <a:ea typeface="Calibri"/>
                <a:cs typeface="Calibri"/>
              </a:rPr>
              <a:t> experiments ≈ </a:t>
            </a:r>
            <a:r>
              <a:rPr lang="en-US" sz="1200" dirty="0">
                <a:solidFill>
                  <a:srgbClr val="1A2B3C"/>
                </a:solidFill>
                <a:latin typeface="Calibri"/>
                <a:ea typeface="Calibri"/>
                <a:cs typeface="Calibri"/>
              </a:rPr>
              <a:t>135</a:t>
            </a:r>
            <a:r>
              <a:rPr lang="en-US" sz="1200" noProof="0" dirty="0">
                <a:solidFill>
                  <a:srgbClr val="1A2B3C"/>
                </a:solidFill>
                <a:latin typeface="Calibri"/>
                <a:ea typeface="Calibri"/>
                <a:cs typeface="Calibri"/>
              </a:rPr>
              <a:t> training runs ≈ which will exceed the 3h </a:t>
            </a:r>
            <a:r>
              <a:rPr lang="en-US" sz="1200" noProof="0" dirty="0" err="1">
                <a:solidFill>
                  <a:srgbClr val="1A2B3C"/>
                </a:solidFill>
                <a:latin typeface="Calibri"/>
                <a:ea typeface="Calibri"/>
                <a:cs typeface="Calibri"/>
              </a:rPr>
              <a:t>Colab</a:t>
            </a:r>
            <a:r>
              <a:rPr lang="en-US" sz="1200" noProof="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noProof="0" dirty="0">
              <a:latin typeface="Calibri"/>
              <a:ea typeface="Calibri"/>
              <a:cs typeface="Calibri"/>
            </a:endParaRPr>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1400" b="1" noProof="0" dirty="0">
                <a:solidFill>
                  <a:srgbClr val="0D1B2A"/>
                </a:solidFill>
                <a:latin typeface="Trebuchet MS" pitchFamily="34" charset="0"/>
              </a:rPr>
              <a:t>Training Curves — Best Solo M_ResNet18_Cust_FT_Partial_Ls_Admw</a:t>
            </a: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en-US" noProof="0" dirty="0"/>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en-US" noProof="0" dirty="0"/>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noProof="0" dirty="0" err="1">
                <a:solidFill>
                  <a:srgbClr val="0D1B2A"/>
                </a:solidFill>
                <a:latin typeface="Trebuchet MS" pitchFamily="34" charset="0"/>
                <a:ea typeface="Trebuchet MS" pitchFamily="34" charset="-122"/>
                <a:cs typeface="Trebuchet MS" pitchFamily="34" charset="-120"/>
              </a:rPr>
              <a:t>EarlyStopping</a:t>
            </a:r>
            <a:r>
              <a:rPr lang="en-US" sz="1600" b="1" noProof="0" dirty="0">
                <a:solidFill>
                  <a:srgbClr val="0D1B2A"/>
                </a:solidFill>
                <a:latin typeface="Trebuchet MS" pitchFamily="34" charset="0"/>
                <a:ea typeface="Trebuchet MS" pitchFamily="34" charset="-122"/>
                <a:cs typeface="Trebuchet MS" pitchFamily="34" charset="-120"/>
              </a:rPr>
              <a:t> metric:</a:t>
            </a:r>
            <a:endParaRPr lang="en-US" sz="1600" b="1" noProof="0" dirty="0"/>
          </a:p>
          <a:p>
            <a:pPr marL="800100" lvl="1" indent="-342900">
              <a:buSzPct val="100000"/>
              <a:buFontTx/>
              <a:buChar char="•"/>
            </a:pPr>
            <a:r>
              <a:rPr lang="en-US" sz="1200" b="1" noProof="0" dirty="0" err="1">
                <a:solidFill>
                  <a:srgbClr val="0D1B2A"/>
                </a:solidFill>
                <a:latin typeface="Trebuchet MS" pitchFamily="34" charset="0"/>
                <a:ea typeface="Trebuchet MS" pitchFamily="34" charset="-122"/>
                <a:cs typeface="Trebuchet MS" pitchFamily="34" charset="-120"/>
              </a:rPr>
              <a:t>val_loss</a:t>
            </a:r>
            <a:r>
              <a:rPr lang="en-US" sz="1200" b="1" noProof="0"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noProof="0" dirty="0">
                <a:solidFill>
                  <a:srgbClr val="1A2B3C"/>
                </a:solidFill>
                <a:latin typeface="Calibri" pitchFamily="34" charset="0"/>
                <a:ea typeface="Calibri" pitchFamily="34" charset="-122"/>
                <a:cs typeface="Calibri" pitchFamily="34" charset="-120"/>
              </a:rPr>
              <a:t>we use val_macro_f1 (lower = better)</a:t>
            </a:r>
          </a:p>
          <a:p>
            <a:pPr marL="342900" indent="-342900">
              <a:buSzPct val="100000"/>
              <a:buChar char="•"/>
            </a:pPr>
            <a:r>
              <a:rPr lang="en-US" sz="1600" b="1" noProof="0" dirty="0">
                <a:solidFill>
                  <a:srgbClr val="1A2B3C"/>
                </a:solidFill>
                <a:latin typeface="Calibri" pitchFamily="34" charset="0"/>
                <a:ea typeface="Calibri" pitchFamily="34" charset="-122"/>
                <a:cs typeface="Calibri" pitchFamily="34" charset="-120"/>
              </a:rPr>
              <a:t>Patience</a:t>
            </a:r>
            <a:r>
              <a:rPr lang="en-US" sz="1600" noProof="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Used full 20</a:t>
            </a:r>
            <a:r>
              <a:rPr lang="en-US" sz="1200" noProof="0" dirty="0">
                <a:solidFill>
                  <a:srgbClr val="1A2B3C"/>
                </a:solidFill>
                <a:latin typeface="Calibri" pitchFamily="34" charset="0"/>
                <a:ea typeface="Calibri" pitchFamily="34" charset="-122"/>
                <a:cs typeface="Calibri" pitchFamily="34" charset="-120"/>
              </a:rPr>
              <a:t> epochs</a:t>
            </a:r>
            <a:endParaRPr lang="en-US" sz="1200" noProof="0" dirty="0"/>
          </a:p>
          <a:p>
            <a:pPr marL="800100" lvl="1" indent="-342900">
              <a:buSzPct val="100000"/>
              <a:buChar char="•"/>
            </a:pPr>
            <a:r>
              <a:rPr lang="en-US" sz="1200" noProof="0" dirty="0">
                <a:solidFill>
                  <a:srgbClr val="1A2B3C"/>
                </a:solidFill>
                <a:latin typeface="Calibri"/>
                <a:ea typeface="Calibri"/>
                <a:cs typeface="Calibri"/>
              </a:rPr>
              <a:t>Saves best checkpoint .</a:t>
            </a:r>
            <a:r>
              <a:rPr lang="en-US" sz="1200" noProof="0" dirty="0" err="1">
                <a:solidFill>
                  <a:srgbClr val="1A2B3C"/>
                </a:solidFill>
                <a:latin typeface="Calibri"/>
                <a:ea typeface="Calibri"/>
                <a:cs typeface="Calibri"/>
              </a:rPr>
              <a:t>pth</a:t>
            </a:r>
            <a:r>
              <a:rPr lang="en-US" sz="1200" noProof="0" dirty="0">
                <a:solidFill>
                  <a:srgbClr val="1A2B3C"/>
                </a:solidFill>
                <a:latin typeface="Calibri"/>
                <a:ea typeface="Calibri"/>
                <a:cs typeface="Calibri"/>
              </a:rPr>
              <a:t> per run</a:t>
            </a:r>
            <a:endParaRPr lang="en-US" sz="1200" noProof="0" dirty="0">
              <a:latin typeface="Calibri"/>
              <a:ea typeface="Calibri"/>
              <a:cs typeface="Calibri"/>
            </a:endParaRPr>
          </a:p>
          <a:p>
            <a:pPr marL="800100" lvl="1" indent="-342900">
              <a:buSzPct val="100000"/>
              <a:buChar char="•"/>
            </a:pPr>
            <a:r>
              <a:rPr lang="en-US" sz="1200" noProof="0" dirty="0">
                <a:solidFill>
                  <a:srgbClr val="1A2B3C"/>
                </a:solidFill>
                <a:latin typeface="Calibri"/>
                <a:ea typeface="Calibri"/>
                <a:cs typeface="Calibri"/>
              </a:rPr>
              <a:t>Allows to compute the 20 epochs when plateau is slow even with early stopping</a:t>
            </a:r>
            <a:endParaRPr lang="en-US" sz="1200" noProof="0" dirty="0">
              <a:latin typeface="Calibri"/>
              <a:ea typeface="Calibri"/>
              <a:cs typeface="Calibri"/>
            </a:endParaRPr>
          </a:p>
        </p:txBody>
      </p:sp>
      <p:pic>
        <p:nvPicPr>
          <p:cNvPr id="4098" name="Picture 2">
            <a:extLst>
              <a:ext uri="{FF2B5EF4-FFF2-40B4-BE49-F238E27FC236}">
                <a16:creationId xmlns:a16="http://schemas.microsoft.com/office/drawing/2014/main" id="{B069867F-9C98-87F9-754F-4BFEB87C14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0523" y="2632927"/>
            <a:ext cx="7418713" cy="243297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noProof="0"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Results at a Glance</a:t>
            </a:r>
            <a:endParaRPr lang="en-US" sz="2200" noProof="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a:rPr>
              <a:t>0.2244</a:t>
            </a:r>
            <a:endParaRPr lang="en-US" sz="3200" noProof="0" dirty="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a:ea typeface="Calibri"/>
                <a:cs typeface="Calibri"/>
              </a:rPr>
              <a:t>Best </a:t>
            </a:r>
            <a:r>
              <a:rPr lang="en-US" sz="1100" noProof="0" dirty="0" err="1">
                <a:solidFill>
                  <a:srgbClr val="FFFFFF"/>
                </a:solidFill>
                <a:latin typeface="Calibri"/>
                <a:ea typeface="Calibri"/>
                <a:cs typeface="Calibri"/>
              </a:rPr>
              <a:t>val</a:t>
            </a:r>
            <a:r>
              <a:rPr lang="en-US" sz="1100" noProof="0" dirty="0">
                <a:solidFill>
                  <a:srgbClr val="FFFFFF"/>
                </a:solidFill>
                <a:latin typeface="Calibri"/>
                <a:ea typeface="Calibri"/>
                <a:cs typeface="Calibri"/>
              </a:rPr>
              <a:t> Macro-F1</a:t>
            </a:r>
            <a:endParaRPr lang="en-US" sz="1100" noProof="0" dirty="0">
              <a:latin typeface="Calibri"/>
              <a:ea typeface="Calibri"/>
              <a:cs typeface="Calibri"/>
            </a:endParaRPr>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0.2244</a:t>
            </a:r>
            <a:endParaRPr lang="en-US" sz="3200" noProof="0" dirty="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pitchFamily="34" charset="0"/>
                <a:ea typeface="Calibri" pitchFamily="34" charset="-122"/>
                <a:cs typeface="Calibri" pitchFamily="34" charset="-120"/>
              </a:rPr>
              <a:t>Best solo Macro-F1</a:t>
            </a:r>
            <a:endParaRPr lang="en-US" sz="1100" noProof="0" dirty="0"/>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0.19966</a:t>
            </a:r>
            <a:endParaRPr lang="en-US" sz="3200" noProof="0" dirty="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public score</a:t>
            </a:r>
          </a:p>
          <a:p>
            <a:pPr algn="ctr"/>
            <a:r>
              <a:rPr lang="en-US" sz="1100" noProof="0" dirty="0">
                <a:solidFill>
                  <a:srgbClr val="FFFFFF"/>
                </a:solidFill>
                <a:latin typeface="Calibri"/>
                <a:ea typeface="Calibri"/>
                <a:cs typeface="Calibri"/>
              </a:rPr>
              <a:t>(submitted best ResNet18)</a:t>
            </a:r>
            <a:endParaRPr lang="en-US" sz="1100" noProof="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noProof="0" dirty="0">
                <a:solidFill>
                  <a:srgbClr val="1C3A52"/>
                </a:solidFill>
                <a:latin typeface="Calibri"/>
              </a:rPr>
              <a:t>System                    			macro-F1   	acc    </a:t>
            </a:r>
          </a:p>
          <a:p>
            <a:pPr>
              <a:buNone/>
            </a:pPr>
            <a:r>
              <a:rPr lang="en-US" noProof="0" dirty="0">
                <a:solidFill>
                  <a:srgbClr val="888888"/>
                </a:solidFill>
                <a:latin typeface="Calibri"/>
              </a:rPr>
              <a:t>Random baseline           		0.111      		11.1%</a:t>
            </a:r>
          </a:p>
          <a:p>
            <a:r>
              <a:rPr lang="en-US" noProof="0" dirty="0">
                <a:solidFill>
                  <a:srgbClr val="888888"/>
                </a:solidFill>
                <a:latin typeface="Calibri"/>
              </a:rPr>
              <a:t>Always-Water              		0.021      		18.7%</a:t>
            </a:r>
          </a:p>
          <a:p>
            <a:r>
              <a:rPr lang="en-US" b="1" dirty="0">
                <a:solidFill>
                  <a:srgbClr val="00A896"/>
                </a:solidFill>
                <a:latin typeface="Calibri"/>
                <a:ea typeface="Calibri"/>
                <a:cs typeface="Calibri"/>
              </a:rPr>
              <a:t>ResNet18_best ★ 			0.2244		29.3%</a:t>
            </a:r>
            <a:endParaRPr lang="en-US" b="1" noProof="0" dirty="0">
              <a:solidFill>
                <a:srgbClr val="00A896"/>
              </a:solidFill>
              <a:latin typeface="Calibri"/>
              <a:ea typeface="Calibri"/>
              <a:cs typeface="Calibri"/>
            </a:endParaRPr>
          </a:p>
          <a:p>
            <a:r>
              <a:rPr lang="en-US" noProof="0" dirty="0">
                <a:solidFill>
                  <a:srgbClr val="1C3A52"/>
                </a:solidFill>
                <a:latin typeface="Calibri"/>
              </a:rPr>
              <a:t>Kaggle public test                     0.19966                —  </a:t>
            </a:r>
            <a:endParaRPr lang="en-US" noProof="0" dirty="0">
              <a:solidFill>
                <a:srgbClr val="1C3A52"/>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0.18981</a:t>
            </a: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private score</a:t>
            </a:r>
          </a:p>
          <a:p>
            <a:pPr algn="ctr"/>
            <a:r>
              <a:rPr lang="en-US" sz="1100" noProof="0" dirty="0">
                <a:solidFill>
                  <a:srgbClr val="FFFFFF"/>
                </a:solidFill>
                <a:latin typeface="Calibri"/>
                <a:ea typeface="Calibri"/>
                <a:cs typeface="Calibri"/>
              </a:rPr>
              <a:t>(submitted best ResNet18)</a:t>
            </a:r>
            <a:endParaRPr lang="en-US" sz="1100" noProof="0" dirty="0">
              <a:latin typeface="Calibri"/>
              <a:ea typeface="Calibri"/>
              <a:cs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noProof="0" dirty="0"/>
          </a:p>
        </p:txBody>
      </p:sp>
      <p:sp>
        <p:nvSpPr>
          <p:cNvPr id="51" name="InsightText"/>
          <p:cNvSpPr/>
          <p:nvPr/>
        </p:nvSpPr>
        <p:spPr>
          <a:xfrm>
            <a:off x="122830" y="4567451"/>
            <a:ext cx="8696474" cy="429291"/>
          </a:xfrm>
          <a:prstGeom prst="rect">
            <a:avLst/>
          </a:prstGeom>
          <a:noFill/>
          <a:ln/>
        </p:spPr>
        <p:txBody>
          <a:bodyPr wrap="square" lIns="91440" tIns="45720" rIns="91440" bIns="45720" rtlCol="0" anchor="ctr"/>
          <a:lstStyle/>
          <a:p>
            <a:r>
              <a:rPr lang="en-US" sz="1100" b="1" noProof="0" dirty="0">
                <a:solidFill>
                  <a:schemeClr val="accent2">
                    <a:lumMod val="40000"/>
                    <a:lumOff val="60000"/>
                  </a:schemeClr>
                </a:solidFill>
                <a:latin typeface="Trebuchet MS"/>
              </a:rPr>
              <a:t>Despite the smaller and noisier dataset our new model showed improvements over the MLP in the majority of the classes when comparing their values for the other tasks.</a:t>
            </a:r>
          </a:p>
          <a:p>
            <a:r>
              <a:rPr lang="en-US" sz="1100" b="1" noProof="0" dirty="0">
                <a:solidFill>
                  <a:schemeClr val="accent2">
                    <a:lumMod val="40000"/>
                    <a:lumOff val="60000"/>
                  </a:schemeClr>
                </a:solidFill>
                <a:latin typeface="Trebuchet MS"/>
                <a:ea typeface="Calibri"/>
                <a:cs typeface="Calibri"/>
              </a:rPr>
              <a:t>On the other hand, when we compare the models on the cur</a:t>
            </a:r>
            <a:r>
              <a:rPr lang="en-US" sz="1100" b="1" dirty="0">
                <a:solidFill>
                  <a:schemeClr val="accent2">
                    <a:lumMod val="40000"/>
                    <a:lumOff val="60000"/>
                  </a:schemeClr>
                </a:solidFill>
                <a:latin typeface="Trebuchet MS"/>
                <a:ea typeface="Calibri"/>
                <a:cs typeface="Calibri"/>
              </a:rPr>
              <a:t>rent task, our model is clearly better in F1 score.</a:t>
            </a:r>
            <a:endParaRPr lang="en-US" sz="1200" noProof="0" dirty="0">
              <a:solidFill>
                <a:srgbClr val="AACCD8"/>
              </a:solidFill>
              <a:latin typeface="Calibri"/>
              <a:ea typeface="Calibri"/>
              <a:cs typeface="Calibri"/>
            </a:endParaRPr>
          </a:p>
        </p:txBody>
      </p:sp>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extLst>
              <p:ext uri="{D42A27DB-BD31-4B8C-83A1-F6EECF244321}">
                <p14:modId xmlns:p14="http://schemas.microsoft.com/office/powerpoint/2010/main" val="3405373583"/>
              </p:ext>
            </p:extLst>
          </p:nvPr>
        </p:nvGraphicFramePr>
        <p:xfrm>
          <a:off x="122830" y="705794"/>
          <a:ext cx="4913193" cy="3467559"/>
        </p:xfrm>
        <a:graphic>
          <a:graphicData uri="http://schemas.openxmlformats.org/drawingml/2006/table">
            <a:tbl>
              <a:tblPr/>
              <a:tblGrid>
                <a:gridCol w="948601">
                  <a:extLst>
                    <a:ext uri="{9D8B030D-6E8A-4147-A177-3AD203B41FA5}">
                      <a16:colId xmlns:a16="http://schemas.microsoft.com/office/drawing/2014/main" val="20000"/>
                    </a:ext>
                  </a:extLst>
                </a:gridCol>
                <a:gridCol w="830512">
                  <a:extLst>
                    <a:ext uri="{9D8B030D-6E8A-4147-A177-3AD203B41FA5}">
                      <a16:colId xmlns:a16="http://schemas.microsoft.com/office/drawing/2014/main" val="20001"/>
                    </a:ext>
                  </a:extLst>
                </a:gridCol>
                <a:gridCol w="819330">
                  <a:extLst>
                    <a:ext uri="{9D8B030D-6E8A-4147-A177-3AD203B41FA5}">
                      <a16:colId xmlns:a16="http://schemas.microsoft.com/office/drawing/2014/main" val="4133161899"/>
                    </a:ext>
                  </a:extLst>
                </a:gridCol>
                <a:gridCol w="819330">
                  <a:extLst>
                    <a:ext uri="{9D8B030D-6E8A-4147-A177-3AD203B41FA5}">
                      <a16:colId xmlns:a16="http://schemas.microsoft.com/office/drawing/2014/main" val="2649835281"/>
                    </a:ext>
                  </a:extLst>
                </a:gridCol>
                <a:gridCol w="1495420">
                  <a:extLst>
                    <a:ext uri="{9D8B030D-6E8A-4147-A177-3AD203B41FA5}">
                      <a16:colId xmlns:a16="http://schemas.microsoft.com/office/drawing/2014/main" val="20002"/>
                    </a:ext>
                  </a:extLst>
                </a:gridCol>
              </a:tblGrid>
              <a:tr h="371659">
                <a:tc>
                  <a:txBody>
                    <a:bodyPr/>
                    <a:lstStyle/>
                    <a:p>
                      <a:pPr marL="0" indent="0">
                        <a:buNone/>
                      </a:pPr>
                      <a:r>
                        <a:rPr lang="en-US" sz="1100" b="1" noProof="0" dirty="0">
                          <a:solidFill>
                            <a:srgbClr val="FFFFFF"/>
                          </a:solidFill>
                          <a:latin typeface="Calibri" pitchFamily="34" charset="0"/>
                          <a:ea typeface="Calibri" pitchFamily="34" charset="-122"/>
                          <a:cs typeface="Calibri" pitchFamily="34" charset="-120"/>
                        </a:rPr>
                        <a:t>Class</a:t>
                      </a:r>
                      <a:endParaRPr lang="en-US" sz="11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noProof="0" dirty="0">
                          <a:solidFill>
                            <a:srgbClr val="FFFFFF"/>
                          </a:solidFill>
                          <a:latin typeface="Calibri"/>
                          <a:ea typeface="Calibri"/>
                          <a:cs typeface="Calibri"/>
                        </a:rPr>
                        <a:t>CNN F1</a:t>
                      </a:r>
                      <a:endParaRPr lang="en-US" sz="11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MLP F1</a:t>
                      </a: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ResNet18 TL F1</a:t>
                      </a:r>
                    </a:p>
                  </a:txBody>
                  <a:tcPr>
                    <a:lnL w="5079"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Improvement</a:t>
                      </a:r>
                    </a:p>
                    <a:p>
                      <a:pPr marL="0" lvl="0" indent="0" algn="ctr">
                        <a:buNone/>
                      </a:pPr>
                      <a:r>
                        <a:rPr lang="en-US" sz="1100" b="1" noProof="0" dirty="0">
                          <a:solidFill>
                            <a:srgbClr val="FFFFFF"/>
                          </a:solidFill>
                          <a:latin typeface="Calibri"/>
                          <a:ea typeface="Calibri"/>
                          <a:cs typeface="Calibri"/>
                        </a:rPr>
                        <a:t>(over the MLP)</a:t>
                      </a:r>
                      <a:endParaRPr lang="en-US" noProof="0" dirty="0"/>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Fire</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noProof="0" dirty="0">
                          <a:solidFill>
                            <a:srgbClr val="00B050"/>
                          </a:solidFill>
                          <a:latin typeface="Calibri"/>
                          <a:ea typeface="Calibri"/>
                          <a:cs typeface="Calibri"/>
                        </a:rPr>
                        <a:t>+0.033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Poison</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-0.359</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noProof="0" dirty="0">
                          <a:solidFill>
                            <a:srgbClr val="000000"/>
                          </a:solidFill>
                          <a:latin typeface="Calibri"/>
                          <a:ea typeface="Calibri"/>
                          <a:cs typeface="Calibri"/>
                        </a:rPr>
                        <a:t>Water</a:t>
                      </a:r>
                      <a:endParaRPr lang="en-US" sz="1100" b="1" noProof="0" dirty="0">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0.332</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+0.048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Grass</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0.286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+0.094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Normal</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0.215</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+0.075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Bug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0.140</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+0.18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Fighting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Rock</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0.134</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0.06</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-0.074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Ground</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0.107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-0.107</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5" name="Imagem 4">
            <a:extLst>
              <a:ext uri="{FF2B5EF4-FFF2-40B4-BE49-F238E27FC236}">
                <a16:creationId xmlns:a16="http://schemas.microsoft.com/office/drawing/2014/main" id="{85A72D4C-8FC6-AEF9-FADA-30517D4D45B3}"/>
              </a:ext>
            </a:extLst>
          </p:cNvPr>
          <p:cNvPicPr>
            <a:picLocks noChangeAspect="1"/>
          </p:cNvPicPr>
          <p:nvPr/>
        </p:nvPicPr>
        <p:blipFill>
          <a:blip r:embed="rId2"/>
          <a:srcRect l="9796"/>
          <a:stretch>
            <a:fillRect/>
          </a:stretch>
        </p:blipFill>
        <p:spPr>
          <a:xfrm>
            <a:off x="5097438" y="2047339"/>
            <a:ext cx="3832516" cy="276264"/>
          </a:xfrm>
          <a:prstGeom prst="rect">
            <a:avLst/>
          </a:prstGeom>
        </p:spPr>
      </p:pic>
      <p:pic>
        <p:nvPicPr>
          <p:cNvPr id="7" name="Imagem 6">
            <a:extLst>
              <a:ext uri="{FF2B5EF4-FFF2-40B4-BE49-F238E27FC236}">
                <a16:creationId xmlns:a16="http://schemas.microsoft.com/office/drawing/2014/main" id="{013E7EB7-8A85-F9D2-B366-7836DC7C8E1A}"/>
              </a:ext>
            </a:extLst>
          </p:cNvPr>
          <p:cNvPicPr>
            <a:picLocks noChangeAspect="1"/>
          </p:cNvPicPr>
          <p:nvPr/>
        </p:nvPicPr>
        <p:blipFill>
          <a:blip r:embed="rId3"/>
          <a:stretch>
            <a:fillRect/>
          </a:stretch>
        </p:blipFill>
        <p:spPr>
          <a:xfrm>
            <a:off x="7291425" y="1796913"/>
            <a:ext cx="1638529" cy="276264"/>
          </a:xfrm>
          <a:prstGeom prst="rect">
            <a:avLst/>
          </a:prstGeom>
        </p:spPr>
      </p:pic>
      <p:pic>
        <p:nvPicPr>
          <p:cNvPr id="9" name="Imagem 8">
            <a:extLst>
              <a:ext uri="{FF2B5EF4-FFF2-40B4-BE49-F238E27FC236}">
                <a16:creationId xmlns:a16="http://schemas.microsoft.com/office/drawing/2014/main" id="{5DAF7F6D-377D-F5CB-3A6F-F8665E0780C7}"/>
              </a:ext>
            </a:extLst>
          </p:cNvPr>
          <p:cNvPicPr>
            <a:picLocks noChangeAspect="1"/>
          </p:cNvPicPr>
          <p:nvPr/>
        </p:nvPicPr>
        <p:blipFill>
          <a:blip r:embed="rId4"/>
          <a:srcRect l="56554"/>
          <a:stretch>
            <a:fillRect/>
          </a:stretch>
        </p:blipFill>
        <p:spPr>
          <a:xfrm>
            <a:off x="7088176" y="2323603"/>
            <a:ext cx="1841778" cy="304843"/>
          </a:xfrm>
          <a:prstGeom prst="rect">
            <a:avLst/>
          </a:prstGeom>
        </p:spPr>
      </p:pic>
      <p:pic>
        <p:nvPicPr>
          <p:cNvPr id="12" name="Imagem 11">
            <a:extLst>
              <a:ext uri="{FF2B5EF4-FFF2-40B4-BE49-F238E27FC236}">
                <a16:creationId xmlns:a16="http://schemas.microsoft.com/office/drawing/2014/main" id="{78CD4199-8093-4D53-C7BA-24DB405B81F0}"/>
              </a:ext>
            </a:extLst>
          </p:cNvPr>
          <p:cNvPicPr>
            <a:picLocks noChangeAspect="1"/>
          </p:cNvPicPr>
          <p:nvPr/>
        </p:nvPicPr>
        <p:blipFill>
          <a:blip r:embed="rId5"/>
          <a:srcRect l="56748"/>
          <a:stretch>
            <a:fillRect/>
          </a:stretch>
        </p:blipFill>
        <p:spPr>
          <a:xfrm>
            <a:off x="7088176" y="2628446"/>
            <a:ext cx="1841778" cy="314369"/>
          </a:xfrm>
          <a:prstGeom prst="rect">
            <a:avLst/>
          </a:prstGeom>
        </p:spPr>
      </p:pic>
      <p:sp>
        <p:nvSpPr>
          <p:cNvPr id="13" name="TextBox 22">
            <a:extLst>
              <a:ext uri="{FF2B5EF4-FFF2-40B4-BE49-F238E27FC236}">
                <a16:creationId xmlns:a16="http://schemas.microsoft.com/office/drawing/2014/main" id="{433763E0-5144-CEEF-3BB4-25D50219A80D}"/>
              </a:ext>
            </a:extLst>
          </p:cNvPr>
          <p:cNvSpPr txBox="1"/>
          <p:nvPr/>
        </p:nvSpPr>
        <p:spPr>
          <a:xfrm>
            <a:off x="5477479" y="3183686"/>
            <a:ext cx="354369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noProof="0" dirty="0">
                <a:solidFill>
                  <a:srgbClr val="00B050"/>
                </a:solidFill>
              </a:rPr>
              <a:t>+</a:t>
            </a:r>
            <a:r>
              <a:rPr lang="en-US" sz="2400" b="1" dirty="0">
                <a:solidFill>
                  <a:srgbClr val="00B050"/>
                </a:solidFill>
              </a:rPr>
              <a:t>91.6</a:t>
            </a:r>
            <a:r>
              <a:rPr lang="en-US" sz="2400" b="1" noProof="0" dirty="0">
                <a:solidFill>
                  <a:srgbClr val="00B050"/>
                </a:solidFill>
              </a:rPr>
              <a:t>% (over the CNN)!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Confusion Matrix — Normal as the Catch-All Class</a:t>
            </a:r>
          </a:p>
        </p:txBody>
      </p:sp>
      <p:sp>
        <p:nvSpPr>
          <p:cNvPr id="14" name="CatchBG">
            <a:extLst>
              <a:ext uri="{FF2B5EF4-FFF2-40B4-BE49-F238E27FC236}">
                <a16:creationId xmlns:a16="http://schemas.microsoft.com/office/drawing/2014/main" id="{6E306E00-2890-9B44-D47E-21C5D109AD13}"/>
              </a:ext>
            </a:extLst>
          </p:cNvPr>
          <p:cNvSpPr/>
          <p:nvPr/>
        </p:nvSpPr>
        <p:spPr>
          <a:xfrm>
            <a:off x="-11537" y="4194658"/>
            <a:ext cx="9143999" cy="954705"/>
          </a:xfrm>
          <a:prstGeom prst="rect">
            <a:avLst/>
          </a:prstGeom>
          <a:solidFill>
            <a:srgbClr val="0D1B2A"/>
          </a:solidFill>
          <a:ln w="0">
            <a:noFill/>
          </a:ln>
        </p:spPr>
        <p:txBody>
          <a:bodyPr/>
          <a:lstStyle/>
          <a:p>
            <a:endParaRPr lang="en-US" noProof="0" dirty="0"/>
          </a:p>
        </p:txBody>
      </p:sp>
      <p:sp>
        <p:nvSpPr>
          <p:cNvPr id="15" name="CatchText">
            <a:extLst>
              <a:ext uri="{FF2B5EF4-FFF2-40B4-BE49-F238E27FC236}">
                <a16:creationId xmlns:a16="http://schemas.microsoft.com/office/drawing/2014/main" id="{B4E6DBCC-BEFA-D387-E58B-1D8FA5762AB6}"/>
              </a:ext>
            </a:extLst>
          </p:cNvPr>
          <p:cNvSpPr/>
          <p:nvPr/>
        </p:nvSpPr>
        <p:spPr>
          <a:xfrm>
            <a:off x="11537" y="4173474"/>
            <a:ext cx="9132462" cy="1324344"/>
          </a:xfrm>
          <a:prstGeom prst="rect">
            <a:avLst/>
          </a:prstGeom>
          <a:noFill/>
          <a:ln/>
        </p:spPr>
        <p:txBody>
          <a:bodyPr wrap="square" lIns="91440" tIns="45720" rIns="91440" bIns="45720" rtlCol="0" anchor="t"/>
          <a:lstStyle/>
          <a:p>
            <a:r>
              <a:rPr lang="en-US" sz="1200" b="1" noProof="0" dirty="0">
                <a:solidFill>
                  <a:srgbClr val="00A896"/>
                </a:solidFill>
                <a:latin typeface="Trebuchet MS"/>
              </a:rPr>
              <a:t>Transfer Learning:</a:t>
            </a:r>
          </a:p>
          <a:p>
            <a:pPr marL="285750" indent="-285750">
              <a:buFont typeface="Arial" panose="020B0604020202020204" pitchFamily="34" charset="0"/>
              <a:buChar char="•"/>
            </a:pPr>
            <a:r>
              <a:rPr lang="en-US" sz="1200" dirty="0">
                <a:solidFill>
                  <a:schemeClr val="bg1"/>
                </a:solidFill>
                <a:latin typeface="Trebuchet MS"/>
              </a:rPr>
              <a:t>Worse than CNN, but improved over MLP</a:t>
            </a:r>
          </a:p>
          <a:p>
            <a:pPr marL="285750" indent="-285750">
              <a:buFont typeface="Arial" panose="020B0604020202020204" pitchFamily="34" charset="0"/>
              <a:buChar char="•"/>
            </a:pPr>
            <a:r>
              <a:rPr lang="en-US" sz="1200" noProof="0" dirty="0">
                <a:solidFill>
                  <a:schemeClr val="bg1"/>
                </a:solidFill>
                <a:latin typeface="Trebuchet MS"/>
              </a:rPr>
              <a:t>The pre-trained model </a:t>
            </a:r>
            <a:r>
              <a:rPr lang="en-US" sz="1200" dirty="0">
                <a:solidFill>
                  <a:schemeClr val="bg1"/>
                </a:solidFill>
                <a:latin typeface="Trebuchet MS"/>
              </a:rPr>
              <a:t>gives the capacity to extract the important features using the CNN computer vision efficiency, but the head, regularization and small data set didn’t allow for a larger improvement.</a:t>
            </a:r>
            <a:endParaRPr lang="en-US" noProof="0" dirty="0">
              <a:solidFill>
                <a:schemeClr val="bg1"/>
              </a:solidFill>
            </a:endParaRPr>
          </a:p>
        </p:txBody>
      </p:sp>
      <p:sp>
        <p:nvSpPr>
          <p:cNvPr id="16" name="CatchText">
            <a:extLst>
              <a:ext uri="{FF2B5EF4-FFF2-40B4-BE49-F238E27FC236}">
                <a16:creationId xmlns:a16="http://schemas.microsoft.com/office/drawing/2014/main" id="{7999AF14-4CB2-B054-1934-616B39B0E07A}"/>
              </a:ext>
            </a:extLst>
          </p:cNvPr>
          <p:cNvSpPr/>
          <p:nvPr/>
        </p:nvSpPr>
        <p:spPr>
          <a:xfrm>
            <a:off x="3086373" y="643425"/>
            <a:ext cx="2181567" cy="413516"/>
          </a:xfrm>
          <a:prstGeom prst="rect">
            <a:avLst/>
          </a:prstGeom>
          <a:noFill/>
          <a:ln/>
        </p:spPr>
        <p:txBody>
          <a:bodyPr wrap="square" lIns="91440" tIns="45720" rIns="91440" bIns="45720" rtlCol="0" anchor="t"/>
          <a:lstStyle/>
          <a:p>
            <a:r>
              <a:rPr lang="en-US" sz="2000" b="1" noProof="0" dirty="0" err="1">
                <a:latin typeface="Trebuchet MS"/>
              </a:rPr>
              <a:t>ResNet</a:t>
            </a:r>
            <a:r>
              <a:rPr lang="en-US" sz="2000" b="1" noProof="0" dirty="0">
                <a:latin typeface="Trebuchet MS"/>
              </a:rPr>
              <a:t> 18 best</a:t>
            </a:r>
            <a:endParaRPr lang="en-US" sz="2000" noProof="0" dirty="0"/>
          </a:p>
          <a:p>
            <a:pPr marL="228600" indent="-228600">
              <a:buChar char="•"/>
            </a:pPr>
            <a:endParaRPr lang="en-US" sz="1100" noProof="0" dirty="0">
              <a:latin typeface="Calibri"/>
              <a:ea typeface="Calibri"/>
              <a:cs typeface="Calibri"/>
            </a:endParaRPr>
          </a:p>
        </p:txBody>
      </p:sp>
      <p:pic>
        <p:nvPicPr>
          <p:cNvPr id="3074" name="Picture 2">
            <a:extLst>
              <a:ext uri="{FF2B5EF4-FFF2-40B4-BE49-F238E27FC236}">
                <a16:creationId xmlns:a16="http://schemas.microsoft.com/office/drawing/2014/main" id="{85FEDE4C-3E3C-102D-2D56-0A95F7F290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9033" y="1099316"/>
            <a:ext cx="3486961" cy="27724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Kaggle Gap</a:t>
            </a: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noProof="0" dirty="0">
                <a:solidFill>
                  <a:srgbClr val="028090"/>
                </a:solidFill>
                <a:latin typeface="Trebuchet MS"/>
              </a:rPr>
              <a:t>Gap Explanation:</a:t>
            </a:r>
          </a:p>
          <a:p>
            <a:pPr marL="171450" indent="-171450">
              <a:buFont typeface="Arial" panose="020B0604020202020204" pitchFamily="34" charset="0"/>
              <a:buChar char="•"/>
            </a:pPr>
            <a:r>
              <a:rPr lang="en-US" sz="1200" dirty="0">
                <a:latin typeface="Trebuchet MS"/>
                <a:ea typeface="Calibri"/>
                <a:cs typeface="Calibri"/>
              </a:rPr>
              <a:t>As mentioned previously the best model still suffered from overfitting even with the heavy regularization, this led to the discrepancy in values, even if it isn’t much bigger</a:t>
            </a:r>
            <a:endParaRPr lang="en-US" sz="1100" noProof="0" dirty="0">
              <a:solidFill>
                <a:srgbClr val="0D1B2A"/>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noProof="0" dirty="0"/>
          </a:p>
        </p:txBody>
      </p:sp>
      <p:sp>
        <p:nvSpPr>
          <p:cNvPr id="51" name="RText"/>
          <p:cNvSpPr/>
          <p:nvPr/>
        </p:nvSpPr>
        <p:spPr>
          <a:xfrm>
            <a:off x="4846800" y="2431223"/>
            <a:ext cx="3840480" cy="1270982"/>
          </a:xfrm>
          <a:prstGeom prst="rect">
            <a:avLst/>
          </a:prstGeom>
          <a:noFill/>
          <a:ln/>
        </p:spPr>
        <p:txBody>
          <a:bodyPr wrap="square" lIns="91440" tIns="45720" rIns="91440" bIns="45720" rtlCol="0" anchor="t"/>
          <a:lstStyle/>
          <a:p>
            <a:pPr>
              <a:buNone/>
            </a:pPr>
            <a:r>
              <a:rPr lang="en-US" sz="1200" b="1" noProof="0" dirty="0">
                <a:solidFill>
                  <a:srgbClr val="00A896"/>
                </a:solidFill>
                <a:latin typeface="Trebuchet MS"/>
              </a:rPr>
              <a:t>Kaggle validation gap</a:t>
            </a:r>
          </a:p>
          <a:p>
            <a:r>
              <a:rPr lang="en-US" sz="1200" b="1" noProof="0" dirty="0">
                <a:solidFill>
                  <a:srgbClr val="00A896"/>
                </a:solidFill>
                <a:latin typeface="Trebuchet MS"/>
              </a:rPr>
              <a:t>	</a:t>
            </a:r>
            <a:r>
              <a:rPr lang="en-US" sz="1200" b="1" noProof="0" dirty="0" err="1">
                <a:solidFill>
                  <a:srgbClr val="00A896"/>
                </a:solidFill>
                <a:latin typeface="Trebuchet MS"/>
              </a:rPr>
              <a:t>val</a:t>
            </a:r>
            <a:r>
              <a:rPr lang="en-US" sz="1200" b="1" noProof="0" dirty="0">
                <a:solidFill>
                  <a:srgbClr val="00A896"/>
                </a:solidFill>
                <a:latin typeface="Trebuchet MS"/>
              </a:rPr>
              <a:t> – 0.2244</a:t>
            </a:r>
          </a:p>
          <a:p>
            <a:r>
              <a:rPr lang="en-US" sz="1200" b="1" noProof="0" dirty="0">
                <a:solidFill>
                  <a:srgbClr val="00A896"/>
                </a:solidFill>
                <a:latin typeface="Trebuchet MS"/>
              </a:rPr>
              <a:t>	</a:t>
            </a:r>
            <a:r>
              <a:rPr lang="en-US" sz="1200" b="1" noProof="0" dirty="0" err="1">
                <a:solidFill>
                  <a:srgbClr val="00A896"/>
                </a:solidFill>
                <a:latin typeface="Trebuchet MS"/>
              </a:rPr>
              <a:t>kaggle</a:t>
            </a:r>
            <a:r>
              <a:rPr lang="en-US" sz="1200" b="1" noProof="0" dirty="0">
                <a:solidFill>
                  <a:srgbClr val="00A896"/>
                </a:solidFill>
                <a:latin typeface="Trebuchet MS"/>
              </a:rPr>
              <a:t> – 0.19966</a:t>
            </a:r>
          </a:p>
          <a:p>
            <a:r>
              <a:rPr lang="en-US" sz="2000" b="1" noProof="0" dirty="0">
                <a:solidFill>
                  <a:srgbClr val="FFFFFF"/>
                </a:solidFill>
                <a:latin typeface="Trebuchet MS"/>
              </a:rPr>
              <a:t>	−</a:t>
            </a:r>
            <a:r>
              <a:rPr lang="en-US" sz="2000" b="1" dirty="0">
                <a:solidFill>
                  <a:srgbClr val="FFFFFF"/>
                </a:solidFill>
                <a:latin typeface="Trebuchet MS"/>
              </a:rPr>
              <a:t>0.02474</a:t>
            </a:r>
            <a:r>
              <a:rPr lang="en-US" sz="2000" b="1" noProof="0" dirty="0">
                <a:solidFill>
                  <a:srgbClr val="FFFFFF"/>
                </a:solidFill>
                <a:latin typeface="Trebuchet MS"/>
              </a:rPr>
              <a:t> (-0.11%)</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noProof="0" dirty="0">
                <a:solidFill>
                  <a:srgbClr val="0D1B2A"/>
                </a:solidFill>
                <a:latin typeface="Trebuchet MS"/>
                <a:ea typeface="Trebuchet MS" pitchFamily="34" charset="-122"/>
                <a:cs typeface="Trebuchet MS" pitchFamily="34" charset="-120"/>
              </a:rPr>
              <a:t>What can be improved &amp; Possible Next Steps?</a:t>
            </a:r>
            <a:endParaRPr lang="en-US" sz="2200" b="1" noProof="0" dirty="0">
              <a:solidFill>
                <a:srgbClr val="0D1B2A"/>
              </a:solidFill>
              <a:latin typeface="Trebuchet MS"/>
            </a:endParaRPr>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Theoretical reasons</a:t>
            </a:r>
            <a:endParaRPr lang="en-US" sz="1300" noProof="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dirty="0">
                <a:solidFill>
                  <a:srgbClr val="0D1B2A"/>
                </a:solidFill>
                <a:latin typeface="Trebuchet MS"/>
              </a:rPr>
              <a:t>Try new ensembles</a:t>
            </a:r>
            <a:endParaRPr lang="en-US" sz="1200" noProof="0" dirty="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Train a new ResNet34 with a similar configuration (regularization and augmentation) than the best model.</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Try even more aggressive regularization</a:t>
            </a:r>
            <a:endParaRPr lang="en-US" noProof="0" dirty="0"/>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 main problem of our best model is the quick increase on the training set, reaching an f1 score of 1, while not generalizing to the training set.</a:t>
            </a: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New data augmentation</a:t>
            </a:r>
            <a:endParaRPr lang="en-US" noProof="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Use different strategies that can reduce the image noise and let the model focus on the </a:t>
            </a:r>
            <a:r>
              <a:rPr lang="en-US" sz="1100" noProof="0" dirty="0" err="1">
                <a:solidFill>
                  <a:srgbClr val="3D5A73"/>
                </a:solidFill>
                <a:latin typeface="Calibri"/>
                <a:ea typeface="Calibri"/>
                <a:cs typeface="Calibri"/>
              </a:rPr>
              <a:t>pokemon</a:t>
            </a:r>
            <a:r>
              <a:rPr lang="en-US" sz="1100" noProof="0" dirty="0">
                <a:solidFill>
                  <a:srgbClr val="3D5A73"/>
                </a:solidFill>
                <a:latin typeface="Calibri"/>
                <a:ea typeface="Calibri"/>
                <a:cs typeface="Calibri"/>
              </a:rPr>
              <a:t>.</a:t>
            </a:r>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Empirical confirmation</a:t>
            </a:r>
            <a:endParaRPr lang="en-US" sz="1300" noProof="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en-US" noProof="0" dirty="0"/>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new base models</a:t>
            </a:r>
            <a:endParaRPr lang="en-US" sz="1200" noProof="0" dirty="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Mobile net </a:t>
            </a:r>
            <a:r>
              <a:rPr lang="en-US" sz="1100" dirty="0">
                <a:solidFill>
                  <a:srgbClr val="3D5A73"/>
                </a:solidFill>
                <a:latin typeface="Calibri"/>
                <a:ea typeface="Calibri"/>
                <a:cs typeface="Calibri"/>
              </a:rPr>
              <a:t>small can also be a good option for small datasets like this one.</a:t>
            </a:r>
            <a:endParaRPr lang="en-US" sz="1100" noProof="0" dirty="0">
              <a:solidFill>
                <a:srgbClr val="3D5A73"/>
              </a:solidFill>
              <a:latin typeface="Calibri"/>
              <a:ea typeface="Calibri"/>
              <a:cs typeface="Calibri"/>
            </a:endParaRP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en-US" noProof="0" dirty="0"/>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to let the model focus on its weaker classes</a:t>
            </a:r>
            <a:endParaRPr lang="en-US" sz="1200" b="1" noProof="0" dirty="0">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There are classes where the model as a 0 score, making the model see more examples of this class at training with different sampling strategies might increase our overall score.</a:t>
            </a:r>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en-US" noProof="0" dirty="0"/>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en-US" noProof="0" dirty="0"/>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Conclusions</a:t>
            </a:r>
            <a:endParaRPr lang="en-US" sz="2200" noProof="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493776" y="859535"/>
            <a:ext cx="5715000" cy="582577"/>
          </a:xfrm>
          <a:prstGeom prst="rect">
            <a:avLst/>
          </a:prstGeom>
          <a:noFill/>
          <a:ln/>
        </p:spPr>
        <p:txBody>
          <a:bodyPr wrap="square" lIns="0" tIns="0" rIns="0" bIns="0" rtlCol="0" anchor="ctr"/>
          <a:lstStyle/>
          <a:p>
            <a:r>
              <a:rPr lang="en-US" sz="1100" noProof="0" dirty="0">
                <a:latin typeface="Trebuchet MS"/>
              </a:rPr>
              <a:t>With the decrease of the data set, overfitting becomes very easy to accomplish</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en-US" noProof="0" dirty="0"/>
          </a:p>
        </p:txBody>
      </p:sp>
      <p:sp>
        <p:nvSpPr>
          <p:cNvPr id="12" name="Text 10"/>
          <p:cNvSpPr/>
          <p:nvPr/>
        </p:nvSpPr>
        <p:spPr>
          <a:xfrm>
            <a:off x="493776" y="1682496"/>
            <a:ext cx="5715000" cy="576072"/>
          </a:xfrm>
          <a:prstGeom prst="rect">
            <a:avLst/>
          </a:prstGeom>
          <a:noFill/>
          <a:ln/>
        </p:spPr>
        <p:txBody>
          <a:bodyPr wrap="square" lIns="0" tIns="0" rIns="0" bIns="0" rtlCol="0" anchor="ctr"/>
          <a:lstStyle/>
          <a:p>
            <a:r>
              <a:rPr lang="en-US" sz="1100" dirty="0">
                <a:latin typeface="Trebuchet MS"/>
              </a:rPr>
              <a:t>Unfreezing models shapes them better to the current task but has complexity drawbacks and can ruin the feature extraction capabilities inherent to their original weights</a:t>
            </a:r>
            <a:endParaRPr lang="en-US" sz="1100" noProof="0" dirty="0">
              <a:latin typeface="Trebuchet MS"/>
            </a:endParaRPr>
          </a:p>
        </p:txBody>
      </p:sp>
      <p:sp>
        <p:nvSpPr>
          <p:cNvPr id="14" name="Shape 12"/>
          <p:cNvSpPr/>
          <p:nvPr/>
        </p:nvSpPr>
        <p:spPr>
          <a:xfrm>
            <a:off x="347472" y="2441448"/>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sz="2000" noProof="0" dirty="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en-US" noProof="0" dirty="0"/>
          </a:p>
        </p:txBody>
      </p:sp>
      <p:sp>
        <p:nvSpPr>
          <p:cNvPr id="16" name="Text 14"/>
          <p:cNvSpPr/>
          <p:nvPr/>
        </p:nvSpPr>
        <p:spPr>
          <a:xfrm>
            <a:off x="493776" y="2505456"/>
            <a:ext cx="5715000" cy="565290"/>
          </a:xfrm>
          <a:prstGeom prst="rect">
            <a:avLst/>
          </a:prstGeom>
          <a:noFill/>
          <a:ln/>
        </p:spPr>
        <p:txBody>
          <a:bodyPr wrap="square" lIns="0" tIns="0" rIns="0" bIns="0" rtlCol="0" anchor="ctr"/>
          <a:lstStyle/>
          <a:p>
            <a:pPr marL="0" indent="0">
              <a:buNone/>
            </a:pPr>
            <a:r>
              <a:rPr lang="en-US" sz="1100" noProof="0" dirty="0">
                <a:latin typeface="Trebuchet MS"/>
              </a:rPr>
              <a:t>Regularization</a:t>
            </a:r>
            <a:r>
              <a:rPr lang="en-US" sz="1100" dirty="0">
                <a:latin typeface="Trebuchet MS"/>
              </a:rPr>
              <a:t>n techniques become essential, and data augmentation can help with seeing variety in the dataset</a:t>
            </a:r>
            <a:endParaRPr lang="en-US" sz="1100" noProof="0" dirty="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endParaRPr lang="en-US" sz="1050" noProof="0" dirty="0">
              <a:solidFill>
                <a:schemeClr val="accent2">
                  <a:lumMod val="40000"/>
                  <a:lumOff val="60000"/>
                </a:schemeClr>
              </a:solidFill>
              <a:latin typeface="Calibri"/>
              <a:ea typeface="Calibri"/>
              <a:cs typeface="Calibri"/>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493776" y="3328416"/>
            <a:ext cx="5715000" cy="547548"/>
          </a:xfrm>
          <a:prstGeom prst="rect">
            <a:avLst/>
          </a:prstGeom>
          <a:noFill/>
          <a:ln/>
        </p:spPr>
        <p:txBody>
          <a:bodyPr wrap="square" lIns="0" tIns="0" rIns="0" bIns="0" rtlCol="0" anchor="ctr"/>
          <a:lstStyle/>
          <a:p>
            <a:r>
              <a:rPr lang="en-US" sz="1100" noProof="0" dirty="0"/>
              <a:t>Simpler Models are better then highly complex ones, models with high numbers of parameters easily overfit by “memorizing” the images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en-US" noProof="0" dirty="0"/>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noProof="0" dirty="0">
                <a:latin typeface="Trebuchet MS"/>
              </a:rPr>
              <a:t>No need for ensembles</a:t>
            </a: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noProof="0" dirty="0">
                <a:solidFill>
                  <a:schemeClr val="accent2">
                    <a:lumMod val="40000"/>
                    <a:lumOff val="60000"/>
                  </a:schemeClr>
                </a:solidFill>
                <a:latin typeface="Calibri"/>
                <a:ea typeface="Calibri"/>
                <a:cs typeface="Calibri"/>
              </a:rPr>
              <a:t>Ensembled experiments returned similar results; Best solo is already good enough for this task</a:t>
            </a: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en-US" noProof="0" dirty="0"/>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noProof="0" dirty="0">
                <a:solidFill>
                  <a:srgbClr val="FFFFFF"/>
                </a:solidFill>
                <a:latin typeface="Calibri"/>
                <a:ea typeface="Calibri"/>
                <a:cs typeface="Calibri"/>
              </a:rPr>
              <a:t>Task 3 complete  ·  Kaggle score: 0.19966 · </a:t>
            </a:r>
            <a:r>
              <a:rPr lang="en-US" sz="1000" dirty="0">
                <a:solidFill>
                  <a:srgbClr val="FFFFFF"/>
                </a:solidFill>
                <a:latin typeface="Calibri"/>
                <a:ea typeface="Calibri"/>
                <a:cs typeface="Calibri"/>
              </a:rPr>
              <a:t>27</a:t>
            </a:r>
            <a:r>
              <a:rPr lang="en-US" sz="1000" noProof="0" dirty="0">
                <a:solidFill>
                  <a:srgbClr val="FFFFFF"/>
                </a:solidFill>
                <a:latin typeface="Calibri"/>
                <a:ea typeface="Calibri"/>
                <a:cs typeface="Calibri"/>
              </a:rPr>
              <a:t> experiments  ·  ~</a:t>
            </a:r>
            <a:r>
              <a:rPr lang="en-US" sz="1000" dirty="0">
                <a:solidFill>
                  <a:srgbClr val="FFFFFF"/>
                </a:solidFill>
                <a:latin typeface="Calibri"/>
                <a:ea typeface="Calibri"/>
                <a:cs typeface="Calibri"/>
              </a:rPr>
              <a:t>2:10</a:t>
            </a:r>
            <a:r>
              <a:rPr lang="en-US" sz="1000" noProof="0" dirty="0">
                <a:solidFill>
                  <a:srgbClr val="FFFFFF"/>
                </a:solidFill>
                <a:latin typeface="Calibri"/>
                <a:ea typeface="Calibri"/>
                <a:cs typeface="Calibri"/>
              </a:rPr>
              <a:t> h on T4</a:t>
            </a:r>
            <a:endParaRPr lang="en-US" sz="1000" noProof="0" dirty="0">
              <a:latin typeface="Calibri"/>
              <a:ea typeface="Calibri"/>
              <a:cs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noProof="0" dirty="0">
                <a:solidFill>
                  <a:srgbClr val="02C39A"/>
                </a:solidFill>
                <a:latin typeface="Calibri"/>
                <a:ea typeface="Calibri"/>
                <a:cs typeface="Calibri"/>
              </a:rPr>
              <a:t>DEEP LEARNING  ·  ASSIGNMENT 1  ·  TASK 3</a:t>
            </a:r>
            <a:endParaRPr lang="en-US" sz="1000" noProof="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noProof="0" dirty="0">
                <a:solidFill>
                  <a:srgbClr val="FFFFFF"/>
                </a:solidFill>
                <a:latin typeface="Trebuchet MS" pitchFamily="34" charset="0"/>
                <a:ea typeface="Trebuchet MS" pitchFamily="34" charset="-122"/>
                <a:cs typeface="Trebuchet MS" pitchFamily="34" charset="-120"/>
              </a:rPr>
              <a:t>Pokémon Type Classification</a:t>
            </a:r>
            <a:endParaRPr lang="en-US" sz="3400" noProof="0" dirty="0"/>
          </a:p>
        </p:txBody>
      </p:sp>
      <p:sp>
        <p:nvSpPr>
          <p:cNvPr id="7" name="Text 5">
            <a:extLst>
              <a:ext uri="{FF2B5EF4-FFF2-40B4-BE49-F238E27FC236}">
                <a16:creationId xmlns:a16="http://schemas.microsoft.com/office/drawing/2014/main" id="{947BC29D-0119-742E-B479-E6D99C580F5E}"/>
              </a:ext>
            </a:extLst>
          </p:cNvPr>
          <p:cNvSpPr/>
          <p:nvPr/>
        </p:nvSpPr>
        <p:spPr>
          <a:xfrm>
            <a:off x="347472" y="1719072"/>
            <a:ext cx="6583680" cy="438912"/>
          </a:xfrm>
          <a:prstGeom prst="rect">
            <a:avLst/>
          </a:prstGeom>
          <a:noFill/>
          <a:ln/>
        </p:spPr>
        <p:txBody>
          <a:bodyPr wrap="square" lIns="0" tIns="0" rIns="0" bIns="0" rtlCol="0" anchor="ctr"/>
          <a:lstStyle/>
          <a:p>
            <a:r>
              <a:rPr lang="en-US" sz="1600" noProof="0" dirty="0">
                <a:solidFill>
                  <a:srgbClr val="7AADCC"/>
                </a:solidFill>
                <a:latin typeface="Calibri"/>
                <a:ea typeface="Calibri"/>
                <a:cs typeface="Calibri"/>
              </a:rPr>
              <a:t>TASK 3 - </a:t>
            </a:r>
            <a:r>
              <a:rPr lang="en-US" sz="1600" noProof="0" dirty="0">
                <a:solidFill>
                  <a:srgbClr val="6692AE"/>
                </a:solidFill>
              </a:rPr>
              <a:t> Transfer Learning and Fine-Tuning</a:t>
            </a:r>
            <a:endParaRPr lang="en-US" sz="1600" noProof="0" dirty="0">
              <a:latin typeface="Calibri"/>
              <a:ea typeface="Calibri"/>
              <a:cs typeface="Calibri"/>
            </a:endParaRPr>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en-US" noProof="0" dirty="0"/>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noProof="0" dirty="0">
                <a:solidFill>
                  <a:srgbClr val="AACDE0"/>
                </a:solidFill>
                <a:latin typeface="Calibri" pitchFamily="34" charset="0"/>
                <a:ea typeface="Calibri" pitchFamily="34" charset="-122"/>
                <a:cs typeface="Calibri" pitchFamily="34" charset="-120"/>
              </a:rPr>
              <a:t>70698 – Francisco Silva</a:t>
            </a:r>
          </a:p>
          <a:p>
            <a:r>
              <a:rPr lang="en-US" sz="1300" noProof="0" dirty="0">
                <a:solidFill>
                  <a:srgbClr val="AACDE0"/>
                </a:solidFill>
                <a:latin typeface="Calibri" pitchFamily="34" charset="0"/>
                <a:cs typeface="Calibri" pitchFamily="34" charset="-120"/>
              </a:rPr>
              <a:t>73208 </a:t>
            </a:r>
            <a:r>
              <a:rPr lang="en-US" sz="1300" noProof="0" dirty="0">
                <a:solidFill>
                  <a:srgbClr val="AACDE0"/>
                </a:solidFill>
                <a:latin typeface="Calibri" pitchFamily="34" charset="0"/>
                <a:ea typeface="Calibri" pitchFamily="34" charset="-122"/>
                <a:cs typeface="Calibri" pitchFamily="34" charset="-120"/>
              </a:rPr>
              <a:t>– Rúben Silva</a:t>
            </a:r>
            <a:endParaRPr lang="en-US" sz="1300" noProof="0" dirty="0"/>
          </a:p>
          <a:p>
            <a:pPr marL="0" indent="0">
              <a:buNone/>
            </a:pPr>
            <a:r>
              <a:rPr lang="en-US" sz="1300" noProof="0" dirty="0">
                <a:solidFill>
                  <a:srgbClr val="AACDE0"/>
                </a:solidFill>
                <a:latin typeface="Calibri" pitchFamily="34" charset="0"/>
                <a:ea typeface="Calibri" pitchFamily="34" charset="-122"/>
                <a:cs typeface="Calibri" pitchFamily="34" charset="-120"/>
              </a:rPr>
              <a:t>73554 – Miguel Cangalhas</a:t>
            </a: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1154</TotalTime>
  <Words>3075</Words>
  <Application>Microsoft Office PowerPoint</Application>
  <PresentationFormat>Apresentação no Ecrã (16:9)</PresentationFormat>
  <Paragraphs>399</Paragraphs>
  <Slides>28</Slides>
  <Notes>10</Notes>
  <HiddenSlides>0</HiddenSlides>
  <MMClips>0</MMClips>
  <ScaleCrop>false</ScaleCrop>
  <HeadingPairs>
    <vt:vector size="6" baseType="variant">
      <vt:variant>
        <vt:lpstr>Tipos de letra usados</vt:lpstr>
      </vt:variant>
      <vt:variant>
        <vt:i4>5</vt:i4>
      </vt:variant>
      <vt:variant>
        <vt:lpstr>Tema</vt:lpstr>
      </vt:variant>
      <vt:variant>
        <vt:i4>2</vt:i4>
      </vt:variant>
      <vt:variant>
        <vt:lpstr>Títulos dos diapositivos</vt:lpstr>
      </vt:variant>
      <vt:variant>
        <vt:i4>28</vt:i4>
      </vt:variant>
    </vt:vector>
  </HeadingPairs>
  <TitlesOfParts>
    <vt:vector size="35" baseType="lpstr">
      <vt:lpstr>Arial</vt:lpstr>
      <vt:lpstr>Calibri</vt:lpstr>
      <vt:lpstr>Corbel</vt:lpstr>
      <vt:lpstr>Trebuchet MS</vt:lpstr>
      <vt:lpstr>Tw Cen MT</vt:lpstr>
      <vt:lpstr>Depth</vt:lpstr>
      <vt:lpstr>Droplet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Miguel Jose de Melo Ferreira Cangalhas</cp:lastModifiedBy>
  <cp:revision>1994</cp:revision>
  <dcterms:created xsi:type="dcterms:W3CDTF">2026-03-07T01:48:48Z</dcterms:created>
  <dcterms:modified xsi:type="dcterms:W3CDTF">2026-04-14T21:47:14Z</dcterms:modified>
</cp:coreProperties>
</file>