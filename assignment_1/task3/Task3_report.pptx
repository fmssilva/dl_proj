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1" r:id="rId1"/>
    <p:sldMasterId id="2147483840" r:id="rId2"/>
  </p:sldMasterIdLst>
  <p:notesMasterIdLst>
    <p:notesMasterId r:id="rId30"/>
  </p:notesMasterIdLst>
  <p:sldIdLst>
    <p:sldId id="256" r:id="rId3"/>
    <p:sldId id="257" r:id="rId4"/>
    <p:sldId id="281" r:id="rId5"/>
    <p:sldId id="288" r:id="rId6"/>
    <p:sldId id="285" r:id="rId7"/>
    <p:sldId id="302" r:id="rId8"/>
    <p:sldId id="286" r:id="rId9"/>
    <p:sldId id="287" r:id="rId10"/>
    <p:sldId id="295" r:id="rId11"/>
    <p:sldId id="303" r:id="rId12"/>
    <p:sldId id="304" r:id="rId13"/>
    <p:sldId id="296" r:id="rId14"/>
    <p:sldId id="289" r:id="rId15"/>
    <p:sldId id="290" r:id="rId16"/>
    <p:sldId id="283" r:id="rId17"/>
    <p:sldId id="271" r:id="rId18"/>
    <p:sldId id="273" r:id="rId19"/>
    <p:sldId id="305" r:id="rId20"/>
    <p:sldId id="293" r:id="rId21"/>
    <p:sldId id="284" r:id="rId22"/>
    <p:sldId id="275" r:id="rId23"/>
    <p:sldId id="297" r:id="rId24"/>
    <p:sldId id="298" r:id="rId25"/>
    <p:sldId id="299" r:id="rId26"/>
    <p:sldId id="278" r:id="rId27"/>
    <p:sldId id="279" r:id="rId28"/>
    <p:sldId id="300" r:id="rId2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96"/>
    <a:srgbClr val="0D1B2A"/>
    <a:srgbClr val="61B2E9"/>
    <a:srgbClr val="EF4F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968B7-DA67-72A4-3DF0-AEB616358612}" v="7715" dt="2026-03-25T11:10:53.253"/>
    <p1510:client id="{767BBB93-3087-B744-08BA-B89B3F0EEC89}" v="2734" dt="2026-03-25T17:11:20.895"/>
    <p1510:client id="{8CD50E63-8E47-5A93-9879-8D2832121154}" v="1381" dt="2026-03-25T22:05:17.5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15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859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7D86-4E7E-69D6-10DE-EB52DA17C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76FE4-68DF-C1F9-27AB-2B718C5C5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7C7FC-08E4-5C4F-DACB-BBCA477470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E08CF-3F97-5E03-EF73-A38F691D482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050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67F7-8E15-C927-6398-C8EAAFA7B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5B05F-A2D1-5297-20C6-93EA1D23C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06E45-EECD-6837-C95A-6C5C4C816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24DA2-A2D5-360F-B5D7-92B814684E0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28170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AF81-1813-59E3-9904-71A4972CD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1D61B-7CAA-3224-FD38-A3F7CCAAF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629DE-A130-EB43-93FC-9C0F3BEF2A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4ADDA-FC97-F300-01FD-08F9FE2FBAB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83819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AF6-D4DD-1AE9-BDA9-565C1F13B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68680-5EF1-0C56-DBE8-6E02EB589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CF2B4-6456-837C-FDF2-44EE498F3A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A4805-850F-EF40-9841-AFAA4296518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16636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98400-0C3E-F44B-0F7F-FB447416E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4077-DC70-7860-D88D-2E012B863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C7627-08B3-EB64-5D9A-90C4A6AE72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0D99B-F0B4-C7DA-5A9B-D974AA8E4D9B}"/>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339834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3348021"/>
            <a:ext cx="6858000" cy="1231118"/>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657349" y="2770782"/>
            <a:ext cx="6858000" cy="565519"/>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490279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68977420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3348021"/>
            <a:ext cx="6858000" cy="1231118"/>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640899" y="2770256"/>
            <a:ext cx="6858000" cy="565519"/>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96027F-7875-4030-9381-8BD8C4F21935}"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0000230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0000" y="1369219"/>
            <a:ext cx="3768912"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39880" y="1369219"/>
            <a:ext cx="377547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27212649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0000" y="1260872"/>
            <a:ext cx="3768912" cy="617934"/>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1878806"/>
            <a:ext cx="3768912"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39880" y="1260872"/>
            <a:ext cx="3776661" cy="617934"/>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0" y="1878806"/>
            <a:ext cx="377666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5023250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73020505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1070707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0000" y="1543050"/>
            <a:ext cx="2739019" cy="2858691"/>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56410601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0000" y="1543050"/>
            <a:ext cx="2739019" cy="2858691"/>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4827128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275370"/>
            <a:ext cx="7886700" cy="614516"/>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9841" y="740569"/>
            <a:ext cx="7886700" cy="253480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3889887"/>
            <a:ext cx="7885509" cy="511854"/>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01476351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29841" y="3367049"/>
            <a:ext cx="7885509" cy="112637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19064873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273844"/>
            <a:ext cx="6977064" cy="2244678"/>
          </a:xfrm>
        </p:spPr>
        <p:txBody>
          <a:bodyPr anchor="ct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3376297"/>
            <a:ext cx="7884318" cy="1117122"/>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
        <p:nvSpPr>
          <p:cNvPr id="9" name="TextBox 8"/>
          <p:cNvSpPr txBox="1"/>
          <p:nvPr/>
        </p:nvSpPr>
        <p:spPr>
          <a:xfrm>
            <a:off x="833283" y="59011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92476660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1745226"/>
            <a:ext cx="7886700" cy="1883876"/>
          </a:xfrm>
        </p:spPr>
        <p:txBody>
          <a:bodyPr anchor="b">
            <a:normAutofit/>
          </a:bodyPr>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629841" y="3637936"/>
            <a:ext cx="7885509" cy="855483"/>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2085712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273844"/>
            <a:ext cx="7886700" cy="994172"/>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02961" y="1414462"/>
            <a:ext cx="2210150" cy="432197"/>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8" y="1928812"/>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6" y="1414462"/>
            <a:ext cx="2202181" cy="432197"/>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1928812"/>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7" y="1414462"/>
            <a:ext cx="2199085" cy="432197"/>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7" y="1928812"/>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49279276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273844"/>
            <a:ext cx="7886700" cy="99417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99064" y="3223127"/>
            <a:ext cx="2205038"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1692266"/>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999064" y="3655324"/>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3223127"/>
            <a:ext cx="2197894"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1692266"/>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425733" y="3655323"/>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2" y="3223127"/>
            <a:ext cx="2199085"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1" y="1692266"/>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53148" y="3655322"/>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8194021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0557421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5472819"/>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2508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1313259" y="975589"/>
            <a:ext cx="6517482" cy="188191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313259" y="2914651"/>
            <a:ext cx="6517482" cy="1028699"/>
          </a:xfrm>
        </p:spPr>
        <p:txBody>
          <a:bodyPr>
            <a:normAutofit/>
          </a:bodyPr>
          <a:lstStyle>
            <a:lvl1pPr marL="0" indent="0" algn="ctr">
              <a:buNone/>
              <a:defRPr sz="16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83920300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1775320"/>
            <a:ext cx="777287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76011344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621423"/>
            <a:ext cx="7763814" cy="2052614"/>
          </a:xfrm>
        </p:spPr>
        <p:txBody>
          <a:bodyPr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685331" y="2743093"/>
            <a:ext cx="7763814" cy="1026137"/>
          </a:xfrm>
        </p:spPr>
        <p:txBody>
          <a:bodyPr>
            <a:normAutofit/>
          </a:bodyPr>
          <a:lstStyle>
            <a:lvl1pPr marL="0" indent="0" algn="ctr">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9465294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1775320"/>
            <a:ext cx="382952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1775320"/>
            <a:ext cx="382905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69969436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1778263"/>
            <a:ext cx="3655106"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3"/>
          <p:cNvSpPr>
            <a:spLocks noGrp="1"/>
          </p:cNvSpPr>
          <p:nvPr>
            <p:ph sz="quarter" idx="13"/>
          </p:nvPr>
        </p:nvSpPr>
        <p:spPr>
          <a:xfrm>
            <a:off x="685331" y="2288260"/>
            <a:ext cx="3829520" cy="205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1778263"/>
            <a:ext cx="3661353"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p:cNvSpPr>
            <a:spLocks noGrp="1"/>
          </p:cNvSpPr>
          <p:nvPr>
            <p:ph sz="quarter" idx="14"/>
          </p:nvPr>
        </p:nvSpPr>
        <p:spPr>
          <a:xfrm>
            <a:off x="4629150" y="2288260"/>
            <a:ext cx="3829051" cy="205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03693749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85448440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Date Placeholder 1"/>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507790090"/>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2951766" cy="1517439"/>
          </a:xfrm>
        </p:spPr>
        <p:txBody>
          <a:bodyPr anchor="b"/>
          <a:lstStyle>
            <a:lvl1pPr algn="ctr">
              <a:defRPr sz="2400"/>
            </a:lvl1pPr>
          </a:lstStyle>
          <a:p>
            <a:r>
              <a:rPr lang="en-US"/>
              <a:t>Click to edit Master title style</a:t>
            </a:r>
            <a:endParaRPr lang="en-US" dirty="0"/>
          </a:p>
        </p:txBody>
      </p:sp>
      <p:sp>
        <p:nvSpPr>
          <p:cNvPr id="10" name="Content Placeholder 2"/>
          <p:cNvSpPr>
            <a:spLocks noGrp="1"/>
          </p:cNvSpPr>
          <p:nvPr>
            <p:ph sz="quarter" idx="13"/>
          </p:nvPr>
        </p:nvSpPr>
        <p:spPr>
          <a:xfrm>
            <a:off x="3808547" y="457201"/>
            <a:ext cx="4650122" cy="3886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1974639"/>
            <a:ext cx="2951767" cy="2368761"/>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1046475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4451227" cy="1517441"/>
          </a:xfrm>
        </p:spPr>
        <p:txBody>
          <a:bodyPr anchor="b"/>
          <a:lstStyle>
            <a:lvl1pPr algn="ct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2" y="457201"/>
            <a:ext cx="2441519" cy="38862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1974639"/>
            <a:ext cx="4451212" cy="2368760"/>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55906301"/>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46" y="3217030"/>
            <a:ext cx="7773324" cy="608708"/>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523696"/>
            <a:ext cx="7366899" cy="2410602"/>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31" y="3831546"/>
            <a:ext cx="7773339" cy="511854"/>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9782108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7773339" cy="2570434"/>
          </a:xfrm>
        </p:spPr>
        <p:txBody>
          <a:bodyPr anchor="ctr"/>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1" y="3153616"/>
            <a:ext cx="7773339" cy="1189785"/>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982293182"/>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446091"/>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31" y="3279597"/>
            <a:ext cx="7773339" cy="1065790"/>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
        <p:nvSpPr>
          <p:cNvPr id="13" name="TextBox 12"/>
          <p:cNvSpPr txBox="1"/>
          <p:nvPr/>
        </p:nvSpPr>
        <p:spPr>
          <a:xfrm>
            <a:off x="751116" y="56562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918169" y="224518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883424276"/>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1604041"/>
            <a:ext cx="7773339" cy="1883876"/>
          </a:xfrm>
        </p:spPr>
        <p:txBody>
          <a:bodyPr anchor="b"/>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1" y="3496751"/>
            <a:ext cx="777333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7546570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Title 1"/>
          <p:cNvSpPr>
            <a:spLocks noGrp="1"/>
          </p:cNvSpPr>
          <p:nvPr>
            <p:ph type="title"/>
          </p:nvPr>
        </p:nvSpPr>
        <p:spPr>
          <a:xfrm>
            <a:off x="685331" y="457200"/>
            <a:ext cx="7773339" cy="1203821"/>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1775320"/>
            <a:ext cx="2474232"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31" y="2207517"/>
            <a:ext cx="2474232"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9292" y="1775320"/>
            <a:ext cx="2468641"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12" y="2207517"/>
            <a:ext cx="2477513"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9974" y="1775320"/>
            <a:ext cx="2478696"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9974" y="2207517"/>
            <a:ext cx="2478696"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24432247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 name="Title 1"/>
          <p:cNvSpPr>
            <a:spLocks noGrp="1"/>
          </p:cNvSpPr>
          <p:nvPr>
            <p:ph type="title"/>
          </p:nvPr>
        </p:nvSpPr>
        <p:spPr>
          <a:xfrm>
            <a:off x="685331" y="458079"/>
            <a:ext cx="7773339" cy="120294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3153615"/>
            <a:ext cx="2472307"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685331" y="1775320"/>
            <a:ext cx="2472307" cy="1143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31" y="3585811"/>
            <a:ext cx="2472307"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69" y="3153615"/>
            <a:ext cx="247637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331011" y="1775320"/>
            <a:ext cx="2477514"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3585811"/>
            <a:ext cx="2477514"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9974" y="3153615"/>
            <a:ext cx="247551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979974" y="1775320"/>
            <a:ext cx="2478696"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880" y="3585809"/>
            <a:ext cx="2478790" cy="757591"/>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534475446"/>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1775320"/>
            <a:ext cx="7773339" cy="2568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785221913"/>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Vertical Title 1"/>
          <p:cNvSpPr>
            <a:spLocks noGrp="1"/>
          </p:cNvSpPr>
          <p:nvPr>
            <p:ph type="title" orient="vert"/>
          </p:nvPr>
        </p:nvSpPr>
        <p:spPr>
          <a:xfrm>
            <a:off x="6543675" y="457201"/>
            <a:ext cx="1914995" cy="38861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457201"/>
            <a:ext cx="5744043" cy="388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82307999"/>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582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0000" y="1369219"/>
            <a:ext cx="767535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AAD347D-5ACD-4C99-B74B-A9C85AD731AF}" type="datetimeFigureOut">
              <a:rPr lang="en-US" smtClean="0"/>
              <a:t>3/28/2026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842644415"/>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Lst>
  <p:hf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463888"/>
            <a:ext cx="7773338" cy="119713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1775320"/>
            <a:ext cx="7773339" cy="2568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4412457"/>
            <a:ext cx="2057400" cy="273844"/>
          </a:xfrm>
          <a:prstGeom prst="rect">
            <a:avLst/>
          </a:prstGeom>
        </p:spPr>
        <p:txBody>
          <a:bodyPr vert="horz" lIns="91440" tIns="45720" rIns="91440" bIns="45720" rtlCol="0" anchor="ctr"/>
          <a:lstStyle>
            <a:lvl1pPr algn="r">
              <a:defRPr sz="750">
                <a:solidFill>
                  <a:schemeClr val="tx1"/>
                </a:solidFill>
              </a:defRPr>
            </a:lvl1pPr>
          </a:lstStyle>
          <a:p>
            <a:fld id="{4AAD347D-5ACD-4C99-B74B-A9C85AD731AF}" type="datetimeFigureOut">
              <a:rPr lang="en-US" smtClean="0"/>
              <a:t>3/28/2026</a:t>
            </a:fld>
            <a:endParaRPr lang="en-US" dirty="0"/>
          </a:p>
        </p:txBody>
      </p:sp>
      <p:sp>
        <p:nvSpPr>
          <p:cNvPr id="5" name="Footer Placeholder 4"/>
          <p:cNvSpPr>
            <a:spLocks noGrp="1"/>
          </p:cNvSpPr>
          <p:nvPr>
            <p:ph type="ftr" sz="quarter" idx="3"/>
          </p:nvPr>
        </p:nvSpPr>
        <p:spPr>
          <a:xfrm>
            <a:off x="685331" y="4412457"/>
            <a:ext cx="5004665" cy="273844"/>
          </a:xfrm>
          <a:prstGeom prst="rect">
            <a:avLst/>
          </a:prstGeom>
        </p:spPr>
        <p:txBody>
          <a:bodyPr vert="horz" lIns="91440" tIns="45720" rIns="91440" bIns="45720" rtlCol="0" anchor="ctr"/>
          <a:lstStyle>
            <a:lvl1pPr algn="l">
              <a:defRPr sz="75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4412457"/>
            <a:ext cx="573161" cy="273844"/>
          </a:xfrm>
          <a:prstGeom prst="rect">
            <a:avLst/>
          </a:prstGeom>
        </p:spPr>
        <p:txBody>
          <a:bodyPr vert="horz" lIns="91440" tIns="45720" rIns="91440" bIns="45720" rtlCol="0" anchor="ctr"/>
          <a:lstStyle>
            <a:lvl1pPr algn="r">
              <a:defRPr sz="750">
                <a:solidFill>
                  <a:schemeClr val="tx1"/>
                </a:solidFill>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06938611"/>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Lst>
  <p:hf hdr="0" ftr="0" dt="0"/>
  <p:txStyles>
    <p:title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tx1"/>
        </a:buClr>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tx1"/>
        </a:buClr>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tx1"/>
        </a:buClr>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 Id="rId9"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sp>
        <p:nvSpPr>
          <p:cNvPr id="5" name="Text 3"/>
          <p:cNvSpPr/>
          <p:nvPr/>
        </p:nvSpPr>
        <p:spPr>
          <a:xfrm>
            <a:off x="347472" y="502920"/>
            <a:ext cx="6858000" cy="292608"/>
          </a:xfrm>
          <a:prstGeom prst="rect">
            <a:avLst/>
          </a:prstGeom>
          <a:noFill/>
          <a:ln/>
        </p:spPr>
        <p:txBody>
          <a:bodyPr wrap="square" lIns="0" tIns="0" rIns="0" bIns="0" rtlCol="0" anchor="ctr"/>
          <a:lstStyle/>
          <a:p>
            <a:pPr marL="0" indent="0">
              <a:buNone/>
            </a:pPr>
            <a:r>
              <a:rPr lang="en-US" sz="1000" b="1" kern="0" spc="200" dirty="0">
                <a:solidFill>
                  <a:srgbClr val="02C39A"/>
                </a:solidFill>
                <a:latin typeface="Calibri" pitchFamily="34" charset="0"/>
                <a:ea typeface="Calibri" pitchFamily="34" charset="-122"/>
                <a:cs typeface="Calibri" pitchFamily="34" charset="-120"/>
              </a:rPr>
              <a:t>DEEP LEARNING  ·  ASSIGNMENT 1  ·  TASK 2</a:t>
            </a:r>
            <a:endParaRPr lang="en-US" sz="1000" dirty="0"/>
          </a:p>
        </p:txBody>
      </p:sp>
      <p:sp>
        <p:nvSpPr>
          <p:cNvPr id="6" name="Text 4"/>
          <p:cNvSpPr/>
          <p:nvPr/>
        </p:nvSpPr>
        <p:spPr>
          <a:xfrm>
            <a:off x="347472" y="868680"/>
            <a:ext cx="6583680" cy="7772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Pokémon Type Classification</a:t>
            </a:r>
            <a:endParaRPr lang="en-US" sz="3400" dirty="0"/>
          </a:p>
        </p:txBody>
      </p:sp>
      <p:sp>
        <p:nvSpPr>
          <p:cNvPr id="7" name="Text 5"/>
          <p:cNvSpPr/>
          <p:nvPr/>
        </p:nvSpPr>
        <p:spPr>
          <a:xfrm>
            <a:off x="347472" y="1719072"/>
            <a:ext cx="6583680" cy="438912"/>
          </a:xfrm>
          <a:prstGeom prst="rect">
            <a:avLst/>
          </a:prstGeom>
          <a:noFill/>
          <a:ln/>
        </p:spPr>
        <p:txBody>
          <a:bodyPr wrap="square" lIns="0" tIns="0" rIns="0" bIns="0" rtlCol="0" anchor="ctr"/>
          <a:lstStyle/>
          <a:p>
            <a:r>
              <a:rPr lang="en-US" sz="1600">
                <a:solidFill>
                  <a:srgbClr val="7AADCC"/>
                </a:solidFill>
                <a:latin typeface="Calibri"/>
                <a:ea typeface="Calibri"/>
                <a:cs typeface="Calibri"/>
              </a:rPr>
              <a:t>TASK 2 - Convolutional Neural Network</a:t>
            </a:r>
            <a:endParaRPr lang="en-US" sz="1600">
              <a:latin typeface="Calibri"/>
              <a:ea typeface="Calibri"/>
              <a:cs typeface="Calibri"/>
            </a:endParaRPr>
          </a:p>
        </p:txBody>
      </p:sp>
      <p:sp>
        <p:nvSpPr>
          <p:cNvPr id="8" name="Shape 6"/>
          <p:cNvSpPr/>
          <p:nvPr/>
        </p:nvSpPr>
        <p:spPr>
          <a:xfrm>
            <a:off x="347472" y="2267712"/>
            <a:ext cx="3474720" cy="36576"/>
          </a:xfrm>
          <a:prstGeom prst="rect">
            <a:avLst/>
          </a:prstGeom>
          <a:solidFill>
            <a:srgbClr val="00A896"/>
          </a:solidFill>
          <a:ln w="12700">
            <a:solidFill>
              <a:srgbClr val="00A896"/>
            </a:solidFill>
            <a:prstDash val="solid"/>
          </a:ln>
        </p:spPr>
        <p:txBody>
          <a:bodyPr/>
          <a:lstStyle/>
          <a:p>
            <a:endParaRPr lang="pt-PT"/>
          </a:p>
        </p:txBody>
      </p:sp>
      <p:sp>
        <p:nvSpPr>
          <p:cNvPr id="9" name="Text 7"/>
          <p:cNvSpPr/>
          <p:nvPr/>
        </p:nvSpPr>
        <p:spPr>
          <a:xfrm>
            <a:off x="347472" y="2377440"/>
            <a:ext cx="6858000" cy="914400"/>
          </a:xfrm>
          <a:prstGeom prst="rect">
            <a:avLst/>
          </a:prstGeom>
          <a:noFill/>
          <a:ln/>
        </p:spPr>
        <p:txBody>
          <a:bodyPr wrap="square" rtlCol="0" anchor="ctr"/>
          <a:lstStyle/>
          <a:p>
            <a:pPr marL="0" indent="0">
              <a:buNone/>
            </a:pPr>
            <a:r>
              <a:rPr lang="en-US" sz="1300" dirty="0">
                <a:solidFill>
                  <a:srgbClr val="AACDE0"/>
                </a:solidFill>
                <a:latin typeface="Calibri" pitchFamily="34" charset="0"/>
                <a:ea typeface="Calibri" pitchFamily="34" charset="-122"/>
                <a:cs typeface="Calibri" pitchFamily="34" charset="-120"/>
              </a:rPr>
              <a:t>70698 – Francisco Silva</a:t>
            </a:r>
          </a:p>
          <a:p>
            <a:r>
              <a:rPr lang="en-US" sz="1300" dirty="0">
                <a:solidFill>
                  <a:srgbClr val="AACDE0"/>
                </a:solidFill>
                <a:latin typeface="Calibri" pitchFamily="34" charset="0"/>
                <a:cs typeface="Calibri" pitchFamily="34" charset="-120"/>
              </a:rPr>
              <a:t>73208 </a:t>
            </a:r>
            <a:r>
              <a:rPr lang="en-US" sz="1300" dirty="0">
                <a:solidFill>
                  <a:srgbClr val="AACDE0"/>
                </a:solidFill>
                <a:latin typeface="Calibri" pitchFamily="34" charset="0"/>
                <a:ea typeface="Calibri" pitchFamily="34" charset="-122"/>
                <a:cs typeface="Calibri" pitchFamily="34" charset="-120"/>
              </a:rPr>
              <a:t>– Rúben Silva</a:t>
            </a:r>
            <a:endParaRPr lang="en-US" sz="1300" dirty="0"/>
          </a:p>
          <a:p>
            <a:pPr marL="0" indent="0">
              <a:buNone/>
            </a:pPr>
            <a:r>
              <a:rPr lang="en-US" sz="1300" dirty="0">
                <a:solidFill>
                  <a:srgbClr val="AACDE0"/>
                </a:solidFill>
                <a:latin typeface="Calibri" pitchFamily="34" charset="0"/>
                <a:ea typeface="Calibri" pitchFamily="34" charset="-122"/>
                <a:cs typeface="Calibri" pitchFamily="34" charset="-120"/>
              </a:rPr>
              <a:t>73554 – Miguel </a:t>
            </a:r>
            <a:r>
              <a:rPr lang="en-US" sz="1300" dirty="0" err="1">
                <a:solidFill>
                  <a:srgbClr val="AACDE0"/>
                </a:solidFill>
                <a:latin typeface="Calibri" pitchFamily="34" charset="0"/>
                <a:ea typeface="Calibri" pitchFamily="34" charset="-122"/>
                <a:cs typeface="Calibri" pitchFamily="34" charset="-120"/>
              </a:rPr>
              <a:t>Cangalhas</a:t>
            </a:r>
            <a:endParaRPr lang="en-US" sz="1300" dirty="0">
              <a:solidFill>
                <a:srgbClr val="AACDE0"/>
              </a:solidFill>
              <a:latin typeface="Calibri" pitchFamily="34" charset="0"/>
              <a:ea typeface="Calibri" pitchFamily="34" charset="-122"/>
              <a:cs typeface="Calibri" pitchFamily="34" charset="-120"/>
            </a:endParaRPr>
          </a:p>
        </p:txBody>
      </p:sp>
      <p:pic>
        <p:nvPicPr>
          <p:cNvPr id="1028" name="Picture 4" descr="NOVA FCT">
            <a:extLst>
              <a:ext uri="{FF2B5EF4-FFF2-40B4-BE49-F238E27FC236}">
                <a16:creationId xmlns:a16="http://schemas.microsoft.com/office/drawing/2014/main" id="{5ED66EE5-003F-1ED4-2274-3871AE979C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BDDC356B-1E1B-DE14-ECB6-15D03218B5C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B5430560-568D-49E1-F0CD-C48B87341529}"/>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What We Cover</a:t>
            </a:r>
            <a:endParaRPr lang="en-US" sz="2200" dirty="0"/>
          </a:p>
        </p:txBody>
      </p:sp>
      <p:sp>
        <p:nvSpPr>
          <p:cNvPr id="4" name="Shape 2"/>
          <p:cNvSpPr/>
          <p:nvPr/>
        </p:nvSpPr>
        <p:spPr>
          <a:xfrm>
            <a:off x="365760" y="82296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5" name="Shape 3"/>
          <p:cNvSpPr/>
          <p:nvPr/>
        </p:nvSpPr>
        <p:spPr>
          <a:xfrm>
            <a:off x="365760" y="822960"/>
            <a:ext cx="82296" cy="1691640"/>
          </a:xfrm>
          <a:prstGeom prst="rect">
            <a:avLst/>
          </a:prstGeom>
          <a:solidFill>
            <a:srgbClr val="00A896"/>
          </a:solidFill>
          <a:ln w="12700">
            <a:solidFill>
              <a:srgbClr val="00A896"/>
            </a:solidFill>
            <a:prstDash val="solid"/>
          </a:ln>
        </p:spPr>
        <p:txBody>
          <a:bodyPr/>
          <a:lstStyle/>
          <a:p>
            <a:endParaRPr lang="pt-PT"/>
          </a:p>
        </p:txBody>
      </p:sp>
      <p:sp>
        <p:nvSpPr>
          <p:cNvPr id="6" name="Text 4"/>
          <p:cNvSpPr/>
          <p:nvPr/>
        </p:nvSpPr>
        <p:spPr>
          <a:xfrm>
            <a:off x="521208" y="93268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1</a:t>
            </a:r>
            <a:endParaRPr lang="en-US" sz="2200" dirty="0"/>
          </a:p>
        </p:txBody>
      </p:sp>
      <p:sp>
        <p:nvSpPr>
          <p:cNvPr id="9" name="Text 7"/>
          <p:cNvSpPr/>
          <p:nvPr/>
        </p:nvSpPr>
        <p:spPr>
          <a:xfrm>
            <a:off x="1051560" y="93268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Model Development</a:t>
            </a:r>
            <a:endParaRPr lang="en-US" sz="1400" dirty="0"/>
          </a:p>
        </p:txBody>
      </p:sp>
      <p:sp>
        <p:nvSpPr>
          <p:cNvPr id="10" name="Text 8"/>
          <p:cNvSpPr/>
          <p:nvPr/>
        </p:nvSpPr>
        <p:spPr>
          <a:xfrm>
            <a:off x="1027176" y="1389888"/>
            <a:ext cx="3480816" cy="822960"/>
          </a:xfrm>
          <a:prstGeom prst="rect">
            <a:avLst/>
          </a:prstGeom>
          <a:noFill/>
          <a:ln/>
        </p:spPr>
        <p:txBody>
          <a:bodyPr wrap="square" lIns="0" tIns="0" rIns="0" bIns="0" rtlCol="0" anchor="ctr"/>
          <a:lstStyle/>
          <a:p>
            <a:r>
              <a:rPr lang="en-US" sz="1400">
                <a:solidFill>
                  <a:srgbClr val="7AADCC"/>
                </a:solidFill>
                <a:latin typeface="Calibri"/>
                <a:ea typeface="Calibri"/>
                <a:cs typeface="Calibri"/>
              </a:rPr>
              <a:t>Architectures  · Experiments · Augmentation · Regularization · Ensembles · Results</a:t>
            </a:r>
          </a:p>
        </p:txBody>
      </p:sp>
      <p:sp>
        <p:nvSpPr>
          <p:cNvPr id="11" name="Shape 9"/>
          <p:cNvSpPr/>
          <p:nvPr/>
        </p:nvSpPr>
        <p:spPr>
          <a:xfrm>
            <a:off x="4754880" y="82296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2" name="Shape 10"/>
          <p:cNvSpPr/>
          <p:nvPr/>
        </p:nvSpPr>
        <p:spPr>
          <a:xfrm>
            <a:off x="4754880" y="822960"/>
            <a:ext cx="82296" cy="1691640"/>
          </a:xfrm>
          <a:prstGeom prst="rect">
            <a:avLst/>
          </a:prstGeom>
          <a:solidFill>
            <a:srgbClr val="00A896"/>
          </a:solidFill>
          <a:ln w="12700">
            <a:solidFill>
              <a:srgbClr val="00A896"/>
            </a:solidFill>
            <a:prstDash val="solid"/>
          </a:ln>
        </p:spPr>
        <p:txBody>
          <a:bodyPr/>
          <a:lstStyle/>
          <a:p>
            <a:endParaRPr lang="pt-PT"/>
          </a:p>
        </p:txBody>
      </p:sp>
      <p:sp>
        <p:nvSpPr>
          <p:cNvPr id="13" name="Text 11"/>
          <p:cNvSpPr/>
          <p:nvPr/>
        </p:nvSpPr>
        <p:spPr>
          <a:xfrm>
            <a:off x="4910328" y="93268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2</a:t>
            </a:r>
            <a:endParaRPr lang="en-US" sz="2200" dirty="0"/>
          </a:p>
        </p:txBody>
      </p:sp>
      <p:sp>
        <p:nvSpPr>
          <p:cNvPr id="16" name="Text 14"/>
          <p:cNvSpPr/>
          <p:nvPr/>
        </p:nvSpPr>
        <p:spPr>
          <a:xfrm>
            <a:off x="5440680" y="932688"/>
            <a:ext cx="3200400" cy="411480"/>
          </a:xfrm>
          <a:prstGeom prst="rect">
            <a:avLst/>
          </a:prstGeom>
          <a:noFill/>
          <a:ln/>
        </p:spPr>
        <p:txBody>
          <a:bodyPr wrap="square" lIns="0" tIns="0" rIns="0" bIns="0" rtlCol="0" anchor="ctr"/>
          <a:lstStyle/>
          <a:p>
            <a:r>
              <a:rPr lang="en-US" sz="1400" b="1">
                <a:solidFill>
                  <a:srgbClr val="FFFFFF"/>
                </a:solidFill>
                <a:latin typeface="Trebuchet MS"/>
              </a:rPr>
              <a:t>Training Efficiency</a:t>
            </a:r>
            <a:endParaRPr lang="en-US"/>
          </a:p>
        </p:txBody>
      </p:sp>
      <p:sp>
        <p:nvSpPr>
          <p:cNvPr id="17" name="Text 15"/>
          <p:cNvSpPr/>
          <p:nvPr/>
        </p:nvSpPr>
        <p:spPr>
          <a:xfrm>
            <a:off x="5416296" y="1389888"/>
            <a:ext cx="3480816" cy="822960"/>
          </a:xfrm>
          <a:prstGeom prst="rect">
            <a:avLst/>
          </a:prstGeom>
          <a:noFill/>
          <a:ln/>
        </p:spPr>
        <p:txBody>
          <a:bodyPr wrap="square" lIns="0" tIns="0" rIns="0" bIns="0" rtlCol="0" anchor="ctr"/>
          <a:lstStyle/>
          <a:p>
            <a:r>
              <a:rPr lang="en-US" sz="1400">
                <a:solidFill>
                  <a:srgbClr val="7AADCC"/>
                </a:solidFill>
                <a:latin typeface="Calibri"/>
                <a:ea typeface="Calibri"/>
                <a:cs typeface="Calibri"/>
              </a:rPr>
              <a:t>Early Stopping · GPU budget · Checkpointing</a:t>
            </a:r>
          </a:p>
          <a:p>
            <a:pPr marL="0" indent="0">
              <a:buNone/>
            </a:pPr>
            <a:endParaRPr lang="en-US" sz="1400" dirty="0">
              <a:solidFill>
                <a:srgbClr val="7AADCC"/>
              </a:solidFill>
              <a:latin typeface="Calibri"/>
              <a:ea typeface="Calibri"/>
              <a:cs typeface="Calibri"/>
            </a:endParaRPr>
          </a:p>
        </p:txBody>
      </p:sp>
      <p:sp>
        <p:nvSpPr>
          <p:cNvPr id="18" name="Shape 16"/>
          <p:cNvSpPr/>
          <p:nvPr/>
        </p:nvSpPr>
        <p:spPr>
          <a:xfrm>
            <a:off x="365760" y="278892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365760" y="2788920"/>
            <a:ext cx="82296" cy="1691640"/>
          </a:xfrm>
          <a:prstGeom prst="rect">
            <a:avLst/>
          </a:prstGeom>
          <a:solidFill>
            <a:srgbClr val="00A896"/>
          </a:solidFill>
          <a:ln w="12700">
            <a:solidFill>
              <a:srgbClr val="00A896"/>
            </a:solidFill>
            <a:prstDash val="solid"/>
          </a:ln>
        </p:spPr>
        <p:txBody>
          <a:bodyPr/>
          <a:lstStyle/>
          <a:p>
            <a:endParaRPr lang="pt-PT"/>
          </a:p>
        </p:txBody>
      </p:sp>
      <p:sp>
        <p:nvSpPr>
          <p:cNvPr id="20" name="Text 18"/>
          <p:cNvSpPr/>
          <p:nvPr/>
        </p:nvSpPr>
        <p:spPr>
          <a:xfrm>
            <a:off x="521208" y="289864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3</a:t>
            </a:r>
            <a:endParaRPr lang="en-US" sz="2200" dirty="0"/>
          </a:p>
        </p:txBody>
      </p:sp>
      <p:sp>
        <p:nvSpPr>
          <p:cNvPr id="23" name="Text 21"/>
          <p:cNvSpPr/>
          <p:nvPr/>
        </p:nvSpPr>
        <p:spPr>
          <a:xfrm>
            <a:off x="1051560" y="2898648"/>
            <a:ext cx="3200400" cy="411480"/>
          </a:xfrm>
          <a:prstGeom prst="rect">
            <a:avLst/>
          </a:prstGeom>
          <a:noFill/>
          <a:ln/>
        </p:spPr>
        <p:txBody>
          <a:bodyPr wrap="square" lIns="0" tIns="0" rIns="0" bIns="0" rtlCol="0" anchor="ctr"/>
          <a:lstStyle/>
          <a:p>
            <a:r>
              <a:rPr lang="en-US" sz="1400" b="1">
                <a:solidFill>
                  <a:srgbClr val="FFFFFF"/>
                </a:solidFill>
                <a:latin typeface="Trebuchet MS"/>
              </a:rPr>
              <a:t>Performance Evaluation</a:t>
            </a:r>
            <a:endParaRPr lang="en-US" sz="1400" b="1">
              <a:latin typeface="Trebuchet MS"/>
            </a:endParaRPr>
          </a:p>
        </p:txBody>
      </p:sp>
      <p:sp>
        <p:nvSpPr>
          <p:cNvPr id="24" name="Text 22"/>
          <p:cNvSpPr/>
          <p:nvPr/>
        </p:nvSpPr>
        <p:spPr>
          <a:xfrm>
            <a:off x="1027176" y="3355848"/>
            <a:ext cx="3480816" cy="822960"/>
          </a:xfrm>
          <a:prstGeom prst="rect">
            <a:avLst/>
          </a:prstGeom>
          <a:noFill/>
          <a:ln/>
        </p:spPr>
        <p:txBody>
          <a:bodyPr wrap="square" lIns="0" tIns="0" rIns="0" bIns="0" rtlCol="0" anchor="ctr"/>
          <a:lstStyle/>
          <a:p>
            <a:r>
              <a:rPr lang="en-US" sz="1400">
                <a:solidFill>
                  <a:srgbClr val="7AADCC"/>
                </a:solidFill>
                <a:latin typeface="Calibri"/>
                <a:ea typeface="Calibri"/>
                <a:cs typeface="Calibri"/>
              </a:rPr>
              <a:t>Macro-F1 · Per-class · Confusion Matrix</a:t>
            </a:r>
          </a:p>
          <a:p>
            <a:pPr marL="0" indent="0">
              <a:buNone/>
            </a:pPr>
            <a:endParaRPr lang="en-US" sz="1400" dirty="0">
              <a:solidFill>
                <a:srgbClr val="7AADCC"/>
              </a:solidFill>
              <a:latin typeface="Calibri"/>
              <a:ea typeface="Calibri"/>
              <a:cs typeface="Calibri"/>
            </a:endParaRPr>
          </a:p>
        </p:txBody>
      </p:sp>
      <p:sp>
        <p:nvSpPr>
          <p:cNvPr id="25" name="Shape 23"/>
          <p:cNvSpPr/>
          <p:nvPr/>
        </p:nvSpPr>
        <p:spPr>
          <a:xfrm>
            <a:off x="4754880" y="278892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26" name="Shape 24"/>
          <p:cNvSpPr/>
          <p:nvPr/>
        </p:nvSpPr>
        <p:spPr>
          <a:xfrm>
            <a:off x="4754880" y="2788920"/>
            <a:ext cx="82296" cy="1691640"/>
          </a:xfrm>
          <a:prstGeom prst="rect">
            <a:avLst/>
          </a:prstGeom>
          <a:solidFill>
            <a:srgbClr val="00A896"/>
          </a:solidFill>
          <a:ln w="12700">
            <a:solidFill>
              <a:srgbClr val="00A896"/>
            </a:solidFill>
            <a:prstDash val="solid"/>
          </a:ln>
        </p:spPr>
        <p:txBody>
          <a:bodyPr/>
          <a:lstStyle/>
          <a:p>
            <a:endParaRPr lang="pt-PT"/>
          </a:p>
        </p:txBody>
      </p:sp>
      <p:sp>
        <p:nvSpPr>
          <p:cNvPr id="27" name="Text 25"/>
          <p:cNvSpPr/>
          <p:nvPr/>
        </p:nvSpPr>
        <p:spPr>
          <a:xfrm>
            <a:off x="4910328" y="289864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4</a:t>
            </a:r>
            <a:endParaRPr lang="en-US" sz="2200" dirty="0"/>
          </a:p>
        </p:txBody>
      </p:sp>
      <p:sp>
        <p:nvSpPr>
          <p:cNvPr id="30" name="Text 28"/>
          <p:cNvSpPr/>
          <p:nvPr/>
        </p:nvSpPr>
        <p:spPr>
          <a:xfrm>
            <a:off x="5440680" y="289864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Performance Evaluation</a:t>
            </a:r>
            <a:endParaRPr lang="en-US" sz="1400" dirty="0"/>
          </a:p>
        </p:txBody>
      </p:sp>
      <p:sp>
        <p:nvSpPr>
          <p:cNvPr id="31" name="Text 29"/>
          <p:cNvSpPr/>
          <p:nvPr/>
        </p:nvSpPr>
        <p:spPr>
          <a:xfrm>
            <a:off x="5416295" y="3355848"/>
            <a:ext cx="3674195"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Macro-F1  ·  Per-class  ·  Confusion Matrix</a:t>
            </a:r>
            <a:endParaRPr lang="en-US" sz="1400" dirty="0"/>
          </a:p>
        </p:txBody>
      </p:sp>
      <p:pic>
        <p:nvPicPr>
          <p:cNvPr id="7" name="Picture 8" descr="NOSSA™ | NOVA School of Science &amp; Technology">
            <a:extLst>
              <a:ext uri="{FF2B5EF4-FFF2-40B4-BE49-F238E27FC236}">
                <a16:creationId xmlns:a16="http://schemas.microsoft.com/office/drawing/2014/main" id="{468AEAC2-1FE2-5767-8EC3-4A82ADED1E0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8002953" y="23445"/>
            <a:ext cx="1023658" cy="4221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F93C-6E0A-CA71-E33C-F276EAFECB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9B429E-9543-9656-705B-B803BA1310D0}"/>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63CAD504-519F-DC95-8B70-70BC476FCD2A}"/>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76079A80-E769-2EC2-F0D0-19126503B9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4434559A-786D-D1DD-16DF-DF333FBAF59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28CD9547-9756-F2C6-1D40-B1706E1C56A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126CB09D-0BFD-09CC-0B52-045D8A1DF192}"/>
              </a:ext>
            </a:extLst>
          </p:cNvPr>
          <p:cNvSpPr/>
          <p:nvPr/>
        </p:nvSpPr>
        <p:spPr>
          <a:xfrm>
            <a:off x="1274249"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Model Development</a:t>
            </a:r>
          </a:p>
        </p:txBody>
      </p:sp>
      <p:sp>
        <p:nvSpPr>
          <p:cNvPr id="14" name="Rectangle: Rounded Corners 13">
            <a:extLst>
              <a:ext uri="{FF2B5EF4-FFF2-40B4-BE49-F238E27FC236}">
                <a16:creationId xmlns:a16="http://schemas.microsoft.com/office/drawing/2014/main" id="{F1208A27-ACDC-2F0D-389D-D639A2AE77BA}"/>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1</a:t>
            </a:r>
            <a:endParaRPr lang="pt-PT" b="1" dirty="0"/>
          </a:p>
        </p:txBody>
      </p:sp>
      <p:cxnSp>
        <p:nvCxnSpPr>
          <p:cNvPr id="16" name="Straight Connector 15">
            <a:extLst>
              <a:ext uri="{FF2B5EF4-FFF2-40B4-BE49-F238E27FC236}">
                <a16:creationId xmlns:a16="http://schemas.microsoft.com/office/drawing/2014/main" id="{87E16401-53BD-06FB-8BD7-0FAEF5EF5329}"/>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4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78998"/>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sp>
        <p:nvSpPr>
          <p:cNvPr id="8" name="Text 1">
            <a:extLst>
              <a:ext uri="{FF2B5EF4-FFF2-40B4-BE49-F238E27FC236}">
                <a16:creationId xmlns:a16="http://schemas.microsoft.com/office/drawing/2014/main" id="{75BA037F-3069-8227-DF31-F9CC626E7659}"/>
              </a:ext>
            </a:extLst>
          </p:cNvPr>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Exploration strategy</a:t>
            </a:r>
            <a:endParaRPr lang="en-US" sz="2200" dirty="0"/>
          </a:p>
        </p:txBody>
      </p:sp>
      <p:graphicFrame>
        <p:nvGraphicFramePr>
          <p:cNvPr id="9" name="Table 8">
            <a:extLst>
              <a:ext uri="{FF2B5EF4-FFF2-40B4-BE49-F238E27FC236}">
                <a16:creationId xmlns:a16="http://schemas.microsoft.com/office/drawing/2014/main" id="{5FB4740F-FEEC-A8FC-50D0-5E5FB64FBA6D}"/>
              </a:ext>
            </a:extLst>
          </p:cNvPr>
          <p:cNvGraphicFramePr>
            <a:graphicFrameLocks noGrp="1"/>
          </p:cNvGraphicFramePr>
          <p:nvPr>
            <p:extLst>
              <p:ext uri="{D42A27DB-BD31-4B8C-83A1-F6EECF244321}">
                <p14:modId xmlns:p14="http://schemas.microsoft.com/office/powerpoint/2010/main" val="3288011220"/>
              </p:ext>
            </p:extLst>
          </p:nvPr>
        </p:nvGraphicFramePr>
        <p:xfrm>
          <a:off x="174433" y="1255677"/>
          <a:ext cx="8653017" cy="3887823"/>
        </p:xfrm>
        <a:graphic>
          <a:graphicData uri="http://schemas.openxmlformats.org/drawingml/2006/table">
            <a:tbl>
              <a:tblPr>
                <a:tableStyleId>{B301B821-A1FF-4177-AEE7-76D212191A09}</a:tableStyleId>
              </a:tblPr>
              <a:tblGrid>
                <a:gridCol w="151505">
                  <a:extLst>
                    <a:ext uri="{9D8B030D-6E8A-4147-A177-3AD203B41FA5}">
                      <a16:colId xmlns:a16="http://schemas.microsoft.com/office/drawing/2014/main" val="3452336729"/>
                    </a:ext>
                  </a:extLst>
                </a:gridCol>
                <a:gridCol w="808024">
                  <a:extLst>
                    <a:ext uri="{9D8B030D-6E8A-4147-A177-3AD203B41FA5}">
                      <a16:colId xmlns:a16="http://schemas.microsoft.com/office/drawing/2014/main" val="3394786443"/>
                    </a:ext>
                  </a:extLst>
                </a:gridCol>
                <a:gridCol w="2570359">
                  <a:extLst>
                    <a:ext uri="{9D8B030D-6E8A-4147-A177-3AD203B41FA5}">
                      <a16:colId xmlns:a16="http://schemas.microsoft.com/office/drawing/2014/main" val="2858452526"/>
                    </a:ext>
                  </a:extLst>
                </a:gridCol>
                <a:gridCol w="964747">
                  <a:extLst>
                    <a:ext uri="{9D8B030D-6E8A-4147-A177-3AD203B41FA5}">
                      <a16:colId xmlns:a16="http://schemas.microsoft.com/office/drawing/2014/main" val="2404321311"/>
                    </a:ext>
                  </a:extLst>
                </a:gridCol>
                <a:gridCol w="1616049">
                  <a:extLst>
                    <a:ext uri="{9D8B030D-6E8A-4147-A177-3AD203B41FA5}">
                      <a16:colId xmlns:a16="http://schemas.microsoft.com/office/drawing/2014/main" val="4148939698"/>
                    </a:ext>
                  </a:extLst>
                </a:gridCol>
                <a:gridCol w="2542333">
                  <a:extLst>
                    <a:ext uri="{9D8B030D-6E8A-4147-A177-3AD203B41FA5}">
                      <a16:colId xmlns:a16="http://schemas.microsoft.com/office/drawing/2014/main" val="3476846084"/>
                    </a:ext>
                  </a:extLst>
                </a:gridCol>
              </a:tblGrid>
              <a:tr h="216000">
                <a:tc>
                  <a:txBody>
                    <a:bodyPr/>
                    <a:lstStyle/>
                    <a:p>
                      <a:pPr algn="l" fontAlgn="ctr">
                        <a:buNone/>
                      </a:pPr>
                      <a:r>
                        <a:rPr lang="pt-PT" sz="1050" b="1" u="none" strike="noStrike" dirty="0">
                          <a:effectLst/>
                          <a:latin typeface="Calibri" panose="020F0502020204030204" pitchFamily="34" charset="0"/>
                          <a:ea typeface="Calibri" panose="020F0502020204030204" pitchFamily="34" charset="0"/>
                          <a:cs typeface="Calibri" panose="020F0502020204030204" pitchFamily="34" charset="0"/>
                        </a:rPr>
                        <a:t>ID</a:t>
                      </a:r>
                      <a:endParaRPr lang="pt-PT" sz="10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err="1">
                          <a:effectLst/>
                          <a:latin typeface="Calibri"/>
                          <a:ea typeface="Calibri"/>
                          <a:cs typeface="Calibri"/>
                        </a:rPr>
                        <a:t>Name</a:t>
                      </a:r>
                      <a:endParaRPr lang="pt-PT" sz="1100" b="1" i="0" u="none" strike="noStrike">
                        <a:solidFill>
                          <a:srgbClr val="000000"/>
                        </a:solidFill>
                        <a:effectLst/>
                        <a:latin typeface="Calibri"/>
                        <a:ea typeface="Calibri"/>
                        <a:cs typeface="Calibri"/>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err="1">
                          <a:effectLst/>
                          <a:latin typeface="Calibri"/>
                          <a:ea typeface="Calibri"/>
                          <a:cs typeface="Calibri"/>
                        </a:rPr>
                        <a:t>Model</a:t>
                      </a:r>
                      <a:endParaRPr lang="pt-PT" sz="1100" b="1" i="0" u="none" strike="noStrike">
                        <a:solidFill>
                          <a:srgbClr val="000000"/>
                        </a:solidFill>
                        <a:effectLst/>
                        <a:latin typeface="Calibri"/>
                        <a:ea typeface="Calibri"/>
                        <a:cs typeface="Calibri"/>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err="1">
                          <a:effectLst/>
                          <a:latin typeface="Calibri"/>
                          <a:ea typeface="Calibri"/>
                          <a:cs typeface="Calibri"/>
                        </a:rPr>
                        <a:t>Criterion</a:t>
                      </a:r>
                      <a:r>
                        <a:rPr lang="pt-PT" sz="1100" b="1" u="none" strike="noStrike" dirty="0">
                          <a:effectLst/>
                          <a:latin typeface="Calibri"/>
                          <a:ea typeface="Calibri"/>
                          <a:cs typeface="Calibri"/>
                        </a:rPr>
                        <a:t> (~</a:t>
                      </a:r>
                      <a:r>
                        <a:rPr lang="pt-PT" sz="1100" b="1" u="none" strike="noStrike" err="1">
                          <a:effectLst/>
                          <a:latin typeface="Calibri"/>
                          <a:ea typeface="Calibri"/>
                          <a:cs typeface="Calibri"/>
                        </a:rPr>
                        <a:t>loss</a:t>
                      </a:r>
                      <a:r>
                        <a:rPr lang="pt-PT" sz="1100" b="1" u="none" strike="noStrike" dirty="0">
                          <a:effectLst/>
                          <a:latin typeface="Calibri"/>
                          <a:ea typeface="Calibri"/>
                          <a:cs typeface="Calibri"/>
                        </a:rPr>
                        <a:t> </a:t>
                      </a:r>
                      <a:r>
                        <a:rPr lang="pt-PT" sz="1100" b="1" u="none" strike="noStrike" err="1">
                          <a:effectLst/>
                          <a:latin typeface="Calibri"/>
                          <a:ea typeface="Calibri"/>
                          <a:cs typeface="Calibri"/>
                        </a:rPr>
                        <a:t>function</a:t>
                      </a:r>
                      <a:r>
                        <a:rPr lang="pt-PT" sz="1100" b="1" u="none" strike="noStrike" dirty="0">
                          <a:effectLst/>
                          <a:latin typeface="Calibri"/>
                          <a:ea typeface="Calibri"/>
                          <a:cs typeface="Calibri"/>
                        </a:rPr>
                        <a:t>)</a:t>
                      </a:r>
                      <a:endParaRPr lang="pt-PT" sz="1100" b="1" i="0" u="none" strike="noStrike" dirty="0">
                        <a:solidFill>
                          <a:srgbClr val="000000"/>
                        </a:solidFill>
                        <a:effectLst/>
                        <a:latin typeface="Calibri"/>
                        <a:ea typeface="Calibri"/>
                        <a:cs typeface="Calibri"/>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err="1">
                          <a:effectLst/>
                          <a:latin typeface="Calibri"/>
                          <a:ea typeface="Calibri"/>
                          <a:cs typeface="Calibri"/>
                        </a:rPr>
                        <a:t>Optimizer</a:t>
                      </a:r>
                      <a:endParaRPr lang="pt-PT" sz="1100" b="1" i="0" u="none" strike="noStrike">
                        <a:solidFill>
                          <a:srgbClr val="000000"/>
                        </a:solidFill>
                        <a:effectLst/>
                        <a:latin typeface="Calibri"/>
                        <a:ea typeface="Calibri"/>
                        <a:cs typeface="Calibri"/>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err="1">
                          <a:effectLst/>
                          <a:latin typeface="Calibri"/>
                          <a:ea typeface="Calibri"/>
                          <a:cs typeface="Calibri"/>
                        </a:rPr>
                        <a:t>Purpose</a:t>
                      </a:r>
                      <a:endParaRPr lang="pt-PT" sz="1100" b="1" i="0" u="none" strike="noStrike">
                        <a:solidFill>
                          <a:srgbClr val="000000"/>
                        </a:solidFill>
                        <a:effectLst/>
                        <a:latin typeface="Calibri"/>
                        <a:ea typeface="Calibri"/>
                        <a:cs typeface="Calibri"/>
                      </a:endParaRPr>
                    </a:p>
                  </a:txBody>
                  <a:tcPr marL="3567" marR="3567" marT="3567" marB="0" anchor="ctr">
                    <a:lnL>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75402942"/>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LeNet5_base</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LeNet5(conv=[6,16], fc=[120,84], pool=AvgPool2x2)</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CrossEntropy</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a:ea typeface="Calibri"/>
                          <a:cs typeface="Calibri"/>
                        </a:rPr>
                        <a:t>Adam </a:t>
                      </a:r>
                      <a:r>
                        <a:rPr lang="pt-PT" sz="1050" b="0" u="none" strike="noStrike" err="1">
                          <a:effectLst/>
                          <a:latin typeface="Calibri"/>
                          <a:ea typeface="Calibri"/>
                          <a:cs typeface="Calibri"/>
                        </a:rPr>
                        <a:t>lr</a:t>
                      </a:r>
                      <a:r>
                        <a:rPr lang="pt-PT" sz="1050" b="0" u="none" strike="noStrike" dirty="0">
                          <a:effectLst/>
                          <a:latin typeface="Calibri"/>
                          <a:ea typeface="Calibri"/>
                          <a:cs typeface="Calibri"/>
                        </a:rPr>
                        <a:t>=1e-3</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err="1">
                          <a:effectLst/>
                          <a:latin typeface="Calibri"/>
                          <a:ea typeface="Calibri"/>
                          <a:cs typeface="Calibri"/>
                        </a:rPr>
                        <a:t>Baseline</a:t>
                      </a:r>
                      <a:r>
                        <a:rPr lang="pt-PT" sz="1050" b="0" u="none" strike="noStrike" dirty="0">
                          <a:effectLst/>
                          <a:latin typeface="Calibri"/>
                          <a:ea typeface="Calibri"/>
                          <a:cs typeface="Calibri"/>
                        </a:rPr>
                        <a:t> - no </a:t>
                      </a:r>
                      <a:r>
                        <a:rPr lang="pt-PT" sz="1050" b="0" u="none" strike="noStrike">
                          <a:effectLst/>
                          <a:latin typeface="Calibri"/>
                          <a:ea typeface="Calibri"/>
                          <a:cs typeface="Calibri"/>
                        </a:rPr>
                        <a:t>regularization</a:t>
                      </a:r>
                      <a:r>
                        <a:rPr lang="pt-PT" sz="1050" b="0" u="none" strike="noStrike" dirty="0">
                          <a:effectLst/>
                          <a:latin typeface="Calibri"/>
                          <a:ea typeface="Calibri"/>
                          <a:cs typeface="Calibri"/>
                        </a:rPr>
                        <a:t>; compare performance </a:t>
                      </a:r>
                      <a:r>
                        <a:rPr lang="pt-PT" sz="1050" b="0" u="none" strike="noStrike" err="1">
                          <a:effectLst/>
                          <a:latin typeface="Calibri"/>
                          <a:ea typeface="Calibri"/>
                          <a:cs typeface="Calibri"/>
                        </a:rPr>
                        <a:t>with</a:t>
                      </a:r>
                      <a:r>
                        <a:rPr lang="pt-PT" sz="1050" b="0" u="none" strike="noStrike" dirty="0">
                          <a:effectLst/>
                          <a:latin typeface="Calibri"/>
                          <a:ea typeface="Calibri"/>
                          <a:cs typeface="Calibri"/>
                        </a:rPr>
                        <a:t> </a:t>
                      </a:r>
                      <a:r>
                        <a:rPr lang="pt-PT" sz="1050" b="0" u="none" strike="noStrike" err="1">
                          <a:effectLst/>
                          <a:latin typeface="Calibri"/>
                          <a:ea typeface="Calibri"/>
                          <a:cs typeface="Calibri"/>
                        </a:rPr>
                        <a:t>existing</a:t>
                      </a:r>
                      <a:r>
                        <a:rPr lang="pt-PT" sz="1050" b="0" u="none" strike="noStrike" dirty="0">
                          <a:effectLst/>
                          <a:latin typeface="Calibri"/>
                          <a:ea typeface="Calibri"/>
                          <a:cs typeface="Calibri"/>
                        </a:rPr>
                        <a:t> </a:t>
                      </a:r>
                      <a:r>
                        <a:rPr lang="pt-PT" sz="1050" b="0" u="none" strike="noStrike" err="1">
                          <a:effectLst/>
                          <a:latin typeface="Calibri"/>
                          <a:ea typeface="Calibri"/>
                          <a:cs typeface="Calibri"/>
                        </a:rPr>
                        <a:t>architecture</a:t>
                      </a:r>
                      <a:endParaRPr lang="pt-PT" sz="1050" b="0" i="0" u="none" strike="noStrike">
                        <a:solidFill>
                          <a:srgbClr val="000000"/>
                        </a:solidFill>
                        <a:effectLst/>
                        <a:latin typeface="Calibri"/>
                        <a:ea typeface="Calibri"/>
                        <a:cs typeface="Calibri"/>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010846"/>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C</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i="0" u="none" strike="noStrike" err="1">
                          <a:solidFill>
                            <a:srgbClr val="000000"/>
                          </a:solidFill>
                          <a:effectLst/>
                          <a:latin typeface="Calibri"/>
                          <a:ea typeface="Calibri"/>
                          <a:cs typeface="Calibri"/>
                        </a:rPr>
                        <a:t>Simple_cw</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CNN(</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=[32,64],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pool=MaxPool2x2+AvgPool2x2)</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a:ea typeface="Calibri"/>
                          <a:cs typeface="Calibri"/>
                        </a:rPr>
                        <a:t>CE + </a:t>
                      </a:r>
                      <a:r>
                        <a:rPr lang="pt-PT" sz="1050" b="0" u="none" strike="noStrike" err="1">
                          <a:effectLst/>
                          <a:latin typeface="Calibri"/>
                          <a:ea typeface="Calibri"/>
                          <a:cs typeface="Calibri"/>
                        </a:rPr>
                        <a:t>class</a:t>
                      </a:r>
                      <a:r>
                        <a:rPr lang="pt-PT" sz="1050" b="0" u="none" strike="noStrike" dirty="0">
                          <a:effectLst/>
                          <a:latin typeface="Calibri"/>
                          <a:ea typeface="Calibri"/>
                          <a:cs typeface="Calibri"/>
                        </a:rPr>
                        <a:t> </a:t>
                      </a:r>
                      <a:r>
                        <a:rPr lang="pt-PT" sz="1050" b="0" u="none" strike="noStrike" err="1">
                          <a:effectLst/>
                          <a:latin typeface="Calibri"/>
                          <a:ea typeface="Calibri"/>
                          <a:cs typeface="Calibri"/>
                        </a:rPr>
                        <a:t>weights</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a:ea typeface="Calibri"/>
                          <a:cs typeface="Calibri"/>
                        </a:rPr>
                        <a:t>Adam </a:t>
                      </a:r>
                      <a:r>
                        <a:rPr lang="pt-PT" sz="1050" b="0" u="none" strike="noStrike" err="1">
                          <a:effectLst/>
                          <a:latin typeface="Calibri"/>
                          <a:ea typeface="Calibri"/>
                          <a:cs typeface="Calibri"/>
                        </a:rPr>
                        <a:t>lr</a:t>
                      </a:r>
                      <a:r>
                        <a:rPr lang="pt-PT" sz="1050" b="0" u="none" strike="noStrike" dirty="0">
                          <a:effectLst/>
                          <a:latin typeface="Calibri"/>
                          <a:ea typeface="Calibri"/>
                          <a:cs typeface="Calibri"/>
                        </a:rPr>
                        <a:t>=1e-3</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Evaluate the performance of a simple 20k params CNN</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313586488"/>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G</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err="1">
                          <a:effectLst/>
                          <a:latin typeface="Calibri"/>
                          <a:ea typeface="Calibri"/>
                          <a:cs typeface="Calibri"/>
                        </a:rPr>
                        <a:t>Medium_dcw</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MediumCNN</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(conv=[32,64,128], fc=[9],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class weights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Exploration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of</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the</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effects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of</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multiple</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convolution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and</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pooling</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layers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regularization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with</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inverse-frequency class weights in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CrossEntropyLoss</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and dropout</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4616625"/>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H</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err="1">
                          <a:solidFill>
                            <a:srgbClr val="000000"/>
                          </a:solidFill>
                          <a:effectLst/>
                          <a:latin typeface="Calibri"/>
                          <a:ea typeface="Calibri"/>
                          <a:cs typeface="Calibri"/>
                        </a:rPr>
                        <a:t>Medium_dwrs</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MediumCNN</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(conv=[32,64,128], fc=[9],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(replaces class weights)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a:ea typeface="Calibri"/>
                          <a:cs typeface="Calibri"/>
                        </a:rPr>
                        <a:t>Adam </a:t>
                      </a:r>
                      <a:r>
                        <a:rPr lang="pt-PT" sz="1050" b="0" u="none" strike="noStrike" err="1">
                          <a:effectLst/>
                          <a:latin typeface="Calibri"/>
                          <a:ea typeface="Calibri"/>
                          <a:cs typeface="Calibri"/>
                        </a:rPr>
                        <a:t>lr</a:t>
                      </a:r>
                      <a:r>
                        <a:rPr lang="pt-PT" sz="1050" b="0" u="none" strike="noStrike" dirty="0">
                          <a:effectLst/>
                          <a:latin typeface="Calibri"/>
                          <a:ea typeface="Calibri"/>
                          <a:cs typeface="Calibri"/>
                        </a:rPr>
                        <a:t>=1e-3</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err="1">
                          <a:effectLst/>
                          <a:latin typeface="Calibri"/>
                          <a:ea typeface="Calibri"/>
                          <a:cs typeface="Calibri"/>
                        </a:rPr>
                        <a:t>WeightedRandomSampler</a:t>
                      </a:r>
                      <a:r>
                        <a:rPr lang="pt-PT" sz="1050" b="0" u="none" strike="noStrike" dirty="0">
                          <a:effectLst/>
                          <a:latin typeface="Calibri"/>
                          <a:ea typeface="Calibri"/>
                          <a:cs typeface="Calibri"/>
                        </a:rPr>
                        <a:t> </a:t>
                      </a:r>
                      <a:r>
                        <a:rPr lang="pt-PT" sz="1050" b="0" u="none" strike="noStrike" err="1">
                          <a:effectLst/>
                          <a:latin typeface="Calibri"/>
                          <a:ea typeface="Calibri"/>
                          <a:cs typeface="Calibri"/>
                        </a:rPr>
                        <a:t>replaces</a:t>
                      </a:r>
                      <a:r>
                        <a:rPr lang="pt-PT" sz="1050" b="0" u="none" strike="noStrike" dirty="0">
                          <a:effectLst/>
                          <a:latin typeface="Calibri"/>
                          <a:ea typeface="Calibri"/>
                          <a:cs typeface="Calibri"/>
                        </a:rPr>
                        <a:t> </a:t>
                      </a:r>
                      <a:r>
                        <a:rPr lang="pt-PT" sz="1050" b="0" u="none" strike="noStrike" err="1">
                          <a:effectLst/>
                          <a:latin typeface="Calibri"/>
                          <a:ea typeface="Calibri"/>
                          <a:cs typeface="Calibri"/>
                        </a:rPr>
                        <a:t>class</a:t>
                      </a:r>
                      <a:r>
                        <a:rPr lang="pt-PT" sz="1050" b="0" u="none" strike="noStrike" dirty="0">
                          <a:effectLst/>
                          <a:latin typeface="Calibri"/>
                          <a:ea typeface="Calibri"/>
                          <a:cs typeface="Calibri"/>
                        </a:rPr>
                        <a:t> </a:t>
                      </a:r>
                      <a:r>
                        <a:rPr lang="pt-PT" sz="1050" b="0" u="none" strike="noStrike" err="1">
                          <a:effectLst/>
                          <a:latin typeface="Calibri"/>
                          <a:ea typeface="Calibri"/>
                          <a:cs typeface="Calibri"/>
                        </a:rPr>
                        <a:t>weights</a:t>
                      </a:r>
                      <a:endParaRPr lang="pt-PT" sz="1050" b="0" i="0" u="none" strike="noStrike">
                        <a:solidFill>
                          <a:srgbClr val="000000"/>
                        </a:solidFill>
                        <a:effectLst/>
                        <a:latin typeface="Calibri"/>
                        <a:ea typeface="Calibri"/>
                        <a:cs typeface="Calibri"/>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484673"/>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i="0" u="none" strike="noStrike" err="1">
                          <a:solidFill>
                            <a:srgbClr val="000000"/>
                          </a:solidFill>
                          <a:effectLst/>
                          <a:latin typeface="Calibri"/>
                          <a:ea typeface="Calibri"/>
                          <a:cs typeface="Calibri"/>
                        </a:rPr>
                        <a:t>Deep_dwrs</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DeepCNN</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=[32x2,64x2,128],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=[128,9],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a:ea typeface="Calibri"/>
                          <a:cs typeface="Calibri"/>
                        </a:rPr>
                        <a:t>Adam </a:t>
                      </a:r>
                      <a:r>
                        <a:rPr lang="pt-PT" sz="1050" b="0" u="none" strike="noStrike" err="1">
                          <a:effectLst/>
                          <a:latin typeface="Calibri"/>
                          <a:ea typeface="Calibri"/>
                          <a:cs typeface="Calibri"/>
                        </a:rPr>
                        <a:t>lr</a:t>
                      </a:r>
                      <a:r>
                        <a:rPr lang="pt-PT" sz="1050" b="0" u="none" strike="noStrike" dirty="0">
                          <a:effectLst/>
                          <a:latin typeface="Calibri"/>
                          <a:ea typeface="Calibri"/>
                          <a:cs typeface="Calibri"/>
                        </a:rPr>
                        <a:t>=1e-3</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Deepen network with more conv + pool + non-linearity layers</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030224068"/>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K</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err="1">
                          <a:effectLst/>
                          <a:latin typeface="Calibri"/>
                          <a:ea typeface="Calibri"/>
                          <a:cs typeface="Calibri"/>
                        </a:rPr>
                        <a:t>Wide_dwrs</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WideCNN</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=[32,64,128,256],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Compare Deep vs Wide CNN; regularization with </a:t>
                      </a:r>
                      <a:r>
                        <a:rPr lang="en-US"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WeightedRandomSampler</a:t>
                      </a: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and dropout</a:t>
                      </a: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8310860"/>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err="1">
                          <a:solidFill>
                            <a:srgbClr val="000000"/>
                          </a:solidFill>
                          <a:effectLst/>
                          <a:latin typeface="Calibri"/>
                          <a:ea typeface="Calibri"/>
                          <a:cs typeface="Calibri"/>
                        </a:rPr>
                        <a:t>MultiScale_dwrs</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err="1">
                          <a:effectLst/>
                          <a:latin typeface="Calibri"/>
                          <a:ea typeface="Calibri"/>
                          <a:cs typeface="Calibri"/>
                        </a:rPr>
                        <a:t>MultiScaleCNN</a:t>
                      </a:r>
                      <a:r>
                        <a:rPr lang="pt-PT" sz="1050" b="0" u="none" strike="noStrike" dirty="0">
                          <a:effectLst/>
                          <a:latin typeface="Calibri"/>
                          <a:ea typeface="Calibri"/>
                          <a:cs typeface="Calibri"/>
                        </a:rPr>
                        <a:t>(</a:t>
                      </a:r>
                      <a:r>
                        <a:rPr lang="pt-PT" sz="1050" b="0" u="none" strike="noStrike" err="1">
                          <a:effectLst/>
                          <a:latin typeface="Calibri"/>
                          <a:ea typeface="Calibri"/>
                          <a:cs typeface="Calibri"/>
                        </a:rPr>
                        <a:t>conv</a:t>
                      </a:r>
                      <a:r>
                        <a:rPr lang="pt-PT" sz="1050" b="0" u="none" strike="noStrike" dirty="0">
                          <a:effectLst/>
                          <a:latin typeface="Calibri"/>
                          <a:ea typeface="Calibri"/>
                          <a:cs typeface="Calibri"/>
                        </a:rPr>
                        <a:t>=[(3x3+5x5)-&gt;32, (3x3+5x5)-&gt;64, (3x3+5x5)-&gt;128], </a:t>
                      </a:r>
                      <a:r>
                        <a:rPr lang="pt-PT" sz="1050" b="0" u="none" strike="noStrike" err="1">
                          <a:effectLst/>
                          <a:latin typeface="Calibri"/>
                          <a:ea typeface="Calibri"/>
                          <a:cs typeface="Calibri"/>
                        </a:rPr>
                        <a:t>fc</a:t>
                      </a:r>
                      <a:r>
                        <a:rPr lang="pt-PT" sz="1050" b="0" u="none" strike="noStrike" dirty="0">
                          <a:effectLst/>
                          <a:latin typeface="Calibri"/>
                          <a:ea typeface="Calibri"/>
                          <a:cs typeface="Calibri"/>
                        </a:rPr>
                        <a:t>=[9], pool=MaxPool2x2+MaxPool2x2, </a:t>
                      </a:r>
                      <a:r>
                        <a:rPr lang="pt-PT" sz="1050" b="0" u="none" strike="noStrike" err="1">
                          <a:effectLst/>
                          <a:latin typeface="Calibri"/>
                          <a:ea typeface="Calibri"/>
                          <a:cs typeface="Calibri"/>
                        </a:rPr>
                        <a:t>drop</a:t>
                      </a:r>
                      <a:r>
                        <a:rPr lang="pt-PT" sz="1050" b="0" u="none" strike="noStrike" dirty="0">
                          <a:effectLst/>
                          <a:latin typeface="Calibri"/>
                          <a:ea typeface="Calibri"/>
                          <a:cs typeface="Calibri"/>
                        </a:rPr>
                        <a:t>=0.3, BN)</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a:ea typeface="Calibri"/>
                          <a:cs typeface="Calibri"/>
                        </a:rPr>
                        <a:t>Adam </a:t>
                      </a:r>
                      <a:r>
                        <a:rPr lang="pt-PT" sz="1050" b="0" u="none" strike="noStrike" err="1">
                          <a:effectLst/>
                          <a:latin typeface="Calibri"/>
                          <a:ea typeface="Calibri"/>
                          <a:cs typeface="Calibri"/>
                        </a:rPr>
                        <a:t>lr</a:t>
                      </a:r>
                      <a:r>
                        <a:rPr lang="pt-PT" sz="1050" b="0" u="none" strike="noStrike" dirty="0">
                          <a:effectLst/>
                          <a:latin typeface="Calibri"/>
                          <a:ea typeface="Calibri"/>
                          <a:cs typeface="Calibri"/>
                        </a:rPr>
                        <a:t>=1e-3</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dirty="0">
                          <a:solidFill>
                            <a:srgbClr val="000000"/>
                          </a:solidFill>
                          <a:effectLst/>
                          <a:latin typeface="Calibri"/>
                          <a:ea typeface="Calibri"/>
                          <a:cs typeface="Calibri"/>
                        </a:rPr>
                        <a:t>Capture </a:t>
                      </a:r>
                      <a:r>
                        <a:rPr lang="pt-PT" sz="1050" b="0" i="0" u="none" strike="noStrike" err="1">
                          <a:solidFill>
                            <a:srgbClr val="000000"/>
                          </a:solidFill>
                          <a:effectLst/>
                          <a:latin typeface="Calibri"/>
                          <a:ea typeface="Calibri"/>
                          <a:cs typeface="Calibri"/>
                        </a:rPr>
                        <a:t>multiple</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granularities</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simultaneously</a:t>
                      </a:r>
                      <a:endParaRPr lang="pt-PT" sz="1050" b="0" i="0" u="none" strike="noStrike">
                        <a:solidFill>
                          <a:srgbClr val="000000"/>
                        </a:solidFill>
                        <a:effectLst/>
                        <a:latin typeface="Calibri"/>
                        <a:ea typeface="Calibri"/>
                        <a:cs typeface="Calibri"/>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689108"/>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err="1">
                          <a:effectLst/>
                          <a:latin typeface="Calibri"/>
                          <a:ea typeface="Calibri"/>
                          <a:cs typeface="Calibri"/>
                        </a:rPr>
                        <a:t>Residual_dwrs</a:t>
                      </a:r>
                      <a:endParaRPr lang="pt-PT" sz="1050" b="0" i="0" u="none" strike="noStrike">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ResidualCNN</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=[64x2, 128x2, 256x2],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pool=MaxPool2x2+AvgPool2x2, drop=0.4, BN, skip)</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a:ea typeface="Calibri"/>
                          <a:cs typeface="Calibri"/>
                        </a:rPr>
                        <a:t>Adam </a:t>
                      </a:r>
                      <a:r>
                        <a:rPr lang="pt-PT" sz="1050" b="0" u="none" strike="noStrike" err="1">
                          <a:effectLst/>
                          <a:latin typeface="Calibri"/>
                          <a:ea typeface="Calibri"/>
                          <a:cs typeface="Calibri"/>
                        </a:rPr>
                        <a:t>lr</a:t>
                      </a:r>
                      <a:r>
                        <a:rPr lang="pt-PT" sz="1050" b="0" u="none" strike="noStrike" dirty="0">
                          <a:effectLst/>
                          <a:latin typeface="Calibri"/>
                          <a:ea typeface="Calibri"/>
                          <a:cs typeface="Calibri"/>
                        </a:rPr>
                        <a:t>=1e-3</a:t>
                      </a:r>
                      <a:endParaRPr lang="pt-PT" sz="1050" b="0" i="0" u="none" strike="noStrike" dirty="0">
                        <a:solidFill>
                          <a:srgbClr val="000000"/>
                        </a:solidFill>
                        <a:effectLst/>
                        <a:latin typeface="Calibri"/>
                        <a:ea typeface="Calibri"/>
                        <a:cs typeface="Calibri"/>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err="1">
                          <a:solidFill>
                            <a:srgbClr val="000000"/>
                          </a:solidFill>
                          <a:effectLst/>
                          <a:latin typeface="Calibri"/>
                          <a:ea typeface="Calibri"/>
                          <a:cs typeface="Calibri"/>
                        </a:rPr>
                        <a:t>Test</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the</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effects</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of</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skipping</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layers</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with</a:t>
                      </a:r>
                      <a:r>
                        <a:rPr lang="pt-PT" sz="1050" b="0" i="0" u="none" strike="noStrike" dirty="0">
                          <a:solidFill>
                            <a:srgbClr val="000000"/>
                          </a:solidFill>
                          <a:effectLst/>
                          <a:latin typeface="Calibri"/>
                          <a:ea typeface="Calibri"/>
                          <a:cs typeface="Calibri"/>
                        </a:rPr>
                        <a:t> a </a:t>
                      </a:r>
                      <a:r>
                        <a:rPr lang="pt-PT" sz="1050" b="0" i="0" u="none" strike="noStrike" err="1">
                          <a:solidFill>
                            <a:srgbClr val="000000"/>
                          </a:solidFill>
                          <a:effectLst/>
                          <a:latin typeface="Calibri"/>
                          <a:ea typeface="Calibri"/>
                          <a:cs typeface="Calibri"/>
                        </a:rPr>
                        <a:t>ResNet</a:t>
                      </a:r>
                      <a:r>
                        <a:rPr lang="pt-PT" sz="1050" b="0" i="0" u="none" strike="noStrike" dirty="0">
                          <a:solidFill>
                            <a:srgbClr val="000000"/>
                          </a:solidFill>
                          <a:effectLst/>
                          <a:latin typeface="Calibri"/>
                          <a:ea typeface="Calibri"/>
                          <a:cs typeface="Calibri"/>
                        </a:rPr>
                        <a:t> </a:t>
                      </a:r>
                      <a:r>
                        <a:rPr lang="pt-PT" sz="1050" b="0" i="0" u="none" strike="noStrike" err="1">
                          <a:solidFill>
                            <a:srgbClr val="000000"/>
                          </a:solidFill>
                          <a:effectLst/>
                          <a:latin typeface="Calibri"/>
                          <a:ea typeface="Calibri"/>
                          <a:cs typeface="Calibri"/>
                        </a:rPr>
                        <a:t>architecture</a:t>
                      </a:r>
                      <a:endParaRPr lang="pt-PT" sz="1050" b="0" i="0" u="none" strike="noStrike">
                        <a:solidFill>
                          <a:srgbClr val="000000"/>
                        </a:solidFill>
                        <a:effectLst/>
                        <a:latin typeface="Calibri"/>
                        <a:ea typeface="Calibri"/>
                        <a:cs typeface="Calibri"/>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5491112"/>
                  </a:ext>
                </a:extLst>
              </a:tr>
            </a:tbl>
          </a:graphicData>
        </a:graphic>
      </p:graphicFrame>
      <p:sp>
        <p:nvSpPr>
          <p:cNvPr id="12" name="StratBG">
            <a:extLst>
              <a:ext uri="{FF2B5EF4-FFF2-40B4-BE49-F238E27FC236}">
                <a16:creationId xmlns:a16="http://schemas.microsoft.com/office/drawing/2014/main" id="{1D0521EB-4118-23B0-A619-434ED712E39B}"/>
              </a:ext>
            </a:extLst>
          </p:cNvPr>
          <p:cNvSpPr/>
          <p:nvPr/>
        </p:nvSpPr>
        <p:spPr>
          <a:xfrm>
            <a:off x="174433" y="564024"/>
            <a:ext cx="8653017" cy="703080"/>
          </a:xfrm>
          <a:prstGeom prst="rect">
            <a:avLst/>
          </a:prstGeom>
          <a:solidFill>
            <a:srgbClr val="1C3A52"/>
          </a:solidFill>
          <a:ln w="0">
            <a:noFill/>
          </a:ln>
        </p:spPr>
        <p:txBody>
          <a:bodyPr/>
          <a:lstStyle/>
          <a:p>
            <a:endParaRPr lang="en-US"/>
          </a:p>
        </p:txBody>
      </p:sp>
      <p:sp>
        <p:nvSpPr>
          <p:cNvPr id="13" name="StratText">
            <a:extLst>
              <a:ext uri="{FF2B5EF4-FFF2-40B4-BE49-F238E27FC236}">
                <a16:creationId xmlns:a16="http://schemas.microsoft.com/office/drawing/2014/main" id="{03927F11-639E-B07C-7558-A10BD608AB21}"/>
              </a:ext>
            </a:extLst>
          </p:cNvPr>
          <p:cNvSpPr/>
          <p:nvPr/>
        </p:nvSpPr>
        <p:spPr>
          <a:xfrm>
            <a:off x="239303" y="549486"/>
            <a:ext cx="8523276" cy="70308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We explored different several different CNN architectures (number and size of Conv + Pool + FC layers, batch normalization, dropout, regularization, label smoothing, </a:t>
            </a:r>
            <a:r>
              <a:rPr lang="en-US" sz="1200" dirty="0" err="1">
                <a:solidFill>
                  <a:schemeClr val="bg1"/>
                </a:solidFill>
                <a:latin typeface="Calibri" pitchFamily="34" charset="0"/>
              </a:rPr>
              <a:t>WeightedRandomSampler</a:t>
            </a:r>
            <a:r>
              <a:rPr lang="en-US" sz="1200" dirty="0">
                <a:solidFill>
                  <a:schemeClr val="bg1"/>
                </a:solidFill>
                <a:latin typeface="Calibri" pitchFamily="34" charset="0"/>
              </a:rPr>
              <a:t>, and others). After getting a sense of the best ones, we explored different variations of them. This is a small sample of the numerous models we explored:</a:t>
            </a:r>
          </a:p>
        </p:txBody>
      </p:sp>
      <p:sp>
        <p:nvSpPr>
          <p:cNvPr id="5" name="TextBox 4">
            <a:extLst>
              <a:ext uri="{FF2B5EF4-FFF2-40B4-BE49-F238E27FC236}">
                <a16:creationId xmlns:a16="http://schemas.microsoft.com/office/drawing/2014/main" id="{75788B43-9B8C-C864-5483-9A7730A48D5D}"/>
              </a:ext>
            </a:extLst>
          </p:cNvPr>
          <p:cNvSpPr txBox="1"/>
          <p:nvPr/>
        </p:nvSpPr>
        <p:spPr>
          <a:xfrm>
            <a:off x="852406" y="3501648"/>
            <a:ext cx="32934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r>
              <a:rPr lang="en-US" sz="2200" b="1">
                <a:solidFill>
                  <a:srgbClr val="0D1B2A"/>
                </a:solidFill>
                <a:latin typeface="Trebuchet MS"/>
              </a:rPr>
              <a:t>CNN Best (SOLO) Model (I_CNN)</a:t>
            </a:r>
          </a:p>
        </p:txBody>
      </p:sp>
      <p:sp>
        <p:nvSpPr>
          <p:cNvPr id="6" name="Title">
            <a:extLst>
              <a:ext uri="{FF2B5EF4-FFF2-40B4-BE49-F238E27FC236}">
                <a16:creationId xmlns:a16="http://schemas.microsoft.com/office/drawing/2014/main" id="{A1FE6103-BAEE-145A-186D-8B430306D66D}"/>
              </a:ext>
            </a:extLst>
          </p:cNvPr>
          <p:cNvSpPr/>
          <p:nvPr/>
        </p:nvSpPr>
        <p:spPr>
          <a:xfrm>
            <a:off x="274320" y="720115"/>
            <a:ext cx="1549110" cy="38264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Architecture:</a:t>
            </a:r>
          </a:p>
        </p:txBody>
      </p:sp>
      <p:pic>
        <p:nvPicPr>
          <p:cNvPr id="8" name="Graphic 7">
            <a:extLst>
              <a:ext uri="{FF2B5EF4-FFF2-40B4-BE49-F238E27FC236}">
                <a16:creationId xmlns:a16="http://schemas.microsoft.com/office/drawing/2014/main" id="{3B6DEE50-D237-157E-C9AF-8E5BED9A16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55261" y="475021"/>
            <a:ext cx="3626191" cy="4669983"/>
          </a:xfrm>
          <a:prstGeom prst="rect">
            <a:avLst/>
          </a:prstGeom>
        </p:spPr>
      </p:pic>
      <p:sp>
        <p:nvSpPr>
          <p:cNvPr id="9" name="NumCircle">
            <a:extLst>
              <a:ext uri="{FF2B5EF4-FFF2-40B4-BE49-F238E27FC236}">
                <a16:creationId xmlns:a16="http://schemas.microsoft.com/office/drawing/2014/main" id="{60965A97-3CF0-C770-CB0B-D8988B404F6D}"/>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A41F-4614-5B57-9F0A-61C1B19D928E}"/>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9DA82D07-9DFC-17AF-BC82-7670C208C84D}"/>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F1D40FED-81BC-FB83-7C8D-D35BC772905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a:extLst>
              <a:ext uri="{FF2B5EF4-FFF2-40B4-BE49-F238E27FC236}">
                <a16:creationId xmlns:a16="http://schemas.microsoft.com/office/drawing/2014/main" id="{82E70981-1341-76D1-34AD-3ED054DB3F11}"/>
              </a:ext>
            </a:extLst>
          </p:cNvPr>
          <p:cNvSpPr/>
          <p:nvPr/>
        </p:nvSpPr>
        <p:spPr>
          <a:xfrm>
            <a:off x="457200" y="109728"/>
            <a:ext cx="6400800" cy="530352"/>
          </a:xfrm>
          <a:prstGeom prst="rect">
            <a:avLst/>
          </a:prstGeom>
          <a:noFill/>
          <a:ln/>
        </p:spPr>
        <p:txBody>
          <a:bodyPr wrap="square" lIns="0" tIns="0" rIns="0" bIns="0" rtlCol="0" anchor="ctr"/>
          <a:lstStyle/>
          <a:p>
            <a:r>
              <a:rPr lang="en-US" sz="2200" b="1">
                <a:solidFill>
                  <a:srgbClr val="0D1B2A"/>
                </a:solidFill>
                <a:latin typeface="Trebuchet MS"/>
              </a:rPr>
              <a:t>CNN Best (SOLO) Model (I_CNN)</a:t>
            </a:r>
          </a:p>
        </p:txBody>
      </p:sp>
      <p:sp>
        <p:nvSpPr>
          <p:cNvPr id="40" name="LeftCard">
            <a:extLst>
              <a:ext uri="{FF2B5EF4-FFF2-40B4-BE49-F238E27FC236}">
                <a16:creationId xmlns:a16="http://schemas.microsoft.com/office/drawing/2014/main" id="{A16806B3-3ECD-14A0-88AD-5B3A97096C13}"/>
              </a:ext>
            </a:extLst>
          </p:cNvPr>
          <p:cNvSpPr/>
          <p:nvPr/>
        </p:nvSpPr>
        <p:spPr>
          <a:xfrm>
            <a:off x="274799" y="1510001"/>
            <a:ext cx="4205520" cy="290808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1" name="LeftText">
            <a:extLst>
              <a:ext uri="{FF2B5EF4-FFF2-40B4-BE49-F238E27FC236}">
                <a16:creationId xmlns:a16="http://schemas.microsoft.com/office/drawing/2014/main" id="{9BDAF3A1-2951-AD7C-59CD-A826476E9619}"/>
              </a:ext>
            </a:extLst>
          </p:cNvPr>
          <p:cNvSpPr/>
          <p:nvPr/>
        </p:nvSpPr>
        <p:spPr>
          <a:xfrm>
            <a:off x="457679" y="1590281"/>
            <a:ext cx="3840480" cy="2816640"/>
          </a:xfrm>
          <a:prstGeom prst="rect">
            <a:avLst/>
          </a:prstGeom>
          <a:noFill/>
          <a:ln/>
        </p:spPr>
        <p:txBody>
          <a:bodyPr wrap="square" lIns="91440" tIns="45720" rIns="91440" bIns="45720" rtlCol="0" anchor="t"/>
          <a:lstStyle/>
          <a:p>
            <a:r>
              <a:rPr lang="en-US" sz="1300" b="1">
                <a:solidFill>
                  <a:srgbClr val="028090"/>
                </a:solidFill>
                <a:latin typeface="Trebuchet MS"/>
              </a:rPr>
              <a:t>Feature Extraction + </a:t>
            </a:r>
            <a:endParaRPr lang="en-US" sz="1300" b="1" dirty="0">
              <a:solidFill>
                <a:srgbClr val="028090"/>
              </a:solidFill>
              <a:latin typeface="Trebuchet MS" pitchFamily="34" charset="0"/>
            </a:endParaRPr>
          </a:p>
          <a:p>
            <a:pPr marL="228600" indent="-228600">
              <a:buChar char="•"/>
            </a:pPr>
            <a:r>
              <a:rPr lang="en-US" sz="1100" dirty="0">
                <a:solidFill>
                  <a:srgbClr val="1A2B3C"/>
                </a:solidFill>
                <a:latin typeface="Calibri"/>
                <a:ea typeface="Calibri"/>
                <a:cs typeface="Calibri"/>
              </a:rPr>
              <a:t>Progressive channel expansion forces the model to </a:t>
            </a:r>
            <a:r>
              <a:rPr lang="en-US" sz="1100">
                <a:solidFill>
                  <a:srgbClr val="1A2B3C"/>
                </a:solidFill>
                <a:latin typeface="Calibri"/>
                <a:ea typeface="Calibri"/>
                <a:cs typeface="Calibri"/>
              </a:rPr>
              <a:t>increasingly learn broader representations of the features</a:t>
            </a:r>
            <a:endParaRPr lang="en-US" sz="1100" err="1">
              <a:solidFill>
                <a:srgbClr val="1A2B3C"/>
              </a:solidFill>
              <a:latin typeface="Calibri"/>
              <a:ea typeface="Calibri"/>
              <a:cs typeface="Calibri"/>
            </a:endParaRPr>
          </a:p>
          <a:p>
            <a:pPr marL="228600" indent="-228600">
              <a:buChar char="•"/>
            </a:pPr>
            <a:r>
              <a:rPr lang="en-US" sz="1100">
                <a:solidFill>
                  <a:srgbClr val="1A2B3C"/>
                </a:solidFill>
                <a:latin typeface="Calibri"/>
                <a:ea typeface="Calibri"/>
                <a:cs typeface="Calibri"/>
              </a:rPr>
              <a:t>Coupled with a moderate number of convolution layers (3x3) allows us our model to learn both low, and higher-level features</a:t>
            </a:r>
            <a:endParaRPr lang="en-US" sz="1100" err="1">
              <a:solidFill>
                <a:srgbClr val="1A2B3C"/>
              </a:solidFill>
              <a:latin typeface="Calibri"/>
              <a:ea typeface="Calibri"/>
              <a:cs typeface="Calibri"/>
            </a:endParaRPr>
          </a:p>
          <a:p>
            <a:pPr marL="228600" indent="-228600">
              <a:buChar char="•"/>
            </a:pPr>
            <a:r>
              <a:rPr lang="en-US" sz="1100" dirty="0">
                <a:solidFill>
                  <a:srgbClr val="1A2B3C"/>
                </a:solidFill>
                <a:latin typeface="Calibri"/>
                <a:ea typeface="Calibri"/>
                <a:cs typeface="Calibri"/>
              </a:rPr>
              <a:t>Pooling to provide robustness (e.g. translation invariance and help with small rotations)</a:t>
            </a:r>
          </a:p>
          <a:p>
            <a:pPr marL="228600" indent="-228600">
              <a:buChar char="•"/>
            </a:pPr>
            <a:r>
              <a:rPr lang="en-US" sz="1100" dirty="0">
                <a:solidFill>
                  <a:srgbClr val="1A2B3C"/>
                </a:solidFill>
                <a:latin typeface="Calibri" pitchFamily="34" charset="0"/>
              </a:rPr>
              <a:t>Better than: </a:t>
            </a:r>
          </a:p>
          <a:p>
            <a:pPr marL="685800" lvl="1" indent="-228600">
              <a:buChar char="•"/>
            </a:pPr>
            <a:r>
              <a:rPr lang="en-US" sz="1100" dirty="0">
                <a:solidFill>
                  <a:srgbClr val="1A2B3C"/>
                </a:solidFill>
                <a:latin typeface="Calibri"/>
                <a:ea typeface="Calibri"/>
                <a:cs typeface="Calibri"/>
              </a:rPr>
              <a:t>Narrow (e.g. 32-32-32): lower abstraction</a:t>
            </a:r>
          </a:p>
          <a:p>
            <a:pPr marL="685800" lvl="1" indent="-228600">
              <a:buChar char="•"/>
            </a:pPr>
            <a:r>
              <a:rPr lang="en-US" sz="1100" dirty="0">
                <a:solidFill>
                  <a:srgbClr val="1A2B3C"/>
                </a:solidFill>
                <a:latin typeface="Calibri"/>
                <a:ea typeface="Calibri"/>
                <a:cs typeface="Calibri"/>
              </a:rPr>
              <a:t>No convolution: as it was evident by comparing the results with MLP, having convolution layers helps the model generalize better</a:t>
            </a:r>
          </a:p>
          <a:p>
            <a:pPr marL="685800" lvl="1" indent="-228600">
              <a:buChar char="•"/>
            </a:pPr>
            <a:r>
              <a:rPr lang="en-US" sz="1100">
                <a:solidFill>
                  <a:srgbClr val="1A2B3C"/>
                </a:solidFill>
                <a:latin typeface="Calibri"/>
                <a:ea typeface="Calibri"/>
                <a:cs typeface="Calibri"/>
              </a:rPr>
              <a:t>Too deep: risk of overfitting; increased training time</a:t>
            </a:r>
          </a:p>
          <a:p>
            <a:pPr marL="685800" lvl="1" indent="-228600">
              <a:buChar char="•"/>
            </a:pPr>
            <a:r>
              <a:rPr lang="en-US" sz="1100">
                <a:solidFill>
                  <a:srgbClr val="1A2B3C"/>
                </a:solidFill>
                <a:latin typeface="Calibri"/>
                <a:ea typeface="Calibri"/>
                <a:cs typeface="Calibri"/>
              </a:rPr>
              <a:t>No pooling</a:t>
            </a:r>
          </a:p>
          <a:p>
            <a:pPr lvl="1"/>
            <a:endParaRPr lang="en-US" sz="1100" dirty="0">
              <a:solidFill>
                <a:srgbClr val="1A2B3C"/>
              </a:solidFill>
              <a:latin typeface="Calibri" pitchFamily="34" charset="0"/>
            </a:endParaRPr>
          </a:p>
        </p:txBody>
      </p:sp>
      <p:sp>
        <p:nvSpPr>
          <p:cNvPr id="42" name="RightCard">
            <a:extLst>
              <a:ext uri="{FF2B5EF4-FFF2-40B4-BE49-F238E27FC236}">
                <a16:creationId xmlns:a16="http://schemas.microsoft.com/office/drawing/2014/main" id="{4171A54E-3F95-E26C-C33E-4FE7468D5857}"/>
              </a:ext>
            </a:extLst>
          </p:cNvPr>
          <p:cNvSpPr/>
          <p:nvPr/>
        </p:nvSpPr>
        <p:spPr>
          <a:xfrm>
            <a:off x="4664399" y="1510001"/>
            <a:ext cx="4205520" cy="290808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3" name="RightText">
            <a:extLst>
              <a:ext uri="{FF2B5EF4-FFF2-40B4-BE49-F238E27FC236}">
                <a16:creationId xmlns:a16="http://schemas.microsoft.com/office/drawing/2014/main" id="{D58336A2-B898-41F8-1D2D-703775955E9C}"/>
              </a:ext>
            </a:extLst>
          </p:cNvPr>
          <p:cNvSpPr/>
          <p:nvPr/>
        </p:nvSpPr>
        <p:spPr>
          <a:xfrm>
            <a:off x="4847279" y="1590281"/>
            <a:ext cx="3840480" cy="2816640"/>
          </a:xfrm>
          <a:prstGeom prst="rect">
            <a:avLst/>
          </a:prstGeom>
          <a:noFill/>
          <a:ln/>
        </p:spPr>
        <p:txBody>
          <a:bodyPr wrap="square" lIns="91440" tIns="45720" rIns="91440" bIns="45720" rtlCol="0" anchor="t"/>
          <a:lstStyle/>
          <a:p>
            <a:pPr>
              <a:buNone/>
            </a:pPr>
            <a:r>
              <a:rPr lang="en-US" sz="1300" b="1" dirty="0" err="1">
                <a:solidFill>
                  <a:srgbClr val="028090"/>
                </a:solidFill>
                <a:latin typeface="Trebuchet MS"/>
              </a:rPr>
              <a:t>BatchNorm</a:t>
            </a:r>
            <a:r>
              <a:rPr lang="en-US" sz="1300" b="1" dirty="0">
                <a:solidFill>
                  <a:srgbClr val="028090"/>
                </a:solidFill>
                <a:latin typeface="Trebuchet MS"/>
              </a:rPr>
              <a:t> + </a:t>
            </a:r>
            <a:r>
              <a:rPr lang="en-US" sz="1300" b="1" dirty="0" err="1">
                <a:solidFill>
                  <a:srgbClr val="028090"/>
                </a:solidFill>
                <a:latin typeface="Trebuchet MS"/>
              </a:rPr>
              <a:t>ReLU</a:t>
            </a:r>
            <a:endParaRPr lang="en-US" dirty="0" err="1"/>
          </a:p>
          <a:p>
            <a:pPr marL="228600" indent="-228600">
              <a:buChar char="•"/>
            </a:pPr>
            <a:r>
              <a:rPr lang="en-US" sz="1100" b="1">
                <a:solidFill>
                  <a:srgbClr val="1A2B3C"/>
                </a:solidFill>
                <a:latin typeface="Calibri"/>
                <a:ea typeface="Calibri"/>
                <a:cs typeface="Calibri"/>
              </a:rPr>
              <a:t>BatchNorm2d after every Conv layer</a:t>
            </a:r>
          </a:p>
          <a:p>
            <a:pPr lvl="1"/>
            <a:r>
              <a:rPr lang="en-US" sz="1100">
                <a:solidFill>
                  <a:srgbClr val="1A2B3C"/>
                </a:solidFill>
                <a:latin typeface="Calibri"/>
                <a:ea typeface="Calibri"/>
                <a:cs typeface="Calibri"/>
              </a:rPr>
              <a:t>Normalization step which speeds up training and increases stability</a:t>
            </a:r>
            <a:endParaRPr lang="en-US" sz="1100" dirty="0">
              <a:solidFill>
                <a:srgbClr val="1A2B3C"/>
              </a:solidFill>
              <a:latin typeface="Calibri" pitchFamily="34" charset="0"/>
              <a:ea typeface="Calibri"/>
              <a:cs typeface="Calibri"/>
            </a:endParaRPr>
          </a:p>
          <a:p>
            <a:pPr marL="228600" indent="-228600">
              <a:buChar char="•"/>
            </a:pPr>
            <a:r>
              <a:rPr lang="en-US" sz="1100" b="1" dirty="0" err="1">
                <a:solidFill>
                  <a:srgbClr val="1A2B3C"/>
                </a:solidFill>
                <a:latin typeface="Calibri" pitchFamily="34" charset="0"/>
              </a:rPr>
              <a:t>ReLU</a:t>
            </a:r>
            <a:r>
              <a:rPr lang="en-US" sz="1100" b="1" dirty="0">
                <a:solidFill>
                  <a:srgbClr val="1A2B3C"/>
                </a:solidFill>
                <a:latin typeface="Calibri" pitchFamily="34" charset="0"/>
              </a:rPr>
              <a:t> </a:t>
            </a:r>
          </a:p>
          <a:p>
            <a:pPr lvl="1"/>
            <a:r>
              <a:rPr lang="en-US" sz="1100" dirty="0">
                <a:solidFill>
                  <a:srgbClr val="1A2B3C"/>
                </a:solidFill>
                <a:latin typeface="Calibri"/>
                <a:ea typeface="Calibri"/>
                <a:cs typeface="Calibri"/>
              </a:rPr>
              <a:t>No vanishing gradient for positive activations in small </a:t>
            </a:r>
            <a:r>
              <a:rPr lang="en-US" sz="1100">
                <a:solidFill>
                  <a:srgbClr val="1A2B3C"/>
                </a:solidFill>
                <a:latin typeface="Calibri"/>
                <a:ea typeface="Calibri"/>
                <a:cs typeface="Calibri"/>
              </a:rPr>
              <a:t>networks like the ones developed; simple and efficient</a:t>
            </a:r>
          </a:p>
        </p:txBody>
      </p:sp>
      <p:sp>
        <p:nvSpPr>
          <p:cNvPr id="11" name="Title">
            <a:extLst>
              <a:ext uri="{FF2B5EF4-FFF2-40B4-BE49-F238E27FC236}">
                <a16:creationId xmlns:a16="http://schemas.microsoft.com/office/drawing/2014/main" id="{D85A0A53-1B5F-8891-7A97-497305264F07}"/>
              </a:ext>
            </a:extLst>
          </p:cNvPr>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a:solidFill>
                  <a:srgbClr val="0D1B2A"/>
                </a:solidFill>
                <a:latin typeface="Trebuchet MS"/>
              </a:rPr>
              <a:t>Architecture:</a:t>
            </a:r>
            <a:endParaRPr lang="en-US"/>
          </a:p>
        </p:txBody>
      </p:sp>
      <p:sp>
        <p:nvSpPr>
          <p:cNvPr id="7" name="NumCircle">
            <a:extLst>
              <a:ext uri="{FF2B5EF4-FFF2-40B4-BE49-F238E27FC236}">
                <a16:creationId xmlns:a16="http://schemas.microsoft.com/office/drawing/2014/main" id="{62AE0E9A-E324-33CD-BE2D-4032AEA07E40}"/>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spTree>
    <p:extLst>
      <p:ext uri="{BB962C8B-B14F-4D97-AF65-F5344CB8AC3E}">
        <p14:creationId xmlns:p14="http://schemas.microsoft.com/office/powerpoint/2010/main" val="166130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Regularization Strategy:</a:t>
            </a:r>
          </a:p>
        </p:txBody>
      </p:sp>
      <p:sp>
        <p:nvSpPr>
          <p:cNvPr id="10" name="C1bg"/>
          <p:cNvSpPr/>
          <p:nvPr/>
        </p:nvSpPr>
        <p:spPr>
          <a:xfrm>
            <a:off x="27432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C1bar"/>
          <p:cNvSpPr/>
          <p:nvPr/>
        </p:nvSpPr>
        <p:spPr>
          <a:xfrm>
            <a:off x="274320" y="1258907"/>
            <a:ext cx="2742840" cy="128016"/>
          </a:xfrm>
          <a:prstGeom prst="rect">
            <a:avLst/>
          </a:prstGeom>
          <a:solidFill>
            <a:srgbClr val="028090"/>
          </a:solidFill>
          <a:ln w="0">
            <a:noFill/>
          </a:ln>
        </p:spPr>
        <p:txBody>
          <a:bodyPr/>
          <a:lstStyle/>
          <a:p>
            <a:endParaRPr lang="en-US"/>
          </a:p>
        </p:txBody>
      </p:sp>
      <p:sp>
        <p:nvSpPr>
          <p:cNvPr id="12" name="C1text"/>
          <p:cNvSpPr/>
          <p:nvPr/>
        </p:nvSpPr>
        <p:spPr>
          <a:xfrm>
            <a:off x="457200" y="1423787"/>
            <a:ext cx="2377440" cy="3612240"/>
          </a:xfrm>
          <a:prstGeom prst="rect">
            <a:avLst/>
          </a:prstGeom>
          <a:noFill/>
          <a:ln/>
        </p:spPr>
        <p:txBody>
          <a:bodyPr wrap="square" lIns="91440" tIns="45720" rIns="91440" bIns="45720" rtlCol="0" anchor="t"/>
          <a:lstStyle/>
          <a:p>
            <a:pPr>
              <a:buNone/>
            </a:pPr>
            <a:r>
              <a:rPr lang="en-US" sz="1400" b="1" dirty="0">
                <a:solidFill>
                  <a:srgbClr val="028090"/>
                </a:solidFill>
                <a:latin typeface="Trebuchet MS" pitchFamily="34" charset="0"/>
              </a:rPr>
              <a:t>Dropout (0.3)</a:t>
            </a:r>
          </a:p>
          <a:p>
            <a:r>
              <a:rPr lang="en-US" sz="1100" b="1">
                <a:solidFill>
                  <a:srgbClr val="1C3A52"/>
                </a:solidFill>
                <a:latin typeface="Calibri"/>
                <a:ea typeface="Calibri"/>
                <a:cs typeface="Calibri"/>
              </a:rPr>
              <a:t>Applied after Pooling (before FC layers)</a:t>
            </a:r>
          </a:p>
          <a:p>
            <a:pPr marL="228600" indent="-228600">
              <a:buChar char="•"/>
            </a:pPr>
            <a:r>
              <a:rPr lang="en-US" sz="1100">
                <a:solidFill>
                  <a:srgbClr val="1A2B3C"/>
                </a:solidFill>
                <a:latin typeface="Calibri"/>
                <a:ea typeface="Calibri"/>
                <a:cs typeface="Calibri"/>
              </a:rPr>
              <a:t>Randomly zeroes p% of neurons </a:t>
            </a:r>
            <a:r>
              <a:rPr lang="en-US" sz="1100" dirty="0">
                <a:solidFill>
                  <a:srgbClr val="1A2B3C"/>
                </a:solidFill>
                <a:latin typeface="Calibri"/>
                <a:ea typeface="Calibri"/>
                <a:cs typeface="Calibri"/>
              </a:rPr>
              <a:t>each forward pass</a:t>
            </a:r>
          </a:p>
          <a:p>
            <a:pPr marL="228600" indent="-228600">
              <a:buChar char="•"/>
            </a:pPr>
            <a:r>
              <a:rPr lang="en-US" sz="1100" dirty="0">
                <a:solidFill>
                  <a:srgbClr val="1A2B3C"/>
                </a:solidFill>
                <a:latin typeface="Calibri" pitchFamily="34" charset="0"/>
              </a:rPr>
              <a:t>Prevents co-adaptation, forces redundant representations</a:t>
            </a:r>
          </a:p>
          <a:p>
            <a:r>
              <a:rPr lang="en-US" sz="1100" b="1">
                <a:solidFill>
                  <a:srgbClr val="1C3A52"/>
                </a:solidFill>
                <a:latin typeface="Calibri"/>
                <a:ea typeface="Calibri"/>
                <a:cs typeface="Calibri"/>
              </a:rPr>
              <a:t>Why 0.3?:</a:t>
            </a:r>
          </a:p>
          <a:p>
            <a:pPr marL="228600" indent="-228600">
              <a:buFont typeface="Arial"/>
              <a:buChar char="•"/>
            </a:pPr>
            <a:r>
              <a:rPr lang="en-US" sz="1100" dirty="0">
                <a:solidFill>
                  <a:srgbClr val="1A2B3C"/>
                </a:solidFill>
                <a:latin typeface="Calibri"/>
                <a:ea typeface="Calibri"/>
                <a:cs typeface="Calibri"/>
              </a:rPr>
              <a:t>Multiple values were tested (0.1, 0.15, 0.2, 0.3, 0.4, 0.5); 0.3 is the sweet spot - not too much regularization, not too </a:t>
            </a:r>
            <a:r>
              <a:rPr lang="en-US" sz="1100">
                <a:solidFill>
                  <a:srgbClr val="1A2B3C"/>
                </a:solidFill>
                <a:latin typeface="Calibri"/>
                <a:ea typeface="Calibri"/>
                <a:cs typeface="Calibri"/>
              </a:rPr>
              <a:t>little</a:t>
            </a:r>
            <a:endParaRPr lang="en-US" sz="1100">
              <a:solidFill>
                <a:srgbClr val="1A2B3C"/>
              </a:solidFill>
              <a:latin typeface="Calibri" pitchFamily="34" charset="0"/>
              <a:ea typeface="Calibri"/>
              <a:cs typeface="Calibri"/>
            </a:endParaRPr>
          </a:p>
        </p:txBody>
      </p:sp>
      <p:sp>
        <p:nvSpPr>
          <p:cNvPr id="20" name="C2bg"/>
          <p:cNvSpPr/>
          <p:nvPr/>
        </p:nvSpPr>
        <p:spPr>
          <a:xfrm>
            <a:off x="320040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C2bar"/>
          <p:cNvSpPr/>
          <p:nvPr/>
        </p:nvSpPr>
        <p:spPr>
          <a:xfrm>
            <a:off x="3200400" y="1258907"/>
            <a:ext cx="2742840" cy="128016"/>
          </a:xfrm>
          <a:prstGeom prst="rect">
            <a:avLst/>
          </a:prstGeom>
          <a:solidFill>
            <a:srgbClr val="00A896"/>
          </a:solidFill>
          <a:ln w="0">
            <a:noFill/>
          </a:ln>
        </p:spPr>
        <p:txBody>
          <a:bodyPr/>
          <a:lstStyle/>
          <a:p>
            <a:endParaRPr lang="en-US"/>
          </a:p>
        </p:txBody>
      </p:sp>
      <p:sp>
        <p:nvSpPr>
          <p:cNvPr id="22" name="C2text"/>
          <p:cNvSpPr/>
          <p:nvPr/>
        </p:nvSpPr>
        <p:spPr>
          <a:xfrm>
            <a:off x="3383280" y="1423787"/>
            <a:ext cx="2377440" cy="3612240"/>
          </a:xfrm>
          <a:prstGeom prst="rect">
            <a:avLst/>
          </a:prstGeom>
          <a:noFill/>
          <a:ln/>
        </p:spPr>
        <p:txBody>
          <a:bodyPr wrap="square" lIns="91440" tIns="45720" rIns="91440" bIns="45720" rtlCol="0" anchor="t"/>
          <a:lstStyle/>
          <a:p>
            <a:pPr>
              <a:buNone/>
            </a:pPr>
            <a:r>
              <a:rPr lang="en-US" sz="1400" b="1" dirty="0">
                <a:solidFill>
                  <a:srgbClr val="00A896"/>
                </a:solidFill>
                <a:latin typeface="Trebuchet MS"/>
              </a:rPr>
              <a:t>Label Smoothing (0.1)</a:t>
            </a:r>
          </a:p>
          <a:p>
            <a:r>
              <a:rPr lang="en-US" sz="1100" b="1" dirty="0">
                <a:solidFill>
                  <a:srgbClr val="1C3A52"/>
                </a:solidFill>
                <a:latin typeface="Calibri"/>
                <a:ea typeface="Calibri"/>
                <a:cs typeface="Calibri"/>
              </a:rPr>
              <a:t>Decreased effectiveness when compared to MLPs. Idea:</a:t>
            </a:r>
            <a:endParaRPr lang="en-US" sz="1100" b="1" dirty="0">
              <a:solidFill>
                <a:srgbClr val="1C3A52"/>
              </a:solidFill>
              <a:latin typeface="Calibri" pitchFamily="34" charset="0"/>
              <a:ea typeface="Calibri"/>
              <a:cs typeface="Calibri"/>
            </a:endParaRPr>
          </a:p>
          <a:p>
            <a:pPr marL="228600" indent="-228600">
              <a:buChar char="•"/>
            </a:pPr>
            <a:r>
              <a:rPr lang="en-US" sz="1100" dirty="0">
                <a:solidFill>
                  <a:srgbClr val="1A2B3C"/>
                </a:solidFill>
                <a:latin typeface="Calibri"/>
                <a:ea typeface="Calibri"/>
                <a:cs typeface="Calibri"/>
              </a:rPr>
              <a:t>Softens hard one-hot targets (0.9/0.1 blend vs 1.0 hard)</a:t>
            </a:r>
          </a:p>
          <a:p>
            <a:pPr marL="228600" indent="-228600">
              <a:buChar char="•"/>
            </a:pPr>
            <a:r>
              <a:rPr lang="en-US" sz="1100" dirty="0">
                <a:solidFill>
                  <a:srgbClr val="1A2B3C"/>
                </a:solidFill>
                <a:latin typeface="Calibri" pitchFamily="34" charset="0"/>
              </a:rPr>
              <a:t>Prevents overconfident predictions on visually ambiguous classes</a:t>
            </a:r>
          </a:p>
          <a:p>
            <a:pPr marL="228600" indent="-228600">
              <a:buChar char="•"/>
            </a:pPr>
            <a:r>
              <a:rPr lang="en-US" sz="1100" dirty="0">
                <a:solidFill>
                  <a:srgbClr val="1A2B3C"/>
                </a:solidFill>
                <a:latin typeface="Calibri"/>
                <a:ea typeface="Calibri"/>
                <a:cs typeface="Calibri"/>
              </a:rPr>
              <a:t>Key on noisy boundaries — Bug/Grass and Rock/Ground share color palettes</a:t>
            </a:r>
          </a:p>
          <a:p>
            <a:pPr>
              <a:buNone/>
            </a:pPr>
            <a:r>
              <a:rPr lang="en-US" sz="1100" b="1" dirty="0">
                <a:solidFill>
                  <a:srgbClr val="1C3A52"/>
                </a:solidFill>
                <a:latin typeface="Calibri"/>
                <a:ea typeface="Calibri"/>
                <a:cs typeface="Calibri"/>
              </a:rPr>
              <a:t>BUT:</a:t>
            </a:r>
          </a:p>
          <a:p>
            <a:pPr marL="228600" indent="-228600">
              <a:buChar char="•"/>
            </a:pPr>
            <a:r>
              <a:rPr lang="en-US" sz="1100" dirty="0">
                <a:solidFill>
                  <a:srgbClr val="1A2B3C"/>
                </a:solidFill>
                <a:latin typeface="Calibri"/>
                <a:ea typeface="Calibri"/>
                <a:cs typeface="Calibri"/>
              </a:rPr>
              <a:t>LS=0.1 (F) = 0.9750 vs LS=0.0 (C) = 0.9880 — tiny decrease</a:t>
            </a:r>
          </a:p>
          <a:p>
            <a:endParaRPr lang="en-US" sz="1100" dirty="0">
              <a:solidFill>
                <a:srgbClr val="1A2B3C"/>
              </a:solidFill>
              <a:latin typeface="Calibri"/>
              <a:ea typeface="Calibri"/>
              <a:cs typeface="Calibri"/>
            </a:endParaRPr>
          </a:p>
          <a:p>
            <a:r>
              <a:rPr lang="en-US" sz="1100" dirty="0">
                <a:solidFill>
                  <a:srgbClr val="1A2B3C"/>
                </a:solidFill>
                <a:latin typeface="Calibri"/>
                <a:ea typeface="Calibri"/>
                <a:cs typeface="Calibri"/>
              </a:rPr>
              <a:t>A lot of models can effectively converge to a near-perfect validation score, adding label smoothing adds unnecessary noise</a:t>
            </a:r>
          </a:p>
        </p:txBody>
      </p:sp>
      <p:sp>
        <p:nvSpPr>
          <p:cNvPr id="30" name="C3bg"/>
          <p:cNvSpPr/>
          <p:nvPr/>
        </p:nvSpPr>
        <p:spPr>
          <a:xfrm>
            <a:off x="612648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31" name="C3bar"/>
          <p:cNvSpPr/>
          <p:nvPr/>
        </p:nvSpPr>
        <p:spPr>
          <a:xfrm>
            <a:off x="6126480" y="1258907"/>
            <a:ext cx="2742840" cy="128016"/>
          </a:xfrm>
          <a:prstGeom prst="rect">
            <a:avLst/>
          </a:prstGeom>
          <a:solidFill>
            <a:srgbClr val="1C3A52"/>
          </a:solidFill>
          <a:ln w="0">
            <a:noFill/>
          </a:ln>
        </p:spPr>
        <p:txBody>
          <a:bodyPr/>
          <a:lstStyle/>
          <a:p>
            <a:endParaRPr lang="en-US"/>
          </a:p>
        </p:txBody>
      </p:sp>
      <p:sp>
        <p:nvSpPr>
          <p:cNvPr id="32" name="C3text"/>
          <p:cNvSpPr/>
          <p:nvPr/>
        </p:nvSpPr>
        <p:spPr>
          <a:xfrm>
            <a:off x="6309360" y="1423787"/>
            <a:ext cx="2377440" cy="3612240"/>
          </a:xfrm>
          <a:prstGeom prst="rect">
            <a:avLst/>
          </a:prstGeom>
          <a:noFill/>
          <a:ln/>
        </p:spPr>
        <p:txBody>
          <a:bodyPr wrap="square" lIns="91440" tIns="45720" rIns="91440" bIns="45720" rtlCol="0" anchor="t"/>
          <a:lstStyle/>
          <a:p>
            <a:pPr>
              <a:buNone/>
            </a:pPr>
            <a:r>
              <a:rPr lang="en-US" sz="1400" b="1" dirty="0">
                <a:solidFill>
                  <a:srgbClr val="1C3A52"/>
                </a:solidFill>
                <a:latin typeface="Trebuchet MS" pitchFamily="34" charset="0"/>
              </a:rPr>
              <a:t>Imbalance Handling</a:t>
            </a:r>
          </a:p>
          <a:p>
            <a:r>
              <a:rPr lang="en-US" sz="1100" b="1" dirty="0">
                <a:solidFill>
                  <a:srgbClr val="1C3A52"/>
                </a:solidFill>
                <a:latin typeface="Calibri"/>
                <a:ea typeface="Calibri"/>
                <a:cs typeface="Calibri"/>
              </a:rPr>
              <a:t>Weighted </a:t>
            </a:r>
            <a:r>
              <a:rPr lang="en-US" sz="1100" b="1" err="1">
                <a:solidFill>
                  <a:srgbClr val="1C3A52"/>
                </a:solidFill>
                <a:latin typeface="Calibri"/>
                <a:ea typeface="Calibri"/>
                <a:cs typeface="Calibri"/>
              </a:rPr>
              <a:t>CrossEntropyLoss</a:t>
            </a:r>
            <a:r>
              <a:rPr lang="en-US" sz="1100" b="1" dirty="0">
                <a:solidFill>
                  <a:srgbClr val="1C3A52"/>
                </a:solidFill>
                <a:latin typeface="Calibri"/>
                <a:ea typeface="Calibri"/>
                <a:cs typeface="Calibri"/>
              </a:rPr>
              <a:t> (primary)</a:t>
            </a:r>
          </a:p>
          <a:p>
            <a:pPr marL="228600" indent="-228600">
              <a:buChar char="•"/>
            </a:pPr>
            <a:r>
              <a:rPr lang="en-US" sz="1100" dirty="0">
                <a:solidFill>
                  <a:srgbClr val="1A2B3C"/>
                </a:solidFill>
                <a:latin typeface="Calibri" pitchFamily="34" charset="0"/>
              </a:rPr>
              <a:t>Inverse-frequency weights per class (Ground=1.64x, Rock=1.52x, Water=0.59x)</a:t>
            </a:r>
          </a:p>
          <a:p>
            <a:pPr marL="228600" indent="-228600">
              <a:buChar char="•"/>
            </a:pPr>
            <a:r>
              <a:rPr lang="en-US" sz="1100" dirty="0">
                <a:solidFill>
                  <a:srgbClr val="1A2B3C"/>
                </a:solidFill>
                <a:latin typeface="Calibri" pitchFamily="34" charset="0"/>
              </a:rPr>
              <a:t>Addresses 2.76x Water/Ground imbalance at gradient level</a:t>
            </a:r>
          </a:p>
          <a:p>
            <a:r>
              <a:rPr lang="en-US" sz="1100" b="1" dirty="0" err="1">
                <a:solidFill>
                  <a:srgbClr val="1C3A52"/>
                </a:solidFill>
                <a:latin typeface="Calibri"/>
                <a:ea typeface="Calibri"/>
                <a:cs typeface="Calibri"/>
              </a:rPr>
              <a:t>WeightedRandomSampler</a:t>
            </a:r>
            <a:r>
              <a:rPr lang="en-US" sz="1100" b="1" dirty="0">
                <a:solidFill>
                  <a:srgbClr val="1C3A52"/>
                </a:solidFill>
                <a:latin typeface="Calibri"/>
                <a:ea typeface="Calibri"/>
                <a:cs typeface="Calibri"/>
              </a:rPr>
              <a:t> (tested separately) - most impactful single change</a:t>
            </a:r>
          </a:p>
          <a:p>
            <a:pPr marL="228600" indent="-228600">
              <a:buChar char="•"/>
            </a:pPr>
            <a:r>
              <a:rPr lang="en-US" sz="1100" dirty="0">
                <a:solidFill>
                  <a:srgbClr val="1A2B3C"/>
                </a:solidFill>
                <a:latin typeface="Calibri" pitchFamily="34" charset="0"/>
              </a:rPr>
              <a:t>Oversamples minority classes at the data level</a:t>
            </a:r>
          </a:p>
          <a:p>
            <a:pPr marL="228600" indent="-228600">
              <a:buChar char="•"/>
            </a:pPr>
            <a:r>
              <a:rPr lang="en-US" sz="1100" dirty="0">
                <a:solidFill>
                  <a:srgbClr val="1A2B3C"/>
                </a:solidFill>
                <a:latin typeface="Calibri" pitchFamily="34" charset="0"/>
              </a:rPr>
              <a:t>Useful as ensemble diversity: different error patterns vs CW</a:t>
            </a:r>
          </a:p>
          <a:p>
            <a:r>
              <a:rPr lang="en-US" sz="1100" b="1">
                <a:solidFill>
                  <a:srgbClr val="C0392B"/>
                </a:solidFill>
                <a:latin typeface="Calibri"/>
                <a:ea typeface="Calibri"/>
                <a:cs typeface="Calibri"/>
              </a:rPr>
              <a:t>Pitfall: CW + Sampler together can pose a problem</a:t>
            </a:r>
            <a:endParaRPr lang="en-US" sz="1100" b="1">
              <a:solidFill>
                <a:srgbClr val="C0392B"/>
              </a:solidFill>
              <a:latin typeface="Calibri" pitchFamily="34" charset="0"/>
              <a:ea typeface="Calibri"/>
              <a:cs typeface="Calibri"/>
            </a:endParaRPr>
          </a:p>
          <a:p>
            <a:pPr marL="228600" indent="-228600">
              <a:buFont typeface="Arial"/>
              <a:buChar char="•"/>
            </a:pPr>
            <a:r>
              <a:rPr lang="en-US" sz="1100" dirty="0">
                <a:solidFill>
                  <a:srgbClr val="1A2B3C"/>
                </a:solidFill>
                <a:latin typeface="Calibri"/>
                <a:ea typeface="Calibri"/>
                <a:cs typeface="Calibri"/>
              </a:rPr>
              <a:t>As seen in the previous task</a:t>
            </a:r>
            <a:endParaRPr lang="en-US" dirty="0"/>
          </a:p>
        </p:txBody>
      </p:sp>
      <p:sp>
        <p:nvSpPr>
          <p:cNvPr id="6" name="Title">
            <a:extLst>
              <a:ext uri="{FF2B5EF4-FFF2-40B4-BE49-F238E27FC236}">
                <a16:creationId xmlns:a16="http://schemas.microsoft.com/office/drawing/2014/main" id="{E371B132-0C33-4CCB-7BFD-19EA8BA68122}"/>
              </a:ext>
            </a:extLst>
          </p:cNvPr>
          <p:cNvSpPr/>
          <p:nvPr/>
        </p:nvSpPr>
        <p:spPr>
          <a:xfrm>
            <a:off x="457200" y="109728"/>
            <a:ext cx="6400800" cy="530352"/>
          </a:xfrm>
          <a:prstGeom prst="rect">
            <a:avLst/>
          </a:prstGeom>
          <a:noFill/>
          <a:ln/>
        </p:spPr>
        <p:txBody>
          <a:bodyPr wrap="square" lIns="0" tIns="0" rIns="0" bIns="0" rtlCol="0" anchor="ctr"/>
          <a:lstStyle/>
          <a:p>
            <a:r>
              <a:rPr lang="en-US" sz="2200" b="1">
                <a:solidFill>
                  <a:srgbClr val="0D1B2A"/>
                </a:solidFill>
                <a:latin typeface="Trebuchet MS"/>
              </a:rPr>
              <a:t>CNN Best (SOLO) Model (I_CNN)</a:t>
            </a:r>
            <a:endParaRPr lang="en-US" sz="2200">
              <a:solidFill>
                <a:srgbClr val="0D1B2A"/>
              </a:solidFill>
              <a:latin typeface="Trebuchet MS"/>
            </a:endParaRPr>
          </a:p>
        </p:txBody>
      </p:sp>
      <p:sp>
        <p:nvSpPr>
          <p:cNvPr id="8" name="NumCircle">
            <a:extLst>
              <a:ext uri="{FF2B5EF4-FFF2-40B4-BE49-F238E27FC236}">
                <a16:creationId xmlns:a16="http://schemas.microsoft.com/office/drawing/2014/main" id="{E5E4B655-0C2C-EE7E-736B-22A386EA0052}"/>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p:cNvSpPr/>
          <p:nvPr/>
        </p:nvSpPr>
        <p:spPr>
          <a:xfrm>
            <a:off x="274320" y="968835"/>
            <a:ext cx="6400800" cy="530352"/>
          </a:xfrm>
          <a:prstGeom prst="rect">
            <a:avLst/>
          </a:prstGeom>
          <a:noFill/>
          <a:ln/>
        </p:spPr>
        <p:txBody>
          <a:bodyPr wrap="square" lIns="0" tIns="0" rIns="0" bIns="0" rtlCol="0" anchor="ctr"/>
          <a:lstStyle/>
          <a:p>
            <a:pPr marL="0" indent="0">
              <a:buNone/>
            </a:pPr>
            <a:endParaRPr lang="en-US" sz="2200" b="1" dirty="0">
              <a:solidFill>
                <a:srgbClr val="0D1B2A"/>
              </a:solidFill>
              <a:latin typeface="Trebuchet MS" pitchFamily="34" charset="0"/>
            </a:endParaRPr>
          </a:p>
        </p:txBody>
      </p:sp>
      <p:sp>
        <p:nvSpPr>
          <p:cNvPr id="10" name="L1bg"/>
          <p:cNvSpPr/>
          <p:nvPr/>
        </p:nvSpPr>
        <p:spPr>
          <a:xfrm>
            <a:off x="251356" y="1411390"/>
            <a:ext cx="6400800" cy="1445597"/>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L1text"/>
          <p:cNvSpPr/>
          <p:nvPr/>
        </p:nvSpPr>
        <p:spPr>
          <a:xfrm>
            <a:off x="434237" y="1485550"/>
            <a:ext cx="3657600" cy="1645920"/>
          </a:xfrm>
          <a:prstGeom prst="rect">
            <a:avLst/>
          </a:prstGeom>
          <a:noFill/>
          <a:ln/>
        </p:spPr>
        <p:txBody>
          <a:bodyPr wrap="square" lIns="91440" tIns="45720" rIns="91440" bIns="45720" rtlCol="0" anchor="t"/>
          <a:lstStyle/>
          <a:p>
            <a:pPr>
              <a:buNone/>
            </a:pPr>
            <a:r>
              <a:rPr lang="en-US" sz="1400" b="1" dirty="0">
                <a:solidFill>
                  <a:srgbClr val="028090"/>
                </a:solidFill>
                <a:latin typeface="Trebuchet MS"/>
              </a:rPr>
              <a:t>Optimizer + Scheduler</a:t>
            </a:r>
          </a:p>
          <a:p>
            <a:pPr marL="228600" indent="-228600">
              <a:buChar char="•"/>
            </a:pPr>
            <a:r>
              <a:rPr lang="en-US" sz="1200" b="1" dirty="0">
                <a:solidFill>
                  <a:srgbClr val="1C3A52"/>
                </a:solidFill>
                <a:latin typeface="Calibri"/>
                <a:ea typeface="Calibri"/>
                <a:cs typeface="Calibri"/>
              </a:rPr>
              <a:t>Adam </a:t>
            </a:r>
            <a:r>
              <a:rPr lang="en-US" sz="1200" b="1" dirty="0" err="1">
                <a:solidFill>
                  <a:srgbClr val="1C3A52"/>
                </a:solidFill>
                <a:latin typeface="Calibri"/>
                <a:ea typeface="Calibri"/>
                <a:cs typeface="Calibri"/>
              </a:rPr>
              <a:t>lr</a:t>
            </a:r>
            <a:r>
              <a:rPr lang="en-US" sz="1200" b="1" dirty="0">
                <a:solidFill>
                  <a:srgbClr val="1C3A52"/>
                </a:solidFill>
                <a:latin typeface="Calibri"/>
                <a:ea typeface="Calibri"/>
                <a:cs typeface="Calibri"/>
              </a:rPr>
              <a:t>=1e-3 </a:t>
            </a:r>
            <a:r>
              <a:rPr lang="en-US" sz="1200" dirty="0">
                <a:solidFill>
                  <a:srgbClr val="1A2B3C"/>
                </a:solidFill>
                <a:latin typeface="Calibri"/>
                <a:ea typeface="Calibri"/>
                <a:cs typeface="Calibri"/>
              </a:rPr>
              <a:t>— robust adaptive LR, standard for CNNs (Kingma &amp; Ba, 2015)</a:t>
            </a:r>
          </a:p>
          <a:p>
            <a:pPr marL="228600" indent="-228600">
              <a:buChar char="•"/>
            </a:pPr>
            <a:r>
              <a:rPr lang="en-US" sz="1200" b="1" dirty="0" err="1">
                <a:solidFill>
                  <a:srgbClr val="1C3A52"/>
                </a:solidFill>
                <a:latin typeface="Calibri"/>
                <a:ea typeface="Calibri"/>
                <a:cs typeface="Calibri"/>
              </a:rPr>
              <a:t>StepLR</a:t>
            </a:r>
            <a:r>
              <a:rPr lang="en-US" sz="1200" b="1" dirty="0">
                <a:solidFill>
                  <a:srgbClr val="1C3A52"/>
                </a:solidFill>
                <a:latin typeface="Calibri"/>
                <a:ea typeface="Calibri"/>
                <a:cs typeface="Calibri"/>
              </a:rPr>
              <a:t>(step=5, gamma=0.5) </a:t>
            </a:r>
            <a:r>
              <a:rPr lang="en-US" sz="1200" dirty="0">
                <a:solidFill>
                  <a:srgbClr val="1A2B3C"/>
                </a:solidFill>
                <a:latin typeface="Calibri"/>
                <a:ea typeface="Calibri"/>
                <a:cs typeface="Calibri"/>
              </a:rPr>
              <a:t>— halves LR every 5 epochs; </a:t>
            </a:r>
            <a:r>
              <a:rPr lang="en-US" sz="1200" dirty="0" err="1">
                <a:solidFill>
                  <a:srgbClr val="1A2B3C"/>
                </a:solidFill>
                <a:latin typeface="Calibri"/>
                <a:ea typeface="Calibri"/>
                <a:cs typeface="Calibri"/>
              </a:rPr>
              <a:t>CosineAnnealingLR</a:t>
            </a:r>
            <a:r>
              <a:rPr lang="en-US" sz="1200" dirty="0">
                <a:solidFill>
                  <a:srgbClr val="1A2B3C"/>
                </a:solidFill>
                <a:latin typeface="Calibri"/>
                <a:ea typeface="Calibri"/>
                <a:cs typeface="Calibri"/>
              </a:rPr>
              <a:t> also tested but similar results</a:t>
            </a:r>
          </a:p>
        </p:txBody>
      </p:sp>
      <p:sp>
        <p:nvSpPr>
          <p:cNvPr id="12" name="R1bg"/>
          <p:cNvSpPr/>
          <p:nvPr/>
        </p:nvSpPr>
        <p:spPr>
          <a:xfrm>
            <a:off x="251717" y="3179744"/>
            <a:ext cx="6400800" cy="1243641"/>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3" name="R1text"/>
          <p:cNvSpPr/>
          <p:nvPr/>
        </p:nvSpPr>
        <p:spPr>
          <a:xfrm>
            <a:off x="484063" y="3253904"/>
            <a:ext cx="4141533" cy="1645920"/>
          </a:xfrm>
          <a:prstGeom prst="rect">
            <a:avLst/>
          </a:prstGeom>
          <a:noFill/>
          <a:ln/>
        </p:spPr>
        <p:txBody>
          <a:bodyPr wrap="square" rtlCol="0" anchor="t"/>
          <a:lstStyle/>
          <a:p>
            <a:pPr>
              <a:buNone/>
            </a:pPr>
            <a:r>
              <a:rPr lang="en-US" sz="1400" b="1" dirty="0">
                <a:solidFill>
                  <a:srgbClr val="028090"/>
                </a:solidFill>
                <a:latin typeface="Trebuchet MS" pitchFamily="34" charset="0"/>
              </a:rPr>
              <a:t>Early Stopping (patience=7)</a:t>
            </a:r>
          </a:p>
          <a:p>
            <a:pPr marL="228600" indent="-228600">
              <a:buChar char="•"/>
            </a:pPr>
            <a:r>
              <a:rPr lang="en-US" sz="1200" dirty="0">
                <a:solidFill>
                  <a:srgbClr val="1A2B3C"/>
                </a:solidFill>
                <a:latin typeface="Calibri" pitchFamily="34" charset="0"/>
              </a:rPr>
              <a:t>Monitors -val_macro_f1 (competition metric, not val_loss)</a:t>
            </a:r>
          </a:p>
          <a:p>
            <a:pPr marL="228600" indent="-228600">
              <a:buChar char="•"/>
            </a:pPr>
            <a:r>
              <a:rPr lang="en-US" sz="1200" dirty="0">
                <a:solidFill>
                  <a:srgbClr val="1A2B3C"/>
                </a:solidFill>
                <a:latin typeface="Calibri" pitchFamily="34" charset="0"/>
              </a:rPr>
              <a:t>Patience=7 — val_f1 is noisy (720 val samples, ~80/class: 1 error = +-1.2% swing); 3 would fire prematurely</a:t>
            </a:r>
          </a:p>
          <a:p>
            <a:pPr marL="228600" indent="-228600">
              <a:buChar char="•"/>
            </a:pPr>
            <a:r>
              <a:rPr lang="en-US" sz="1200" dirty="0">
                <a:solidFill>
                  <a:srgbClr val="1A2B3C"/>
                </a:solidFill>
                <a:latin typeface="Calibri" pitchFamily="34" charset="0"/>
              </a:rPr>
              <a:t>Saves best checkpoint automatically; restores at inference</a:t>
            </a:r>
          </a:p>
        </p:txBody>
      </p:sp>
      <p:sp>
        <p:nvSpPr>
          <p:cNvPr id="6" name="Title">
            <a:extLst>
              <a:ext uri="{FF2B5EF4-FFF2-40B4-BE49-F238E27FC236}">
                <a16:creationId xmlns:a16="http://schemas.microsoft.com/office/drawing/2014/main" id="{56DBFB5A-DABA-15C4-632F-293CD9CF4816}"/>
              </a:ext>
            </a:extLst>
          </p:cNvPr>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Training Setup — Optimizer, Scheduler &amp; Early Stopping:</a:t>
            </a:r>
          </a:p>
        </p:txBody>
      </p:sp>
      <p:sp>
        <p:nvSpPr>
          <p:cNvPr id="7" name="Title">
            <a:extLst>
              <a:ext uri="{FF2B5EF4-FFF2-40B4-BE49-F238E27FC236}">
                <a16:creationId xmlns:a16="http://schemas.microsoft.com/office/drawing/2014/main" id="{DA63C9B6-29D8-225A-53C9-C12AD88519A3}"/>
              </a:ext>
            </a:extLst>
          </p:cNvPr>
          <p:cNvSpPr/>
          <p:nvPr/>
        </p:nvSpPr>
        <p:spPr>
          <a:xfrm>
            <a:off x="457200" y="109728"/>
            <a:ext cx="6400800" cy="530352"/>
          </a:xfrm>
          <a:prstGeom prst="rect">
            <a:avLst/>
          </a:prstGeom>
          <a:noFill/>
          <a:ln/>
        </p:spPr>
        <p:txBody>
          <a:bodyPr wrap="square" lIns="0" tIns="0" rIns="0" bIns="0" rtlCol="0" anchor="ctr"/>
          <a:lstStyle/>
          <a:p>
            <a:r>
              <a:rPr lang="en-US" sz="2200" b="1">
                <a:solidFill>
                  <a:srgbClr val="0D1B2A"/>
                </a:solidFill>
                <a:latin typeface="Trebuchet MS"/>
              </a:rPr>
              <a:t>CNN Best (SOLO) Model (I_CNN)</a:t>
            </a:r>
            <a:endParaRPr lang="en-US" sz="2200">
              <a:solidFill>
                <a:srgbClr val="0D1B2A"/>
              </a:solidFill>
              <a:latin typeface="Trebuchet MS"/>
            </a:endParaRPr>
          </a:p>
        </p:txBody>
      </p:sp>
      <p:sp>
        <p:nvSpPr>
          <p:cNvPr id="9" name="NumCircle">
            <a:extLst>
              <a:ext uri="{FF2B5EF4-FFF2-40B4-BE49-F238E27FC236}">
                <a16:creationId xmlns:a16="http://schemas.microsoft.com/office/drawing/2014/main" id="{19B1823F-C1D0-A206-9152-51BE99AB140B}"/>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7ED9-A426-3450-D495-434B6B20E4E1}"/>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F3FD7346-425B-0DA4-9F91-64DDAE84D2F5}"/>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205B505A-FD03-FCEE-E6D5-0BDD47BBB1A7}"/>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a:extLst>
              <a:ext uri="{FF2B5EF4-FFF2-40B4-BE49-F238E27FC236}">
                <a16:creationId xmlns:a16="http://schemas.microsoft.com/office/drawing/2014/main" id="{F61BE097-4247-6F29-15AF-E38FF510E28B}"/>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Pre-Processing &amp; Data Augmentation</a:t>
            </a:r>
          </a:p>
        </p:txBody>
      </p:sp>
      <p:sp>
        <p:nvSpPr>
          <p:cNvPr id="10" name="StratBG">
            <a:extLst>
              <a:ext uri="{FF2B5EF4-FFF2-40B4-BE49-F238E27FC236}">
                <a16:creationId xmlns:a16="http://schemas.microsoft.com/office/drawing/2014/main" id="{5D0F02B0-96BF-9818-64F0-AB0284BE9B8C}"/>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0D065BE8-4691-B7C4-01CF-7C54E57D2F08}"/>
              </a:ext>
            </a:extLst>
          </p:cNvPr>
          <p:cNvSpPr/>
          <p:nvPr/>
        </p:nvSpPr>
        <p:spPr>
          <a:xfrm>
            <a:off x="457200" y="777240"/>
            <a:ext cx="8228160" cy="666720"/>
          </a:xfrm>
          <a:prstGeom prst="rect">
            <a:avLst/>
          </a:prstGeom>
          <a:noFill/>
          <a:ln/>
        </p:spPr>
        <p:txBody>
          <a:bodyPr wrap="square" lIns="91440" tIns="45720" rIns="91440" bIns="45720" rtlCol="0" anchor="ctr"/>
          <a:lstStyle/>
          <a:p>
            <a:r>
              <a:rPr lang="en-US" sz="1200" b="1" dirty="0">
                <a:solidFill>
                  <a:schemeClr val="accent2">
                    <a:lumMod val="40000"/>
                    <a:lumOff val="60000"/>
                  </a:schemeClr>
                </a:solidFill>
                <a:latin typeface="Trebuchet MS"/>
              </a:rPr>
              <a:t>Strategy</a:t>
            </a:r>
            <a:r>
              <a:rPr lang="en-US" sz="1200" b="1" dirty="0">
                <a:solidFill>
                  <a:srgbClr val="00A896"/>
                </a:solidFill>
                <a:latin typeface="Trebuchet MS"/>
              </a:rPr>
              <a:t>: </a:t>
            </a:r>
            <a:r>
              <a:rPr lang="en-US" sz="1200" dirty="0">
                <a:solidFill>
                  <a:schemeClr val="bg1"/>
                </a:solidFill>
                <a:latin typeface="Calibri"/>
                <a:ea typeface="Calibri"/>
                <a:cs typeface="Calibri"/>
              </a:rPr>
              <a:t>There were multiple models that reached a validation Macro-Averaged F1-Score of 1.0, we chose the one that balanced fastest converging with fewest parameters, which was model M - Deep CNN. We then applied different pipelines of pre-</a:t>
            </a:r>
            <a:r>
              <a:rPr lang="en-US" sz="1200">
                <a:solidFill>
                  <a:schemeClr val="bg1"/>
                </a:solidFill>
                <a:latin typeface="Calibri"/>
                <a:ea typeface="Calibri"/>
                <a:cs typeface="Calibri"/>
              </a:rPr>
              <a:t>processing and data augmentation.</a:t>
            </a:r>
            <a:endParaRPr lang="en-US" sz="1200" dirty="0">
              <a:solidFill>
                <a:schemeClr val="bg1"/>
              </a:solidFill>
              <a:latin typeface="Calibri"/>
              <a:ea typeface="Calibri"/>
              <a:cs typeface="Calibri"/>
            </a:endParaRPr>
          </a:p>
        </p:txBody>
      </p:sp>
      <p:sp>
        <p:nvSpPr>
          <p:cNvPr id="20" name="H1">
            <a:extLst>
              <a:ext uri="{FF2B5EF4-FFF2-40B4-BE49-F238E27FC236}">
                <a16:creationId xmlns:a16="http://schemas.microsoft.com/office/drawing/2014/main" id="{45D9E347-F80E-02D4-24C1-8DEF17AE44B9}"/>
              </a:ext>
            </a:extLst>
          </p:cNvPr>
          <p:cNvSpPr/>
          <p:nvPr/>
        </p:nvSpPr>
        <p:spPr>
          <a:xfrm>
            <a:off x="274319" y="1571040"/>
            <a:ext cx="3844333" cy="274320"/>
          </a:xfrm>
          <a:prstGeom prst="rect">
            <a:avLst/>
          </a:prstGeom>
          <a:solidFill>
            <a:srgbClr val="00A896"/>
          </a:solidFill>
          <a:ln w="0">
            <a:noFill/>
          </a:ln>
        </p:spPr>
        <p:txBody>
          <a:bodyPr rtlCol="0" anchor="ctr"/>
          <a:lstStyle/>
          <a:p>
            <a:pPr algn="ctr">
              <a:buNone/>
            </a:pPr>
            <a:r>
              <a:rPr lang="en-US" sz="1400" b="1" dirty="0">
                <a:solidFill>
                  <a:srgbClr val="FFFFFF"/>
                </a:solidFill>
                <a:latin typeface="Calibri"/>
              </a:rPr>
              <a:t>Pre-Processing</a:t>
            </a:r>
          </a:p>
        </p:txBody>
      </p:sp>
      <p:sp>
        <p:nvSpPr>
          <p:cNvPr id="21" name="H2">
            <a:extLst>
              <a:ext uri="{FF2B5EF4-FFF2-40B4-BE49-F238E27FC236}">
                <a16:creationId xmlns:a16="http://schemas.microsoft.com/office/drawing/2014/main" id="{FC6F9DFC-F6C8-8D69-4F59-75130BDCC2D8}"/>
              </a:ext>
            </a:extLst>
          </p:cNvPr>
          <p:cNvSpPr/>
          <p:nvPr/>
        </p:nvSpPr>
        <p:spPr>
          <a:xfrm>
            <a:off x="4342062" y="1571040"/>
            <a:ext cx="4527617" cy="274320"/>
          </a:xfrm>
          <a:prstGeom prst="rect">
            <a:avLst/>
          </a:prstGeom>
          <a:solidFill>
            <a:schemeClr val="accent1">
              <a:lumMod val="75000"/>
            </a:schemeClr>
          </a:solidFill>
          <a:ln w="0">
            <a:noFill/>
          </a:ln>
        </p:spPr>
        <p:txBody>
          <a:bodyPr rtlCol="0" anchor="ctr"/>
          <a:lstStyle/>
          <a:p>
            <a:pPr algn="ctr">
              <a:buNone/>
            </a:pPr>
            <a:r>
              <a:rPr lang="en-US" sz="1400" b="1" dirty="0">
                <a:solidFill>
                  <a:srgbClr val="FFFFFF"/>
                </a:solidFill>
                <a:latin typeface="Calibri"/>
              </a:rPr>
              <a:t>Data Augmentation</a:t>
            </a:r>
          </a:p>
        </p:txBody>
      </p:sp>
      <p:sp>
        <p:nvSpPr>
          <p:cNvPr id="30" name="R1C1">
            <a:extLst>
              <a:ext uri="{FF2B5EF4-FFF2-40B4-BE49-F238E27FC236}">
                <a16:creationId xmlns:a16="http://schemas.microsoft.com/office/drawing/2014/main" id="{29864FFE-7BA3-6FD0-0C3A-0DB22F553FD5}"/>
              </a:ext>
            </a:extLst>
          </p:cNvPr>
          <p:cNvSpPr/>
          <p:nvPr/>
        </p:nvSpPr>
        <p:spPr>
          <a:xfrm>
            <a:off x="274319" y="1897612"/>
            <a:ext cx="3844333" cy="1817821"/>
          </a:xfrm>
          <a:prstGeom prst="rect">
            <a:avLst/>
          </a:prstGeom>
          <a:solidFill>
            <a:srgbClr val="E8F8F6"/>
          </a:solidFill>
          <a:ln w="6350">
            <a:noFill/>
          </a:ln>
        </p:spPr>
        <p:txBody>
          <a:bodyPr lIns="91440" tIns="45720" rIns="91440" bIns="45720" rtlCol="0" anchor="ctr"/>
          <a:lstStyle/>
          <a:p>
            <a:pPr algn="ctr">
              <a:buNone/>
            </a:pPr>
            <a:r>
              <a:rPr lang="en-US" sz="1300" b="1" dirty="0">
                <a:solidFill>
                  <a:srgbClr val="028090"/>
                </a:solidFill>
                <a:latin typeface="Calibri"/>
              </a:rPr>
              <a:t>Grayscale </a:t>
            </a:r>
          </a:p>
          <a:p>
            <a:pPr algn="ctr"/>
            <a:r>
              <a:rPr lang="en-US" sz="1300" dirty="0">
                <a:solidFill>
                  <a:srgbClr val="1A2B3C"/>
                </a:solidFill>
                <a:latin typeface="Calibri"/>
              </a:rPr>
              <a:t>A 64x64 RGB image results in an initial vector of length = 12.288. If we convert to grayscale the size is reduced by 3, to 4096. Are we able to achieve similar results with this smaller input?  Turns out no. Pokémon classification is strongly color-dependent (Fire=orange, water=blue, poison=purple, grass=green, ...)</a:t>
            </a:r>
            <a:endParaRPr lang="en-US" sz="1300" dirty="0">
              <a:solidFill>
                <a:srgbClr val="1A2B3C"/>
              </a:solidFill>
              <a:latin typeface="Calibri"/>
              <a:ea typeface="Calibri"/>
              <a:cs typeface="Calibri"/>
            </a:endParaRPr>
          </a:p>
          <a:p>
            <a:pPr algn="ctr"/>
            <a:endParaRPr lang="en-US" sz="1300" dirty="0">
              <a:solidFill>
                <a:srgbClr val="1A2B3C"/>
              </a:solidFill>
              <a:latin typeface="Calibri"/>
              <a:ea typeface="Calibri"/>
              <a:cs typeface="Calibri"/>
            </a:endParaRPr>
          </a:p>
        </p:txBody>
      </p:sp>
      <p:sp>
        <p:nvSpPr>
          <p:cNvPr id="31" name="R1C2">
            <a:extLst>
              <a:ext uri="{FF2B5EF4-FFF2-40B4-BE49-F238E27FC236}">
                <a16:creationId xmlns:a16="http://schemas.microsoft.com/office/drawing/2014/main" id="{AE5BA09A-6048-2F02-B16F-5FC7C3B50F06}"/>
              </a:ext>
            </a:extLst>
          </p:cNvPr>
          <p:cNvSpPr/>
          <p:nvPr/>
        </p:nvSpPr>
        <p:spPr>
          <a:xfrm>
            <a:off x="4342062" y="1936080"/>
            <a:ext cx="4527617" cy="1767891"/>
          </a:xfrm>
          <a:prstGeom prst="rect">
            <a:avLst/>
          </a:prstGeom>
          <a:solidFill>
            <a:schemeClr val="accent1">
              <a:lumMod val="20000"/>
              <a:lumOff val="80000"/>
            </a:schemeClr>
          </a:solidFill>
          <a:ln w="6350">
            <a:noFill/>
          </a:ln>
        </p:spPr>
        <p:txBody>
          <a:bodyPr lIns="91440" tIns="45720" rIns="91440" bIns="45720" rtlCol="0" anchor="ctr"/>
          <a:lstStyle/>
          <a:p>
            <a:pPr algn="ctr">
              <a:buNone/>
            </a:pPr>
            <a:r>
              <a:rPr lang="en-US" sz="1400" b="1" dirty="0" err="1">
                <a:solidFill>
                  <a:srgbClr val="1C3A52"/>
                </a:solidFill>
                <a:latin typeface="Calibri"/>
              </a:rPr>
              <a:t>RandomHorizontalFlip</a:t>
            </a:r>
            <a:r>
              <a:rPr lang="en-US" sz="1400" b="1" dirty="0">
                <a:solidFill>
                  <a:srgbClr val="1C3A52"/>
                </a:solidFill>
                <a:latin typeface="Calibri"/>
              </a:rPr>
              <a:t>, </a:t>
            </a:r>
            <a:r>
              <a:rPr lang="en-US" sz="1400" b="1" dirty="0" err="1">
                <a:solidFill>
                  <a:srgbClr val="1C3A52"/>
                </a:solidFill>
                <a:latin typeface="Calibri"/>
              </a:rPr>
              <a:t>ColorJitter</a:t>
            </a:r>
            <a:r>
              <a:rPr lang="en-US" sz="1400" b="1" dirty="0">
                <a:solidFill>
                  <a:srgbClr val="1C3A52"/>
                </a:solidFill>
                <a:latin typeface="Calibri"/>
              </a:rPr>
              <a:t>, </a:t>
            </a:r>
            <a:r>
              <a:rPr lang="en-US" sz="1400" b="1" dirty="0" err="1">
                <a:solidFill>
                  <a:srgbClr val="1C3A52"/>
                </a:solidFill>
                <a:latin typeface="Calibri"/>
              </a:rPr>
              <a:t>RandomRotation</a:t>
            </a:r>
            <a:r>
              <a:rPr lang="en-US" sz="1400" b="1" dirty="0">
                <a:solidFill>
                  <a:srgbClr val="1C3A52"/>
                </a:solidFill>
                <a:latin typeface="Calibri"/>
              </a:rPr>
              <a:t>...</a:t>
            </a:r>
          </a:p>
          <a:p>
            <a:pPr algn="ctr"/>
            <a:r>
              <a:rPr lang="en-US" sz="1400" dirty="0">
                <a:solidFill>
                  <a:srgbClr val="1C3A52"/>
                </a:solidFill>
                <a:latin typeface="Calibri"/>
              </a:rPr>
              <a:t>In the previous task we mentioned that CNNs could benefit from this type of data augmentation, however, doing it gave us WORSE results. Why did this happen? Isn't training with slightly different variants of our images helpful for generalization? This is explored in the next slide.</a:t>
            </a:r>
            <a:endParaRPr lang="en-US" sz="1400" dirty="0">
              <a:solidFill>
                <a:srgbClr val="1C3A52"/>
              </a:solidFill>
              <a:latin typeface="Calibri"/>
              <a:ea typeface="Calibri"/>
              <a:cs typeface="Calibri"/>
            </a:endParaRPr>
          </a:p>
        </p:txBody>
      </p:sp>
      <p:pic>
        <p:nvPicPr>
          <p:cNvPr id="7" name="Picture 6" descr="A green and blue rectangle with black text&#10;&#10;AI-generated content may be incorrect.">
            <a:extLst>
              <a:ext uri="{FF2B5EF4-FFF2-40B4-BE49-F238E27FC236}">
                <a16:creationId xmlns:a16="http://schemas.microsoft.com/office/drawing/2014/main" id="{BA7A2BDF-A57A-9369-8AEF-BA118B76C6D5}"/>
              </a:ext>
            </a:extLst>
          </p:cNvPr>
          <p:cNvPicPr>
            <a:picLocks noChangeAspect="1"/>
          </p:cNvPicPr>
          <p:nvPr/>
        </p:nvPicPr>
        <p:blipFill>
          <a:blip r:embed="rId2"/>
          <a:srcRect r="45073" b="1075"/>
          <a:stretch>
            <a:fillRect/>
          </a:stretch>
        </p:blipFill>
        <p:spPr>
          <a:xfrm>
            <a:off x="410198" y="3719794"/>
            <a:ext cx="2107104" cy="739085"/>
          </a:xfrm>
          <a:prstGeom prst="rect">
            <a:avLst/>
          </a:prstGeom>
        </p:spPr>
      </p:pic>
      <p:sp>
        <p:nvSpPr>
          <p:cNvPr id="16" name="TextBox 15">
            <a:extLst>
              <a:ext uri="{FF2B5EF4-FFF2-40B4-BE49-F238E27FC236}">
                <a16:creationId xmlns:a16="http://schemas.microsoft.com/office/drawing/2014/main" id="{FD0D12E7-38EE-4D59-7537-F5A5AC20B2DA}"/>
              </a:ext>
            </a:extLst>
          </p:cNvPr>
          <p:cNvSpPr txBox="1"/>
          <p:nvPr/>
        </p:nvSpPr>
        <p:spPr>
          <a:xfrm>
            <a:off x="2810705" y="4228745"/>
            <a:ext cx="12644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rgbClr val="FF0000"/>
                </a:solidFill>
              </a:rPr>
              <a:t>-4.81%!</a:t>
            </a:r>
          </a:p>
        </p:txBody>
      </p:sp>
      <p:pic>
        <p:nvPicPr>
          <p:cNvPr id="17" name="Picture 16" descr="A green and blue rectangle with black text&#10;&#10;AI-generated content may be incorrect.">
            <a:extLst>
              <a:ext uri="{FF2B5EF4-FFF2-40B4-BE49-F238E27FC236}">
                <a16:creationId xmlns:a16="http://schemas.microsoft.com/office/drawing/2014/main" id="{4913A525-002F-C934-62F6-5FB4F69C5410}"/>
              </a:ext>
            </a:extLst>
          </p:cNvPr>
          <p:cNvPicPr>
            <a:picLocks noChangeAspect="1"/>
          </p:cNvPicPr>
          <p:nvPr/>
        </p:nvPicPr>
        <p:blipFill>
          <a:blip r:embed="rId2"/>
          <a:srcRect r="45073" b="1075"/>
          <a:stretch>
            <a:fillRect/>
          </a:stretch>
        </p:blipFill>
        <p:spPr>
          <a:xfrm>
            <a:off x="4775372" y="3710108"/>
            <a:ext cx="2107104" cy="739085"/>
          </a:xfrm>
          <a:prstGeom prst="rect">
            <a:avLst/>
          </a:prstGeom>
        </p:spPr>
      </p:pic>
      <p:sp>
        <p:nvSpPr>
          <p:cNvPr id="23" name="TextBox 22">
            <a:extLst>
              <a:ext uri="{FF2B5EF4-FFF2-40B4-BE49-F238E27FC236}">
                <a16:creationId xmlns:a16="http://schemas.microsoft.com/office/drawing/2014/main" id="{77FDADCB-1C13-BF33-8976-E9729F56FD9C}"/>
              </a:ext>
            </a:extLst>
          </p:cNvPr>
          <p:cNvSpPr txBox="1"/>
          <p:nvPr/>
        </p:nvSpPr>
        <p:spPr>
          <a:xfrm>
            <a:off x="7280793" y="4228744"/>
            <a:ext cx="141940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solidFill>
                  <a:srgbClr val="FF0000"/>
                </a:solidFill>
              </a:rPr>
              <a:t>-1.5%!</a:t>
            </a:r>
          </a:p>
        </p:txBody>
      </p:sp>
      <p:sp>
        <p:nvSpPr>
          <p:cNvPr id="25" name="NumCircle">
            <a:extLst>
              <a:ext uri="{FF2B5EF4-FFF2-40B4-BE49-F238E27FC236}">
                <a16:creationId xmlns:a16="http://schemas.microsoft.com/office/drawing/2014/main" id="{AE338B7C-11CB-5629-826A-7F987F11EF25}"/>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pic>
        <p:nvPicPr>
          <p:cNvPr id="6" name="Picture 5">
            <a:extLst>
              <a:ext uri="{FF2B5EF4-FFF2-40B4-BE49-F238E27FC236}">
                <a16:creationId xmlns:a16="http://schemas.microsoft.com/office/drawing/2014/main" id="{5263C5E9-40E0-D9BE-563C-92D3111D2F54}"/>
              </a:ext>
            </a:extLst>
          </p:cNvPr>
          <p:cNvPicPr>
            <a:picLocks noChangeAspect="1"/>
          </p:cNvPicPr>
          <p:nvPr/>
        </p:nvPicPr>
        <p:blipFill>
          <a:blip r:embed="rId3"/>
          <a:srcRect l="-127" t="-1004" r="583" b="-6007"/>
          <a:stretch>
            <a:fillRect/>
          </a:stretch>
        </p:blipFill>
        <p:spPr>
          <a:xfrm>
            <a:off x="410198" y="4455964"/>
            <a:ext cx="2109236" cy="233399"/>
          </a:xfrm>
          <a:prstGeom prst="rect">
            <a:avLst/>
          </a:prstGeom>
        </p:spPr>
      </p:pic>
      <p:pic>
        <p:nvPicPr>
          <p:cNvPr id="9" name="Picture 8">
            <a:extLst>
              <a:ext uri="{FF2B5EF4-FFF2-40B4-BE49-F238E27FC236}">
                <a16:creationId xmlns:a16="http://schemas.microsoft.com/office/drawing/2014/main" id="{B01B9F67-192D-5CF2-09BE-E5E8A5B61B33}"/>
              </a:ext>
            </a:extLst>
          </p:cNvPr>
          <p:cNvPicPr>
            <a:picLocks noChangeAspect="1"/>
          </p:cNvPicPr>
          <p:nvPr/>
        </p:nvPicPr>
        <p:blipFill>
          <a:blip r:embed="rId4"/>
          <a:stretch>
            <a:fillRect/>
          </a:stretch>
        </p:blipFill>
        <p:spPr>
          <a:xfrm>
            <a:off x="4785586" y="4458264"/>
            <a:ext cx="2110676" cy="227471"/>
          </a:xfrm>
          <a:prstGeom prst="rect">
            <a:avLst/>
          </a:prstGeom>
        </p:spPr>
      </p:pic>
      <p:sp>
        <p:nvSpPr>
          <p:cNvPr id="8" name="Text 8">
            <a:extLst>
              <a:ext uri="{FF2B5EF4-FFF2-40B4-BE49-F238E27FC236}">
                <a16:creationId xmlns:a16="http://schemas.microsoft.com/office/drawing/2014/main" id="{11F270A3-E9C8-93A2-E2A3-54B392C4C4F0}"/>
              </a:ext>
            </a:extLst>
          </p:cNvPr>
          <p:cNvSpPr/>
          <p:nvPr/>
        </p:nvSpPr>
        <p:spPr>
          <a:xfrm>
            <a:off x="4339292" y="4761855"/>
            <a:ext cx="4535193" cy="371181"/>
          </a:xfrm>
          <a:prstGeom prst="rect">
            <a:avLst/>
          </a:prstGeom>
          <a:noFill/>
          <a:ln/>
        </p:spPr>
        <p:txBody>
          <a:bodyPr wrap="square" lIns="0" tIns="0" rIns="0" bIns="0" rtlCol="0" anchor="ctr"/>
          <a:lstStyle/>
          <a:p>
            <a:pPr algn="ctr"/>
            <a:r>
              <a:rPr lang="en-US" sz="1200" dirty="0">
                <a:solidFill>
                  <a:srgbClr val="0D1B2A"/>
                </a:solidFill>
                <a:latin typeface="Calibri"/>
                <a:ea typeface="Calibri"/>
                <a:cs typeface="Calibri"/>
              </a:rPr>
              <a:t>Note that we tried very simple augmentation processes for this analysis; stronger augmentation gave us even worse results</a:t>
            </a:r>
            <a:endParaRPr lang="en-US" dirty="0"/>
          </a:p>
        </p:txBody>
      </p:sp>
    </p:spTree>
    <p:extLst>
      <p:ext uri="{BB962C8B-B14F-4D97-AF65-F5344CB8AC3E}">
        <p14:creationId xmlns:p14="http://schemas.microsoft.com/office/powerpoint/2010/main" val="377288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6715-A7FE-4E92-BA06-245AE16C644B}"/>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AC0700B5-8646-C417-7708-C0A58E177D9C}"/>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B9A7BBBA-FDA0-89BB-E46F-248D7D3FD1C0}"/>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a:extLst>
              <a:ext uri="{FF2B5EF4-FFF2-40B4-BE49-F238E27FC236}">
                <a16:creationId xmlns:a16="http://schemas.microsoft.com/office/drawing/2014/main" id="{C3B8B2B8-3907-FB74-5190-F69F26A783FA}"/>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Pre-Processing &amp; Data Augmentation</a:t>
            </a:r>
          </a:p>
        </p:txBody>
      </p:sp>
      <p:sp>
        <p:nvSpPr>
          <p:cNvPr id="10" name="StratBG">
            <a:extLst>
              <a:ext uri="{FF2B5EF4-FFF2-40B4-BE49-F238E27FC236}">
                <a16:creationId xmlns:a16="http://schemas.microsoft.com/office/drawing/2014/main" id="{F6F73DA6-2263-CC29-0726-7603CA0F21A6}"/>
              </a:ext>
            </a:extLst>
          </p:cNvPr>
          <p:cNvSpPr/>
          <p:nvPr/>
        </p:nvSpPr>
        <p:spPr>
          <a:xfrm>
            <a:off x="274320" y="659794"/>
            <a:ext cx="8595359" cy="530625"/>
          </a:xfrm>
          <a:prstGeom prst="rect">
            <a:avLst/>
          </a:prstGeom>
          <a:solidFill>
            <a:srgbClr val="1C3A52"/>
          </a:solidFill>
          <a:ln w="0">
            <a:noFill/>
          </a:ln>
        </p:spPr>
        <p:txBody>
          <a:bodyPr lIns="91440" tIns="45720" rIns="91440" bIns="45720" anchor="t"/>
          <a:lstStyle/>
          <a:p>
            <a:endParaRPr lang="en-US"/>
          </a:p>
        </p:txBody>
      </p:sp>
      <p:sp>
        <p:nvSpPr>
          <p:cNvPr id="11" name="StratText">
            <a:extLst>
              <a:ext uri="{FF2B5EF4-FFF2-40B4-BE49-F238E27FC236}">
                <a16:creationId xmlns:a16="http://schemas.microsoft.com/office/drawing/2014/main" id="{7C87F186-9138-2B36-41E9-7F2BB7460B65}"/>
              </a:ext>
            </a:extLst>
          </p:cNvPr>
          <p:cNvSpPr/>
          <p:nvPr/>
        </p:nvSpPr>
        <p:spPr>
          <a:xfrm>
            <a:off x="457200" y="736994"/>
            <a:ext cx="8238528" cy="376945"/>
          </a:xfrm>
          <a:prstGeom prst="rect">
            <a:avLst/>
          </a:prstGeom>
          <a:noFill/>
          <a:ln/>
        </p:spPr>
        <p:txBody>
          <a:bodyPr wrap="square" lIns="91440" tIns="45720" rIns="91440" bIns="45720" rtlCol="0" anchor="ctr"/>
          <a:lstStyle/>
          <a:p>
            <a:r>
              <a:rPr lang="en-US" sz="1200" b="1" dirty="0">
                <a:solidFill>
                  <a:schemeClr val="accent2">
                    <a:lumMod val="40000"/>
                    <a:lumOff val="60000"/>
                  </a:schemeClr>
                </a:solidFill>
                <a:latin typeface="Trebuchet MS"/>
                <a:ea typeface="Calibri"/>
                <a:cs typeface="Calibri"/>
              </a:rPr>
              <a:t>Why does data augmentation hurt the models? </a:t>
            </a:r>
            <a:r>
              <a:rPr lang="en-US" sz="1200" dirty="0">
                <a:solidFill>
                  <a:schemeClr val="bg1"/>
                </a:solidFill>
                <a:latin typeface="Calibri"/>
                <a:ea typeface="Calibri"/>
                <a:cs typeface="Calibri"/>
              </a:rPr>
              <a:t>Let's take a look at some samples from the dataset which feature the same Pokémon </a:t>
            </a:r>
            <a:r>
              <a:rPr lang="en-US" sz="1200" b="1" dirty="0">
                <a:solidFill>
                  <a:schemeClr val="accent2">
                    <a:lumMod val="40000"/>
                    <a:lumOff val="60000"/>
                  </a:schemeClr>
                </a:solidFill>
                <a:latin typeface="Trebuchet MS"/>
                <a:ea typeface="Calibri"/>
                <a:cs typeface="Calibri"/>
              </a:rPr>
              <a:t> </a:t>
            </a:r>
            <a:endParaRPr lang="en-US" sz="1200" dirty="0">
              <a:solidFill>
                <a:schemeClr val="accent2">
                  <a:lumMod val="40000"/>
                  <a:lumOff val="60000"/>
                </a:schemeClr>
              </a:solidFill>
              <a:latin typeface="Calibri"/>
              <a:ea typeface="Calibri"/>
              <a:cs typeface="Calibri"/>
            </a:endParaRPr>
          </a:p>
        </p:txBody>
      </p:sp>
      <p:sp>
        <p:nvSpPr>
          <p:cNvPr id="12" name="NumCircle">
            <a:extLst>
              <a:ext uri="{FF2B5EF4-FFF2-40B4-BE49-F238E27FC236}">
                <a16:creationId xmlns:a16="http://schemas.microsoft.com/office/drawing/2014/main" id="{5D4D01B2-87C7-6427-9C67-AAC1A5617321}"/>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pic>
        <p:nvPicPr>
          <p:cNvPr id="4" name="Picture 3" descr="A cartoon of a blue bird&#10;&#10;AI-generated content may be incorrect.">
            <a:extLst>
              <a:ext uri="{FF2B5EF4-FFF2-40B4-BE49-F238E27FC236}">
                <a16:creationId xmlns:a16="http://schemas.microsoft.com/office/drawing/2014/main" id="{2F5F8CF7-4031-BCBF-7782-91A802000151}"/>
              </a:ext>
            </a:extLst>
          </p:cNvPr>
          <p:cNvPicPr>
            <a:picLocks noChangeAspect="1"/>
          </p:cNvPicPr>
          <p:nvPr/>
        </p:nvPicPr>
        <p:blipFill>
          <a:blip r:embed="rId2"/>
          <a:stretch>
            <a:fillRect/>
          </a:stretch>
        </p:blipFill>
        <p:spPr>
          <a:xfrm>
            <a:off x="925378" y="1433916"/>
            <a:ext cx="1355455" cy="1365142"/>
          </a:xfrm>
          <a:prstGeom prst="rect">
            <a:avLst/>
          </a:prstGeom>
        </p:spPr>
      </p:pic>
      <p:pic>
        <p:nvPicPr>
          <p:cNvPr id="8" name="Picture 7" descr="A cartoon bird flying in the air&#10;&#10;AI-generated content may be incorrect.">
            <a:extLst>
              <a:ext uri="{FF2B5EF4-FFF2-40B4-BE49-F238E27FC236}">
                <a16:creationId xmlns:a16="http://schemas.microsoft.com/office/drawing/2014/main" id="{3C50916E-E0FC-9A85-49D1-52E3002C76C8}"/>
              </a:ext>
            </a:extLst>
          </p:cNvPr>
          <p:cNvPicPr>
            <a:picLocks noChangeAspect="1"/>
          </p:cNvPicPr>
          <p:nvPr/>
        </p:nvPicPr>
        <p:blipFill>
          <a:blip r:embed="rId3"/>
          <a:stretch>
            <a:fillRect/>
          </a:stretch>
        </p:blipFill>
        <p:spPr>
          <a:xfrm>
            <a:off x="2388030" y="1433916"/>
            <a:ext cx="1355455" cy="1365142"/>
          </a:xfrm>
          <a:prstGeom prst="rect">
            <a:avLst/>
          </a:prstGeom>
        </p:spPr>
      </p:pic>
      <p:pic>
        <p:nvPicPr>
          <p:cNvPr id="9" name="Picture 8" descr="A cartoon bird in the air&#10;&#10;AI-generated content may be incorrect.">
            <a:extLst>
              <a:ext uri="{FF2B5EF4-FFF2-40B4-BE49-F238E27FC236}">
                <a16:creationId xmlns:a16="http://schemas.microsoft.com/office/drawing/2014/main" id="{782EA57B-27C7-685F-0D5F-653D661BDF7F}"/>
              </a:ext>
            </a:extLst>
          </p:cNvPr>
          <p:cNvPicPr>
            <a:picLocks noChangeAspect="1"/>
          </p:cNvPicPr>
          <p:nvPr/>
        </p:nvPicPr>
        <p:blipFill>
          <a:blip r:embed="rId4"/>
          <a:stretch>
            <a:fillRect/>
          </a:stretch>
        </p:blipFill>
        <p:spPr>
          <a:xfrm>
            <a:off x="3840996" y="1433916"/>
            <a:ext cx="1355455" cy="1365142"/>
          </a:xfrm>
          <a:prstGeom prst="rect">
            <a:avLst/>
          </a:prstGeom>
        </p:spPr>
      </p:pic>
      <p:pic>
        <p:nvPicPr>
          <p:cNvPr id="13" name="Picture 12" descr="A cartoon of a blue dragon&#10;&#10;AI-generated content may be incorrect.">
            <a:extLst>
              <a:ext uri="{FF2B5EF4-FFF2-40B4-BE49-F238E27FC236}">
                <a16:creationId xmlns:a16="http://schemas.microsoft.com/office/drawing/2014/main" id="{8B8F9A2F-DFE0-A568-5915-A25786918F62}"/>
              </a:ext>
            </a:extLst>
          </p:cNvPr>
          <p:cNvPicPr>
            <a:picLocks noChangeAspect="1"/>
          </p:cNvPicPr>
          <p:nvPr/>
        </p:nvPicPr>
        <p:blipFill>
          <a:blip r:embed="rId5"/>
          <a:stretch>
            <a:fillRect/>
          </a:stretch>
        </p:blipFill>
        <p:spPr>
          <a:xfrm>
            <a:off x="5293962" y="1433916"/>
            <a:ext cx="1355455" cy="1365142"/>
          </a:xfrm>
          <a:prstGeom prst="rect">
            <a:avLst/>
          </a:prstGeom>
        </p:spPr>
      </p:pic>
      <p:pic>
        <p:nvPicPr>
          <p:cNvPr id="14" name="Picture 13" descr="A cartoon of a blue dragon&#10;&#10;AI-generated content may be incorrect.">
            <a:extLst>
              <a:ext uri="{FF2B5EF4-FFF2-40B4-BE49-F238E27FC236}">
                <a16:creationId xmlns:a16="http://schemas.microsoft.com/office/drawing/2014/main" id="{EA7CA163-5ECA-096D-252C-8A24B79B6A5F}"/>
              </a:ext>
            </a:extLst>
          </p:cNvPr>
          <p:cNvPicPr>
            <a:picLocks noChangeAspect="1"/>
          </p:cNvPicPr>
          <p:nvPr/>
        </p:nvPicPr>
        <p:blipFill>
          <a:blip r:embed="rId6"/>
          <a:stretch>
            <a:fillRect/>
          </a:stretch>
        </p:blipFill>
        <p:spPr>
          <a:xfrm>
            <a:off x="6746928" y="1433916"/>
            <a:ext cx="1355455" cy="1365142"/>
          </a:xfrm>
          <a:prstGeom prst="rect">
            <a:avLst/>
          </a:prstGeom>
        </p:spPr>
      </p:pic>
      <p:sp>
        <p:nvSpPr>
          <p:cNvPr id="18" name="L1bg">
            <a:extLst>
              <a:ext uri="{FF2B5EF4-FFF2-40B4-BE49-F238E27FC236}">
                <a16:creationId xmlns:a16="http://schemas.microsoft.com/office/drawing/2014/main" id="{7585FA0F-D284-CE19-CD47-E448C0EE2DDF}"/>
              </a:ext>
            </a:extLst>
          </p:cNvPr>
          <p:cNvSpPr/>
          <p:nvPr/>
        </p:nvSpPr>
        <p:spPr>
          <a:xfrm>
            <a:off x="735677" y="3009653"/>
            <a:ext cx="7514740" cy="1619953"/>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6" name="Text 8">
            <a:extLst>
              <a:ext uri="{FF2B5EF4-FFF2-40B4-BE49-F238E27FC236}">
                <a16:creationId xmlns:a16="http://schemas.microsoft.com/office/drawing/2014/main" id="{EF16EA7A-8BF6-C90D-A5B0-C71DE4180631}"/>
              </a:ext>
            </a:extLst>
          </p:cNvPr>
          <p:cNvSpPr/>
          <p:nvPr/>
        </p:nvSpPr>
        <p:spPr>
          <a:xfrm>
            <a:off x="871548" y="2940804"/>
            <a:ext cx="7247395" cy="1795088"/>
          </a:xfrm>
          <a:prstGeom prst="rect">
            <a:avLst/>
          </a:prstGeom>
          <a:noFill/>
          <a:ln/>
        </p:spPr>
        <p:txBody>
          <a:bodyPr wrap="square" lIns="0" tIns="0" rIns="0" bIns="0" rtlCol="0" anchor="ctr"/>
          <a:lstStyle/>
          <a:p>
            <a:pPr algn="ctr"/>
            <a:r>
              <a:rPr lang="en-US" sz="1200" dirty="0">
                <a:solidFill>
                  <a:srgbClr val="0D1B2A"/>
                </a:solidFill>
                <a:latin typeface="Calibri"/>
                <a:ea typeface="Calibri"/>
                <a:cs typeface="Calibri"/>
              </a:rPr>
              <a:t>From this small set of examples, we can see that the Pokémon always remains in the same upright position, facing the same direction, with the same colors, … and the only thing that changes are: its position in the picture, and the background. Since CNNs are invariant to the object's position in the picture, in reality, the only thing that really changes is the background. So, if we replace a training example that has all these characteristics with a flipped image of </a:t>
            </a:r>
            <a:r>
              <a:rPr lang="en-US" sz="1200" dirty="0" err="1">
                <a:solidFill>
                  <a:srgbClr val="0D1B2A"/>
                </a:solidFill>
                <a:latin typeface="Calibri"/>
                <a:ea typeface="Calibri"/>
                <a:cs typeface="Calibri"/>
              </a:rPr>
              <a:t>Golduck</a:t>
            </a:r>
            <a:r>
              <a:rPr lang="en-US" sz="1200" dirty="0">
                <a:solidFill>
                  <a:srgbClr val="0D1B2A"/>
                </a:solidFill>
                <a:latin typeface="Calibri"/>
                <a:ea typeface="Calibri"/>
                <a:cs typeface="Calibri"/>
              </a:rPr>
              <a:t> (for example), we're making the model learn something it will never "see" in </a:t>
            </a:r>
            <a:r>
              <a:rPr lang="en-US" sz="1200" dirty="0" err="1">
                <a:solidFill>
                  <a:srgbClr val="0D1B2A"/>
                </a:solidFill>
                <a:latin typeface="Calibri"/>
                <a:ea typeface="Calibri"/>
                <a:cs typeface="Calibri"/>
              </a:rPr>
              <a:t>val</a:t>
            </a:r>
            <a:r>
              <a:rPr lang="en-US" sz="1200" dirty="0">
                <a:solidFill>
                  <a:srgbClr val="0D1B2A"/>
                </a:solidFill>
                <a:latin typeface="Calibri"/>
                <a:ea typeface="Calibri"/>
                <a:cs typeface="Calibri"/>
              </a:rPr>
              <a:t>/test time by adding unnecessary noise, which hurts our model's performance (specially in the case of color changes and grayscale since, as explored in task 1, the color is one of the dominant factors in identifying a Pokémon's type).</a:t>
            </a:r>
          </a:p>
          <a:p>
            <a:pPr algn="ctr"/>
            <a:r>
              <a:rPr lang="en-US" sz="1200" dirty="0">
                <a:solidFill>
                  <a:srgbClr val="0D1B2A"/>
                </a:solidFill>
                <a:latin typeface="Calibri"/>
                <a:ea typeface="Calibri"/>
                <a:cs typeface="Calibri"/>
              </a:rPr>
              <a:t>Even though we're not trying to identify the Pokémon itself, but its type, this reasoning can be applied.</a:t>
            </a:r>
          </a:p>
        </p:txBody>
      </p:sp>
    </p:spTree>
    <p:extLst>
      <p:ext uri="{BB962C8B-B14F-4D97-AF65-F5344CB8AC3E}">
        <p14:creationId xmlns:p14="http://schemas.microsoft.com/office/powerpoint/2010/main" val="287872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20DBA-C0C8-B936-B404-531B75B11BDD}"/>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78A4461B-9052-84D0-F80D-C209FDDE5A8B}"/>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67E573CD-D168-C91A-2665-4C531A2E637F}"/>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a:extLst>
              <a:ext uri="{FF2B5EF4-FFF2-40B4-BE49-F238E27FC236}">
                <a16:creationId xmlns:a16="http://schemas.microsoft.com/office/drawing/2014/main" id="{7D693948-50AF-9A47-67E4-BFE886F2A5D4}"/>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Ensembles </a:t>
            </a:r>
          </a:p>
        </p:txBody>
      </p:sp>
      <p:sp>
        <p:nvSpPr>
          <p:cNvPr id="10" name="StratBG">
            <a:extLst>
              <a:ext uri="{FF2B5EF4-FFF2-40B4-BE49-F238E27FC236}">
                <a16:creationId xmlns:a16="http://schemas.microsoft.com/office/drawing/2014/main" id="{2A07AAD4-8B3E-34F1-4CFE-91180D8ECDE6}"/>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DF70A316-BC22-B5CA-52C0-184DD0665105}"/>
              </a:ext>
            </a:extLst>
          </p:cNvPr>
          <p:cNvSpPr/>
          <p:nvPr/>
        </p:nvSpPr>
        <p:spPr>
          <a:xfrm>
            <a:off x="457200" y="777240"/>
            <a:ext cx="8228160" cy="666720"/>
          </a:xfrm>
          <a:prstGeom prst="rect">
            <a:avLst/>
          </a:prstGeom>
          <a:noFill/>
          <a:ln/>
        </p:spPr>
        <p:txBody>
          <a:bodyPr wrap="square" lIns="91440" tIns="45720" rIns="91440" bIns="45720" rtlCol="0" anchor="ctr"/>
          <a:lstStyle/>
          <a:p>
            <a:r>
              <a:rPr lang="en-US" sz="1200" b="1" dirty="0">
                <a:solidFill>
                  <a:schemeClr val="accent2">
                    <a:lumMod val="40000"/>
                    <a:lumOff val="60000"/>
                  </a:schemeClr>
                </a:solidFill>
                <a:latin typeface="Trebuchet MS"/>
              </a:rPr>
              <a:t>Strategy</a:t>
            </a:r>
            <a:r>
              <a:rPr lang="en-US" sz="1200" b="1" dirty="0">
                <a:solidFill>
                  <a:srgbClr val="00A896"/>
                </a:solidFill>
                <a:latin typeface="Trebuchet MS"/>
              </a:rPr>
              <a:t>: </a:t>
            </a:r>
            <a:r>
              <a:rPr lang="en-US" sz="1200" dirty="0">
                <a:solidFill>
                  <a:schemeClr val="bg1"/>
                </a:solidFill>
                <a:latin typeface="Calibri"/>
                <a:ea typeface="Calibri"/>
                <a:cs typeface="Calibri"/>
              </a:rPr>
              <a:t>Even though some of our models achieve a perfect score, we still decided to combine other to see if the results </a:t>
            </a:r>
            <a:r>
              <a:rPr lang="en-US" sz="1200">
                <a:solidFill>
                  <a:schemeClr val="bg1"/>
                </a:solidFill>
                <a:latin typeface="Calibri"/>
                <a:ea typeface="Calibri"/>
                <a:cs typeface="Calibri"/>
              </a:rPr>
              <a:t>changed significantly by combining</a:t>
            </a:r>
            <a:r>
              <a:rPr lang="en-US" sz="1200" dirty="0">
                <a:solidFill>
                  <a:schemeClr val="bg1"/>
                </a:solidFill>
                <a:latin typeface="Calibri"/>
                <a:ea typeface="Calibri"/>
                <a:cs typeface="Calibri"/>
              </a:rPr>
              <a:t> models. </a:t>
            </a:r>
          </a:p>
          <a:p>
            <a:pPr>
              <a:buNone/>
            </a:pPr>
            <a:r>
              <a:rPr lang="en-US" sz="1200">
                <a:solidFill>
                  <a:schemeClr val="bg1"/>
                </a:solidFill>
                <a:latin typeface="Calibri"/>
                <a:ea typeface="Calibri"/>
                <a:cs typeface="Calibri"/>
              </a:rPr>
              <a:t>To help analyze possible good combinations we drew a heat map so we can  see the results of each model for each class. </a:t>
            </a:r>
          </a:p>
        </p:txBody>
      </p:sp>
      <p:sp>
        <p:nvSpPr>
          <p:cNvPr id="15" name="Shape 5">
            <a:extLst>
              <a:ext uri="{FF2B5EF4-FFF2-40B4-BE49-F238E27FC236}">
                <a16:creationId xmlns:a16="http://schemas.microsoft.com/office/drawing/2014/main" id="{E0663452-87F6-D497-728F-C9322AD6EC4A}"/>
              </a:ext>
            </a:extLst>
          </p:cNvPr>
          <p:cNvSpPr/>
          <p:nvPr/>
        </p:nvSpPr>
        <p:spPr>
          <a:xfrm>
            <a:off x="5482304" y="2182507"/>
            <a:ext cx="3391508" cy="1925755"/>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Text 7">
            <a:extLst>
              <a:ext uri="{FF2B5EF4-FFF2-40B4-BE49-F238E27FC236}">
                <a16:creationId xmlns:a16="http://schemas.microsoft.com/office/drawing/2014/main" id="{AD56327E-0491-8598-A5AA-01C1F736B423}"/>
              </a:ext>
            </a:extLst>
          </p:cNvPr>
          <p:cNvSpPr/>
          <p:nvPr/>
        </p:nvSpPr>
        <p:spPr>
          <a:xfrm>
            <a:off x="6065039" y="2180339"/>
            <a:ext cx="2221523" cy="457200"/>
          </a:xfrm>
          <a:prstGeom prst="rect">
            <a:avLst/>
          </a:prstGeom>
          <a:noFill/>
          <a:ln/>
        </p:spPr>
        <p:txBody>
          <a:bodyPr wrap="square" lIns="0" tIns="0" rIns="0" bIns="0" rtlCol="0" anchor="ctr"/>
          <a:lstStyle/>
          <a:p>
            <a:r>
              <a:rPr lang="en-US" sz="2000" b="1">
                <a:solidFill>
                  <a:srgbClr val="E97C35"/>
                </a:solidFill>
                <a:latin typeface="Trebuchet MS"/>
                <a:ea typeface="Trebuchet MS" pitchFamily="34" charset="-122"/>
                <a:cs typeface="Trebuchet MS" pitchFamily="34" charset="-120"/>
              </a:rPr>
              <a:t>Ensemble ~ Solo </a:t>
            </a:r>
            <a:r>
              <a:rPr lang="en-US" sz="2000" b="1" dirty="0">
                <a:solidFill>
                  <a:srgbClr val="E97C35"/>
                </a:solidFill>
                <a:latin typeface="Trebuchet MS"/>
                <a:ea typeface="Trebuchet MS" pitchFamily="34" charset="-122"/>
                <a:cs typeface="Trebuchet MS" pitchFamily="34" charset="-120"/>
              </a:rPr>
              <a:t>?</a:t>
            </a:r>
            <a:endParaRPr lang="en-US" sz="2000" dirty="0"/>
          </a:p>
        </p:txBody>
      </p:sp>
      <p:sp>
        <p:nvSpPr>
          <p:cNvPr id="18" name="Text 8">
            <a:extLst>
              <a:ext uri="{FF2B5EF4-FFF2-40B4-BE49-F238E27FC236}">
                <a16:creationId xmlns:a16="http://schemas.microsoft.com/office/drawing/2014/main" id="{CA3265F7-68AB-AC6B-0F78-7A1746516426}"/>
              </a:ext>
            </a:extLst>
          </p:cNvPr>
          <p:cNvSpPr/>
          <p:nvPr/>
        </p:nvSpPr>
        <p:spPr>
          <a:xfrm>
            <a:off x="5600090" y="2636454"/>
            <a:ext cx="3089680" cy="1338743"/>
          </a:xfrm>
          <a:prstGeom prst="rect">
            <a:avLst/>
          </a:prstGeom>
          <a:noFill/>
          <a:ln/>
        </p:spPr>
        <p:txBody>
          <a:bodyPr wrap="square" lIns="0" tIns="0" rIns="0" bIns="0" rtlCol="0" anchor="ctr"/>
          <a:lstStyle/>
          <a:p>
            <a:r>
              <a:rPr lang="en-US" sz="1100">
                <a:solidFill>
                  <a:srgbClr val="3D5A73"/>
                </a:solidFill>
                <a:latin typeface="Calibri"/>
                <a:ea typeface="Calibri"/>
                <a:cs typeface="Calibri"/>
              </a:rPr>
              <a:t>We tried 2 different combinations:</a:t>
            </a:r>
          </a:p>
          <a:p>
            <a:pPr marL="171450" indent="-171450">
              <a:buFont typeface="Arial"/>
              <a:buChar char="•"/>
            </a:pPr>
            <a:r>
              <a:rPr lang="en-US" sz="1100">
                <a:solidFill>
                  <a:srgbClr val="3D5A73"/>
                </a:solidFill>
                <a:latin typeface="Calibri"/>
                <a:ea typeface="Calibri"/>
                <a:cs typeface="Calibri"/>
              </a:rPr>
              <a:t>C + H: could a bad model like C affect the performance in an ensemble with H?</a:t>
            </a:r>
          </a:p>
          <a:p>
            <a:pPr marL="171450" indent="-171450">
              <a:buFont typeface="Arial"/>
              <a:buChar char="•"/>
            </a:pPr>
            <a:r>
              <a:rPr lang="en-US" sz="1100" dirty="0">
                <a:solidFill>
                  <a:srgbClr val="3D5A73"/>
                </a:solidFill>
                <a:latin typeface="Calibri"/>
                <a:ea typeface="Calibri"/>
                <a:cs typeface="Calibri"/>
              </a:rPr>
              <a:t>I + K: could two models with </a:t>
            </a:r>
            <a:r>
              <a:rPr lang="en-US" sz="1100" dirty="0" err="1">
                <a:solidFill>
                  <a:srgbClr val="3D5A73"/>
                </a:solidFill>
                <a:latin typeface="Calibri"/>
                <a:ea typeface="Calibri"/>
                <a:cs typeface="Calibri"/>
              </a:rPr>
              <a:t>val</a:t>
            </a:r>
            <a:r>
              <a:rPr lang="en-US" sz="1100" dirty="0">
                <a:solidFill>
                  <a:srgbClr val="3D5A73"/>
                </a:solidFill>
                <a:latin typeface="Calibri"/>
                <a:ea typeface="Calibri"/>
                <a:cs typeface="Calibri"/>
              </a:rPr>
              <a:t> score 1.0 be combined together to get a worse performance? (much likely not... but let's test it anyway)</a:t>
            </a:r>
          </a:p>
        </p:txBody>
      </p:sp>
      <p:sp>
        <p:nvSpPr>
          <p:cNvPr id="9" name="NumCircle">
            <a:extLst>
              <a:ext uri="{FF2B5EF4-FFF2-40B4-BE49-F238E27FC236}">
                <a16:creationId xmlns:a16="http://schemas.microsoft.com/office/drawing/2014/main" id="{3FC19CEC-77FF-F306-BE08-9D032A075334}"/>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pic>
        <p:nvPicPr>
          <p:cNvPr id="4" name="Picture 3" descr="A red and yellow chart&#10;&#10;AI-generated content may be incorrect.">
            <a:extLst>
              <a:ext uri="{FF2B5EF4-FFF2-40B4-BE49-F238E27FC236}">
                <a16:creationId xmlns:a16="http://schemas.microsoft.com/office/drawing/2014/main" id="{F4969307-FC84-7CB8-B9B5-F395526D20A7}"/>
              </a:ext>
            </a:extLst>
          </p:cNvPr>
          <p:cNvPicPr>
            <a:picLocks noChangeAspect="1"/>
          </p:cNvPicPr>
          <p:nvPr/>
        </p:nvPicPr>
        <p:blipFill>
          <a:blip r:embed="rId2"/>
          <a:srcRect l="2135" t="2808" r="384" b="19870"/>
          <a:stretch>
            <a:fillRect/>
          </a:stretch>
        </p:blipFill>
        <p:spPr>
          <a:xfrm>
            <a:off x="289266" y="1592567"/>
            <a:ext cx="4916359" cy="3465387"/>
          </a:xfrm>
          <a:prstGeom prst="rect">
            <a:avLst/>
          </a:prstGeom>
        </p:spPr>
      </p:pic>
      <p:sp>
        <p:nvSpPr>
          <p:cNvPr id="6" name="Text 7">
            <a:extLst>
              <a:ext uri="{FF2B5EF4-FFF2-40B4-BE49-F238E27FC236}">
                <a16:creationId xmlns:a16="http://schemas.microsoft.com/office/drawing/2014/main" id="{2A16F330-39AD-2554-5B80-0925945D4A7A}"/>
              </a:ext>
            </a:extLst>
          </p:cNvPr>
          <p:cNvSpPr/>
          <p:nvPr/>
        </p:nvSpPr>
        <p:spPr>
          <a:xfrm>
            <a:off x="7275844" y="2122219"/>
            <a:ext cx="2221523" cy="457200"/>
          </a:xfrm>
          <a:prstGeom prst="rect">
            <a:avLst/>
          </a:prstGeom>
          <a:noFill/>
          <a:ln/>
        </p:spPr>
        <p:txBody>
          <a:bodyPr wrap="square" lIns="0" tIns="0" rIns="0" bIns="0" rtlCol="0" anchor="ctr"/>
          <a:lstStyle/>
          <a:p>
            <a:r>
              <a:rPr lang="en-US" sz="2000" b="1">
                <a:solidFill>
                  <a:srgbClr val="E97C35"/>
                </a:solidFill>
                <a:latin typeface="Trebuchet MS"/>
                <a:ea typeface="Trebuchet MS" pitchFamily="34" charset="-122"/>
                <a:cs typeface="Trebuchet MS" pitchFamily="34" charset="-120"/>
              </a:rPr>
              <a:t>~</a:t>
            </a:r>
            <a:endParaRPr lang="en-US" sz="2000" b="1">
              <a:solidFill>
                <a:srgbClr val="E97C35"/>
              </a:solidFill>
              <a:latin typeface="Trebuchet MS"/>
            </a:endParaRPr>
          </a:p>
        </p:txBody>
      </p:sp>
    </p:spTree>
    <p:extLst>
      <p:ext uri="{BB962C8B-B14F-4D97-AF65-F5344CB8AC3E}">
        <p14:creationId xmlns:p14="http://schemas.microsoft.com/office/powerpoint/2010/main" val="1377209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605B-F91C-8BED-A99C-00973EA5BF5E}"/>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0433D6D9-B431-49A0-73F8-32CD6A043E3C}"/>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39AA655E-DFCA-46F8-1411-C263A94E8474}"/>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a:extLst>
              <a:ext uri="{FF2B5EF4-FFF2-40B4-BE49-F238E27FC236}">
                <a16:creationId xmlns:a16="http://schemas.microsoft.com/office/drawing/2014/main" id="{82A82709-0143-C331-BD57-F8B66A35CDE5}"/>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Ensembles </a:t>
            </a:r>
          </a:p>
        </p:txBody>
      </p:sp>
      <p:sp>
        <p:nvSpPr>
          <p:cNvPr id="10" name="StratBG">
            <a:extLst>
              <a:ext uri="{FF2B5EF4-FFF2-40B4-BE49-F238E27FC236}">
                <a16:creationId xmlns:a16="http://schemas.microsoft.com/office/drawing/2014/main" id="{9497CC0E-4D3A-DEA6-62AE-2F146282352C}"/>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80A605B7-BDF3-4C82-B145-232665F7E2ED}"/>
              </a:ext>
            </a:extLst>
          </p:cNvPr>
          <p:cNvSpPr/>
          <p:nvPr/>
        </p:nvSpPr>
        <p:spPr>
          <a:xfrm>
            <a:off x="457200" y="777240"/>
            <a:ext cx="8228160" cy="666720"/>
          </a:xfrm>
          <a:prstGeom prst="rect">
            <a:avLst/>
          </a:prstGeom>
          <a:noFill/>
          <a:ln/>
        </p:spPr>
        <p:txBody>
          <a:bodyPr wrap="square" lIns="91440" tIns="45720" rIns="91440" bIns="45720" rtlCol="0" anchor="ctr"/>
          <a:lstStyle/>
          <a:p>
            <a:r>
              <a:rPr lang="en-US" sz="1200" b="1" dirty="0">
                <a:solidFill>
                  <a:schemeClr val="accent2">
                    <a:lumMod val="40000"/>
                    <a:lumOff val="60000"/>
                  </a:schemeClr>
                </a:solidFill>
                <a:latin typeface="Trebuchet MS"/>
              </a:rPr>
              <a:t>Strategy</a:t>
            </a:r>
            <a:r>
              <a:rPr lang="en-US" sz="1200" b="1" dirty="0">
                <a:solidFill>
                  <a:srgbClr val="00A896"/>
                </a:solidFill>
                <a:latin typeface="Trebuchet MS"/>
              </a:rPr>
              <a:t>: </a:t>
            </a:r>
            <a:r>
              <a:rPr lang="en-US" sz="1200" dirty="0">
                <a:solidFill>
                  <a:schemeClr val="bg1"/>
                </a:solidFill>
                <a:latin typeface="Calibri"/>
                <a:ea typeface="Calibri"/>
                <a:cs typeface="Calibri"/>
              </a:rPr>
              <a:t>As it turns out, [I + K] still gets a validation score of 1.0 as we expected, but [C + H]'s performance stays relatively similar to just using H (with some variance), even though C got a weight of 0.4 and H 0.6. C's bad performance is not enough to drag the ensemble's performance down</a:t>
            </a:r>
          </a:p>
        </p:txBody>
      </p:sp>
      <p:sp>
        <p:nvSpPr>
          <p:cNvPr id="9" name="NumCircle">
            <a:extLst>
              <a:ext uri="{FF2B5EF4-FFF2-40B4-BE49-F238E27FC236}">
                <a16:creationId xmlns:a16="http://schemas.microsoft.com/office/drawing/2014/main" id="{D14A1906-5B7B-814C-FBC6-9376987DB7A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pic>
        <p:nvPicPr>
          <p:cNvPr id="13" name="Picture 12" descr="A graph of a number of blue and orange bars&#10;&#10;AI-generated content may be incorrect.">
            <a:extLst>
              <a:ext uri="{FF2B5EF4-FFF2-40B4-BE49-F238E27FC236}">
                <a16:creationId xmlns:a16="http://schemas.microsoft.com/office/drawing/2014/main" id="{75E61C24-6BA4-F317-6A7B-8AC21A3B72ED}"/>
              </a:ext>
            </a:extLst>
          </p:cNvPr>
          <p:cNvPicPr>
            <a:picLocks noChangeAspect="1"/>
          </p:cNvPicPr>
          <p:nvPr/>
        </p:nvPicPr>
        <p:blipFill>
          <a:blip r:embed="rId2"/>
          <a:srcRect t="83" r="-135" b="49906"/>
          <a:stretch>
            <a:fillRect/>
          </a:stretch>
        </p:blipFill>
        <p:spPr>
          <a:xfrm>
            <a:off x="272939" y="1747812"/>
            <a:ext cx="8598137" cy="3095413"/>
          </a:xfrm>
          <a:prstGeom prst="rect">
            <a:avLst/>
          </a:prstGeom>
        </p:spPr>
      </p:pic>
    </p:spTree>
    <p:extLst>
      <p:ext uri="{BB962C8B-B14F-4D97-AF65-F5344CB8AC3E}">
        <p14:creationId xmlns:p14="http://schemas.microsoft.com/office/powerpoint/2010/main" val="2389097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What Worked vs. What Did Not</a:t>
            </a:r>
          </a:p>
        </p:txBody>
      </p:sp>
      <p:sp>
        <p:nvSpPr>
          <p:cNvPr id="10" name="WW_BG"/>
          <p:cNvSpPr/>
          <p:nvPr/>
        </p:nvSpPr>
        <p:spPr>
          <a:xfrm>
            <a:off x="274320" y="740160"/>
            <a:ext cx="42055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WW_bar"/>
          <p:cNvSpPr/>
          <p:nvPr/>
        </p:nvSpPr>
        <p:spPr>
          <a:xfrm>
            <a:off x="274320" y="740160"/>
            <a:ext cx="4205520" cy="128016"/>
          </a:xfrm>
          <a:prstGeom prst="rect">
            <a:avLst/>
          </a:prstGeom>
          <a:solidFill>
            <a:srgbClr val="00A896"/>
          </a:solidFill>
          <a:ln w="0">
            <a:noFill/>
          </a:ln>
        </p:spPr>
        <p:txBody>
          <a:bodyPr/>
          <a:lstStyle/>
          <a:p>
            <a:endParaRPr lang="en-US"/>
          </a:p>
        </p:txBody>
      </p:sp>
      <p:sp>
        <p:nvSpPr>
          <p:cNvPr id="12" name="WW_text"/>
          <p:cNvSpPr/>
          <p:nvPr/>
        </p:nvSpPr>
        <p:spPr>
          <a:xfrm>
            <a:off x="457200" y="905040"/>
            <a:ext cx="3840480" cy="3612240"/>
          </a:xfrm>
          <a:prstGeom prst="rect">
            <a:avLst/>
          </a:prstGeom>
          <a:noFill/>
          <a:ln/>
        </p:spPr>
        <p:txBody>
          <a:bodyPr wrap="square" lIns="91440" tIns="45720" rIns="91440" bIns="45720" rtlCol="0" anchor="t"/>
          <a:lstStyle/>
          <a:p>
            <a:pPr>
              <a:buNone/>
            </a:pPr>
            <a:r>
              <a:rPr lang="en-US" sz="1400" b="1">
                <a:solidFill>
                  <a:srgbClr val="00A896"/>
                </a:solidFill>
                <a:latin typeface="Trebuchet MS"/>
              </a:rPr>
              <a:t>What Worked</a:t>
            </a:r>
          </a:p>
          <a:p>
            <a:pPr marL="228600" indent="-228600">
              <a:buChar char="✓"/>
            </a:pPr>
            <a:r>
              <a:rPr lang="en-US" sz="1100" b="1" dirty="0">
                <a:solidFill>
                  <a:srgbClr val="028090"/>
                </a:solidFill>
                <a:latin typeface="Calibri" pitchFamily="34" charset="0"/>
              </a:rPr>
              <a:t>Dropout 0.3</a:t>
            </a:r>
          </a:p>
          <a:p>
            <a:r>
              <a:rPr lang="en-US" sz="1100" b="1" dirty="0">
                <a:solidFill>
                  <a:srgbClr val="028090"/>
                </a:solidFill>
                <a:latin typeface="Calibri" pitchFamily="34" charset="0"/>
              </a:rPr>
              <a:t>	</a:t>
            </a:r>
            <a:r>
              <a:rPr lang="en-US" sz="1000" dirty="0">
                <a:solidFill>
                  <a:srgbClr val="1A2B3C"/>
                </a:solidFill>
                <a:latin typeface="Calibri" pitchFamily="34" charset="0"/>
              </a:rPr>
              <a:t>- 0.4 was too heavy, 0.15 too light</a:t>
            </a:r>
          </a:p>
          <a:p>
            <a:pPr marL="228600" indent="-228600">
              <a:buChar char="✓"/>
            </a:pPr>
            <a:r>
              <a:rPr lang="en-US" sz="1100" b="1" dirty="0">
                <a:solidFill>
                  <a:srgbClr val="028090"/>
                </a:solidFill>
                <a:latin typeface="Calibri" pitchFamily="34" charset="0"/>
              </a:rPr>
              <a:t>Weighted </a:t>
            </a:r>
            <a:r>
              <a:rPr lang="en-US" sz="1100" b="1" dirty="0" err="1">
                <a:solidFill>
                  <a:srgbClr val="028090"/>
                </a:solidFill>
                <a:latin typeface="Calibri" pitchFamily="34" charset="0"/>
              </a:rPr>
              <a:t>CrossEntropyLoss</a:t>
            </a:r>
            <a:r>
              <a:rPr lang="en-US" sz="1100" b="1" dirty="0">
                <a:solidFill>
                  <a:srgbClr val="028090"/>
                </a:solidFill>
                <a:latin typeface="Calibri" pitchFamily="34" charset="0"/>
              </a:rPr>
              <a:t> </a:t>
            </a:r>
          </a:p>
          <a:p>
            <a:pPr lvl="1"/>
            <a:r>
              <a:rPr lang="en-US" sz="1000" dirty="0">
                <a:solidFill>
                  <a:srgbClr val="1A2B3C"/>
                </a:solidFill>
                <a:latin typeface="Calibri" pitchFamily="34" charset="0"/>
              </a:rPr>
              <a:t>- prevents collapse on minority classes (Ground, Rock)</a:t>
            </a:r>
          </a:p>
          <a:p>
            <a:pPr marL="228600" indent="-228600">
              <a:buChar char="✓"/>
            </a:pPr>
            <a:r>
              <a:rPr lang="en-US" sz="1100" b="1" dirty="0" err="1">
                <a:solidFill>
                  <a:srgbClr val="028090"/>
                </a:solidFill>
                <a:latin typeface="Calibri" pitchFamily="34" charset="0"/>
              </a:rPr>
              <a:t>WeightedRandomSampler</a:t>
            </a:r>
            <a:r>
              <a:rPr lang="en-US" sz="1100" b="1" dirty="0">
                <a:solidFill>
                  <a:srgbClr val="028090"/>
                </a:solidFill>
                <a:latin typeface="Calibri" pitchFamily="34" charset="0"/>
              </a:rPr>
              <a:t> </a:t>
            </a:r>
          </a:p>
          <a:p>
            <a:pPr lvl="1"/>
            <a:r>
              <a:rPr lang="en-US" sz="1000">
                <a:solidFill>
                  <a:srgbClr val="1A2B3C"/>
                </a:solidFill>
                <a:latin typeface="Calibri"/>
                <a:ea typeface="Calibri"/>
                <a:cs typeface="Calibri"/>
              </a:rPr>
              <a:t>- all top models use it</a:t>
            </a:r>
          </a:p>
          <a:p>
            <a:pPr marL="228600" indent="-228600">
              <a:buChar char="✓"/>
            </a:pPr>
            <a:r>
              <a:rPr lang="en-US" sz="1100" b="1" dirty="0" err="1">
                <a:solidFill>
                  <a:srgbClr val="028090"/>
                </a:solidFill>
                <a:latin typeface="Calibri"/>
                <a:ea typeface="Calibri"/>
                <a:cs typeface="Calibri"/>
              </a:rPr>
              <a:t>BatchNorm</a:t>
            </a:r>
            <a:endParaRPr lang="en-US" sz="1100" b="1" dirty="0" err="1">
              <a:solidFill>
                <a:srgbClr val="028090"/>
              </a:solidFill>
              <a:latin typeface="Calibri" pitchFamily="34" charset="0"/>
              <a:ea typeface="Calibri"/>
              <a:cs typeface="Calibri"/>
            </a:endParaRPr>
          </a:p>
          <a:p>
            <a:pPr lvl="1"/>
            <a:r>
              <a:rPr lang="en-US" sz="1000">
                <a:solidFill>
                  <a:srgbClr val="1A2B3C"/>
                </a:solidFill>
                <a:latin typeface="Calibri"/>
                <a:ea typeface="Calibri"/>
                <a:cs typeface="Calibri"/>
              </a:rPr>
              <a:t>- stabilizes gradients; increases training speed effectively</a:t>
            </a:r>
          </a:p>
          <a:p>
            <a:pPr marL="228600" indent="-228600">
              <a:buChar char="✓"/>
            </a:pPr>
            <a:r>
              <a:rPr lang="en-US" sz="1100" b="1">
                <a:solidFill>
                  <a:srgbClr val="028090"/>
                </a:solidFill>
                <a:latin typeface="Calibri"/>
                <a:ea typeface="Calibri"/>
                <a:cs typeface="Calibri"/>
              </a:rPr>
              <a:t>Deeper/Wider networks</a:t>
            </a:r>
            <a:endParaRPr lang="en-US" dirty="0"/>
          </a:p>
          <a:p>
            <a:pPr lvl="1"/>
            <a:r>
              <a:rPr lang="en-US" sz="1000">
                <a:solidFill>
                  <a:srgbClr val="1A2B3C"/>
                </a:solidFill>
                <a:latin typeface="Calibri"/>
                <a:ea typeface="Calibri"/>
                <a:cs typeface="Calibri"/>
              </a:rPr>
              <a:t>- increases the amount of information/detail passed to the classifier </a:t>
            </a:r>
            <a:r>
              <a:rPr lang="en-US" sz="1000" dirty="0">
                <a:solidFill>
                  <a:srgbClr val="1A2B3C"/>
                </a:solidFill>
                <a:latin typeface="Calibri"/>
                <a:ea typeface="Calibri"/>
                <a:cs typeface="Calibri"/>
              </a:rPr>
              <a:t>head</a:t>
            </a:r>
          </a:p>
        </p:txBody>
      </p:sp>
      <p:sp>
        <p:nvSpPr>
          <p:cNvPr id="20" name="WND_BG"/>
          <p:cNvSpPr/>
          <p:nvPr/>
        </p:nvSpPr>
        <p:spPr>
          <a:xfrm>
            <a:off x="4663920" y="740160"/>
            <a:ext cx="42055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WND_bar"/>
          <p:cNvSpPr/>
          <p:nvPr/>
        </p:nvSpPr>
        <p:spPr>
          <a:xfrm>
            <a:off x="4663920" y="740160"/>
            <a:ext cx="4205520" cy="128016"/>
          </a:xfrm>
          <a:prstGeom prst="rect">
            <a:avLst/>
          </a:prstGeom>
          <a:solidFill>
            <a:srgbClr val="C0392B"/>
          </a:solidFill>
          <a:ln w="0">
            <a:noFill/>
          </a:ln>
        </p:spPr>
        <p:txBody>
          <a:bodyPr/>
          <a:lstStyle/>
          <a:p>
            <a:endParaRPr lang="en-US"/>
          </a:p>
        </p:txBody>
      </p:sp>
      <p:sp>
        <p:nvSpPr>
          <p:cNvPr id="22" name="WND_text"/>
          <p:cNvSpPr/>
          <p:nvPr/>
        </p:nvSpPr>
        <p:spPr>
          <a:xfrm>
            <a:off x="4846800" y="905040"/>
            <a:ext cx="3840480" cy="3612240"/>
          </a:xfrm>
          <a:prstGeom prst="rect">
            <a:avLst/>
          </a:prstGeom>
          <a:noFill/>
          <a:ln/>
        </p:spPr>
        <p:txBody>
          <a:bodyPr wrap="square" lIns="91440" tIns="45720" rIns="91440" bIns="45720" rtlCol="0" anchor="t"/>
          <a:lstStyle/>
          <a:p>
            <a:pPr>
              <a:buNone/>
            </a:pPr>
            <a:r>
              <a:rPr lang="en-US" sz="1400" b="1" dirty="0">
                <a:solidFill>
                  <a:srgbClr val="C0392B"/>
                </a:solidFill>
                <a:latin typeface="Trebuchet MS"/>
              </a:rPr>
              <a:t>What Did Not Work</a:t>
            </a:r>
          </a:p>
          <a:p>
            <a:pPr marL="228600" indent="-228600">
              <a:buChar char="✗"/>
            </a:pPr>
            <a:r>
              <a:rPr lang="en-US" sz="1100" b="1" dirty="0">
                <a:solidFill>
                  <a:srgbClr val="C0392B"/>
                </a:solidFill>
                <a:latin typeface="Calibri"/>
                <a:ea typeface="Calibri"/>
                <a:cs typeface="Calibri"/>
              </a:rPr>
              <a:t>Augmentation (flip/jitter/rotate/...) </a:t>
            </a:r>
          </a:p>
          <a:p>
            <a:pPr lvl="1"/>
            <a:r>
              <a:rPr lang="en-US" sz="1000" b="1" dirty="0">
                <a:solidFill>
                  <a:srgbClr val="C0392B"/>
                </a:solidFill>
                <a:latin typeface="Calibri"/>
                <a:ea typeface="Calibri"/>
                <a:cs typeface="Calibri"/>
              </a:rPr>
              <a:t>- </a:t>
            </a:r>
            <a:r>
              <a:rPr lang="en-US" sz="1000" dirty="0">
                <a:solidFill>
                  <a:srgbClr val="1A2B3C"/>
                </a:solidFill>
                <a:latin typeface="Calibri"/>
                <a:ea typeface="Calibri"/>
                <a:cs typeface="Calibri"/>
              </a:rPr>
              <a:t>0.0149 F1; the Pokémons are always the same way, the only thing that changes are the background at the position; CNNs are translation invariant so the only real thing that changes for our network is the background. The more aggressive the augmentation is the bigger the decay in performance</a:t>
            </a:r>
          </a:p>
          <a:p>
            <a:pPr marL="228600" indent="-228600">
              <a:buChar char="✗"/>
            </a:pPr>
            <a:r>
              <a:rPr lang="en-US" sz="1100" b="1" dirty="0">
                <a:solidFill>
                  <a:srgbClr val="C0392B"/>
                </a:solidFill>
                <a:latin typeface="Calibri"/>
                <a:ea typeface="Calibri"/>
                <a:cs typeface="Calibri"/>
              </a:rPr>
              <a:t>Many FC layers</a:t>
            </a:r>
          </a:p>
          <a:p>
            <a:pPr lvl="1"/>
            <a:r>
              <a:rPr lang="en-US" sz="1000" dirty="0">
                <a:solidFill>
                  <a:srgbClr val="1A2B3C"/>
                </a:solidFill>
                <a:latin typeface="Calibri"/>
                <a:ea typeface="Calibri"/>
                <a:cs typeface="Calibri"/>
              </a:rPr>
              <a:t>- 3 or more FC layers starts giving us a slower training and worse results (parameters increase a lot if our convolution channels are wide); keep it simple and let convolutional layers learn the information, then pass them to minimal FC layers</a:t>
            </a:r>
          </a:p>
          <a:p>
            <a:pPr marL="228600" indent="-228600">
              <a:buChar char="✗"/>
            </a:pPr>
            <a:r>
              <a:rPr lang="en-US" sz="1100" b="1" dirty="0">
                <a:solidFill>
                  <a:srgbClr val="C0392B"/>
                </a:solidFill>
                <a:latin typeface="Calibri" pitchFamily="34" charset="0"/>
              </a:rPr>
              <a:t>Grayscale input </a:t>
            </a:r>
          </a:p>
          <a:p>
            <a:pPr lvl="1"/>
            <a:r>
              <a:rPr lang="en-US" sz="1000" b="1" dirty="0">
                <a:solidFill>
                  <a:srgbClr val="C0392B"/>
                </a:solidFill>
                <a:latin typeface="Calibri"/>
                <a:ea typeface="Calibri"/>
                <a:cs typeface="Calibri"/>
              </a:rPr>
              <a:t>-  </a:t>
            </a:r>
            <a:r>
              <a:rPr lang="en-US" sz="1000" dirty="0">
                <a:solidFill>
                  <a:srgbClr val="1A2B3C"/>
                </a:solidFill>
                <a:latin typeface="Calibri"/>
                <a:ea typeface="Calibri"/>
                <a:cs typeface="Calibri"/>
              </a:rPr>
              <a:t>0.0481; </a:t>
            </a:r>
            <a:r>
              <a:rPr lang="en-US" sz="1000" dirty="0" err="1">
                <a:solidFill>
                  <a:srgbClr val="1A2B3C"/>
                </a:solidFill>
                <a:latin typeface="Calibri"/>
                <a:ea typeface="Calibri"/>
                <a:cs typeface="Calibri"/>
              </a:rPr>
              <a:t>colour</a:t>
            </a:r>
            <a:r>
              <a:rPr lang="en-US" sz="1000" dirty="0">
                <a:solidFill>
                  <a:srgbClr val="1A2B3C"/>
                </a:solidFill>
                <a:latin typeface="Calibri"/>
                <a:ea typeface="Calibri"/>
                <a:cs typeface="Calibri"/>
              </a:rPr>
              <a:t> is a key discriminative signal, removing it degrades performance</a:t>
            </a:r>
          </a:p>
          <a:p>
            <a:pPr marL="228600" indent="-228600">
              <a:buChar char="✗"/>
            </a:pPr>
            <a:r>
              <a:rPr lang="en-US" sz="1100" b="1" dirty="0">
                <a:solidFill>
                  <a:srgbClr val="C0392B"/>
                </a:solidFill>
                <a:latin typeface="Calibri"/>
                <a:ea typeface="Calibri"/>
                <a:cs typeface="Calibri"/>
              </a:rPr>
              <a:t>Ensembles</a:t>
            </a:r>
            <a:endParaRPr lang="en-US" sz="1100" b="1" dirty="0">
              <a:solidFill>
                <a:srgbClr val="C0392B"/>
              </a:solidFill>
              <a:latin typeface="Calibri" pitchFamily="34" charset="0"/>
              <a:ea typeface="Calibri"/>
              <a:cs typeface="Calibri"/>
            </a:endParaRPr>
          </a:p>
          <a:p>
            <a:pPr lvl="1"/>
            <a:r>
              <a:rPr lang="en-US" sz="1100" b="1" dirty="0">
                <a:solidFill>
                  <a:srgbClr val="C0392B"/>
                </a:solidFill>
                <a:latin typeface="Calibri"/>
                <a:ea typeface="Calibri"/>
                <a:cs typeface="Calibri"/>
              </a:rPr>
              <a:t>-  </a:t>
            </a:r>
            <a:r>
              <a:rPr lang="en-US" sz="1000" dirty="0">
                <a:solidFill>
                  <a:srgbClr val="1A2B3C"/>
                </a:solidFill>
                <a:latin typeface="Calibri"/>
                <a:ea typeface="Calibri"/>
                <a:cs typeface="Calibri"/>
              </a:rPr>
              <a:t>Ensembled models could not achieve a better performance</a:t>
            </a:r>
          </a:p>
          <a:p>
            <a:pPr marL="228600" indent="-228600">
              <a:buChar char="✗"/>
            </a:pPr>
            <a:r>
              <a:rPr lang="en-US" sz="1100" b="1" dirty="0">
                <a:solidFill>
                  <a:srgbClr val="C0392B"/>
                </a:solidFill>
                <a:latin typeface="Calibri"/>
                <a:ea typeface="Calibri"/>
                <a:cs typeface="Calibri"/>
              </a:rPr>
              <a:t>Label Smoothing</a:t>
            </a:r>
          </a:p>
          <a:p>
            <a:pPr lvl="1"/>
            <a:r>
              <a:rPr lang="en-US" sz="1100" b="1" dirty="0">
                <a:solidFill>
                  <a:srgbClr val="C0392B"/>
                </a:solidFill>
                <a:latin typeface="Calibri"/>
                <a:ea typeface="Calibri"/>
                <a:cs typeface="Calibri"/>
              </a:rPr>
              <a:t>- </a:t>
            </a:r>
            <a:r>
              <a:rPr lang="en-US" sz="1000" dirty="0">
                <a:solidFill>
                  <a:srgbClr val="1A2B3C"/>
                </a:solidFill>
                <a:latin typeface="Calibri"/>
                <a:ea typeface="Calibri"/>
                <a:cs typeface="Calibri"/>
              </a:rPr>
              <a:t>CNNs can already achieve top performance, introducing noise can hurt our models</a:t>
            </a:r>
          </a:p>
          <a:p>
            <a:pPr lvl="1"/>
            <a:endParaRPr lang="en-US" sz="1000" dirty="0">
              <a:solidFill>
                <a:srgbClr val="1A2B3C"/>
              </a:solidFill>
              <a:latin typeface="Calibri" pitchFamily="34" charset="0"/>
              <a:ea typeface="Calibri"/>
              <a:cs typeface="Calibri"/>
            </a:endParaRPr>
          </a:p>
        </p:txBody>
      </p:sp>
      <p:sp>
        <p:nvSpPr>
          <p:cNvPr id="7" name="NumCircle">
            <a:extLst>
              <a:ext uri="{FF2B5EF4-FFF2-40B4-BE49-F238E27FC236}">
                <a16:creationId xmlns:a16="http://schemas.microsoft.com/office/drawing/2014/main" id="{7A802B6A-95BB-C879-9108-BFFAB428459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r>
              <a:rPr lang="en-US" sz="2200" b="1" strike="sngStrike" dirty="0">
                <a:solidFill>
                  <a:srgbClr val="0D1B2A"/>
                </a:solidFill>
                <a:latin typeface="Trebuchet MS"/>
              </a:rPr>
              <a:t>MLP Ceiling ~0.24</a:t>
            </a:r>
            <a:r>
              <a:rPr lang="en-US" sz="2200" b="1">
                <a:solidFill>
                  <a:srgbClr val="0D1B2A"/>
                </a:solidFill>
                <a:latin typeface="Trebuchet MS"/>
              </a:rPr>
              <a:t> CNN can achieve a 1.0 score!</a:t>
            </a:r>
          </a:p>
        </p:txBody>
      </p:sp>
      <p:sp>
        <p:nvSpPr>
          <p:cNvPr id="20" name="R_BG"/>
          <p:cNvSpPr/>
          <p:nvPr/>
        </p:nvSpPr>
        <p:spPr>
          <a:xfrm>
            <a:off x="104989" y="2983957"/>
            <a:ext cx="3932640" cy="2030640"/>
          </a:xfrm>
          <a:prstGeom prst="rect">
            <a:avLst/>
          </a:prstGeom>
          <a:solidFill>
            <a:srgbClr val="0D1B2A"/>
          </a:solidFill>
          <a:ln w="0">
            <a:noFill/>
          </a:ln>
        </p:spPr>
        <p:txBody>
          <a:bodyPr/>
          <a:lstStyle/>
          <a:p>
            <a:endParaRPr lang="en-US"/>
          </a:p>
        </p:txBody>
      </p:sp>
      <p:sp>
        <p:nvSpPr>
          <p:cNvPr id="21" name="R_text"/>
          <p:cNvSpPr/>
          <p:nvPr/>
        </p:nvSpPr>
        <p:spPr>
          <a:xfrm>
            <a:off x="288589" y="3058117"/>
            <a:ext cx="3566640" cy="1875106"/>
          </a:xfrm>
          <a:prstGeom prst="rect">
            <a:avLst/>
          </a:prstGeom>
          <a:noFill/>
          <a:ln/>
        </p:spPr>
        <p:txBody>
          <a:bodyPr wrap="square" lIns="91440" tIns="45720" rIns="91440" bIns="45720" rtlCol="0" anchor="t"/>
          <a:lstStyle/>
          <a:p>
            <a:pPr>
              <a:buNone/>
            </a:pPr>
            <a:r>
              <a:rPr lang="en-US" sz="1300" b="1" dirty="0">
                <a:solidFill>
                  <a:srgbClr val="00A896"/>
                </a:solidFill>
                <a:latin typeface="Trebuchet MS" pitchFamily="34" charset="0"/>
              </a:rPr>
              <a:t>Confirmed ceiling metrics</a:t>
            </a:r>
          </a:p>
          <a:p>
            <a:pPr>
              <a:buNone/>
            </a:pPr>
            <a:endParaRPr lang="en-US" sz="1000" dirty="0">
              <a:solidFill>
                <a:srgbClr val="AACCD8"/>
              </a:solidFill>
              <a:latin typeface="Calibri" pitchFamily="34" charset="0"/>
            </a:endParaRPr>
          </a:p>
          <a:p>
            <a:r>
              <a:rPr lang="en-US" sz="1000" dirty="0">
                <a:solidFill>
                  <a:srgbClr val="AACCD8"/>
                </a:solidFill>
                <a:latin typeface="Calibri"/>
                <a:ea typeface="Calibri"/>
                <a:cs typeface="Calibri"/>
              </a:rPr>
              <a:t>best </a:t>
            </a:r>
            <a:r>
              <a:rPr lang="en-US" sz="1000" dirty="0" err="1">
                <a:solidFill>
                  <a:srgbClr val="AACCD8"/>
                </a:solidFill>
                <a:latin typeface="Calibri"/>
                <a:ea typeface="Calibri"/>
                <a:cs typeface="Calibri"/>
              </a:rPr>
              <a:t>val</a:t>
            </a:r>
            <a:r>
              <a:rPr lang="en-US" sz="1000" dirty="0">
                <a:solidFill>
                  <a:srgbClr val="AACCD8"/>
                </a:solidFill>
                <a:latin typeface="Calibri"/>
                <a:ea typeface="Calibri"/>
                <a:cs typeface="Calibri"/>
              </a:rPr>
              <a:t> macro-F1 (I, J, K, L, M, [I+K])</a:t>
            </a:r>
            <a:endParaRPr lang="en-US" sz="1000" dirty="0">
              <a:solidFill>
                <a:srgbClr val="AACCD8"/>
              </a:solidFill>
              <a:latin typeface="Calibri" pitchFamily="34" charset="0"/>
              <a:ea typeface="Calibri"/>
              <a:cs typeface="Calibri"/>
            </a:endParaRPr>
          </a:p>
          <a:p>
            <a:r>
              <a:rPr lang="en-US" sz="2800" b="1">
                <a:solidFill>
                  <a:srgbClr val="FFFFFF"/>
                </a:solidFill>
                <a:latin typeface="Trebuchet MS"/>
              </a:rPr>
              <a:t>1.0000</a:t>
            </a:r>
            <a:endParaRPr lang="en-US" sz="2800" b="1">
              <a:solidFill>
                <a:srgbClr val="FFFFFF"/>
              </a:solidFill>
              <a:latin typeface="Trebuchet MS" pitchFamily="34" charset="0"/>
            </a:endParaRPr>
          </a:p>
          <a:p>
            <a:pPr>
              <a:buNone/>
            </a:pPr>
            <a:endParaRPr lang="en-US" sz="1000" dirty="0">
              <a:solidFill>
                <a:srgbClr val="AACCD8"/>
              </a:solidFill>
              <a:latin typeface="Calibri" pitchFamily="34" charset="0"/>
            </a:endParaRPr>
          </a:p>
          <a:p>
            <a:pPr>
              <a:buNone/>
            </a:pPr>
            <a:r>
              <a:rPr lang="en-US" sz="1000" dirty="0">
                <a:solidFill>
                  <a:srgbClr val="AACCD8"/>
                </a:solidFill>
                <a:latin typeface="Calibri" pitchFamily="34" charset="0"/>
              </a:rPr>
              <a:t>Kaggle public score</a:t>
            </a:r>
          </a:p>
          <a:p>
            <a:r>
              <a:rPr lang="en-US" sz="2800" b="1">
                <a:solidFill>
                  <a:srgbClr val="FFFFFF"/>
                </a:solidFill>
                <a:latin typeface="Trebuchet MS"/>
              </a:rPr>
              <a:t>1.0000</a:t>
            </a:r>
            <a:endParaRPr lang="en-US" sz="2800" b="1" dirty="0">
              <a:solidFill>
                <a:srgbClr val="FFFFFF"/>
              </a:solidFill>
              <a:latin typeface="Trebuchet MS"/>
            </a:endParaRPr>
          </a:p>
          <a:p>
            <a:pPr>
              <a:buNone/>
            </a:pPr>
            <a:endParaRPr lang="en-US" sz="1000" dirty="0">
              <a:solidFill>
                <a:srgbClr val="AACCD8"/>
              </a:solidFill>
              <a:latin typeface="Calibri" pitchFamily="34" charset="0"/>
            </a:endParaRPr>
          </a:p>
        </p:txBody>
      </p:sp>
      <p:sp>
        <p:nvSpPr>
          <p:cNvPr id="8" name="R_BG">
            <a:extLst>
              <a:ext uri="{FF2B5EF4-FFF2-40B4-BE49-F238E27FC236}">
                <a16:creationId xmlns:a16="http://schemas.microsoft.com/office/drawing/2014/main" id="{7D5E87DB-8C64-CE72-5E54-E8C7DD26EE11}"/>
              </a:ext>
            </a:extLst>
          </p:cNvPr>
          <p:cNvSpPr/>
          <p:nvPr/>
        </p:nvSpPr>
        <p:spPr>
          <a:xfrm>
            <a:off x="4389599" y="3003132"/>
            <a:ext cx="4649411" cy="2030640"/>
          </a:xfrm>
          <a:prstGeom prst="rect">
            <a:avLst/>
          </a:prstGeom>
          <a:solidFill>
            <a:srgbClr val="0D1B2A"/>
          </a:solidFill>
          <a:ln w="0">
            <a:noFill/>
          </a:ln>
        </p:spPr>
        <p:txBody>
          <a:bodyPr/>
          <a:lstStyle/>
          <a:p>
            <a:endParaRPr lang="en-US"/>
          </a:p>
        </p:txBody>
      </p:sp>
      <p:sp>
        <p:nvSpPr>
          <p:cNvPr id="9" name="R_text">
            <a:extLst>
              <a:ext uri="{FF2B5EF4-FFF2-40B4-BE49-F238E27FC236}">
                <a16:creationId xmlns:a16="http://schemas.microsoft.com/office/drawing/2014/main" id="{2D75AC84-A178-5D20-2E55-18EDC3E113AE}"/>
              </a:ext>
            </a:extLst>
          </p:cNvPr>
          <p:cNvSpPr/>
          <p:nvPr/>
        </p:nvSpPr>
        <p:spPr>
          <a:xfrm>
            <a:off x="4505395" y="3096665"/>
            <a:ext cx="4465810" cy="1956480"/>
          </a:xfrm>
          <a:prstGeom prst="rect">
            <a:avLst/>
          </a:prstGeom>
          <a:noFill/>
          <a:ln/>
        </p:spPr>
        <p:txBody>
          <a:bodyPr wrap="square" lIns="91440" tIns="45720" rIns="91440" bIns="45720" rtlCol="0" anchor="t"/>
          <a:lstStyle/>
          <a:p>
            <a:r>
              <a:rPr lang="en-US" sz="1300" b="1" dirty="0">
                <a:solidFill>
                  <a:srgbClr val="00A896"/>
                </a:solidFill>
                <a:latin typeface="Trebuchet MS"/>
              </a:rPr>
              <a:t>Why are CNNs so much better than MLP for this task?</a:t>
            </a:r>
            <a:endParaRPr lang="en-US" sz="1300" b="1" dirty="0">
              <a:solidFill>
                <a:srgbClr val="00A896"/>
              </a:solidFill>
              <a:latin typeface="Trebuchet MS" pitchFamily="34" charset="0"/>
            </a:endParaRPr>
          </a:p>
          <a:p>
            <a:pPr marL="228600" indent="-228600">
              <a:buChar char="•"/>
            </a:pPr>
            <a:r>
              <a:rPr lang="en-US" sz="1100" dirty="0">
                <a:solidFill>
                  <a:schemeClr val="bg1"/>
                </a:solidFill>
                <a:latin typeface="Calibri"/>
                <a:ea typeface="Calibri"/>
                <a:cs typeface="Calibri"/>
              </a:rPr>
              <a:t>The amount of parameters that an MLP generates is too much, we would need a huge dataset to get good results (note that MLPs are more powerful than CNNs - not the contrary)</a:t>
            </a:r>
            <a:endParaRPr lang="en-US" sz="1100" dirty="0">
              <a:solidFill>
                <a:schemeClr val="bg1"/>
              </a:solidFill>
              <a:latin typeface="Calibri" pitchFamily="34" charset="0"/>
              <a:ea typeface="Calibri"/>
              <a:cs typeface="Calibri"/>
            </a:endParaRPr>
          </a:p>
          <a:p>
            <a:pPr marL="228600" indent="-228600">
              <a:buFont typeface="Arial"/>
              <a:buChar char="•"/>
            </a:pPr>
            <a:r>
              <a:rPr lang="en-US" sz="1100" dirty="0">
                <a:solidFill>
                  <a:schemeClr val="bg1"/>
                </a:solidFill>
                <a:latin typeface="Calibri"/>
                <a:ea typeface="Calibri"/>
                <a:cs typeface="Calibri"/>
              </a:rPr>
              <a:t>This problem screams CNN! The dataset has images, In which the Pokémons always appear in the same way, only changing their position and the background: CNNs are invariant to translations! MLPs lose all sense of spatial structure</a:t>
            </a:r>
          </a:p>
          <a:p>
            <a:r>
              <a:rPr lang="en-US" sz="1100" b="1" dirty="0">
                <a:solidFill>
                  <a:schemeClr val="accent2">
                    <a:lumMod val="40000"/>
                    <a:lumOff val="60000"/>
                  </a:schemeClr>
                </a:solidFill>
                <a:latin typeface="Calibri"/>
                <a:ea typeface="Calibri"/>
                <a:cs typeface="Calibri"/>
              </a:rPr>
              <a:t>Next: Transfer Learning and Fine-Tuning (Task 3) - can we achieve the same performance by replacing the classifier head of a pretrained model?</a:t>
            </a:r>
          </a:p>
        </p:txBody>
      </p:sp>
      <p:sp>
        <p:nvSpPr>
          <p:cNvPr id="10" name="NumCircle">
            <a:extLst>
              <a:ext uri="{FF2B5EF4-FFF2-40B4-BE49-F238E27FC236}">
                <a16:creationId xmlns:a16="http://schemas.microsoft.com/office/drawing/2014/main" id="{95FB885E-C505-9EB3-195B-57A20793EF10}"/>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1</a:t>
            </a:r>
          </a:p>
        </p:txBody>
      </p:sp>
      <p:pic>
        <p:nvPicPr>
          <p:cNvPr id="6" name="Picture 5" descr="A graph of a number of blue and orange bars&#10;&#10;AI-generated content may be incorrect.">
            <a:extLst>
              <a:ext uri="{FF2B5EF4-FFF2-40B4-BE49-F238E27FC236}">
                <a16:creationId xmlns:a16="http://schemas.microsoft.com/office/drawing/2014/main" id="{D64762DA-D57E-BC1B-30A5-4CC05B384AF5}"/>
              </a:ext>
            </a:extLst>
          </p:cNvPr>
          <p:cNvPicPr>
            <a:picLocks noChangeAspect="1"/>
          </p:cNvPicPr>
          <p:nvPr/>
        </p:nvPicPr>
        <p:blipFill>
          <a:blip r:embed="rId2"/>
          <a:srcRect t="83" r="-135" b="49906"/>
          <a:stretch>
            <a:fillRect/>
          </a:stretch>
        </p:blipFill>
        <p:spPr>
          <a:xfrm>
            <a:off x="941303" y="604812"/>
            <a:ext cx="6612418" cy="23592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3EE28-55CF-2A0C-B599-838CF5304E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FEFC70-E410-DBB4-206D-96C6ACBFA2F2}"/>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4407192D-0EFF-E9E6-10E4-81A15ED0457D}"/>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21B1B3AB-5E55-E888-0241-EB18105E4A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FD4A7F51-A87E-B10A-D5DF-6C25D846986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42942649-A305-A3D2-17F1-23E1356F94EF}"/>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586A7FFC-A886-35D2-7A56-D6C122CD8814}"/>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Training Efficiency</a:t>
            </a:r>
          </a:p>
        </p:txBody>
      </p:sp>
      <p:sp>
        <p:nvSpPr>
          <p:cNvPr id="14" name="Rectangle: Rounded Corners 13">
            <a:extLst>
              <a:ext uri="{FF2B5EF4-FFF2-40B4-BE49-F238E27FC236}">
                <a16:creationId xmlns:a16="http://schemas.microsoft.com/office/drawing/2014/main" id="{7E90CD51-2298-5ED9-5E21-B71BDE7A1FCD}"/>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3200" b="1"/>
              <a:t>2</a:t>
            </a:r>
            <a:endParaRPr lang="pt-PT" b="1" dirty="0"/>
          </a:p>
        </p:txBody>
      </p:sp>
      <p:cxnSp>
        <p:nvCxnSpPr>
          <p:cNvPr id="16" name="Straight Connector 15">
            <a:extLst>
              <a:ext uri="{FF2B5EF4-FFF2-40B4-BE49-F238E27FC236}">
                <a16:creationId xmlns:a16="http://schemas.microsoft.com/office/drawing/2014/main" id="{1E24B3DA-F191-6340-AD8B-455082D9E991}"/>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825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Compute Strategy &amp; Resource Usage</a:t>
            </a:r>
            <a:endParaRPr lang="en-US" sz="2200" dirty="0"/>
          </a:p>
        </p:txBody>
      </p:sp>
      <p:sp>
        <p:nvSpPr>
          <p:cNvPr id="5" name="Text 3"/>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sp>
        <p:nvSpPr>
          <p:cNvPr id="6" name="Shape 4"/>
          <p:cNvSpPr/>
          <p:nvPr/>
        </p:nvSpPr>
        <p:spPr>
          <a:xfrm>
            <a:off x="347472"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795147"/>
            <a:ext cx="1993392" cy="73152"/>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347472" y="886587"/>
            <a:ext cx="1993392" cy="438912"/>
          </a:xfrm>
          <a:prstGeom prst="rect">
            <a:avLst/>
          </a:prstGeom>
          <a:noFill/>
          <a:ln/>
        </p:spPr>
        <p:txBody>
          <a:bodyPr wrap="square" lIns="0" tIns="0" rIns="0" bIns="0" rtlCol="0" anchor="ctr"/>
          <a:lstStyle/>
          <a:p>
            <a:pPr marL="0" indent="0" algn="ctr">
              <a:buNone/>
            </a:pPr>
            <a:r>
              <a:rPr lang="en-US" sz="2200" b="1" dirty="0">
                <a:solidFill>
                  <a:srgbClr val="00A896"/>
                </a:solidFill>
                <a:latin typeface="Trebuchet MS" pitchFamily="34" charset="0"/>
                <a:ea typeface="Trebuchet MS" pitchFamily="34" charset="-122"/>
                <a:cs typeface="Trebuchet MS" pitchFamily="34" charset="-120"/>
              </a:rPr>
              <a:t>T4 GPU</a:t>
            </a:r>
            <a:endParaRPr lang="en-US" sz="2200" dirty="0"/>
          </a:p>
        </p:txBody>
      </p:sp>
      <p:sp>
        <p:nvSpPr>
          <p:cNvPr id="9" name="Text 7"/>
          <p:cNvSpPr/>
          <p:nvPr/>
        </p:nvSpPr>
        <p:spPr>
          <a:xfrm>
            <a:off x="347472"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Colab free tier / 15 GB VRAM</a:t>
            </a:r>
            <a:endParaRPr lang="en-US" sz="1000" dirty="0"/>
          </a:p>
        </p:txBody>
      </p:sp>
      <p:sp>
        <p:nvSpPr>
          <p:cNvPr id="10" name="Shape 8"/>
          <p:cNvSpPr/>
          <p:nvPr/>
        </p:nvSpPr>
        <p:spPr>
          <a:xfrm>
            <a:off x="2523744"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2523744" y="795147"/>
            <a:ext cx="1993392" cy="73152"/>
          </a:xfrm>
          <a:prstGeom prst="rect">
            <a:avLst/>
          </a:prstGeom>
          <a:solidFill>
            <a:srgbClr val="00A896"/>
          </a:solidFill>
          <a:ln w="12700">
            <a:solidFill>
              <a:srgbClr val="00A896"/>
            </a:solidFill>
            <a:prstDash val="solid"/>
          </a:ln>
        </p:spPr>
        <p:txBody>
          <a:bodyPr/>
          <a:lstStyle/>
          <a:p>
            <a:endParaRPr lang="pt-PT"/>
          </a:p>
        </p:txBody>
      </p:sp>
      <p:sp>
        <p:nvSpPr>
          <p:cNvPr id="12" name="Text 10"/>
          <p:cNvSpPr/>
          <p:nvPr/>
        </p:nvSpPr>
        <p:spPr>
          <a:xfrm>
            <a:off x="2523744" y="886587"/>
            <a:ext cx="1993392" cy="438912"/>
          </a:xfrm>
          <a:prstGeom prst="rect">
            <a:avLst/>
          </a:prstGeom>
          <a:noFill/>
          <a:ln/>
        </p:spPr>
        <p:txBody>
          <a:bodyPr wrap="square" lIns="0" tIns="0" rIns="0" bIns="0" rtlCol="0" anchor="ctr"/>
          <a:lstStyle/>
          <a:p>
            <a:pPr algn="ctr"/>
            <a:r>
              <a:rPr lang="en-US" sz="2200" b="1">
                <a:solidFill>
                  <a:srgbClr val="00A896"/>
                </a:solidFill>
                <a:latin typeface="Trebuchet MS"/>
                <a:ea typeface="Trebuchet MS" pitchFamily="34" charset="-122"/>
                <a:cs typeface="Trebuchet MS" pitchFamily="34" charset="-120"/>
              </a:rPr>
              <a:t>37 min</a:t>
            </a:r>
            <a:endParaRPr lang="en-US" sz="2200">
              <a:latin typeface="Trebuchet MS"/>
            </a:endParaRPr>
          </a:p>
        </p:txBody>
      </p:sp>
      <p:sp>
        <p:nvSpPr>
          <p:cNvPr id="13" name="Text 11"/>
          <p:cNvSpPr/>
          <p:nvPr/>
        </p:nvSpPr>
        <p:spPr>
          <a:xfrm>
            <a:off x="2523744" y="1362075"/>
            <a:ext cx="1993392" cy="347472"/>
          </a:xfrm>
          <a:prstGeom prst="rect">
            <a:avLst/>
          </a:prstGeom>
          <a:noFill/>
          <a:ln/>
        </p:spPr>
        <p:txBody>
          <a:bodyPr wrap="square" lIns="0" tIns="0" rIns="0" bIns="0" rtlCol="0" anchor="ctr"/>
          <a:lstStyle/>
          <a:p>
            <a:pPr algn="ctr"/>
            <a:r>
              <a:rPr lang="en-US" sz="1000">
                <a:solidFill>
                  <a:srgbClr val="3D5A73"/>
                </a:solidFill>
                <a:latin typeface="Calibri"/>
                <a:ea typeface="Calibri"/>
                <a:cs typeface="Calibri"/>
              </a:rPr>
              <a:t>total wall-clock (15 solo runs + data </a:t>
            </a:r>
            <a:r>
              <a:rPr lang="en-US" sz="1000" dirty="0">
                <a:solidFill>
                  <a:srgbClr val="3D5A73"/>
                </a:solidFill>
                <a:latin typeface="Calibri"/>
                <a:ea typeface="Calibri"/>
                <a:cs typeface="Calibri"/>
              </a:rPr>
              <a:t>pre-processing/augmentation and ensembles)</a:t>
            </a:r>
            <a:endParaRPr lang="en-US" sz="1000" dirty="0">
              <a:latin typeface="Calibri"/>
              <a:ea typeface="Calibri"/>
              <a:cs typeface="Calibri"/>
            </a:endParaRPr>
          </a:p>
        </p:txBody>
      </p:sp>
      <p:sp>
        <p:nvSpPr>
          <p:cNvPr id="14" name="Shape 12"/>
          <p:cNvSpPr/>
          <p:nvPr/>
        </p:nvSpPr>
        <p:spPr>
          <a:xfrm>
            <a:off x="4700016"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5" name="Shape 13"/>
          <p:cNvSpPr/>
          <p:nvPr/>
        </p:nvSpPr>
        <p:spPr>
          <a:xfrm>
            <a:off x="4700016" y="795147"/>
            <a:ext cx="1993392" cy="73152"/>
          </a:xfrm>
          <a:prstGeom prst="rect">
            <a:avLst/>
          </a:prstGeom>
          <a:solidFill>
            <a:srgbClr val="27AE60"/>
          </a:solidFill>
          <a:ln w="12700">
            <a:solidFill>
              <a:srgbClr val="27AE60"/>
            </a:solidFill>
            <a:prstDash val="solid"/>
          </a:ln>
        </p:spPr>
        <p:txBody>
          <a:bodyPr/>
          <a:lstStyle/>
          <a:p>
            <a:endParaRPr lang="pt-PT"/>
          </a:p>
        </p:txBody>
      </p:sp>
      <p:sp>
        <p:nvSpPr>
          <p:cNvPr id="16" name="Text 14"/>
          <p:cNvSpPr/>
          <p:nvPr/>
        </p:nvSpPr>
        <p:spPr>
          <a:xfrm>
            <a:off x="4700016" y="886587"/>
            <a:ext cx="1993392" cy="438912"/>
          </a:xfrm>
          <a:prstGeom prst="rect">
            <a:avLst/>
          </a:prstGeom>
          <a:noFill/>
          <a:ln/>
        </p:spPr>
        <p:txBody>
          <a:bodyPr wrap="square" lIns="0" tIns="0" rIns="0" bIns="0" rtlCol="0" anchor="ctr"/>
          <a:lstStyle/>
          <a:p>
            <a:pPr algn="ctr"/>
            <a:r>
              <a:rPr lang="en-US" sz="2200" b="1">
                <a:solidFill>
                  <a:srgbClr val="27AE60"/>
                </a:solidFill>
                <a:latin typeface="Trebuchet MS"/>
                <a:ea typeface="Trebuchet MS" pitchFamily="34" charset="-122"/>
                <a:cs typeface="Trebuchet MS" pitchFamily="34" charset="-120"/>
              </a:rPr>
              <a:t>&lt; 1500 MB</a:t>
            </a:r>
            <a:endParaRPr lang="en-US" sz="2200" dirty="0"/>
          </a:p>
        </p:txBody>
      </p:sp>
      <p:sp>
        <p:nvSpPr>
          <p:cNvPr id="17" name="Text 15"/>
          <p:cNvSpPr/>
          <p:nvPr/>
        </p:nvSpPr>
        <p:spPr>
          <a:xfrm>
            <a:off x="4700016" y="1362075"/>
            <a:ext cx="1993392" cy="347472"/>
          </a:xfrm>
          <a:prstGeom prst="rect">
            <a:avLst/>
          </a:prstGeom>
          <a:noFill/>
          <a:ln/>
        </p:spPr>
        <p:txBody>
          <a:bodyPr wrap="square" lIns="0" tIns="0" rIns="0" bIns="0" rtlCol="0" anchor="ctr"/>
          <a:lstStyle/>
          <a:p>
            <a:pPr algn="ctr"/>
            <a:r>
              <a:rPr lang="en-US" sz="1000" dirty="0">
                <a:solidFill>
                  <a:srgbClr val="3D5A73"/>
                </a:solidFill>
                <a:latin typeface="Calibri"/>
                <a:ea typeface="Calibri"/>
                <a:cs typeface="Calibri"/>
              </a:rPr>
              <a:t>GPU memory peak (</a:t>
            </a:r>
            <a:r>
              <a:rPr lang="en-US" sz="1000">
                <a:solidFill>
                  <a:srgbClr val="3D5A73"/>
                </a:solidFill>
                <a:latin typeface="Calibri"/>
                <a:ea typeface="Calibri"/>
                <a:cs typeface="Calibri"/>
              </a:rPr>
              <a:t>more than MLP),</a:t>
            </a:r>
          </a:p>
          <a:p>
            <a:pPr algn="ctr"/>
            <a:r>
              <a:rPr lang="en-US" sz="1000">
                <a:solidFill>
                  <a:srgbClr val="3D5A73"/>
                </a:solidFill>
                <a:latin typeface="Calibri"/>
                <a:ea typeface="Calibri"/>
                <a:cs typeface="Calibri"/>
              </a:rPr>
              <a:t>according to W&amp;B</a:t>
            </a:r>
            <a:endParaRPr lang="en-US" sz="1000" dirty="0">
              <a:solidFill>
                <a:srgbClr val="3D5A73"/>
              </a:solidFill>
              <a:latin typeface="Calibri"/>
              <a:ea typeface="Calibri"/>
              <a:cs typeface="Calibri"/>
            </a:endParaRPr>
          </a:p>
        </p:txBody>
      </p:sp>
      <p:sp>
        <p:nvSpPr>
          <p:cNvPr id="18" name="Shape 16"/>
          <p:cNvSpPr/>
          <p:nvPr/>
        </p:nvSpPr>
        <p:spPr>
          <a:xfrm>
            <a:off x="6876288"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6876288" y="795147"/>
            <a:ext cx="1993392" cy="73152"/>
          </a:xfrm>
          <a:prstGeom prst="rect">
            <a:avLst/>
          </a:prstGeom>
          <a:solidFill>
            <a:srgbClr val="E97C35"/>
          </a:solidFill>
          <a:ln w="12700">
            <a:solidFill>
              <a:srgbClr val="E97C35"/>
            </a:solidFill>
            <a:prstDash val="solid"/>
          </a:ln>
        </p:spPr>
        <p:txBody>
          <a:bodyPr/>
          <a:lstStyle/>
          <a:p>
            <a:endParaRPr lang="pt-PT"/>
          </a:p>
        </p:txBody>
      </p:sp>
      <p:sp>
        <p:nvSpPr>
          <p:cNvPr id="20" name="Text 18"/>
          <p:cNvSpPr/>
          <p:nvPr/>
        </p:nvSpPr>
        <p:spPr>
          <a:xfrm>
            <a:off x="6876288" y="886587"/>
            <a:ext cx="1993392" cy="438912"/>
          </a:xfrm>
          <a:prstGeom prst="rect">
            <a:avLst/>
          </a:prstGeom>
          <a:noFill/>
          <a:ln/>
        </p:spPr>
        <p:txBody>
          <a:bodyPr wrap="square" lIns="0" tIns="0" rIns="0" bIns="0" rtlCol="0" anchor="ctr"/>
          <a:lstStyle/>
          <a:p>
            <a:pPr marL="0" indent="0" algn="ctr">
              <a:buNone/>
            </a:pPr>
            <a:r>
              <a:rPr lang="en-US" sz="2200" b="1">
                <a:solidFill>
                  <a:srgbClr val="E97C35"/>
                </a:solidFill>
                <a:latin typeface="Trebuchet MS"/>
                <a:ea typeface="Trebuchet MS" pitchFamily="34" charset="-122"/>
                <a:cs typeface="Trebuchet MS" pitchFamily="34" charset="-120"/>
              </a:rPr>
              <a:t>62%</a:t>
            </a:r>
            <a:endParaRPr lang="en-US" sz="2200">
              <a:latin typeface="Trebuchet MS"/>
            </a:endParaRPr>
          </a:p>
        </p:txBody>
      </p:sp>
      <p:sp>
        <p:nvSpPr>
          <p:cNvPr id="21" name="Text 19"/>
          <p:cNvSpPr/>
          <p:nvPr/>
        </p:nvSpPr>
        <p:spPr>
          <a:xfrm>
            <a:off x="6876288"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of 1h budget used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267002824"/>
              </p:ext>
            </p:extLst>
          </p:nvPr>
        </p:nvGraphicFramePr>
        <p:xfrm>
          <a:off x="347472" y="1910715"/>
          <a:ext cx="8449056" cy="2340864"/>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42816">
                  <a:extLst>
                    <a:ext uri="{9D8B030D-6E8A-4147-A177-3AD203B41FA5}">
                      <a16:colId xmlns:a16="http://schemas.microsoft.com/office/drawing/2014/main" val="20002"/>
                    </a:ext>
                  </a:extLst>
                </a:gridCol>
              </a:tblGrid>
              <a:tr h="35661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Fastest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a:solidFill>
                            <a:srgbClr val="000000"/>
                          </a:solidFill>
                          <a:latin typeface="Calibri"/>
                          <a:ea typeface="Calibri"/>
                          <a:cs typeface="Calibri"/>
                        </a:rPr>
                        <a:t>A_CNN  -  87.2 s (excluding ensembles)</a:t>
                      </a:r>
                      <a:endParaRPr lang="en-US" sz="120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a:solidFill>
                            <a:srgbClr val="000000"/>
                          </a:solidFill>
                          <a:latin typeface="Calibri"/>
                          <a:ea typeface="Calibri"/>
                          <a:cs typeface="Calibri"/>
                        </a:rPr>
                        <a:t>Stopped at epoch 19 (no reg -&gt; fast plateau; despite the massive overfit obtained)</a:t>
                      </a:r>
                      <a:endParaRPr lang="en-US" sz="120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Slowest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err="1">
                          <a:solidFill>
                            <a:srgbClr val="000000"/>
                          </a:solidFill>
                          <a:latin typeface="Calibri"/>
                          <a:ea typeface="Calibri"/>
                          <a:cs typeface="Calibri"/>
                        </a:rPr>
                        <a:t>I_CNN_augmented</a:t>
                      </a:r>
                      <a:r>
                        <a:rPr lang="en-US" sz="1200" dirty="0">
                          <a:solidFill>
                            <a:srgbClr val="000000"/>
                          </a:solidFill>
                          <a:latin typeface="Calibri"/>
                          <a:ea typeface="Calibri"/>
                          <a:cs typeface="Calibri"/>
                        </a:rPr>
                        <a:t>  —  172 s</a:t>
                      </a:r>
                      <a:endParaRPr lang="en-US" sz="1200" dirty="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a:solidFill>
                            <a:srgbClr val="000000"/>
                          </a:solidFill>
                          <a:latin typeface="Calibri"/>
                          <a:ea typeface="Calibri"/>
                          <a:cs typeface="Calibri"/>
                        </a:rPr>
                        <a:t>Full 30 epochs; data augmentation gives us more 53 seconds than base model I_CNN, and worse performance</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Avg per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l">
                        <a:buNone/>
                      </a:pPr>
                      <a:r>
                        <a:rPr lang="en-US" sz="1200">
                          <a:solidFill>
                            <a:srgbClr val="000000"/>
                          </a:solidFill>
                          <a:latin typeface="Calibri"/>
                          <a:ea typeface="Calibri"/>
                          <a:cs typeface="Calibri"/>
                        </a:rPr>
                        <a:t>~134 s</a:t>
                      </a:r>
                      <a:endParaRPr lang="en-US" sz="120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a:solidFill>
                            <a:srgbClr val="000000"/>
                          </a:solidFill>
                          <a:latin typeface="Calibri"/>
                          <a:ea typeface="Calibri"/>
                          <a:cs typeface="Calibri"/>
                        </a:rPr>
                        <a:t>Across 13 solo runs</a:t>
                      </a:r>
                      <a:endParaRPr lang="en-US" sz="120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Best solo (R)</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a:solidFill>
                            <a:srgbClr val="000000"/>
                          </a:solidFill>
                          <a:latin typeface="Calibri"/>
                          <a:ea typeface="Calibri"/>
                          <a:cs typeface="Calibri"/>
                        </a:rPr>
                        <a:t>118.5 s  -  25 epochs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err="1">
                          <a:solidFill>
                            <a:srgbClr val="000000"/>
                          </a:solidFill>
                          <a:latin typeface="Calibri"/>
                          <a:ea typeface="Calibri"/>
                          <a:cs typeface="Calibri"/>
                        </a:rPr>
                        <a:t>EarlyStopping</a:t>
                      </a:r>
                      <a:r>
                        <a:rPr lang="en-US" sz="1200" dirty="0">
                          <a:solidFill>
                            <a:srgbClr val="000000"/>
                          </a:solidFill>
                          <a:latin typeface="Calibri"/>
                          <a:ea typeface="Calibri"/>
                          <a:cs typeface="Calibri"/>
                        </a:rPr>
                        <a:t> saved best at epoch 25</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FAST_RUN flag</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a:ea typeface="Calibri"/>
                          <a:cs typeface="Calibri"/>
                        </a:rPr>
                        <a:t>FAST_RUN=True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a:solidFill>
                            <a:srgbClr val="000000"/>
                          </a:solidFill>
                          <a:latin typeface="Calibri"/>
                          <a:ea typeface="Calibri"/>
                          <a:cs typeface="Calibri"/>
                        </a:rPr>
                        <a:t>Smoke-test mode: 5 epochs, 100 samples - used for debugging</a:t>
                      </a:r>
                      <a:endParaRPr lang="en-US" sz="120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hape 20"/>
          <p:cNvSpPr/>
          <p:nvPr/>
        </p:nvSpPr>
        <p:spPr>
          <a:xfrm>
            <a:off x="347472" y="4146423"/>
            <a:ext cx="8449056" cy="896112"/>
          </a:xfrm>
          <a:prstGeom prst="rect">
            <a:avLst/>
          </a:prstGeom>
          <a:solidFill>
            <a:srgbClr val="FFF8E1"/>
          </a:solidFill>
          <a:ln w="8890">
            <a:solidFill>
              <a:srgbClr val="FFD54F"/>
            </a:solidFill>
            <a:prstDash val="solid"/>
          </a:ln>
        </p:spPr>
        <p:txBody>
          <a:bodyPr/>
          <a:lstStyle/>
          <a:p>
            <a:endParaRPr lang="pt-PT"/>
          </a:p>
        </p:txBody>
      </p:sp>
      <p:sp>
        <p:nvSpPr>
          <p:cNvPr id="24" name="Shape 21"/>
          <p:cNvSpPr/>
          <p:nvPr/>
        </p:nvSpPr>
        <p:spPr>
          <a:xfrm>
            <a:off x="347472" y="4146423"/>
            <a:ext cx="73152" cy="896112"/>
          </a:xfrm>
          <a:prstGeom prst="rect">
            <a:avLst/>
          </a:prstGeom>
          <a:solidFill>
            <a:srgbClr val="E97C35"/>
          </a:solidFill>
          <a:ln w="12700">
            <a:solidFill>
              <a:srgbClr val="E97C35"/>
            </a:solidFill>
            <a:prstDash val="solid"/>
          </a:ln>
        </p:spPr>
        <p:txBody>
          <a:bodyPr/>
          <a:lstStyle/>
          <a:p>
            <a:endParaRPr lang="pt-PT"/>
          </a:p>
        </p:txBody>
      </p:sp>
      <p:sp>
        <p:nvSpPr>
          <p:cNvPr id="25" name="Text 22"/>
          <p:cNvSpPr/>
          <p:nvPr/>
        </p:nvSpPr>
        <p:spPr>
          <a:xfrm>
            <a:off x="493776" y="4192143"/>
            <a:ext cx="813816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Why 80/20 split instead of K-Fold CV?</a:t>
            </a:r>
            <a:endParaRPr lang="en-US" sz="1200" dirty="0"/>
          </a:p>
        </p:txBody>
      </p:sp>
      <p:sp>
        <p:nvSpPr>
          <p:cNvPr id="26" name="Text 23"/>
          <p:cNvSpPr/>
          <p:nvPr/>
        </p:nvSpPr>
        <p:spPr>
          <a:xfrm>
            <a:off x="493776" y="4493895"/>
            <a:ext cx="8138160" cy="512064"/>
          </a:xfrm>
          <a:prstGeom prst="rect">
            <a:avLst/>
          </a:prstGeom>
          <a:noFill/>
          <a:ln/>
        </p:spPr>
        <p:txBody>
          <a:bodyPr wrap="square" lIns="0" tIns="0" rIns="0" bIns="0" rtlCol="0" anchor="ctr"/>
          <a:lstStyle/>
          <a:p>
            <a:r>
              <a:rPr lang="en-US" sz="1200" dirty="0">
                <a:solidFill>
                  <a:srgbClr val="1A2B3C"/>
                </a:solidFill>
                <a:latin typeface="Calibri"/>
                <a:ea typeface="Calibri"/>
                <a:cs typeface="Calibri"/>
              </a:rPr>
              <a:t>5-fold CV × 13 experiments ≈ 65 training runs ≈ which will exceed the 1h </a:t>
            </a:r>
            <a:r>
              <a:rPr lang="en-US" sz="1200" dirty="0" err="1">
                <a:solidFill>
                  <a:srgbClr val="1A2B3C"/>
                </a:solidFill>
                <a:latin typeface="Calibri"/>
                <a:ea typeface="Calibri"/>
                <a:cs typeface="Calibri"/>
              </a:rPr>
              <a:t>Colab</a:t>
            </a:r>
            <a:r>
              <a:rPr lang="en-US" sz="1200" dirty="0">
                <a:solidFill>
                  <a:srgbClr val="1A2B3C"/>
                </a:solidFill>
                <a:latin typeface="Calibri"/>
                <a:ea typeface="Calibri"/>
                <a:cs typeface="Calibri"/>
              </a:rPr>
              <a:t> budget. Stratified 80/20 with fixed seed is the correct trade-off: relative experiment ranking is valid even if absolute F1 has ±0.02 noise from a single split.</a:t>
            </a:r>
            <a:endParaRPr lang="en-US" sz="1200" dirty="0">
              <a:latin typeface="Calibri"/>
              <a:ea typeface="Calibri"/>
              <a:cs typeface="Calibri"/>
            </a:endParaRPr>
          </a:p>
        </p:txBody>
      </p:sp>
      <p:sp>
        <p:nvSpPr>
          <p:cNvPr id="27" name="Shape 2">
            <a:extLst>
              <a:ext uri="{FF2B5EF4-FFF2-40B4-BE49-F238E27FC236}">
                <a16:creationId xmlns:a16="http://schemas.microsoft.com/office/drawing/2014/main" id="{E5890930-6B10-522D-CD98-AB58F7196552}"/>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28" name="Rectangle: Rounded Corners 27">
            <a:extLst>
              <a:ext uri="{FF2B5EF4-FFF2-40B4-BE49-F238E27FC236}">
                <a16:creationId xmlns:a16="http://schemas.microsoft.com/office/drawing/2014/main" id="{F248EDA6-5E05-F981-E404-17752529D9B8}"/>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2</a:t>
            </a:r>
            <a:endParaRPr lang="en-US" sz="28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Early Stopping — Results Across All Experiments</a:t>
            </a:r>
            <a:endParaRPr lang="en-US" sz="2200" dirty="0"/>
          </a:p>
        </p:txBody>
      </p:sp>
      <p:sp>
        <p:nvSpPr>
          <p:cNvPr id="4" name="Shape 2"/>
          <p:cNvSpPr/>
          <p:nvPr/>
        </p:nvSpPr>
        <p:spPr>
          <a:xfrm>
            <a:off x="7635240" y="109728"/>
            <a:ext cx="137160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2571018"/>
              </p:ext>
            </p:extLst>
          </p:nvPr>
        </p:nvGraphicFramePr>
        <p:xfrm>
          <a:off x="347472" y="644652"/>
          <a:ext cx="8449056" cy="4398264"/>
        </p:xfrm>
        <a:graphic>
          <a:graphicData uri="http://schemas.openxmlformats.org/drawingml/2006/table">
            <a:tbl>
              <a:tblPr/>
              <a:tblGrid>
                <a:gridCol w="19202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4974336">
                  <a:extLst>
                    <a:ext uri="{9D8B030D-6E8A-4147-A177-3AD203B41FA5}">
                      <a16:colId xmlns:a16="http://schemas.microsoft.com/office/drawing/2014/main" val="20003"/>
                    </a:ext>
                  </a:extLst>
                </a:gridCol>
              </a:tblGrid>
              <a:tr h="374904">
                <a:tc>
                  <a:txBody>
                    <a:bodyPr/>
                    <a:lstStyle/>
                    <a:p>
                      <a:pPr marL="0" indent="0">
                        <a:buNone/>
                      </a:pPr>
                      <a:r>
                        <a:rPr lang="en-US" sz="1200" b="1" dirty="0">
                          <a:solidFill>
                            <a:srgbClr val="FFFFFF"/>
                          </a:solidFill>
                        </a:rPr>
                        <a:t>Experiment</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Epochs</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Stopped?</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rPr>
                        <a:t>Takeaway</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00279">
                <a:tc>
                  <a:txBody>
                    <a:bodyPr/>
                    <a:lstStyle/>
                    <a:p>
                      <a:pPr marL="0" lvl="0" indent="0">
                        <a:buNone/>
                      </a:pPr>
                      <a:r>
                        <a:rPr lang="en-US" sz="1400" b="0" i="0" u="none" strike="noStrike" noProof="0">
                          <a:solidFill>
                            <a:srgbClr val="000000"/>
                          </a:solidFill>
                          <a:latin typeface="Tw Cen MT"/>
                        </a:rPr>
                        <a:t>A - LeNet5_base </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19/30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a:solidFill>
                            <a:srgbClr val="000000"/>
                          </a:solidFill>
                        </a:rPr>
                        <a:t>LeNet5 finds plateau quickly</a:t>
                      </a:r>
                      <a:endParaRPr lang="en-US" sz="140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79">
                <a:tc>
                  <a:txBody>
                    <a:bodyPr/>
                    <a:lstStyle/>
                    <a:p>
                      <a:pPr marL="0" lvl="0" indent="0">
                        <a:buNone/>
                      </a:pPr>
                      <a:r>
                        <a:rPr lang="en-US" sz="1400" b="0" i="0" u="none" strike="noStrike" noProof="0">
                          <a:solidFill>
                            <a:srgbClr val="000000"/>
                          </a:solidFill>
                          <a:latin typeface="Tw Cen MT"/>
                        </a:rPr>
                        <a:t>B - LeNet5_dwrs</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E74C3C"/>
                          </a:solidFill>
                          <a:latin typeface="Tw Cen MT"/>
                        </a:rPr>
                        <a:t>✗ No</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Moderate dropout and </a:t>
                      </a:r>
                      <a:r>
                        <a:rPr lang="en-US" sz="1400" dirty="0" err="1">
                          <a:solidFill>
                            <a:srgbClr val="000000"/>
                          </a:solidFill>
                        </a:rPr>
                        <a:t>WRSampler</a:t>
                      </a:r>
                      <a:r>
                        <a:rPr lang="en-US" sz="1400" dirty="0">
                          <a:solidFill>
                            <a:srgbClr val="000000"/>
                          </a:solidFill>
                        </a:rPr>
                        <a:t> delays convergence</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79">
                <a:tc>
                  <a:txBody>
                    <a:bodyPr/>
                    <a:lstStyle/>
                    <a:p>
                      <a:pPr marL="0" lvl="0" indent="0">
                        <a:buNone/>
                      </a:pPr>
                      <a:r>
                        <a:rPr lang="en-US" sz="1400" b="0" i="0" u="none" strike="noStrike" noProof="0" dirty="0">
                          <a:solidFill>
                            <a:srgbClr val="000000"/>
                          </a:solidFill>
                          <a:latin typeface="Tw Cen MT"/>
                        </a:rPr>
                        <a:t>C - </a:t>
                      </a:r>
                      <a:r>
                        <a:rPr lang="en-US" sz="1400" b="0" i="0" u="none" strike="noStrike" noProof="0" dirty="0" err="1">
                          <a:solidFill>
                            <a:srgbClr val="000000"/>
                          </a:solidFill>
                          <a:latin typeface="Tw Cen MT"/>
                        </a:rPr>
                        <a:t>Simple_cw</a:t>
                      </a:r>
                      <a:endParaRPr lang="en-US" dirty="0" err="1"/>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E74C3C"/>
                          </a:solidFill>
                          <a:latin typeface="Tw Cen MT"/>
                        </a:rPr>
                        <a:t>✗ No</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Model fails to converge in 30 epochs (low number and small convolutions)</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79">
                <a:tc>
                  <a:txBody>
                    <a:bodyPr/>
                    <a:lstStyle/>
                    <a:p>
                      <a:pPr marL="0" lvl="0" indent="0">
                        <a:buNone/>
                      </a:pPr>
                      <a:r>
                        <a:rPr lang="en-US" sz="1400" b="0" i="0" u="none" strike="noStrike" noProof="0" dirty="0">
                          <a:solidFill>
                            <a:srgbClr val="000000"/>
                          </a:solidFill>
                        </a:rPr>
                        <a:t>D - </a:t>
                      </a:r>
                      <a:r>
                        <a:rPr lang="en-US" sz="1400" b="0" i="0" u="none" strike="noStrike" noProof="0" dirty="0" err="1">
                          <a:solidFill>
                            <a:srgbClr val="000000"/>
                          </a:solidFill>
                          <a:latin typeface="Tw Cen MT"/>
                        </a:rPr>
                        <a:t>Medium_base</a:t>
                      </a:r>
                      <a:endParaRPr lang="en-US" dirty="0" err="1"/>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Deeper model allows for more convergence (0.02 train loss); can't find optimum</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79">
                <a:tc>
                  <a:txBody>
                    <a:bodyPr/>
                    <a:lstStyle/>
                    <a:p>
                      <a:pPr marL="0" indent="0">
                        <a:buNone/>
                      </a:pPr>
                      <a:r>
                        <a:rPr lang="en-US" sz="1400" dirty="0">
                          <a:solidFill>
                            <a:srgbClr val="000000"/>
                          </a:solidFill>
                        </a:rPr>
                        <a:t>E - </a:t>
                      </a:r>
                      <a:r>
                        <a:rPr lang="en-US" sz="1400" b="0" i="0" u="none" strike="noStrike" noProof="0" dirty="0" err="1">
                          <a:solidFill>
                            <a:srgbClr val="000000"/>
                          </a:solidFill>
                          <a:latin typeface="Tw Cen MT"/>
                        </a:rPr>
                        <a:t>Medium_d</a:t>
                      </a:r>
                      <a:r>
                        <a:rPr lang="en-US" sz="1400" dirty="0">
                          <a:solidFill>
                            <a:srgbClr val="000000"/>
                          </a:solidFill>
                        </a:rPr>
                        <a:t> </a:t>
                      </a:r>
                      <a:endParaRPr lang="en-US" sz="1400" b="0" i="0" u="none" strike="noStrike" noProof="0" dirty="0">
                        <a:solidFill>
                          <a:srgbClr val="000000"/>
                        </a:solidFill>
                        <a:latin typeface="Tw Cen MT"/>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E74C3C"/>
                          </a:solidFill>
                          <a:latin typeface="Tw Cen MT"/>
                        </a:rPr>
                        <a:t>✗ No</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Dropout in previous model doesn't improve convergence; can't find optimum</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79">
                <a:tc>
                  <a:txBody>
                    <a:bodyPr/>
                    <a:lstStyle/>
                    <a:p>
                      <a:pPr marL="0" indent="0">
                        <a:buNone/>
                      </a:pPr>
                      <a:r>
                        <a:rPr lang="en-US" sz="1400" dirty="0">
                          <a:solidFill>
                            <a:srgbClr val="000000"/>
                          </a:solidFill>
                        </a:rPr>
                        <a:t>F - </a:t>
                      </a:r>
                      <a:r>
                        <a:rPr lang="en-US" sz="1400" b="0" i="0" u="none" strike="noStrike" noProof="0" dirty="0" err="1">
                          <a:solidFill>
                            <a:srgbClr val="000000"/>
                          </a:solidFill>
                          <a:latin typeface="Tw Cen MT"/>
                        </a:rPr>
                        <a:t>Medium_dls</a:t>
                      </a:r>
                      <a:r>
                        <a:rPr lang="en-US" sz="1400" dirty="0">
                          <a:solidFill>
                            <a:srgbClr val="000000"/>
                          </a:solidFill>
                        </a:rPr>
                        <a:t> </a:t>
                      </a:r>
                      <a:endParaRPr lang="en-US" sz="1400" b="0" i="0" u="none" strike="noStrike" noProof="0" dirty="0">
                        <a:solidFill>
                          <a:srgbClr val="000000"/>
                        </a:solidFill>
                        <a:latin typeface="Tw Cen MT"/>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E74C3C"/>
                          </a:solidFill>
                          <a:latin typeface="Tw Cen MT"/>
                        </a:rPr>
                        <a:t>✗ No</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Dropout and label smoothing hurt the convergence; the problem isn't regularization</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79">
                <a:tc>
                  <a:txBody>
                    <a:bodyPr/>
                    <a:lstStyle/>
                    <a:p>
                      <a:pPr marL="0" indent="0">
                        <a:buNone/>
                      </a:pPr>
                      <a:r>
                        <a:rPr lang="en-US" sz="1400" dirty="0">
                          <a:solidFill>
                            <a:srgbClr val="000000"/>
                          </a:solidFill>
                        </a:rPr>
                        <a:t>G - </a:t>
                      </a:r>
                      <a:r>
                        <a:rPr lang="en-US" sz="1400" dirty="0" err="1">
                          <a:solidFill>
                            <a:srgbClr val="000000"/>
                          </a:solidFill>
                        </a:rPr>
                        <a:t>Medium_dcw</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Dropout and class weights; confirms previous theory, we need a deeper/wider network</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0279">
                <a:tc>
                  <a:txBody>
                    <a:bodyPr/>
                    <a:lstStyle/>
                    <a:p>
                      <a:pPr marL="0" indent="0">
                        <a:buNone/>
                      </a:pPr>
                      <a:r>
                        <a:rPr lang="en-US" sz="1400" b="0" i="0" u="none" strike="noStrike" noProof="0" dirty="0">
                          <a:solidFill>
                            <a:srgbClr val="000000"/>
                          </a:solidFill>
                          <a:latin typeface="Tw Cen MT"/>
                        </a:rPr>
                        <a:t>H - </a:t>
                      </a:r>
                      <a:r>
                        <a:rPr lang="en-US" sz="1400" b="0" i="0" u="none" strike="noStrike" noProof="0" dirty="0" err="1">
                          <a:solidFill>
                            <a:srgbClr val="000000"/>
                          </a:solidFill>
                          <a:latin typeface="Tw Cen MT"/>
                        </a:rPr>
                        <a:t>Medium_dwrs</a:t>
                      </a:r>
                      <a:endParaRPr lang="en-US" sz="1400" dirty="0" err="1"/>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Dropout and </a:t>
                      </a:r>
                      <a:r>
                        <a:rPr lang="en-US" sz="1400" dirty="0" err="1">
                          <a:solidFill>
                            <a:srgbClr val="000000"/>
                          </a:solidFill>
                        </a:rPr>
                        <a:t>WeightedRandomSampler</a:t>
                      </a:r>
                      <a:r>
                        <a:rPr lang="en-US" sz="1400" dirty="0">
                          <a:solidFill>
                            <a:srgbClr val="000000"/>
                          </a:solidFill>
                        </a:rPr>
                        <a:t> also fails to improve</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0279">
                <a:tc>
                  <a:txBody>
                    <a:bodyPr/>
                    <a:lstStyle/>
                    <a:p>
                      <a:pPr marL="0" indent="0">
                        <a:buNone/>
                      </a:pPr>
                      <a:r>
                        <a:rPr lang="en-US" sz="1400" b="0" i="0" u="none" strike="noStrike" noProof="0" dirty="0">
                          <a:solidFill>
                            <a:srgbClr val="000000"/>
                          </a:solidFill>
                          <a:latin typeface="Tw Cen MT"/>
                        </a:rPr>
                        <a:t>I - </a:t>
                      </a:r>
                      <a:r>
                        <a:rPr lang="en-US" sz="1400" b="0" i="0" u="none" strike="noStrike" noProof="0" dirty="0" err="1">
                          <a:solidFill>
                            <a:srgbClr val="000000"/>
                          </a:solidFill>
                          <a:latin typeface="Tw Cen MT"/>
                        </a:rPr>
                        <a:t>Deep_dwrs</a:t>
                      </a:r>
                      <a:r>
                        <a:rPr lang="en-US" sz="1400" b="0" i="0" u="none" strike="noStrike" noProof="0" dirty="0">
                          <a:solidFill>
                            <a:srgbClr val="000000"/>
                          </a:solidFill>
                          <a:latin typeface="Tw Cen MT"/>
                        </a:rPr>
                        <a:t> ⭐</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25/30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27AE60"/>
                          </a:solidFill>
                          <a:latin typeface="Tw Cen MT"/>
                        </a:rPr>
                        <a:t>✓ Yes</a:t>
                      </a:r>
                      <a:endParaRPr lang="en-US"/>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Two more convolution channels makes finding optimum fast; confirmed theory where regularization was not the issue </a:t>
                      </a:r>
                      <a:r>
                        <a:rPr lang="en-US" sz="1100" b="1" i="0" u="none" strike="noStrike" noProof="0" dirty="0">
                          <a:solidFill>
                            <a:srgbClr val="27AE60"/>
                          </a:solidFill>
                          <a:latin typeface="Tw Cen MT"/>
                        </a:rPr>
                        <a:t>✓</a:t>
                      </a:r>
                      <a:endParaRPr lang="en-US" sz="1400" dirty="0">
                        <a:solidFill>
                          <a:srgbClr val="000000"/>
                        </a:solidFill>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2">
            <a:extLst>
              <a:ext uri="{FF2B5EF4-FFF2-40B4-BE49-F238E27FC236}">
                <a16:creationId xmlns:a16="http://schemas.microsoft.com/office/drawing/2014/main" id="{19C6034F-83B9-2393-B074-9BCEEDF2312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7" name="Rectangle: Rounded Corners 6">
            <a:extLst>
              <a:ext uri="{FF2B5EF4-FFF2-40B4-BE49-F238E27FC236}">
                <a16:creationId xmlns:a16="http://schemas.microsoft.com/office/drawing/2014/main" id="{A87C9746-02DE-E79B-7221-A06138DE959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D362-864A-AB17-E83C-35DAA81F53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271828-793F-1284-EE16-94BD6091F513}"/>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a:extLst>
              <a:ext uri="{FF2B5EF4-FFF2-40B4-BE49-F238E27FC236}">
                <a16:creationId xmlns:a16="http://schemas.microsoft.com/office/drawing/2014/main" id="{64E86317-556D-8180-9B73-F018E54B552E}"/>
              </a:ext>
            </a:extLst>
          </p:cNvPr>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Early Stopping — Results Across All Experiments</a:t>
            </a:r>
            <a:endParaRPr lang="en-US" sz="2200" dirty="0"/>
          </a:p>
        </p:txBody>
      </p:sp>
      <p:sp>
        <p:nvSpPr>
          <p:cNvPr id="4" name="Shape 2">
            <a:extLst>
              <a:ext uri="{FF2B5EF4-FFF2-40B4-BE49-F238E27FC236}">
                <a16:creationId xmlns:a16="http://schemas.microsoft.com/office/drawing/2014/main" id="{D216AB00-FD52-227D-A70F-9F876A54AF00}"/>
              </a:ext>
            </a:extLst>
          </p:cNvPr>
          <p:cNvSpPr/>
          <p:nvPr/>
        </p:nvSpPr>
        <p:spPr>
          <a:xfrm>
            <a:off x="7635240" y="109728"/>
            <a:ext cx="1371600" cy="301752"/>
          </a:xfrm>
          <a:prstGeom prst="rect">
            <a:avLst/>
          </a:prstGeom>
          <a:solidFill>
            <a:srgbClr val="1C3A52"/>
          </a:solidFill>
          <a:ln w="12700">
            <a:solidFill>
              <a:srgbClr val="1C3A52"/>
            </a:solidFill>
            <a:prstDash val="solid"/>
          </a:ln>
        </p:spPr>
        <p:txBody>
          <a:bodyPr/>
          <a:lstStyle/>
          <a:p>
            <a:endParaRPr lang="pt-PT"/>
          </a:p>
        </p:txBody>
      </p:sp>
      <p:sp>
        <p:nvSpPr>
          <p:cNvPr id="5" name="Text 3">
            <a:extLst>
              <a:ext uri="{FF2B5EF4-FFF2-40B4-BE49-F238E27FC236}">
                <a16:creationId xmlns:a16="http://schemas.microsoft.com/office/drawing/2014/main" id="{632C09BB-7A18-A75A-D099-409704408A7B}"/>
              </a:ext>
            </a:extLst>
          </p:cNvPr>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graphicFrame>
        <p:nvGraphicFramePr>
          <p:cNvPr id="11" name="Table 0">
            <a:extLst>
              <a:ext uri="{FF2B5EF4-FFF2-40B4-BE49-F238E27FC236}">
                <a16:creationId xmlns:a16="http://schemas.microsoft.com/office/drawing/2014/main" id="{CDB23056-8598-95A7-04F2-1FCC3F362398}"/>
              </a:ext>
            </a:extLst>
          </p:cNvPr>
          <p:cNvGraphicFramePr>
            <a:graphicFrameLocks noGrp="1"/>
          </p:cNvGraphicFramePr>
          <p:nvPr>
            <p:extLst>
              <p:ext uri="{D42A27DB-BD31-4B8C-83A1-F6EECF244321}">
                <p14:modId xmlns:p14="http://schemas.microsoft.com/office/powerpoint/2010/main" val="2351065962"/>
              </p:ext>
            </p:extLst>
          </p:nvPr>
        </p:nvGraphicFramePr>
        <p:xfrm>
          <a:off x="347472" y="644652"/>
          <a:ext cx="8449056" cy="2239350"/>
        </p:xfrm>
        <a:graphic>
          <a:graphicData uri="http://schemas.openxmlformats.org/drawingml/2006/table">
            <a:tbl>
              <a:tblPr/>
              <a:tblGrid>
                <a:gridCol w="19202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4974336">
                  <a:extLst>
                    <a:ext uri="{9D8B030D-6E8A-4147-A177-3AD203B41FA5}">
                      <a16:colId xmlns:a16="http://schemas.microsoft.com/office/drawing/2014/main" val="20003"/>
                    </a:ext>
                  </a:extLst>
                </a:gridCol>
              </a:tblGrid>
              <a:tr h="374904">
                <a:tc>
                  <a:txBody>
                    <a:bodyPr/>
                    <a:lstStyle/>
                    <a:p>
                      <a:pPr marL="0" indent="0">
                        <a:buNone/>
                      </a:pPr>
                      <a:r>
                        <a:rPr lang="en-US" sz="1200" b="1" dirty="0">
                          <a:solidFill>
                            <a:srgbClr val="FFFFFF"/>
                          </a:solidFill>
                        </a:rPr>
                        <a:t>Experiment</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Epochs</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Stopped?</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rPr>
                        <a:t>Takeaway</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00279">
                <a:tc>
                  <a:txBody>
                    <a:bodyPr/>
                    <a:lstStyle/>
                    <a:p>
                      <a:pPr marL="0" indent="0">
                        <a:buNone/>
                      </a:pPr>
                      <a:r>
                        <a:rPr lang="en-US" sz="1400" dirty="0">
                          <a:solidFill>
                            <a:srgbClr val="000000"/>
                          </a:solidFill>
                        </a:rPr>
                        <a:t>J - </a:t>
                      </a:r>
                      <a:r>
                        <a:rPr lang="en-US" sz="1400" dirty="0" err="1">
                          <a:solidFill>
                            <a:srgbClr val="000000"/>
                          </a:solidFill>
                        </a:rPr>
                        <a:t>Wide_d</a:t>
                      </a:r>
                      <a:endParaRPr lang="en-US" sz="1400" b="0" i="0" u="none" strike="noStrike" noProof="0" dirty="0" err="1">
                        <a:solidFill>
                          <a:srgbClr val="000000"/>
                        </a:solidFill>
                        <a:latin typeface="Tw Cen MT"/>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a:solidFill>
                            <a:srgbClr val="000000"/>
                          </a:solidFill>
                        </a:rPr>
                        <a:t>22/30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a:solidFill>
                            <a:srgbClr val="000000"/>
                          </a:solidFill>
                        </a:rPr>
                        <a:t>Best checkpoint at epoch 25; patience runs out at 22. Widening channels is an alternative to deepening the network to achieve 1.0</a:t>
                      </a: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0279">
                <a:tc>
                  <a:txBody>
                    <a:bodyPr/>
                    <a:lstStyle/>
                    <a:p>
                      <a:pPr marL="0" lvl="0" indent="0">
                        <a:buNone/>
                      </a:pPr>
                      <a:r>
                        <a:rPr lang="en-US" sz="1400" dirty="0">
                          <a:solidFill>
                            <a:srgbClr val="000000"/>
                          </a:solidFill>
                        </a:rPr>
                        <a:t>K - </a:t>
                      </a:r>
                      <a:r>
                        <a:rPr lang="en-US" sz="1400" dirty="0" err="1">
                          <a:solidFill>
                            <a:srgbClr val="000000"/>
                          </a:solidFill>
                        </a:rPr>
                        <a:t>Wide_dwrs</a:t>
                      </a:r>
                    </a:p>
                  </a:txBody>
                  <a:tcPr>
                    <a:lnL w="5079">
                      <a:solidFill>
                        <a:srgbClr val="D8E4EC"/>
                      </a:solidFill>
                    </a:lnL>
                    <a:lnR w="5079">
                      <a:solidFill>
                        <a:srgbClr val="D8E4EC"/>
                      </a:solidFill>
                    </a:lnR>
                    <a:lnT w="5080" cap="flat" cmpd="sng" algn="ctr">
                      <a:solidFill>
                        <a:srgbClr val="D8E4EC"/>
                      </a:solidFill>
                      <a:prstDash val="solid"/>
                      <a:round/>
                      <a:headEnd type="none" w="med" len="med"/>
                      <a:tailEnd type="none" w="med" len="med"/>
                    </a:lnT>
                    <a:lnB w="5079"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0" i="0" u="none" strike="noStrike" noProof="0">
                          <a:solidFill>
                            <a:srgbClr val="000000"/>
                          </a:solidFill>
                          <a:latin typeface="Tw Cen MT"/>
                        </a:rPr>
                        <a:t>25/30</a:t>
                      </a:r>
                      <a:endParaRPr lang="en-US"/>
                    </a:p>
                  </a:txBody>
                  <a:tcPr>
                    <a:lnL w="5079">
                      <a:solidFill>
                        <a:srgbClr val="D8E4EC"/>
                      </a:solidFill>
                    </a:lnL>
                    <a:lnR w="5079">
                      <a:solidFill>
                        <a:srgbClr val="D8E4EC"/>
                      </a:solidFill>
                    </a:lnR>
                    <a:lnT w="5080" cap="flat" cmpd="sng" algn="ctr">
                      <a:solidFill>
                        <a:srgbClr val="D8E4EC"/>
                      </a:solidFill>
                      <a:prstDash val="solid"/>
                      <a:round/>
                      <a:headEnd type="none" w="med" len="med"/>
                      <a:tailEnd type="none" w="med" len="med"/>
                    </a:lnT>
                    <a:lnB w="5079"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27AE60"/>
                          </a:solidFill>
                          <a:latin typeface="Tw Cen MT"/>
                        </a:rPr>
                        <a:t>✓ Yes</a:t>
                      </a:r>
                      <a:endParaRPr lang="en-US"/>
                    </a:p>
                  </a:txBody>
                  <a:tcPr>
                    <a:lnL w="5079">
                      <a:solidFill>
                        <a:srgbClr val="D8E4EC"/>
                      </a:solidFill>
                    </a:lnL>
                    <a:lnR w="5079">
                      <a:solidFill>
                        <a:srgbClr val="D8E4EC"/>
                      </a:solidFill>
                    </a:lnR>
                    <a:lnT w="5080" cap="flat" cmpd="sng" algn="ctr">
                      <a:solidFill>
                        <a:srgbClr val="D8E4EC"/>
                      </a:solidFill>
                      <a:prstDash val="solid"/>
                      <a:round/>
                      <a:headEnd type="none" w="med" len="med"/>
                      <a:tailEnd type="none" w="med" len="med"/>
                    </a:lnT>
                    <a:lnB w="5079" cap="flat" cmpd="sng" algn="ctr">
                      <a:solidFill>
                        <a:srgbClr val="D8E4EC"/>
                      </a:solidFill>
                      <a:prstDash val="solid"/>
                      <a:round/>
                      <a:headEnd type="none" w="med" len="med"/>
                      <a:tailEnd type="none" w="med" len="med"/>
                    </a:lnB>
                    <a:solidFill>
                      <a:srgbClr val="FFFFFF"/>
                    </a:solidFill>
                  </a:tcPr>
                </a:tc>
                <a:tc>
                  <a:txBody>
                    <a:bodyPr/>
                    <a:lstStyle/>
                    <a:p>
                      <a:pPr marL="0" lvl="0" indent="0">
                        <a:buNone/>
                      </a:pPr>
                      <a:r>
                        <a:rPr lang="en-US" sz="1400" dirty="0">
                          <a:solidFill>
                            <a:srgbClr val="000000"/>
                          </a:solidFill>
                        </a:rPr>
                        <a:t>Apply dropout and </a:t>
                      </a:r>
                      <a:r>
                        <a:rPr lang="en-US" sz="1400" dirty="0" err="1">
                          <a:solidFill>
                            <a:srgbClr val="000000"/>
                          </a:solidFill>
                        </a:rPr>
                        <a:t>WeightedRandomSampler</a:t>
                      </a:r>
                      <a:r>
                        <a:rPr lang="en-US" sz="1400" dirty="0">
                          <a:solidFill>
                            <a:srgbClr val="000000"/>
                          </a:solidFill>
                        </a:rPr>
                        <a:t> in this wider network gives us a perfect convergence</a:t>
                      </a:r>
                    </a:p>
                  </a:txBody>
                  <a:tcPr>
                    <a:lnL w="5079">
                      <a:solidFill>
                        <a:srgbClr val="D8E4EC"/>
                      </a:solidFill>
                    </a:lnL>
                    <a:lnR w="5079">
                      <a:solidFill>
                        <a:srgbClr val="D8E4EC"/>
                      </a:solidFill>
                    </a:lnR>
                    <a:lnT w="5080" cap="flat" cmpd="sng" algn="ctr">
                      <a:solidFill>
                        <a:srgbClr val="D8E4EC"/>
                      </a:solidFill>
                      <a:prstDash val="solid"/>
                      <a:round/>
                      <a:headEnd type="none" w="med" len="med"/>
                      <a:tailEnd type="none" w="med" len="med"/>
                    </a:lnT>
                    <a:lnB w="5079"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761210630"/>
                  </a:ext>
                </a:extLst>
              </a:tr>
              <a:tr h="309966">
                <a:tc>
                  <a:txBody>
                    <a:bodyPr/>
                    <a:lstStyle/>
                    <a:p>
                      <a:pPr marL="0" lvl="0" indent="0">
                        <a:buNone/>
                      </a:pPr>
                      <a:r>
                        <a:rPr lang="en-US" sz="1400" dirty="0">
                          <a:solidFill>
                            <a:srgbClr val="000000"/>
                          </a:solidFill>
                        </a:rPr>
                        <a:t>L - </a:t>
                      </a:r>
                      <a:r>
                        <a:rPr lang="en-US" sz="1400" b="0" i="0" u="none" strike="noStrike" noProof="0" dirty="0" err="1">
                          <a:solidFill>
                            <a:srgbClr val="000000"/>
                          </a:solidFill>
                          <a:latin typeface="Tw Cen MT"/>
                        </a:rPr>
                        <a:t>MultiScale_dwrs</a:t>
                      </a:r>
                      <a:endParaRPr lang="en-US" sz="1400" dirty="0" err="1">
                        <a:solidFill>
                          <a:srgbClr val="000000"/>
                        </a:solidFill>
                      </a:endParaRPr>
                    </a:p>
                  </a:txBody>
                  <a:tcPr>
                    <a:lnL w="5078">
                      <a:solidFill>
                        <a:srgbClr val="D8E4EC"/>
                      </a:solidFill>
                    </a:lnL>
                    <a:lnR w="5078">
                      <a:solidFill>
                        <a:srgbClr val="D8E4EC"/>
                      </a:solidFill>
                    </a:lnR>
                    <a:lnT w="5079" cap="flat" cmpd="sng" algn="ctr">
                      <a:solidFill>
                        <a:srgbClr val="D8E4EC"/>
                      </a:solidFill>
                      <a:prstDash val="solid"/>
                      <a:round/>
                      <a:headEnd type="none" w="med" len="med"/>
                      <a:tailEnd type="none" w="med" len="med"/>
                    </a:lnT>
                    <a:lnB w="5078"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0" i="0" u="none" strike="noStrike" noProof="0">
                          <a:solidFill>
                            <a:srgbClr val="000000"/>
                          </a:solidFill>
                          <a:latin typeface="Tw Cen MT"/>
                        </a:rPr>
                        <a:t>29/30</a:t>
                      </a:r>
                      <a:endParaRPr lang="en-US"/>
                    </a:p>
                  </a:txBody>
                  <a:tcPr>
                    <a:lnL w="5078">
                      <a:solidFill>
                        <a:srgbClr val="D8E4EC"/>
                      </a:solidFill>
                    </a:lnL>
                    <a:lnR w="5078">
                      <a:solidFill>
                        <a:srgbClr val="D8E4EC"/>
                      </a:solidFill>
                    </a:lnR>
                    <a:lnT w="5079" cap="flat" cmpd="sng" algn="ctr">
                      <a:solidFill>
                        <a:srgbClr val="D8E4EC"/>
                      </a:solidFill>
                      <a:prstDash val="solid"/>
                      <a:round/>
                      <a:headEnd type="none" w="med" len="med"/>
                      <a:tailEnd type="none" w="med" len="med"/>
                    </a:lnT>
                    <a:lnB w="5078"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27AE60"/>
                          </a:solidFill>
                          <a:latin typeface="Tw Cen MT"/>
                        </a:rPr>
                        <a:t>✓ Yes</a:t>
                      </a:r>
                      <a:endParaRPr lang="en-US"/>
                    </a:p>
                  </a:txBody>
                  <a:tcPr>
                    <a:lnL w="5078">
                      <a:solidFill>
                        <a:srgbClr val="D8E4EC"/>
                      </a:solidFill>
                    </a:lnL>
                    <a:lnR w="5078">
                      <a:solidFill>
                        <a:srgbClr val="D8E4EC"/>
                      </a:solidFill>
                    </a:lnR>
                    <a:lnT w="5079" cap="flat" cmpd="sng" algn="ctr">
                      <a:solidFill>
                        <a:srgbClr val="D8E4EC"/>
                      </a:solidFill>
                      <a:prstDash val="solid"/>
                      <a:round/>
                      <a:headEnd type="none" w="med" len="med"/>
                      <a:tailEnd type="none" w="med" len="med"/>
                    </a:lnT>
                    <a:lnB w="5078" cap="flat" cmpd="sng" algn="ctr">
                      <a:solidFill>
                        <a:srgbClr val="D8E4EC"/>
                      </a:solidFill>
                      <a:prstDash val="solid"/>
                      <a:round/>
                      <a:headEnd type="none" w="med" len="med"/>
                      <a:tailEnd type="none" w="med" len="med"/>
                    </a:lnB>
                    <a:solidFill>
                      <a:srgbClr val="FFFFFF"/>
                    </a:solidFill>
                  </a:tcPr>
                </a:tc>
                <a:tc>
                  <a:txBody>
                    <a:bodyPr/>
                    <a:lstStyle/>
                    <a:p>
                      <a:pPr marL="0" lvl="0" indent="0">
                        <a:buNone/>
                      </a:pPr>
                      <a:r>
                        <a:rPr lang="en-US" sz="1400">
                          <a:solidFill>
                            <a:srgbClr val="000000"/>
                          </a:solidFill>
                        </a:rPr>
                        <a:t>Early stops with way deep network and multiple scale kernels </a:t>
                      </a:r>
                    </a:p>
                  </a:txBody>
                  <a:tcPr>
                    <a:lnL w="5078">
                      <a:solidFill>
                        <a:srgbClr val="D8E4EC"/>
                      </a:solidFill>
                    </a:lnL>
                    <a:lnR w="5078">
                      <a:solidFill>
                        <a:srgbClr val="D8E4EC"/>
                      </a:solidFill>
                    </a:lnR>
                    <a:lnT w="5079" cap="flat" cmpd="sng" algn="ctr">
                      <a:solidFill>
                        <a:srgbClr val="D8E4EC"/>
                      </a:solidFill>
                      <a:prstDash val="solid"/>
                      <a:round/>
                      <a:headEnd type="none" w="med" len="med"/>
                      <a:tailEnd type="none" w="med" len="med"/>
                    </a:lnT>
                    <a:lnB w="5078"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3248077057"/>
                  </a:ext>
                </a:extLst>
              </a:tr>
              <a:tr h="339025">
                <a:tc>
                  <a:txBody>
                    <a:bodyPr/>
                    <a:lstStyle/>
                    <a:p>
                      <a:pPr marL="0" lvl="0" indent="0">
                        <a:buNone/>
                      </a:pPr>
                      <a:r>
                        <a:rPr lang="en-US" sz="1400" dirty="0">
                          <a:solidFill>
                            <a:srgbClr val="000000"/>
                          </a:solidFill>
                        </a:rPr>
                        <a:t>M - </a:t>
                      </a:r>
                      <a:r>
                        <a:rPr lang="en-US" sz="1400" b="0" i="0" u="none" strike="noStrike" noProof="0" dirty="0" err="1">
                          <a:solidFill>
                            <a:srgbClr val="000000"/>
                          </a:solidFill>
                          <a:latin typeface="Tw Cen MT"/>
                        </a:rPr>
                        <a:t>Residual_dwrs</a:t>
                      </a:r>
                    </a:p>
                  </a:txBody>
                  <a:tcPr>
                    <a:lnL w="5078">
                      <a:solidFill>
                        <a:srgbClr val="D8E4EC"/>
                      </a:solidFill>
                    </a:lnL>
                    <a:lnR w="5078">
                      <a:solidFill>
                        <a:srgbClr val="D8E4EC"/>
                      </a:solidFill>
                    </a:lnR>
                    <a:lnT w="5078">
                      <a:solidFill>
                        <a:srgbClr val="D8E4EC"/>
                      </a:solidFill>
                    </a:lnT>
                    <a:lnB w="5078">
                      <a:solidFill>
                        <a:srgbClr val="D8E4EC"/>
                      </a:solidFill>
                    </a:lnB>
                    <a:solidFill>
                      <a:srgbClr val="FFFFFF"/>
                    </a:solidFill>
                  </a:tcPr>
                </a:tc>
                <a:tc>
                  <a:txBody>
                    <a:bodyPr/>
                    <a:lstStyle/>
                    <a:p>
                      <a:pPr marL="0" lvl="0" indent="0" algn="ctr">
                        <a:buNone/>
                      </a:pPr>
                      <a:r>
                        <a:rPr lang="en-US" sz="1100" b="0" i="0" u="none" strike="noStrike" noProof="0">
                          <a:solidFill>
                            <a:srgbClr val="000000"/>
                          </a:solidFill>
                          <a:latin typeface="Tw Cen MT"/>
                        </a:rPr>
                        <a:t>19/30</a:t>
                      </a:r>
                      <a:endParaRPr lang="en-US"/>
                    </a:p>
                  </a:txBody>
                  <a:tcPr>
                    <a:lnL w="5078">
                      <a:solidFill>
                        <a:srgbClr val="D8E4EC"/>
                      </a:solidFill>
                    </a:lnL>
                    <a:lnR w="5078">
                      <a:solidFill>
                        <a:srgbClr val="D8E4EC"/>
                      </a:solidFill>
                    </a:lnR>
                    <a:lnT w="5078">
                      <a:solidFill>
                        <a:srgbClr val="D8E4EC"/>
                      </a:solidFill>
                    </a:lnT>
                    <a:lnB w="5078">
                      <a:solidFill>
                        <a:srgbClr val="D8E4EC"/>
                      </a:solidFill>
                    </a:lnB>
                    <a:solidFill>
                      <a:srgbClr val="FFFFFF"/>
                    </a:solidFill>
                  </a:tcPr>
                </a:tc>
                <a:tc>
                  <a:txBody>
                    <a:bodyPr/>
                    <a:lstStyle/>
                    <a:p>
                      <a:pPr marL="0" lvl="0" indent="0" algn="ctr">
                        <a:buNone/>
                      </a:pPr>
                      <a:r>
                        <a:rPr lang="en-US" sz="1100" b="1" i="0" u="none" strike="noStrike" noProof="0">
                          <a:solidFill>
                            <a:srgbClr val="27AE60"/>
                          </a:solidFill>
                          <a:latin typeface="Tw Cen MT"/>
                        </a:rPr>
                        <a:t>✓ Yes</a:t>
                      </a:r>
                      <a:endParaRPr lang="en-US"/>
                    </a:p>
                  </a:txBody>
                  <a:tcPr>
                    <a:lnL w="5078">
                      <a:solidFill>
                        <a:srgbClr val="D8E4EC"/>
                      </a:solidFill>
                    </a:lnL>
                    <a:lnR w="5078">
                      <a:solidFill>
                        <a:srgbClr val="D8E4EC"/>
                      </a:solidFill>
                    </a:lnR>
                    <a:lnT w="5078">
                      <a:solidFill>
                        <a:srgbClr val="D8E4EC"/>
                      </a:solidFill>
                    </a:lnT>
                    <a:lnB w="5078">
                      <a:solidFill>
                        <a:srgbClr val="D8E4EC"/>
                      </a:solidFill>
                    </a:lnB>
                    <a:solidFill>
                      <a:srgbClr val="FFFFFF"/>
                    </a:solidFill>
                  </a:tcPr>
                </a:tc>
                <a:tc>
                  <a:txBody>
                    <a:bodyPr/>
                    <a:lstStyle/>
                    <a:p>
                      <a:pPr marL="0" lvl="0" indent="0">
                        <a:buNone/>
                      </a:pPr>
                      <a:r>
                        <a:rPr lang="en-US" sz="1400">
                          <a:solidFill>
                            <a:srgbClr val="000000"/>
                          </a:solidFill>
                        </a:rPr>
                        <a:t>Residual Network converges the fastest (in terms of number of epochs, not time); </a:t>
                      </a:r>
                      <a:r>
                        <a:rPr lang="en-US" sz="1400" err="1">
                          <a:solidFill>
                            <a:srgbClr val="000000"/>
                          </a:solidFill>
                        </a:rPr>
                        <a:t>EarlyStoping</a:t>
                      </a:r>
                      <a:r>
                        <a:rPr lang="en-US" sz="1400" dirty="0">
                          <a:solidFill>
                            <a:srgbClr val="000000"/>
                          </a:solidFill>
                        </a:rPr>
                        <a:t> occurs earliest</a:t>
                      </a:r>
                    </a:p>
                  </a:txBody>
                  <a:tcPr>
                    <a:lnL w="5078">
                      <a:solidFill>
                        <a:srgbClr val="D8E4EC"/>
                      </a:solidFill>
                    </a:lnL>
                    <a:lnR w="5078">
                      <a:solidFill>
                        <a:srgbClr val="D8E4EC"/>
                      </a:solidFill>
                    </a:lnR>
                    <a:lnT w="5078">
                      <a:solidFill>
                        <a:srgbClr val="D8E4EC"/>
                      </a:solidFill>
                    </a:lnT>
                    <a:lnB w="5078">
                      <a:solidFill>
                        <a:srgbClr val="D8E4EC"/>
                      </a:solidFill>
                    </a:lnB>
                    <a:solidFill>
                      <a:srgbClr val="FFFFFF"/>
                    </a:solidFill>
                  </a:tcPr>
                </a:tc>
                <a:extLst>
                  <a:ext uri="{0D108BD9-81ED-4DB2-BD59-A6C34878D82A}">
                    <a16:rowId xmlns:a16="http://schemas.microsoft.com/office/drawing/2014/main" val="274348874"/>
                  </a:ext>
                </a:extLst>
              </a:tr>
            </a:tbl>
          </a:graphicData>
        </a:graphic>
      </p:graphicFrame>
      <p:sp>
        <p:nvSpPr>
          <p:cNvPr id="6" name="Shape 2">
            <a:extLst>
              <a:ext uri="{FF2B5EF4-FFF2-40B4-BE49-F238E27FC236}">
                <a16:creationId xmlns:a16="http://schemas.microsoft.com/office/drawing/2014/main" id="{82704C14-F5D6-D083-24CA-0D130A2E709C}"/>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7" name="Rectangle: Rounded Corners 6">
            <a:extLst>
              <a:ext uri="{FF2B5EF4-FFF2-40B4-BE49-F238E27FC236}">
                <a16:creationId xmlns:a16="http://schemas.microsoft.com/office/drawing/2014/main" id="{74C52EFB-1E20-25F8-57B1-32B1578DC6A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2</a:t>
            </a:r>
          </a:p>
        </p:txBody>
      </p:sp>
    </p:spTree>
    <p:extLst>
      <p:ext uri="{BB962C8B-B14F-4D97-AF65-F5344CB8AC3E}">
        <p14:creationId xmlns:p14="http://schemas.microsoft.com/office/powerpoint/2010/main" val="1374614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Train Eff</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2</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Training Curves — Best Solo R_ls015_drop03</a:t>
            </a:r>
          </a:p>
        </p:txBody>
      </p:sp>
      <p:sp>
        <p:nvSpPr>
          <p:cNvPr id="20" name="TableBG"/>
          <p:cNvSpPr/>
          <p:nvPr/>
        </p:nvSpPr>
        <p:spPr>
          <a:xfrm>
            <a:off x="4799880" y="809789"/>
            <a:ext cx="4116240" cy="170078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TH"/>
          <p:cNvSpPr/>
          <p:nvPr/>
        </p:nvSpPr>
        <p:spPr>
          <a:xfrm>
            <a:off x="4799880" y="809789"/>
            <a:ext cx="4116240" cy="219960"/>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Ep   train_loss  val_loss  train_F1  val_F1</a:t>
            </a:r>
          </a:p>
        </p:txBody>
      </p:sp>
      <p:sp>
        <p:nvSpPr>
          <p:cNvPr id="22" name="TD"/>
          <p:cNvSpPr/>
          <p:nvPr/>
        </p:nvSpPr>
        <p:spPr>
          <a:xfrm>
            <a:off x="4799880" y="1029749"/>
            <a:ext cx="4116240" cy="1700280"/>
          </a:xfrm>
          <a:prstGeom prst="rect">
            <a:avLst/>
          </a:prstGeom>
          <a:noFill/>
          <a:ln/>
        </p:spPr>
        <p:txBody>
          <a:bodyPr wrap="square" lIns="91440" tIns="45720" rIns="0" bIns="0" rtlCol="0" anchor="t"/>
          <a:lstStyle/>
          <a:p>
            <a:pPr>
              <a:buNone/>
            </a:pPr>
            <a:r>
              <a:rPr lang="en-US" sz="1000">
                <a:solidFill>
                  <a:srgbClr val="1A2B3C"/>
                </a:solidFill>
                <a:latin typeface="Calibri"/>
              </a:rPr>
              <a:t>1      2.0604 1.9553 0.2342 0.2262</a:t>
            </a:r>
          </a:p>
          <a:p>
            <a:r>
              <a:rPr lang="en-US" sz="1000">
                <a:solidFill>
                  <a:srgbClr val="1A2B3C"/>
                </a:solidFill>
                <a:latin typeface="Calibri"/>
              </a:rPr>
              <a:t>5 0.6173  0.8140  0.6838 0.6717</a:t>
            </a:r>
            <a:endParaRPr lang="en-US" sz="1000">
              <a:solidFill>
                <a:srgbClr val="1A2B3C"/>
              </a:solidFill>
              <a:latin typeface="Calibri"/>
              <a:ea typeface="Calibri"/>
              <a:cs typeface="Calibri"/>
            </a:endParaRPr>
          </a:p>
          <a:p>
            <a:r>
              <a:rPr lang="en-US" sz="1000">
                <a:solidFill>
                  <a:srgbClr val="1A2B3C"/>
                </a:solidFill>
                <a:latin typeface="Calibri"/>
              </a:rPr>
              <a:t>10 0.0970  5.1619  0.2870 0.2652</a:t>
            </a:r>
            <a:endParaRPr lang="en-US" sz="1000">
              <a:solidFill>
                <a:srgbClr val="1A2B3C"/>
              </a:solidFill>
              <a:latin typeface="Calibri"/>
              <a:ea typeface="Calibri"/>
              <a:cs typeface="Calibri"/>
            </a:endParaRPr>
          </a:p>
          <a:p>
            <a:r>
              <a:rPr lang="en-US" sz="1000">
                <a:solidFill>
                  <a:srgbClr val="1A2B3C"/>
                </a:solidFill>
                <a:latin typeface="Calibri"/>
              </a:rPr>
              <a:t>15 0.0201  0.1798  0.9119 0.9294</a:t>
            </a:r>
            <a:endParaRPr lang="en-US" sz="1000">
              <a:solidFill>
                <a:srgbClr val="1A2B3C"/>
              </a:solidFill>
              <a:latin typeface="Calibri"/>
              <a:ea typeface="Calibri"/>
              <a:cs typeface="Calibri"/>
            </a:endParaRPr>
          </a:p>
          <a:p>
            <a:r>
              <a:rPr lang="en-US" sz="1000" b="1" dirty="0">
                <a:solidFill>
                  <a:schemeClr val="accent2">
                    <a:lumMod val="76000"/>
                  </a:schemeClr>
                </a:solidFill>
                <a:latin typeface="Calibri"/>
              </a:rPr>
              <a:t>18 0.0159  0.0083  1.0000 1.0000 </a:t>
            </a:r>
            <a:r>
              <a:rPr lang="en-US" sz="1000" b="1">
                <a:solidFill>
                  <a:schemeClr val="accent2">
                    <a:lumMod val="76000"/>
                  </a:schemeClr>
                </a:solidFill>
                <a:latin typeface="Calibri"/>
              </a:rPr>
              <a:t>←</a:t>
            </a:r>
            <a:r>
              <a:rPr lang="en-US" sz="1000" b="1" dirty="0">
                <a:solidFill>
                  <a:schemeClr val="accent2">
                    <a:lumMod val="76000"/>
                  </a:schemeClr>
                </a:solidFill>
                <a:latin typeface="Calibri"/>
              </a:rPr>
              <a:t> </a:t>
            </a:r>
            <a:r>
              <a:rPr lang="en-US" sz="1000" b="1">
                <a:solidFill>
                  <a:schemeClr val="accent2">
                    <a:lumMod val="76000"/>
                  </a:schemeClr>
                </a:solidFill>
                <a:latin typeface="Calibri"/>
              </a:rPr>
              <a:t>checkpoint</a:t>
            </a:r>
            <a:endParaRPr lang="en-US" b="1">
              <a:solidFill>
                <a:schemeClr val="accent2">
                  <a:lumMod val="76000"/>
                </a:schemeClr>
              </a:solidFill>
            </a:endParaRPr>
          </a:p>
          <a:p>
            <a:r>
              <a:rPr lang="en-US" sz="1000">
                <a:solidFill>
                  <a:srgbClr val="1A2B3C"/>
                </a:solidFill>
                <a:latin typeface="Calibri"/>
              </a:rPr>
              <a:t>20 0.0121  0.3623  0.5121 0.4657</a:t>
            </a:r>
            <a:endParaRPr lang="en-US" sz="1000">
              <a:solidFill>
                <a:srgbClr val="1A2B3C"/>
              </a:solidFill>
              <a:latin typeface="Calibri"/>
              <a:ea typeface="Calibri"/>
              <a:cs typeface="Calibri"/>
            </a:endParaRPr>
          </a:p>
          <a:p>
            <a:r>
              <a:rPr lang="en-US" sz="1000">
                <a:latin typeface="Calibri"/>
              </a:rPr>
              <a:t>25 0.0173  0.0150  0.9982 0.9964 ← early stopping</a:t>
            </a:r>
            <a:endParaRPr lang="en-US" sz="1000">
              <a:latin typeface="Calibri"/>
              <a:ea typeface="Calibri"/>
              <a:cs typeface="Calibri"/>
            </a:endParaRPr>
          </a:p>
        </p:txBody>
      </p:sp>
      <p:sp>
        <p:nvSpPr>
          <p:cNvPr id="14" name="Shape 17"/>
          <p:cNvSpPr/>
          <p:nvPr/>
        </p:nvSpPr>
        <p:spPr>
          <a:xfrm>
            <a:off x="227880" y="809790"/>
            <a:ext cx="4344120" cy="1700784"/>
          </a:xfrm>
          <a:prstGeom prst="rect">
            <a:avLst/>
          </a:prstGeom>
          <a:solidFill>
            <a:srgbClr val="E8F8F5"/>
          </a:solidFill>
          <a:ln w="8890">
            <a:solidFill>
              <a:srgbClr val="00A896"/>
            </a:solidFill>
            <a:prstDash val="solid"/>
          </a:ln>
        </p:spPr>
        <p:txBody>
          <a:bodyPr/>
          <a:lstStyle/>
          <a:p>
            <a:endParaRPr lang="pt-PT"/>
          </a:p>
        </p:txBody>
      </p:sp>
      <p:sp>
        <p:nvSpPr>
          <p:cNvPr id="15" name="Shape 18"/>
          <p:cNvSpPr/>
          <p:nvPr/>
        </p:nvSpPr>
        <p:spPr>
          <a:xfrm>
            <a:off x="227880" y="809790"/>
            <a:ext cx="73152" cy="1700784"/>
          </a:xfrm>
          <a:prstGeom prst="rect">
            <a:avLst/>
          </a:prstGeom>
          <a:solidFill>
            <a:srgbClr val="00A896"/>
          </a:solidFill>
          <a:ln w="12700">
            <a:solidFill>
              <a:srgbClr val="00A896"/>
            </a:solidFill>
            <a:prstDash val="solid"/>
          </a:ln>
        </p:spPr>
        <p:txBody>
          <a:bodyPr/>
          <a:lstStyle/>
          <a:p>
            <a:endParaRPr lang="pt-PT"/>
          </a:p>
        </p:txBody>
      </p:sp>
      <p:sp>
        <p:nvSpPr>
          <p:cNvPr id="24" name="Text 20"/>
          <p:cNvSpPr/>
          <p:nvPr/>
        </p:nvSpPr>
        <p:spPr>
          <a:xfrm>
            <a:off x="307717" y="809789"/>
            <a:ext cx="4256158" cy="1700783"/>
          </a:xfrm>
          <a:prstGeom prst="rect">
            <a:avLst/>
          </a:prstGeom>
          <a:noFill/>
          <a:ln/>
        </p:spPr>
        <p:txBody>
          <a:bodyPr wrap="square" lIns="91440" tIns="45720" rIns="91440" bIns="45720" rtlCol="0" anchor="ctr"/>
          <a:lstStyle/>
          <a:p>
            <a:pPr marL="342900" indent="-342900">
              <a:buSzPct val="100000"/>
              <a:buFontTx/>
              <a:buChar char="•"/>
            </a:pPr>
            <a:r>
              <a:rPr lang="en-US" sz="1600" b="1" dirty="0" err="1">
                <a:solidFill>
                  <a:srgbClr val="0D1B2A"/>
                </a:solidFill>
                <a:latin typeface="Trebuchet MS" pitchFamily="34" charset="0"/>
                <a:ea typeface="Trebuchet MS" pitchFamily="34" charset="-122"/>
                <a:cs typeface="Trebuchet MS" pitchFamily="34" charset="-120"/>
              </a:rPr>
              <a:t>EarlyStopping</a:t>
            </a:r>
            <a:r>
              <a:rPr lang="en-US" sz="1600" b="1" dirty="0">
                <a:solidFill>
                  <a:srgbClr val="0D1B2A"/>
                </a:solidFill>
                <a:latin typeface="Trebuchet MS" pitchFamily="34" charset="0"/>
                <a:ea typeface="Trebuchet MS" pitchFamily="34" charset="-122"/>
                <a:cs typeface="Trebuchet MS" pitchFamily="34" charset="-120"/>
              </a:rPr>
              <a:t> metric:</a:t>
            </a:r>
            <a:endParaRPr lang="en-US" sz="1600" b="1" dirty="0"/>
          </a:p>
          <a:p>
            <a:pPr marL="800100" lvl="1" indent="-342900">
              <a:buSzPct val="100000"/>
              <a:buFontTx/>
              <a:buChar char="•"/>
            </a:pPr>
            <a:r>
              <a:rPr lang="en-US" sz="1200" b="1" dirty="0" err="1">
                <a:solidFill>
                  <a:srgbClr val="0D1B2A"/>
                </a:solidFill>
                <a:latin typeface="Trebuchet MS" pitchFamily="34" charset="0"/>
                <a:ea typeface="Trebuchet MS" pitchFamily="34" charset="-122"/>
                <a:cs typeface="Trebuchet MS" pitchFamily="34" charset="-120"/>
              </a:rPr>
              <a:t>val_loss</a:t>
            </a:r>
            <a:r>
              <a:rPr lang="en-US" sz="1200" b="1" dirty="0">
                <a:solidFill>
                  <a:srgbClr val="0D1B2A"/>
                </a:solidFill>
                <a:latin typeface="Trebuchet MS" pitchFamily="34" charset="0"/>
                <a:ea typeface="Trebuchet MS" pitchFamily="34" charset="-122"/>
                <a:cs typeface="Trebuchet MS" pitchFamily="34" charset="-120"/>
              </a:rPr>
              <a:t> ≠ val_f1 </a:t>
            </a:r>
          </a:p>
          <a:p>
            <a:pPr marL="800100" lvl="1" indent="-342900">
              <a:buSzPct val="100000"/>
              <a:buFontTx/>
              <a:buChar char="•"/>
            </a:pPr>
            <a:r>
              <a:rPr lang="en-US" sz="1200" dirty="0">
                <a:solidFill>
                  <a:srgbClr val="1A2B3C"/>
                </a:solidFill>
                <a:latin typeface="Calibri" pitchFamily="34" charset="0"/>
                <a:ea typeface="Calibri" pitchFamily="34" charset="-122"/>
                <a:cs typeface="Calibri" pitchFamily="34" charset="-120"/>
              </a:rPr>
              <a:t>we use val_macro_f1 (lower = better)</a:t>
            </a:r>
            <a:endParaRPr lang="en-US" sz="1200" dirty="0"/>
          </a:p>
          <a:p>
            <a:pPr>
              <a:buSzPct val="100000"/>
            </a:pPr>
            <a:r>
              <a:rPr lang="en-US" sz="1200" dirty="0">
                <a:solidFill>
                  <a:srgbClr val="1A2B3C"/>
                </a:solidFill>
                <a:latin typeface="Calibri" pitchFamily="34" charset="0"/>
                <a:ea typeface="Calibri" pitchFamily="34" charset="-122"/>
                <a:cs typeface="Calibri" pitchFamily="34" charset="-120"/>
              </a:rPr>
              <a:t>	</a:t>
            </a:r>
          </a:p>
          <a:p>
            <a:pPr marL="342900" indent="-342900">
              <a:buSzPct val="100000"/>
              <a:buChar char="•"/>
            </a:pPr>
            <a:r>
              <a:rPr lang="en-US" sz="1600" b="1" dirty="0">
                <a:solidFill>
                  <a:srgbClr val="1A2B3C"/>
                </a:solidFill>
                <a:latin typeface="Calibri" pitchFamily="34" charset="0"/>
                <a:ea typeface="Calibri" pitchFamily="34" charset="-122"/>
                <a:cs typeface="Calibri" pitchFamily="34" charset="-120"/>
              </a:rPr>
              <a:t>Patience</a:t>
            </a:r>
            <a:r>
              <a:rPr lang="en-US" sz="1600" dirty="0">
                <a:solidFill>
                  <a:srgbClr val="1A2B3C"/>
                </a:solidFill>
                <a:latin typeface="Calibri" pitchFamily="34" charset="0"/>
                <a:ea typeface="Calibri" pitchFamily="34" charset="-122"/>
                <a:cs typeface="Calibri" pitchFamily="34" charset="-120"/>
              </a:rPr>
              <a:t>: </a:t>
            </a:r>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7 epochs</a:t>
            </a:r>
            <a:endParaRPr lang="en-US" sz="1200" dirty="0"/>
          </a:p>
          <a:p>
            <a:pPr marL="800100" lvl="1" indent="-342900">
              <a:buSzPct val="100000"/>
              <a:buChar char="•"/>
            </a:pPr>
            <a:r>
              <a:rPr lang="en-US" sz="1200" dirty="0">
                <a:solidFill>
                  <a:srgbClr val="1A2B3C"/>
                </a:solidFill>
                <a:latin typeface="Calibri"/>
                <a:ea typeface="Calibri"/>
                <a:cs typeface="Calibri"/>
              </a:rPr>
              <a:t>Saves best checkpoint .</a:t>
            </a:r>
            <a:r>
              <a:rPr lang="en-US" sz="1200" dirty="0" err="1">
                <a:solidFill>
                  <a:srgbClr val="1A2B3C"/>
                </a:solidFill>
                <a:latin typeface="Calibri"/>
                <a:ea typeface="Calibri"/>
                <a:cs typeface="Calibri"/>
              </a:rPr>
              <a:t>pth</a:t>
            </a:r>
            <a:r>
              <a:rPr lang="en-US" sz="1200" dirty="0">
                <a:solidFill>
                  <a:srgbClr val="1A2B3C"/>
                </a:solidFill>
                <a:latin typeface="Calibri"/>
                <a:ea typeface="Calibri"/>
                <a:cs typeface="Calibri"/>
              </a:rPr>
              <a:t> per run</a:t>
            </a:r>
            <a:endParaRPr lang="en-US" sz="1200" dirty="0">
              <a:latin typeface="Calibri"/>
              <a:ea typeface="Calibri"/>
              <a:cs typeface="Calibri"/>
            </a:endParaRPr>
          </a:p>
          <a:p>
            <a:pPr marL="800100" lvl="1" indent="-342900">
              <a:buSzPct val="100000"/>
              <a:buChar char="•"/>
            </a:pPr>
            <a:r>
              <a:rPr lang="en-US" sz="1200">
                <a:solidFill>
                  <a:srgbClr val="1A2B3C"/>
                </a:solidFill>
                <a:latin typeface="Calibri"/>
                <a:ea typeface="Calibri"/>
                <a:cs typeface="Calibri"/>
              </a:rPr>
              <a:t>Allows &gt;30 epochs when plateau is slow</a:t>
            </a:r>
            <a:endParaRPr lang="en-US" sz="1200">
              <a:latin typeface="Calibri"/>
              <a:ea typeface="Calibri"/>
              <a:cs typeface="Calibri"/>
            </a:endParaRPr>
          </a:p>
        </p:txBody>
      </p:sp>
      <p:pic>
        <p:nvPicPr>
          <p:cNvPr id="6" name="Picture 5" descr="A graph of a train loss and a train loss&#10;&#10;AI-generated content may be incorrect.">
            <a:extLst>
              <a:ext uri="{FF2B5EF4-FFF2-40B4-BE49-F238E27FC236}">
                <a16:creationId xmlns:a16="http://schemas.microsoft.com/office/drawing/2014/main" id="{FAFE54AD-59D3-0BE0-74AA-A928F778EF6B}"/>
              </a:ext>
            </a:extLst>
          </p:cNvPr>
          <p:cNvPicPr>
            <a:picLocks noChangeAspect="1"/>
          </p:cNvPicPr>
          <p:nvPr/>
        </p:nvPicPr>
        <p:blipFill>
          <a:blip r:embed="rId2"/>
          <a:stretch>
            <a:fillRect/>
          </a:stretch>
        </p:blipFill>
        <p:spPr>
          <a:xfrm>
            <a:off x="862094" y="2641307"/>
            <a:ext cx="7400441" cy="24762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4AD80-9E79-9D02-A4B8-41F72F97A6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80CC70-7EA8-857C-BB80-A5E3A5268206}"/>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83C9E720-937C-B76F-65E9-841EAD69478E}"/>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A17E7458-7B32-04D2-C4A4-D1FBBAD6FF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15CD643D-B6F5-C045-84CF-7D770FE18F4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71DCCA6F-CCE4-7E35-9000-DC688F8841F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C601B13D-B0FC-5590-8AC1-F4FED5C4117A}"/>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Performance Evaluation</a:t>
            </a:r>
          </a:p>
        </p:txBody>
      </p:sp>
      <p:sp>
        <p:nvSpPr>
          <p:cNvPr id="14" name="Rectangle: Rounded Corners 13">
            <a:extLst>
              <a:ext uri="{FF2B5EF4-FFF2-40B4-BE49-F238E27FC236}">
                <a16:creationId xmlns:a16="http://schemas.microsoft.com/office/drawing/2014/main" id="{6C286057-B071-1602-9CEB-9A98C3BB810D}"/>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3200" b="1"/>
              <a:t>3</a:t>
            </a:r>
            <a:endParaRPr lang="pt-PT" b="1" dirty="0"/>
          </a:p>
        </p:txBody>
      </p:sp>
      <p:cxnSp>
        <p:nvCxnSpPr>
          <p:cNvPr id="16" name="Straight Connector 15">
            <a:extLst>
              <a:ext uri="{FF2B5EF4-FFF2-40B4-BE49-F238E27FC236}">
                <a16:creationId xmlns:a16="http://schemas.microsoft.com/office/drawing/2014/main" id="{56CFFF7D-EB1B-E088-EF82-B93BE4E78750}"/>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377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blBG">
            <a:extLst>
              <a:ext uri="{FF2B5EF4-FFF2-40B4-BE49-F238E27FC236}">
                <a16:creationId xmlns:a16="http://schemas.microsoft.com/office/drawing/2014/main" id="{C8EF2A7A-42E7-5693-69B3-4E54DC90C622}"/>
              </a:ext>
            </a:extLst>
          </p:cNvPr>
          <p:cNvSpPr/>
          <p:nvPr/>
        </p:nvSpPr>
        <p:spPr>
          <a:xfrm>
            <a:off x="313065" y="2436880"/>
            <a:ext cx="5073630" cy="2530051"/>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7" name="TH">
            <a:extLst>
              <a:ext uri="{FF2B5EF4-FFF2-40B4-BE49-F238E27FC236}">
                <a16:creationId xmlns:a16="http://schemas.microsoft.com/office/drawing/2014/main" id="{6499144A-9758-E893-77CF-969E5EF582CE}"/>
              </a:ext>
            </a:extLst>
          </p:cNvPr>
          <p:cNvSpPr/>
          <p:nvPr/>
        </p:nvSpPr>
        <p:spPr>
          <a:xfrm>
            <a:off x="274320" y="2436880"/>
            <a:ext cx="5151120" cy="237744"/>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Metric Comparison vs Baselines</a:t>
            </a:r>
          </a:p>
        </p:txBody>
      </p:sp>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49808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Results at a Glance</a:t>
            </a:r>
            <a:endParaRPr lang="en-US" sz="2200" dirty="0"/>
          </a:p>
        </p:txBody>
      </p:sp>
      <p:sp>
        <p:nvSpPr>
          <p:cNvPr id="4" name="Shape 2"/>
          <p:cNvSpPr/>
          <p:nvPr/>
        </p:nvSpPr>
        <p:spPr>
          <a:xfrm>
            <a:off x="7498080" y="109728"/>
            <a:ext cx="146304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498080" y="109728"/>
            <a:ext cx="1463040" cy="301752"/>
          </a:xfrm>
          <a:prstGeom prst="rect">
            <a:avLst/>
          </a:prstGeom>
          <a:noFill/>
          <a:ln/>
        </p:spPr>
        <p:txBody>
          <a:bodyPr wrap="square" lIns="0" tIns="0" rIns="0" bIns="0" rtlCol="0" anchor="ctr"/>
          <a:lstStyle/>
          <a:p>
            <a:pPr marL="0" indent="0" algn="ctr">
              <a:buNone/>
            </a:pPr>
            <a:r>
              <a:rPr lang="en-US" sz="1000" b="1" dirty="0">
                <a:solidFill>
                  <a:srgbClr val="FFFFFF"/>
                </a:solidFill>
              </a:rPr>
              <a:t>Perf Eval</a:t>
            </a:r>
            <a:endParaRPr lang="en-US" sz="1000" dirty="0"/>
          </a:p>
        </p:txBody>
      </p:sp>
      <p:sp>
        <p:nvSpPr>
          <p:cNvPr id="6" name="Shape 4"/>
          <p:cNvSpPr/>
          <p:nvPr/>
        </p:nvSpPr>
        <p:spPr>
          <a:xfrm>
            <a:off x="347472" y="804672"/>
            <a:ext cx="1993392" cy="144475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804672"/>
            <a:ext cx="1993392" cy="64008"/>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347472" y="886968"/>
            <a:ext cx="1993392" cy="658368"/>
          </a:xfrm>
          <a:prstGeom prst="rect">
            <a:avLst/>
          </a:prstGeom>
          <a:noFill/>
          <a:ln/>
        </p:spPr>
        <p:txBody>
          <a:bodyPr wrap="square" lIns="0" tIns="0" rIns="0" bIns="0" rtlCol="0" anchor="ctr"/>
          <a:lstStyle/>
          <a:p>
            <a:pPr marL="0" indent="0" algn="ctr">
              <a:buNone/>
            </a:pPr>
            <a:r>
              <a:rPr lang="en-US" sz="3200" b="1">
                <a:solidFill>
                  <a:srgbClr val="00A896"/>
                </a:solidFill>
                <a:latin typeface="Trebuchet MS"/>
              </a:rPr>
              <a:t>1.0000</a:t>
            </a:r>
            <a:endParaRPr lang="en-US" sz="3200">
              <a:solidFill>
                <a:srgbClr val="00A896"/>
              </a:solidFill>
            </a:endParaRPr>
          </a:p>
        </p:txBody>
      </p:sp>
      <p:sp>
        <p:nvSpPr>
          <p:cNvPr id="9" name="Text 7"/>
          <p:cNvSpPr/>
          <p:nvPr/>
        </p:nvSpPr>
        <p:spPr>
          <a:xfrm>
            <a:off x="347472" y="1572768"/>
            <a:ext cx="1993392" cy="6217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a:ea typeface="Calibri"/>
                <a:cs typeface="Calibri"/>
              </a:rPr>
              <a:t>Best </a:t>
            </a:r>
            <a:r>
              <a:rPr lang="en-US" sz="1100" dirty="0" err="1">
                <a:solidFill>
                  <a:srgbClr val="FFFFFF"/>
                </a:solidFill>
                <a:latin typeface="Calibri"/>
                <a:ea typeface="Calibri"/>
                <a:cs typeface="Calibri"/>
              </a:rPr>
              <a:t>val</a:t>
            </a:r>
            <a:r>
              <a:rPr lang="en-US" sz="1100" dirty="0">
                <a:solidFill>
                  <a:srgbClr val="FFFFFF"/>
                </a:solidFill>
                <a:latin typeface="Calibri"/>
                <a:ea typeface="Calibri"/>
                <a:cs typeface="Calibri"/>
              </a:rPr>
              <a:t> Macro-F1</a:t>
            </a:r>
            <a:endParaRPr lang="en-US" sz="1100" dirty="0">
              <a:latin typeface="Calibri"/>
              <a:ea typeface="Calibri"/>
              <a:cs typeface="Calibri"/>
            </a:endParaRPr>
          </a:p>
          <a:p>
            <a:pPr marL="0" indent="0" algn="ctr">
              <a:buNone/>
            </a:pPr>
            <a:r>
              <a:rPr lang="en-US" sz="1100">
                <a:solidFill>
                  <a:srgbClr val="FFFFFF"/>
                </a:solidFill>
                <a:latin typeface="Calibri"/>
                <a:ea typeface="Calibri"/>
                <a:cs typeface="Calibri"/>
              </a:rPr>
              <a:t>(I_CNN)</a:t>
            </a:r>
            <a:endParaRPr lang="en-US" sz="1100">
              <a:latin typeface="Calibri"/>
              <a:ea typeface="Calibri"/>
              <a:cs typeface="Calibri"/>
            </a:endParaRPr>
          </a:p>
        </p:txBody>
      </p:sp>
      <p:sp>
        <p:nvSpPr>
          <p:cNvPr id="10" name="Shape 8"/>
          <p:cNvSpPr/>
          <p:nvPr/>
        </p:nvSpPr>
        <p:spPr>
          <a:xfrm>
            <a:off x="2523744" y="804672"/>
            <a:ext cx="1993392" cy="1444752"/>
          </a:xfrm>
          <a:prstGeom prst="rect">
            <a:avLst/>
          </a:prstGeom>
          <a:solidFill>
            <a:srgbClr val="0D1B2A"/>
          </a:solidFill>
          <a:ln w="12700">
            <a:solidFill>
              <a:srgbClr val="1C3A52"/>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2523744" y="804672"/>
            <a:ext cx="1993392" cy="64008"/>
          </a:xfrm>
          <a:prstGeom prst="rect">
            <a:avLst/>
          </a:prstGeom>
          <a:solidFill>
            <a:srgbClr val="00A896"/>
          </a:solidFill>
          <a:ln w="12700">
            <a:solidFill>
              <a:srgbClr val="00A896"/>
            </a:solidFill>
            <a:prstDash val="solid"/>
          </a:ln>
        </p:spPr>
        <p:txBody>
          <a:bodyPr/>
          <a:lstStyle/>
          <a:p>
            <a:endParaRPr lang="pt-PT"/>
          </a:p>
        </p:txBody>
      </p:sp>
      <p:sp>
        <p:nvSpPr>
          <p:cNvPr id="12" name="Text 10"/>
          <p:cNvSpPr/>
          <p:nvPr/>
        </p:nvSpPr>
        <p:spPr>
          <a:xfrm>
            <a:off x="2523744" y="886968"/>
            <a:ext cx="1993392" cy="658368"/>
          </a:xfrm>
          <a:prstGeom prst="rect">
            <a:avLst/>
          </a:prstGeom>
          <a:noFill/>
          <a:ln/>
        </p:spPr>
        <p:txBody>
          <a:bodyPr wrap="square" lIns="0" tIns="0" rIns="0" bIns="0" rtlCol="0" anchor="ctr"/>
          <a:lstStyle/>
          <a:p>
            <a:pPr marL="0" indent="0" algn="ctr">
              <a:buNone/>
            </a:pPr>
            <a:r>
              <a:rPr lang="en-US" sz="3200" b="1">
                <a:solidFill>
                  <a:srgbClr val="00A896"/>
                </a:solidFill>
                <a:latin typeface="Trebuchet MS"/>
              </a:rPr>
              <a:t>1.0000</a:t>
            </a:r>
            <a:endParaRPr lang="en-US" sz="3200">
              <a:solidFill>
                <a:srgbClr val="00A896"/>
              </a:solidFill>
            </a:endParaRPr>
          </a:p>
        </p:txBody>
      </p:sp>
      <p:sp>
        <p:nvSpPr>
          <p:cNvPr id="13" name="Text 11"/>
          <p:cNvSpPr/>
          <p:nvPr/>
        </p:nvSpPr>
        <p:spPr>
          <a:xfrm>
            <a:off x="2523744" y="1572768"/>
            <a:ext cx="1993392" cy="6217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Best solo Macro-F1</a:t>
            </a:r>
            <a:endParaRPr lang="en-US" sz="1100" dirty="0"/>
          </a:p>
          <a:p>
            <a:pPr marL="0" indent="0" algn="ctr">
              <a:buNone/>
            </a:pPr>
            <a:r>
              <a:rPr lang="en-US" sz="1100">
                <a:solidFill>
                  <a:srgbClr val="FFFFFF"/>
                </a:solidFill>
                <a:latin typeface="Calibri"/>
                <a:ea typeface="Calibri"/>
                <a:cs typeface="Calibri"/>
              </a:rPr>
              <a:t>(I_CNN)</a:t>
            </a:r>
            <a:endParaRPr lang="en-US" sz="1100" dirty="0">
              <a:latin typeface="Tw Cen MT" panose="020B0602020104020603"/>
              <a:ea typeface="Calibri"/>
              <a:cs typeface="Calibri"/>
            </a:endParaRPr>
          </a:p>
        </p:txBody>
      </p:sp>
      <p:sp>
        <p:nvSpPr>
          <p:cNvPr id="14" name="Shape 12"/>
          <p:cNvSpPr/>
          <p:nvPr/>
        </p:nvSpPr>
        <p:spPr>
          <a:xfrm>
            <a:off x="4700016" y="804672"/>
            <a:ext cx="1993392" cy="144475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pt-PT"/>
          </a:p>
        </p:txBody>
      </p:sp>
      <p:sp>
        <p:nvSpPr>
          <p:cNvPr id="15" name="Shape 13"/>
          <p:cNvSpPr/>
          <p:nvPr/>
        </p:nvSpPr>
        <p:spPr>
          <a:xfrm>
            <a:off x="4700016" y="804672"/>
            <a:ext cx="1993392" cy="64008"/>
          </a:xfrm>
          <a:prstGeom prst="rect">
            <a:avLst/>
          </a:prstGeom>
          <a:solidFill>
            <a:srgbClr val="00A896"/>
          </a:solidFill>
          <a:ln w="12700">
            <a:solidFill>
              <a:srgbClr val="00A896"/>
            </a:solidFill>
            <a:prstDash val="solid"/>
          </a:ln>
        </p:spPr>
        <p:txBody>
          <a:bodyPr/>
          <a:lstStyle/>
          <a:p>
            <a:endParaRPr lang="pt-PT"/>
          </a:p>
        </p:txBody>
      </p:sp>
      <p:sp>
        <p:nvSpPr>
          <p:cNvPr id="16" name="Text 14"/>
          <p:cNvSpPr/>
          <p:nvPr/>
        </p:nvSpPr>
        <p:spPr>
          <a:xfrm>
            <a:off x="4700016" y="886968"/>
            <a:ext cx="1993392" cy="658368"/>
          </a:xfrm>
          <a:prstGeom prst="rect">
            <a:avLst/>
          </a:prstGeom>
          <a:noFill/>
          <a:ln/>
        </p:spPr>
        <p:txBody>
          <a:bodyPr wrap="square" lIns="0" tIns="0" rIns="0" bIns="0" rtlCol="0" anchor="ctr"/>
          <a:lstStyle/>
          <a:p>
            <a:pPr marL="0" indent="0" algn="ctr">
              <a:buNone/>
            </a:pPr>
            <a:r>
              <a:rPr lang="en-US" sz="3200" b="1">
                <a:solidFill>
                  <a:srgbClr val="00A896"/>
                </a:solidFill>
                <a:latin typeface="Trebuchet MS"/>
              </a:rPr>
              <a:t>1.0000</a:t>
            </a:r>
            <a:endParaRPr lang="en-US" sz="3200">
              <a:solidFill>
                <a:srgbClr val="00A896"/>
              </a:solidFill>
            </a:endParaRPr>
          </a:p>
        </p:txBody>
      </p:sp>
      <p:sp>
        <p:nvSpPr>
          <p:cNvPr id="17" name="Text 15"/>
          <p:cNvSpPr/>
          <p:nvPr/>
        </p:nvSpPr>
        <p:spPr>
          <a:xfrm>
            <a:off x="4700016" y="1572768"/>
            <a:ext cx="1993392" cy="621792"/>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a:ea typeface="Calibri"/>
                <a:cs typeface="Calibri"/>
              </a:rPr>
              <a:t>Kaggle public score</a:t>
            </a:r>
            <a:endParaRPr lang="en-US" sz="1100" b="1">
              <a:solidFill>
                <a:schemeClr val="bg1"/>
              </a:solidFill>
              <a:latin typeface="Calibri"/>
              <a:ea typeface="Calibri"/>
              <a:cs typeface="Calibri"/>
            </a:endParaRPr>
          </a:p>
          <a:p>
            <a:pPr algn="ctr"/>
            <a:r>
              <a:rPr lang="en-US" sz="1100" dirty="0">
                <a:solidFill>
                  <a:srgbClr val="FFFFFF"/>
                </a:solidFill>
                <a:latin typeface="Calibri"/>
                <a:ea typeface="Calibri"/>
                <a:cs typeface="Calibri"/>
              </a:rPr>
              <a:t>(submitted M_CNN)</a:t>
            </a:r>
            <a:endParaRPr lang="en-US" sz="1100" dirty="0">
              <a:latin typeface="Tw Cen MT" panose="020B0602020104020603"/>
              <a:ea typeface="Calibri"/>
              <a:cs typeface="Calibri"/>
            </a:endParaRPr>
          </a:p>
        </p:txBody>
      </p:sp>
      <p:sp>
        <p:nvSpPr>
          <p:cNvPr id="18" name="Shape 16"/>
          <p:cNvSpPr/>
          <p:nvPr/>
        </p:nvSpPr>
        <p:spPr>
          <a:xfrm>
            <a:off x="6876288" y="804672"/>
            <a:ext cx="1993392" cy="1444752"/>
          </a:xfrm>
          <a:prstGeom prst="rect">
            <a:avLst/>
          </a:prstGeom>
          <a:solidFill>
            <a:srgbClr val="0D1B2A"/>
          </a:solidFill>
          <a:ln w="12700">
            <a:solidFill>
              <a:srgbClr val="1C3A52"/>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6876288" y="804672"/>
            <a:ext cx="1993392" cy="64008"/>
          </a:xfrm>
          <a:prstGeom prst="rect">
            <a:avLst/>
          </a:prstGeom>
          <a:solidFill>
            <a:srgbClr val="00A896"/>
          </a:solidFill>
          <a:ln w="12700">
            <a:solidFill>
              <a:srgbClr val="00A896"/>
            </a:solidFill>
            <a:prstDash val="solid"/>
          </a:ln>
        </p:spPr>
        <p:txBody>
          <a:bodyPr/>
          <a:lstStyle/>
          <a:p>
            <a:endParaRPr lang="pt-PT"/>
          </a:p>
        </p:txBody>
      </p:sp>
      <p:sp>
        <p:nvSpPr>
          <p:cNvPr id="24" name="Shape 2">
            <a:extLst>
              <a:ext uri="{FF2B5EF4-FFF2-40B4-BE49-F238E27FC236}">
                <a16:creationId xmlns:a16="http://schemas.microsoft.com/office/drawing/2014/main" id="{DBB4021F-FBEA-312C-E965-99EA0B129BF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Perf Eval</a:t>
            </a:r>
            <a:endParaRPr lang="pt-PT" b="1" dirty="0">
              <a:solidFill>
                <a:schemeClr val="bg1"/>
              </a:solidFill>
            </a:endParaRPr>
          </a:p>
        </p:txBody>
      </p:sp>
      <p:sp>
        <p:nvSpPr>
          <p:cNvPr id="25" name="Rectangle: Rounded Corners 24">
            <a:extLst>
              <a:ext uri="{FF2B5EF4-FFF2-40B4-BE49-F238E27FC236}">
                <a16:creationId xmlns:a16="http://schemas.microsoft.com/office/drawing/2014/main" id="{2D9348A7-BB2F-46AA-6AE0-8CD5208844DA}"/>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3</a:t>
            </a:r>
          </a:p>
        </p:txBody>
      </p:sp>
      <p:sp>
        <p:nvSpPr>
          <p:cNvPr id="23" name="TData">
            <a:extLst>
              <a:ext uri="{FF2B5EF4-FFF2-40B4-BE49-F238E27FC236}">
                <a16:creationId xmlns:a16="http://schemas.microsoft.com/office/drawing/2014/main" id="{6A6165A4-672B-AF7A-ECDD-50015C018A27}"/>
              </a:ext>
            </a:extLst>
          </p:cNvPr>
          <p:cNvSpPr/>
          <p:nvPr/>
        </p:nvSpPr>
        <p:spPr>
          <a:xfrm>
            <a:off x="310896" y="2772088"/>
            <a:ext cx="5077968" cy="2420968"/>
          </a:xfrm>
          <a:prstGeom prst="rect">
            <a:avLst/>
          </a:prstGeom>
          <a:noFill/>
          <a:ln/>
        </p:spPr>
        <p:txBody>
          <a:bodyPr wrap="square" lIns="91440" tIns="45720" rIns="91440" bIns="45720" rtlCol="0" anchor="t"/>
          <a:lstStyle/>
          <a:p>
            <a:pPr>
              <a:buNone/>
            </a:pPr>
            <a:r>
              <a:rPr lang="en-US" b="1" dirty="0">
                <a:solidFill>
                  <a:srgbClr val="1C3A52"/>
                </a:solidFill>
                <a:latin typeface="Calibri"/>
              </a:rPr>
              <a:t>System                    			macro-F1   	acc    </a:t>
            </a:r>
          </a:p>
          <a:p>
            <a:pPr>
              <a:buNone/>
            </a:pPr>
            <a:r>
              <a:rPr lang="en-US" dirty="0">
                <a:solidFill>
                  <a:srgbClr val="888888"/>
                </a:solidFill>
                <a:latin typeface="Calibri"/>
              </a:rPr>
              <a:t>Random baseline           		0.111      		11.1%</a:t>
            </a:r>
          </a:p>
          <a:p>
            <a:r>
              <a:rPr lang="en-US">
                <a:solidFill>
                  <a:srgbClr val="888888"/>
                </a:solidFill>
                <a:latin typeface="Calibri"/>
              </a:rPr>
              <a:t>Always-Water              		0.021      		18.7%</a:t>
            </a:r>
            <a:endParaRPr lang="en-US">
              <a:solidFill>
                <a:srgbClr val="888888"/>
              </a:solidFill>
              <a:latin typeface="Calibri"/>
              <a:ea typeface="Calibri"/>
              <a:cs typeface="Calibri"/>
            </a:endParaRPr>
          </a:p>
          <a:p>
            <a:r>
              <a:rPr lang="en-US" b="1">
                <a:solidFill>
                  <a:srgbClr val="00A896"/>
                </a:solidFill>
                <a:latin typeface="Calibri"/>
                <a:ea typeface="Calibri"/>
                <a:cs typeface="Calibri"/>
              </a:rPr>
              <a:t>M_CNN (submitted) ★		1.0000              100%</a:t>
            </a:r>
            <a:endParaRPr lang="en-US" b="1" dirty="0">
              <a:solidFill>
                <a:srgbClr val="00A896"/>
              </a:solidFill>
              <a:latin typeface="Calibri"/>
              <a:ea typeface="Calibri"/>
              <a:cs typeface="Calibri"/>
            </a:endParaRPr>
          </a:p>
          <a:p>
            <a:r>
              <a:rPr lang="en-US">
                <a:solidFill>
                  <a:srgbClr val="1C3A52"/>
                </a:solidFill>
                <a:latin typeface="Calibri"/>
              </a:rPr>
              <a:t>Kaggle public test                     1.0000                 —  </a:t>
            </a:r>
            <a:endParaRPr lang="en-US">
              <a:solidFill>
                <a:srgbClr val="1C3A52"/>
              </a:solidFill>
              <a:latin typeface="Calibri"/>
              <a:ea typeface="Calibri"/>
              <a:cs typeface="Calibri"/>
            </a:endParaRPr>
          </a:p>
        </p:txBody>
      </p:sp>
      <p:sp>
        <p:nvSpPr>
          <p:cNvPr id="28" name="MetricBG">
            <a:extLst>
              <a:ext uri="{FF2B5EF4-FFF2-40B4-BE49-F238E27FC236}">
                <a16:creationId xmlns:a16="http://schemas.microsoft.com/office/drawing/2014/main" id="{CC59F894-6BB4-3F3A-9F78-9236B7E8164D}"/>
              </a:ext>
            </a:extLst>
          </p:cNvPr>
          <p:cNvSpPr/>
          <p:nvPr/>
        </p:nvSpPr>
        <p:spPr>
          <a:xfrm>
            <a:off x="5546979" y="2436880"/>
            <a:ext cx="3414141" cy="2530051"/>
          </a:xfrm>
          <a:prstGeom prst="rect">
            <a:avLst/>
          </a:prstGeom>
          <a:solidFill>
            <a:srgbClr val="0D1B2A"/>
          </a:solidFill>
          <a:ln w="0">
            <a:noFill/>
          </a:ln>
        </p:spPr>
        <p:txBody>
          <a:bodyPr/>
          <a:lstStyle/>
          <a:p>
            <a:endParaRPr lang="en-US"/>
          </a:p>
        </p:txBody>
      </p:sp>
      <p:sp>
        <p:nvSpPr>
          <p:cNvPr id="29" name="MetricText">
            <a:extLst>
              <a:ext uri="{FF2B5EF4-FFF2-40B4-BE49-F238E27FC236}">
                <a16:creationId xmlns:a16="http://schemas.microsoft.com/office/drawing/2014/main" id="{8BC9AFA8-BE80-9441-0C07-2D003F12BB94}"/>
              </a:ext>
            </a:extLst>
          </p:cNvPr>
          <p:cNvSpPr/>
          <p:nvPr/>
        </p:nvSpPr>
        <p:spPr>
          <a:xfrm>
            <a:off x="5546979" y="2433861"/>
            <a:ext cx="3414141" cy="2541843"/>
          </a:xfrm>
          <a:prstGeom prst="rect">
            <a:avLst/>
          </a:prstGeom>
          <a:noFill/>
          <a:ln/>
        </p:spPr>
        <p:txBody>
          <a:bodyPr wrap="square" lIns="91440" tIns="45720" rIns="91440" bIns="45720" rtlCol="0" anchor="t"/>
          <a:lstStyle/>
          <a:p>
            <a:r>
              <a:rPr lang="en-US" b="1" dirty="0">
                <a:solidFill>
                  <a:srgbClr val="00A896"/>
                </a:solidFill>
                <a:latin typeface="Trebuchet MS"/>
              </a:rPr>
              <a:t>Our model achieved </a:t>
            </a:r>
            <a:r>
              <a:rPr lang="en-US" b="1">
                <a:solidFill>
                  <a:srgbClr val="00A896"/>
                </a:solidFill>
                <a:latin typeface="Trebuchet MS"/>
              </a:rPr>
              <a:t>a perfect performance</a:t>
            </a:r>
            <a:endParaRPr lang="en-US" b="1" dirty="0">
              <a:solidFill>
                <a:srgbClr val="00A896"/>
              </a:solidFill>
              <a:latin typeface="Trebuchet MS"/>
            </a:endParaRPr>
          </a:p>
          <a:p>
            <a:pPr>
              <a:buNone/>
            </a:pPr>
            <a:r>
              <a:rPr lang="en-US" sz="1600" b="1">
                <a:solidFill>
                  <a:srgbClr val="00A896"/>
                </a:solidFill>
                <a:latin typeface="Calibri"/>
              </a:rPr>
              <a:t>Kaggle private score:</a:t>
            </a:r>
            <a:endParaRPr lang="en-US" sz="1600" b="1">
              <a:solidFill>
                <a:srgbClr val="00A896"/>
              </a:solidFill>
              <a:latin typeface="Calibri"/>
              <a:ea typeface="Calibri"/>
              <a:cs typeface="Calibri"/>
            </a:endParaRPr>
          </a:p>
          <a:p>
            <a:r>
              <a:rPr lang="en-US" sz="1600" b="1" dirty="0">
                <a:solidFill>
                  <a:srgbClr val="00A896"/>
                </a:solidFill>
                <a:latin typeface="Calibri"/>
              </a:rPr>
              <a:t>	</a:t>
            </a:r>
            <a:r>
              <a:rPr lang="en-US" sz="2400" b="1">
                <a:solidFill>
                  <a:srgbClr val="00A896"/>
                </a:solidFill>
                <a:latin typeface="Calibri"/>
              </a:rPr>
              <a:t>0.</a:t>
            </a:r>
            <a:endParaRPr lang="en-US" sz="2400" b="1" dirty="0">
              <a:solidFill>
                <a:srgbClr val="00A896"/>
              </a:solidFill>
              <a:latin typeface="Calibri"/>
              <a:ea typeface="Calibri"/>
              <a:cs typeface="Calibri"/>
            </a:endParaRPr>
          </a:p>
          <a:p>
            <a:r>
              <a:rPr lang="en-US" sz="1100" b="1" dirty="0">
                <a:solidFill>
                  <a:schemeClr val="bg1"/>
                </a:solidFill>
                <a:latin typeface="Calibri"/>
                <a:ea typeface="Calibri"/>
                <a:cs typeface="Calibri"/>
              </a:rPr>
              <a:t>Note: </a:t>
            </a:r>
            <a:r>
              <a:rPr lang="en-US" sz="1100" dirty="0">
                <a:solidFill>
                  <a:schemeClr val="bg1"/>
                </a:solidFill>
                <a:latin typeface="Calibri"/>
                <a:ea typeface="Calibri"/>
                <a:cs typeface="Calibri"/>
              </a:rPr>
              <a:t>we submitted M (Residual Network) instead of I since it also achieves a perfect score, but with lower losses (10^-3 vs 10^-2). In this report, we decided to analyze I instead of M since it converged faster, and M is so powerful that changing parameters and doing strange augmentation didn't hurt it, making it impossible to come to new conclusions</a:t>
            </a:r>
          </a:p>
          <a:p>
            <a:endParaRPr lang="en-US" sz="2400" dirty="0">
              <a:solidFill>
                <a:srgbClr val="00A896"/>
              </a:solidFill>
              <a:latin typeface="Calibri"/>
              <a:ea typeface="Calibri"/>
              <a:cs typeface="Calibri"/>
            </a:endParaRPr>
          </a:p>
        </p:txBody>
      </p:sp>
      <p:sp>
        <p:nvSpPr>
          <p:cNvPr id="22" name="Text 14">
            <a:extLst>
              <a:ext uri="{FF2B5EF4-FFF2-40B4-BE49-F238E27FC236}">
                <a16:creationId xmlns:a16="http://schemas.microsoft.com/office/drawing/2014/main" id="{16BD9560-217A-B398-F89C-2FD2E89C8DE9}"/>
              </a:ext>
            </a:extLst>
          </p:cNvPr>
          <p:cNvSpPr/>
          <p:nvPr/>
        </p:nvSpPr>
        <p:spPr>
          <a:xfrm>
            <a:off x="6876288" y="864112"/>
            <a:ext cx="1993392" cy="658368"/>
          </a:xfrm>
          <a:prstGeom prst="rect">
            <a:avLst/>
          </a:prstGeom>
          <a:noFill/>
          <a:ln/>
        </p:spPr>
        <p:txBody>
          <a:bodyPr wrap="square" lIns="0" tIns="0" rIns="0" bIns="0" rtlCol="0" anchor="ctr"/>
          <a:lstStyle/>
          <a:p>
            <a:pPr marL="0" indent="0" algn="ctr">
              <a:buNone/>
            </a:pPr>
            <a:r>
              <a:rPr lang="en-US" sz="3200" b="1">
                <a:solidFill>
                  <a:srgbClr val="00A896"/>
                </a:solidFill>
                <a:latin typeface="Trebuchet MS"/>
              </a:rPr>
              <a:t>0.</a:t>
            </a:r>
            <a:endParaRPr lang="en-US" sz="3200">
              <a:solidFill>
                <a:srgbClr val="00A896"/>
              </a:solidFill>
            </a:endParaRPr>
          </a:p>
        </p:txBody>
      </p:sp>
      <p:sp>
        <p:nvSpPr>
          <p:cNvPr id="30" name="Text 15">
            <a:extLst>
              <a:ext uri="{FF2B5EF4-FFF2-40B4-BE49-F238E27FC236}">
                <a16:creationId xmlns:a16="http://schemas.microsoft.com/office/drawing/2014/main" id="{5A29E501-55E5-F4F7-3B35-6649D8784CA8}"/>
              </a:ext>
            </a:extLst>
          </p:cNvPr>
          <p:cNvSpPr/>
          <p:nvPr/>
        </p:nvSpPr>
        <p:spPr>
          <a:xfrm>
            <a:off x="6876288" y="1549912"/>
            <a:ext cx="1993392" cy="621792"/>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a:ea typeface="Calibri"/>
                <a:cs typeface="Calibri"/>
              </a:rPr>
              <a:t>Kaggle private score</a:t>
            </a:r>
            <a:endParaRPr lang="en-US" sz="1100" b="1">
              <a:solidFill>
                <a:schemeClr val="bg1"/>
              </a:solidFill>
              <a:latin typeface="Calibri"/>
              <a:ea typeface="Calibri"/>
              <a:cs typeface="Calibri"/>
            </a:endParaRPr>
          </a:p>
          <a:p>
            <a:pPr algn="ctr"/>
            <a:r>
              <a:rPr lang="en-US" sz="1100" dirty="0">
                <a:solidFill>
                  <a:srgbClr val="FFFFFF"/>
                </a:solidFill>
                <a:latin typeface="Calibri"/>
                <a:ea typeface="Calibri"/>
                <a:cs typeface="Calibri"/>
              </a:rPr>
              <a:t>(submitted M_CNN)</a:t>
            </a:r>
            <a:endParaRPr lang="en-US" sz="1100" dirty="0">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3</a:t>
            </a:r>
          </a:p>
        </p:txBody>
      </p:sp>
      <p:sp>
        <p:nvSpPr>
          <p:cNvPr id="50" name="InsightBG"/>
          <p:cNvSpPr/>
          <p:nvPr/>
        </p:nvSpPr>
        <p:spPr>
          <a:xfrm>
            <a:off x="-2500" y="4467666"/>
            <a:ext cx="9149000" cy="671513"/>
          </a:xfrm>
          <a:prstGeom prst="rect">
            <a:avLst/>
          </a:prstGeom>
          <a:solidFill>
            <a:srgbClr val="1C3A52"/>
          </a:solidFill>
          <a:ln w="0">
            <a:noFill/>
          </a:ln>
        </p:spPr>
        <p:txBody>
          <a:bodyPr/>
          <a:lstStyle/>
          <a:p>
            <a:endParaRPr lang="en-US"/>
          </a:p>
        </p:txBody>
      </p:sp>
      <p:sp>
        <p:nvSpPr>
          <p:cNvPr id="51" name="InsightText"/>
          <p:cNvSpPr/>
          <p:nvPr/>
        </p:nvSpPr>
        <p:spPr>
          <a:xfrm>
            <a:off x="323254" y="4611902"/>
            <a:ext cx="8496050" cy="384840"/>
          </a:xfrm>
          <a:prstGeom prst="rect">
            <a:avLst/>
          </a:prstGeom>
          <a:noFill/>
          <a:ln/>
        </p:spPr>
        <p:txBody>
          <a:bodyPr wrap="square" lIns="91440" tIns="45720" rIns="91440" bIns="45720" rtlCol="0" anchor="ctr"/>
          <a:lstStyle/>
          <a:p>
            <a:r>
              <a:rPr lang="en-US" sz="1100" b="1" dirty="0">
                <a:solidFill>
                  <a:schemeClr val="accent2">
                    <a:lumMod val="40000"/>
                    <a:lumOff val="60000"/>
                  </a:schemeClr>
                </a:solidFill>
                <a:latin typeface="Trebuchet MS"/>
              </a:rPr>
              <a:t>In worse models, the color palette still drives some performance: </a:t>
            </a:r>
            <a:r>
              <a:rPr lang="en-US" sz="1200" dirty="0">
                <a:solidFill>
                  <a:srgbClr val="AACCD8"/>
                </a:solidFill>
                <a:latin typeface="Calibri"/>
              </a:rPr>
              <a:t>as in MLPs there's high F1 in Fire/Poison/Water, due to the distinctive colors of these types; shared palette or humanoid shape give us low F1 (Bug/Rock/Fighting/Ground), since they have no predominant colors. These models had more difficulty making the jump from the colors to the shapes of the Pokémon themselves</a:t>
            </a:r>
            <a:endParaRPr lang="en-US" sz="1200" dirty="0">
              <a:solidFill>
                <a:srgbClr val="AACCD8"/>
              </a:solidFill>
              <a:latin typeface="Calibri"/>
              <a:ea typeface="Calibri"/>
              <a:cs typeface="Calibri"/>
            </a:endParaRPr>
          </a:p>
        </p:txBody>
      </p:sp>
      <p:pic>
        <p:nvPicPr>
          <p:cNvPr id="6" name="Picture 5" descr="A red and yellow chart&#10;&#10;AI-generated content may be incorrect.">
            <a:extLst>
              <a:ext uri="{FF2B5EF4-FFF2-40B4-BE49-F238E27FC236}">
                <a16:creationId xmlns:a16="http://schemas.microsoft.com/office/drawing/2014/main" id="{10968137-3EBD-2374-015A-4AF676334C6E}"/>
              </a:ext>
            </a:extLst>
          </p:cNvPr>
          <p:cNvPicPr>
            <a:picLocks noChangeAspect="1"/>
          </p:cNvPicPr>
          <p:nvPr/>
        </p:nvPicPr>
        <p:blipFill>
          <a:blip r:embed="rId2"/>
          <a:stretch>
            <a:fillRect/>
          </a:stretch>
        </p:blipFill>
        <p:spPr>
          <a:xfrm>
            <a:off x="-1030" y="613273"/>
            <a:ext cx="4233824" cy="3647551"/>
          </a:xfrm>
          <a:prstGeom prst="rect">
            <a:avLst/>
          </a:prstGeom>
        </p:spPr>
      </p:pic>
      <p:graphicFrame>
        <p:nvGraphicFramePr>
          <p:cNvPr id="11" name="Table 0">
            <a:extLst>
              <a:ext uri="{FF2B5EF4-FFF2-40B4-BE49-F238E27FC236}">
                <a16:creationId xmlns:a16="http://schemas.microsoft.com/office/drawing/2014/main" id="{0DAD39FF-0189-2C36-9279-54274F87F156}"/>
              </a:ext>
            </a:extLst>
          </p:cNvPr>
          <p:cNvGraphicFramePr>
            <a:graphicFrameLocks noGrp="1"/>
          </p:cNvGraphicFramePr>
          <p:nvPr>
            <p:extLst>
              <p:ext uri="{D42A27DB-BD31-4B8C-83A1-F6EECF244321}">
                <p14:modId xmlns:p14="http://schemas.microsoft.com/office/powerpoint/2010/main" val="4091317701"/>
              </p:ext>
            </p:extLst>
          </p:nvPr>
        </p:nvGraphicFramePr>
        <p:xfrm>
          <a:off x="5050203" y="626101"/>
          <a:ext cx="3055847" cy="3412498"/>
        </p:xfrm>
        <a:graphic>
          <a:graphicData uri="http://schemas.openxmlformats.org/drawingml/2006/table">
            <a:tbl>
              <a:tblPr/>
              <a:tblGrid>
                <a:gridCol w="708080">
                  <a:extLst>
                    <a:ext uri="{9D8B030D-6E8A-4147-A177-3AD203B41FA5}">
                      <a16:colId xmlns:a16="http://schemas.microsoft.com/office/drawing/2014/main" val="20000"/>
                    </a:ext>
                  </a:extLst>
                </a:gridCol>
                <a:gridCol w="619932">
                  <a:extLst>
                    <a:ext uri="{9D8B030D-6E8A-4147-A177-3AD203B41FA5}">
                      <a16:colId xmlns:a16="http://schemas.microsoft.com/office/drawing/2014/main" val="20001"/>
                    </a:ext>
                  </a:extLst>
                </a:gridCol>
                <a:gridCol w="611586">
                  <a:extLst>
                    <a:ext uri="{9D8B030D-6E8A-4147-A177-3AD203B41FA5}">
                      <a16:colId xmlns:a16="http://schemas.microsoft.com/office/drawing/2014/main" val="4133161899"/>
                    </a:ext>
                  </a:extLst>
                </a:gridCol>
                <a:gridCol w="1116249">
                  <a:extLst>
                    <a:ext uri="{9D8B030D-6E8A-4147-A177-3AD203B41FA5}">
                      <a16:colId xmlns:a16="http://schemas.microsoft.com/office/drawing/2014/main" val="20002"/>
                    </a:ext>
                  </a:extLst>
                </a:gridCol>
              </a:tblGrid>
              <a:tr h="371659">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100" b="1">
                          <a:solidFill>
                            <a:srgbClr val="FFFFFF"/>
                          </a:solidFill>
                          <a:latin typeface="Calibri"/>
                          <a:ea typeface="Calibri"/>
                          <a:cs typeface="Calibri"/>
                        </a:rPr>
                        <a:t>CNN F1</a:t>
                      </a:r>
                      <a:endParaRPr lang="en-US" sz="1100">
                        <a:latin typeface="Calibri"/>
                        <a:ea typeface="Calibri"/>
                        <a:cs typeface="Calibri"/>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lvl="0" indent="0" algn="ctr">
                        <a:buNone/>
                      </a:pPr>
                      <a:r>
                        <a:rPr lang="en-US" sz="1100" b="1">
                          <a:solidFill>
                            <a:srgbClr val="FFFFFF"/>
                          </a:solidFill>
                          <a:latin typeface="Calibri"/>
                          <a:ea typeface="Calibri"/>
                          <a:cs typeface="Calibri"/>
                        </a:rPr>
                        <a:t>MLP F1</a:t>
                      </a:r>
                      <a:endParaRPr lang="en-US" sz="1100" b="1" dirty="0">
                        <a:solidFill>
                          <a:srgbClr val="FFFFFF"/>
                        </a:solidFill>
                        <a:latin typeface="Calibri"/>
                        <a:ea typeface="Calibri"/>
                        <a:cs typeface="Calibri"/>
                      </a:endParaRPr>
                    </a:p>
                  </a:txBody>
                  <a:tcP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0D1B2A"/>
                    </a:solidFill>
                  </a:tcPr>
                </a:tc>
                <a:tc>
                  <a:txBody>
                    <a:bodyPr/>
                    <a:lstStyle/>
                    <a:p>
                      <a:pPr marL="0" lvl="0" indent="0" algn="ctr">
                        <a:buNone/>
                      </a:pPr>
                      <a:r>
                        <a:rPr lang="en-US" sz="1100" b="1">
                          <a:solidFill>
                            <a:srgbClr val="FFFFFF"/>
                          </a:solidFill>
                          <a:latin typeface="Calibri"/>
                          <a:ea typeface="Calibri"/>
                          <a:cs typeface="Calibri"/>
                        </a:rPr>
                        <a:t>Improvement</a:t>
                      </a:r>
                      <a:endParaRPr lang="en-US"/>
                    </a:p>
                  </a:txBody>
                  <a:tcP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Fire</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0">
                          <a:solidFill>
                            <a:schemeClr val="tx1"/>
                          </a:solidFill>
                          <a:latin typeface="Calibri"/>
                          <a:ea typeface="Calibri"/>
                          <a:cs typeface="Calibri"/>
                        </a:rPr>
                        <a:t>0.457</a:t>
                      </a: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indent="0" algn="ctr">
                        <a:buNone/>
                      </a:pPr>
                      <a:r>
                        <a:rPr lang="en-US" sz="1100" b="1">
                          <a:solidFill>
                            <a:srgbClr val="00B050"/>
                          </a:solidFill>
                          <a:latin typeface="Calibri"/>
                          <a:ea typeface="Calibri"/>
                          <a:cs typeface="Calibri"/>
                        </a:rPr>
                        <a:t>+0.543</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Poison</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0">
                          <a:solidFill>
                            <a:schemeClr val="tx1"/>
                          </a:solidFill>
                          <a:latin typeface="Calibri"/>
                          <a:ea typeface="Calibri"/>
                          <a:cs typeface="Calibri"/>
                        </a:rPr>
                        <a:t>0.359</a:t>
                      </a: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+0.641</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7871">
                <a:tc>
                  <a:txBody>
                    <a:bodyPr/>
                    <a:lstStyle/>
                    <a:p>
                      <a:pPr marL="0" indent="0">
                        <a:buNone/>
                      </a:pPr>
                      <a:r>
                        <a:rPr lang="en-US" sz="1100" b="1" dirty="0">
                          <a:solidFill>
                            <a:srgbClr val="000000"/>
                          </a:solidFill>
                          <a:latin typeface="Calibri"/>
                          <a:ea typeface="Calibri"/>
                          <a:cs typeface="Calibri"/>
                        </a:rPr>
                        <a:t>Water</a:t>
                      </a:r>
                      <a:endParaRPr lang="en-US" sz="1100" b="1">
                        <a:latin typeface="Calibri"/>
                        <a:ea typeface="Calibri"/>
                        <a:cs typeface="Calibri"/>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0.332</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+0.668</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Grass</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0.286</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+0.714</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Normal</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0.215</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+0.785</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Bug</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0.140</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+0.860</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Fighting</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0.126</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+0.874</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Rock</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0.134</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a:solidFill>
                        <a:srgbClr val="D8E4EC"/>
                      </a:solidFill>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+0.866</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7871">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Ground</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a:solidFill>
                            <a:schemeClr val="tx1"/>
                          </a:solidFill>
                          <a:latin typeface="Calibri"/>
                          <a:ea typeface="Calibri"/>
                          <a:cs typeface="Calibri"/>
                        </a:rPr>
                        <a:t>1.0</a:t>
                      </a: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a:solidFill>
                            <a:schemeClr val="tx1"/>
                          </a:solidFill>
                          <a:latin typeface="Calibri"/>
                          <a:ea typeface="Calibri"/>
                          <a:cs typeface="Calibri"/>
                        </a:rPr>
                        <a:t>0.107</a:t>
                      </a:r>
                      <a:endParaRPr lang="en-US" sz="1100" dirty="0">
                        <a:solidFill>
                          <a:schemeClr val="tx1"/>
                        </a:solidFill>
                        <a:latin typeface="Calibri"/>
                        <a:ea typeface="Calibri"/>
                        <a:cs typeface="Calibri"/>
                      </a:endParaRPr>
                    </a:p>
                  </a:txBody>
                  <a:tcPr anchor="ctr">
                    <a:lnL w="5080" cap="flat" cmpd="sng" algn="ctr">
                      <a:solidFill>
                        <a:srgbClr val="D8E4EC"/>
                      </a:solidFill>
                      <a:prstDash val="solid"/>
                      <a:round/>
                      <a:headEnd type="none" w="med" len="med"/>
                      <a:tailEnd type="none" w="med" len="med"/>
                    </a:lnL>
                    <a:lnR w="5079">
                      <a:solidFill>
                        <a:srgbClr val="D8E4EC"/>
                      </a:solidFill>
                    </a:lnR>
                    <a:lnT w="5079">
                      <a:solidFill>
                        <a:srgbClr val="D8E4EC"/>
                      </a:solidFill>
                    </a:lnT>
                    <a:lnB w="5079" cap="flat" cmpd="sng" algn="ctr">
                      <a:solidFill>
                        <a:srgbClr val="D8E4EC"/>
                      </a:solidFill>
                      <a:prstDash val="solid"/>
                      <a:round/>
                      <a:headEnd type="none" w="med" len="med"/>
                      <a:tailEnd type="none" w="med" len="med"/>
                    </a:lnB>
                    <a:solidFill>
                      <a:srgbClr val="FFFFFF"/>
                    </a:solidFill>
                  </a:tcPr>
                </a:tc>
                <a:tc>
                  <a:txBody>
                    <a:bodyPr/>
                    <a:lstStyle/>
                    <a:p>
                      <a:pPr marL="0" lvl="0" indent="0" algn="ctr">
                        <a:buNone/>
                      </a:pPr>
                      <a:r>
                        <a:rPr lang="en-US" sz="1100" b="1" i="0" u="none" strike="noStrike" noProof="0">
                          <a:solidFill>
                            <a:srgbClr val="00B050"/>
                          </a:solidFill>
                          <a:latin typeface="Calibri"/>
                          <a:ea typeface="Calibri"/>
                          <a:cs typeface="Calibri"/>
                        </a:rPr>
                        <a:t>+0.893</a:t>
                      </a:r>
                    </a:p>
                  </a:txBody>
                  <a:tcPr anchor="ctr">
                    <a:lnL w="5079"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3</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Confusion Matrix — Normal as the Catch-All Class</a:t>
            </a:r>
          </a:p>
        </p:txBody>
      </p:sp>
      <p:sp>
        <p:nvSpPr>
          <p:cNvPr id="30" name="CatchBG"/>
          <p:cNvSpPr/>
          <p:nvPr/>
        </p:nvSpPr>
        <p:spPr>
          <a:xfrm>
            <a:off x="154517" y="4194659"/>
            <a:ext cx="4017997" cy="954705"/>
          </a:xfrm>
          <a:prstGeom prst="rect">
            <a:avLst/>
          </a:prstGeom>
          <a:solidFill>
            <a:srgbClr val="0D1B2A"/>
          </a:solidFill>
          <a:ln w="0">
            <a:noFill/>
          </a:ln>
        </p:spPr>
        <p:txBody>
          <a:bodyPr/>
          <a:lstStyle/>
          <a:p>
            <a:endParaRPr lang="en-US"/>
          </a:p>
        </p:txBody>
      </p:sp>
      <p:sp>
        <p:nvSpPr>
          <p:cNvPr id="31" name="CatchText"/>
          <p:cNvSpPr/>
          <p:nvPr/>
        </p:nvSpPr>
        <p:spPr>
          <a:xfrm>
            <a:off x="292749" y="4173475"/>
            <a:ext cx="4022640" cy="1324344"/>
          </a:xfrm>
          <a:prstGeom prst="rect">
            <a:avLst/>
          </a:prstGeom>
          <a:noFill/>
          <a:ln/>
        </p:spPr>
        <p:txBody>
          <a:bodyPr wrap="square" lIns="91440" tIns="45720" rIns="91440" bIns="45720" rtlCol="0" anchor="t"/>
          <a:lstStyle/>
          <a:p>
            <a:r>
              <a:rPr lang="en-US" sz="1200" b="1" dirty="0">
                <a:solidFill>
                  <a:srgbClr val="00A896"/>
                </a:solidFill>
                <a:latin typeface="Trebuchet MS"/>
              </a:rPr>
              <a:t>Normal is the catch-all for MLP</a:t>
            </a:r>
            <a:endParaRPr lang="en-US" dirty="0"/>
          </a:p>
          <a:p>
            <a:pPr marL="228600" indent="-228600">
              <a:buChar char="•"/>
            </a:pPr>
            <a:r>
              <a:rPr lang="en-US" sz="1100" dirty="0">
                <a:solidFill>
                  <a:schemeClr val="bg1"/>
                </a:solidFill>
                <a:latin typeface="Calibri"/>
              </a:rPr>
              <a:t>Normal = most diverse class: humanoids of every shape and size, no dominant color</a:t>
            </a:r>
            <a:endParaRPr lang="en-US" sz="1100" dirty="0">
              <a:solidFill>
                <a:schemeClr val="bg1"/>
              </a:solidFill>
              <a:latin typeface="Calibri"/>
              <a:ea typeface="Calibri"/>
              <a:cs typeface="Calibri"/>
            </a:endParaRPr>
          </a:p>
          <a:p>
            <a:pPr marL="228600" indent="-228600">
              <a:buChar char="•"/>
            </a:pPr>
            <a:r>
              <a:rPr lang="en-US" sz="1100" dirty="0">
                <a:solidFill>
                  <a:schemeClr val="bg1"/>
                </a:solidFill>
                <a:latin typeface="Calibri"/>
              </a:rPr>
              <a:t>Bug, Fighting and Ground all lack distinctive palettes — the MLP falls back to predicting Normal</a:t>
            </a:r>
          </a:p>
        </p:txBody>
      </p:sp>
      <p:pic>
        <p:nvPicPr>
          <p:cNvPr id="7" name="Picture 6">
            <a:extLst>
              <a:ext uri="{FF2B5EF4-FFF2-40B4-BE49-F238E27FC236}">
                <a16:creationId xmlns:a16="http://schemas.microsoft.com/office/drawing/2014/main" id="{93140B6C-BAD5-FF14-C36A-64E2C5AB0B87}"/>
              </a:ext>
            </a:extLst>
          </p:cNvPr>
          <p:cNvPicPr>
            <a:picLocks noChangeAspect="1"/>
          </p:cNvPicPr>
          <p:nvPr/>
        </p:nvPicPr>
        <p:blipFill>
          <a:blip r:embed="rId2"/>
          <a:stretch>
            <a:fillRect/>
          </a:stretch>
        </p:blipFill>
        <p:spPr>
          <a:xfrm>
            <a:off x="221486" y="1089422"/>
            <a:ext cx="3816489" cy="3107531"/>
          </a:xfrm>
          <a:prstGeom prst="rect">
            <a:avLst/>
          </a:prstGeom>
        </p:spPr>
      </p:pic>
      <p:sp>
        <p:nvSpPr>
          <p:cNvPr id="8" name="CatchText">
            <a:extLst>
              <a:ext uri="{FF2B5EF4-FFF2-40B4-BE49-F238E27FC236}">
                <a16:creationId xmlns:a16="http://schemas.microsoft.com/office/drawing/2014/main" id="{206C3F56-0D8B-5637-9765-9A2455DC7083}"/>
              </a:ext>
            </a:extLst>
          </p:cNvPr>
          <p:cNvSpPr/>
          <p:nvPr/>
        </p:nvSpPr>
        <p:spPr>
          <a:xfrm>
            <a:off x="1801866" y="673037"/>
            <a:ext cx="665079" cy="395657"/>
          </a:xfrm>
          <a:prstGeom prst="rect">
            <a:avLst/>
          </a:prstGeom>
          <a:noFill/>
          <a:ln/>
        </p:spPr>
        <p:txBody>
          <a:bodyPr wrap="square" lIns="91440" tIns="45720" rIns="91440" bIns="45720" rtlCol="0" anchor="t"/>
          <a:lstStyle/>
          <a:p>
            <a:r>
              <a:rPr lang="en-US" sz="2000" b="1">
                <a:latin typeface="Trebuchet MS"/>
              </a:rPr>
              <a:t>MLP</a:t>
            </a:r>
            <a:endParaRPr lang="en-US" sz="2000"/>
          </a:p>
          <a:p>
            <a:pPr marL="228600" indent="-228600">
              <a:buChar char="•"/>
            </a:pPr>
            <a:endParaRPr lang="en-US" sz="1100" dirty="0">
              <a:latin typeface="Calibri"/>
              <a:ea typeface="Calibri"/>
              <a:cs typeface="Calibri"/>
            </a:endParaRPr>
          </a:p>
        </p:txBody>
      </p:sp>
      <p:pic>
        <p:nvPicPr>
          <p:cNvPr id="13" name="Picture 12" descr="A graph of a number of blue squares&#10;&#10;AI-generated content may be incorrect.">
            <a:extLst>
              <a:ext uri="{FF2B5EF4-FFF2-40B4-BE49-F238E27FC236}">
                <a16:creationId xmlns:a16="http://schemas.microsoft.com/office/drawing/2014/main" id="{D1277C1D-5659-D855-875F-6E823397BB4D}"/>
              </a:ext>
            </a:extLst>
          </p:cNvPr>
          <p:cNvPicPr>
            <a:picLocks noChangeAspect="1"/>
          </p:cNvPicPr>
          <p:nvPr/>
        </p:nvPicPr>
        <p:blipFill>
          <a:blip r:embed="rId3"/>
          <a:stretch>
            <a:fillRect/>
          </a:stretch>
        </p:blipFill>
        <p:spPr>
          <a:xfrm>
            <a:off x="4574381" y="1085850"/>
            <a:ext cx="3924300" cy="3114675"/>
          </a:xfrm>
          <a:prstGeom prst="rect">
            <a:avLst/>
          </a:prstGeom>
        </p:spPr>
      </p:pic>
      <p:sp>
        <p:nvSpPr>
          <p:cNvPr id="14" name="CatchBG">
            <a:extLst>
              <a:ext uri="{FF2B5EF4-FFF2-40B4-BE49-F238E27FC236}">
                <a16:creationId xmlns:a16="http://schemas.microsoft.com/office/drawing/2014/main" id="{6E306E00-2890-9B44-D47E-21C5D109AD13}"/>
              </a:ext>
            </a:extLst>
          </p:cNvPr>
          <p:cNvSpPr/>
          <p:nvPr/>
        </p:nvSpPr>
        <p:spPr>
          <a:xfrm>
            <a:off x="4521133" y="4194658"/>
            <a:ext cx="4017997" cy="954705"/>
          </a:xfrm>
          <a:prstGeom prst="rect">
            <a:avLst/>
          </a:prstGeom>
          <a:solidFill>
            <a:srgbClr val="0D1B2A"/>
          </a:solidFill>
          <a:ln w="0">
            <a:noFill/>
          </a:ln>
        </p:spPr>
        <p:txBody>
          <a:bodyPr/>
          <a:lstStyle/>
          <a:p>
            <a:endParaRPr lang="en-US"/>
          </a:p>
        </p:txBody>
      </p:sp>
      <p:sp>
        <p:nvSpPr>
          <p:cNvPr id="15" name="CatchText">
            <a:extLst>
              <a:ext uri="{FF2B5EF4-FFF2-40B4-BE49-F238E27FC236}">
                <a16:creationId xmlns:a16="http://schemas.microsoft.com/office/drawing/2014/main" id="{B4E6DBCC-BEFA-D387-E58B-1D8FA5762AB6}"/>
              </a:ext>
            </a:extLst>
          </p:cNvPr>
          <p:cNvSpPr/>
          <p:nvPr/>
        </p:nvSpPr>
        <p:spPr>
          <a:xfrm>
            <a:off x="4659365" y="4173474"/>
            <a:ext cx="4022640" cy="1324344"/>
          </a:xfrm>
          <a:prstGeom prst="rect">
            <a:avLst/>
          </a:prstGeom>
          <a:noFill/>
          <a:ln/>
        </p:spPr>
        <p:txBody>
          <a:bodyPr wrap="square" lIns="91440" tIns="45720" rIns="91440" bIns="45720" rtlCol="0" anchor="t"/>
          <a:lstStyle/>
          <a:p>
            <a:r>
              <a:rPr lang="en-US" sz="1200" b="1" dirty="0">
                <a:solidFill>
                  <a:srgbClr val="00A896"/>
                </a:solidFill>
                <a:latin typeface="Trebuchet MS"/>
              </a:rPr>
              <a:t>CNNs are immune to this</a:t>
            </a:r>
            <a:endParaRPr lang="en-US" dirty="0"/>
          </a:p>
          <a:p>
            <a:pPr marL="228600" indent="-228600">
              <a:buFont typeface="Arial"/>
              <a:buChar char="•"/>
            </a:pPr>
            <a:r>
              <a:rPr lang="en-US" sz="1100" dirty="0">
                <a:solidFill>
                  <a:schemeClr val="bg1"/>
                </a:solidFill>
                <a:latin typeface="Calibri"/>
                <a:ea typeface="Calibri"/>
                <a:cs typeface="Calibri"/>
              </a:rPr>
              <a:t>As stated before, they can learn other patterns besides color and independent pixels</a:t>
            </a:r>
          </a:p>
        </p:txBody>
      </p:sp>
      <p:sp>
        <p:nvSpPr>
          <p:cNvPr id="16" name="CatchText">
            <a:extLst>
              <a:ext uri="{FF2B5EF4-FFF2-40B4-BE49-F238E27FC236}">
                <a16:creationId xmlns:a16="http://schemas.microsoft.com/office/drawing/2014/main" id="{7999AF14-4CB2-B054-1934-616B39B0E07A}"/>
              </a:ext>
            </a:extLst>
          </p:cNvPr>
          <p:cNvSpPr/>
          <p:nvPr/>
        </p:nvSpPr>
        <p:spPr>
          <a:xfrm>
            <a:off x="6150624" y="673036"/>
            <a:ext cx="781164" cy="413516"/>
          </a:xfrm>
          <a:prstGeom prst="rect">
            <a:avLst/>
          </a:prstGeom>
          <a:noFill/>
          <a:ln/>
        </p:spPr>
        <p:txBody>
          <a:bodyPr wrap="square" lIns="91440" tIns="45720" rIns="91440" bIns="45720" rtlCol="0" anchor="t"/>
          <a:lstStyle/>
          <a:p>
            <a:r>
              <a:rPr lang="en-US" sz="2000" b="1">
                <a:latin typeface="Trebuchet MS"/>
              </a:rPr>
              <a:t>CNN</a:t>
            </a:r>
            <a:endParaRPr lang="en-US" sz="2000"/>
          </a:p>
          <a:p>
            <a:pPr marL="228600" indent="-228600">
              <a:buChar char="•"/>
            </a:pPr>
            <a:endParaRPr lang="en-US" sz="1100" dirty="0">
              <a:latin typeface="Calibri"/>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3</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 Analysis &amp; Kaggle Gap</a:t>
            </a:r>
          </a:p>
        </p:txBody>
      </p:sp>
      <p:sp>
        <p:nvSpPr>
          <p:cNvPr id="10" name="EnsTblBG"/>
          <p:cNvSpPr/>
          <p:nvPr/>
        </p:nvSpPr>
        <p:spPr>
          <a:xfrm>
            <a:off x="274320" y="740160"/>
            <a:ext cx="8595360" cy="238140"/>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All 7 Ensemble Results (soft-average of softmax outputs)</a:t>
            </a:r>
          </a:p>
        </p:txBody>
      </p:sp>
      <p:sp>
        <p:nvSpPr>
          <p:cNvPr id="11" name="E1"/>
          <p:cNvSpPr/>
          <p:nvPr/>
        </p:nvSpPr>
        <p:spPr>
          <a:xfrm>
            <a:off x="274320" y="978300"/>
            <a:ext cx="8595360" cy="219960"/>
          </a:xfrm>
          <a:prstGeom prst="rect">
            <a:avLst/>
          </a:prstGeom>
          <a:solidFill>
            <a:srgbClr val="E8F8F6"/>
          </a:solidFill>
          <a:ln w="3175">
            <a:solidFill>
              <a:srgbClr val="00A896"/>
            </a:solidFill>
          </a:ln>
        </p:spPr>
        <p:txBody>
          <a:bodyPr/>
          <a:lstStyle/>
          <a:p>
            <a:endParaRPr lang="en-US"/>
          </a:p>
        </p:txBody>
      </p:sp>
      <p:sp>
        <p:nvSpPr>
          <p:cNvPr id="12" name="E1t"/>
          <p:cNvSpPr/>
          <p:nvPr/>
        </p:nvSpPr>
        <p:spPr>
          <a:xfrm>
            <a:off x="274320" y="978300"/>
            <a:ext cx="8595360" cy="219960"/>
          </a:xfrm>
          <a:prstGeom prst="rect">
            <a:avLst/>
          </a:prstGeom>
          <a:noFill/>
          <a:ln/>
        </p:spPr>
        <p:txBody>
          <a:bodyPr wrap="square" lIns="91440" tIns="0" rIns="0" bIns="0" rtlCol="0" anchor="ctr"/>
          <a:lstStyle/>
          <a:p>
            <a:r>
              <a:rPr lang="en-US" sz="1000" b="1" dirty="0">
                <a:solidFill>
                  <a:srgbClr val="00A896"/>
                </a:solidFill>
                <a:latin typeface="Calibri"/>
              </a:rPr>
              <a:t>ENSEMBLE I+K ★  F1=1.0000 acc=100%   </a:t>
            </a:r>
            <a:r>
              <a:rPr lang="en-US" sz="1000" dirty="0">
                <a:solidFill>
                  <a:srgbClr val="1A2B3C"/>
                </a:solidFill>
                <a:latin typeface="Calibri"/>
              </a:rPr>
              <a:t> Combining perfect models together doesn't change the result - expected</a:t>
            </a:r>
          </a:p>
        </p:txBody>
      </p:sp>
      <p:sp>
        <p:nvSpPr>
          <p:cNvPr id="13" name="E2"/>
          <p:cNvSpPr/>
          <p:nvPr/>
        </p:nvSpPr>
        <p:spPr>
          <a:xfrm>
            <a:off x="274320" y="1189331"/>
            <a:ext cx="8604289" cy="407482"/>
          </a:xfrm>
          <a:prstGeom prst="rect">
            <a:avLst/>
          </a:prstGeom>
          <a:solidFill>
            <a:srgbClr val="FFFFFF"/>
          </a:solidFill>
          <a:ln w="3175">
            <a:solidFill>
              <a:srgbClr val="E0ECF4"/>
            </a:solidFill>
          </a:ln>
        </p:spPr>
        <p:txBody>
          <a:bodyPr/>
          <a:lstStyle/>
          <a:p>
            <a:endParaRPr lang="en-US"/>
          </a:p>
        </p:txBody>
      </p:sp>
      <p:sp>
        <p:nvSpPr>
          <p:cNvPr id="14" name="E2t"/>
          <p:cNvSpPr/>
          <p:nvPr/>
        </p:nvSpPr>
        <p:spPr>
          <a:xfrm>
            <a:off x="274320" y="1198261"/>
            <a:ext cx="8604289" cy="407482"/>
          </a:xfrm>
          <a:prstGeom prst="rect">
            <a:avLst/>
          </a:prstGeom>
          <a:noFill/>
          <a:ln/>
        </p:spPr>
        <p:txBody>
          <a:bodyPr wrap="square" lIns="91440" tIns="0" rIns="0" bIns="0" rtlCol="0" anchor="ctr"/>
          <a:lstStyle/>
          <a:p>
            <a:r>
              <a:rPr lang="en-US" sz="1000" b="1" dirty="0">
                <a:solidFill>
                  <a:srgbClr val="028090"/>
                </a:solidFill>
                <a:latin typeface="Calibri"/>
              </a:rPr>
              <a:t>ENSEMBLE C+H F1=0.9908 acc=99.0%   </a:t>
            </a:r>
            <a:r>
              <a:rPr lang="en-US" sz="1000" dirty="0">
                <a:solidFill>
                  <a:srgbClr val="1A2B3C"/>
                </a:solidFill>
                <a:latin typeface="Calibri"/>
              </a:rPr>
              <a:t>Combining a bad model with a perfect one gave a similar performance, no additional noise (class weights + dropout combination)</a:t>
            </a:r>
            <a:endParaRPr lang="en-US" sz="1000" dirty="0">
              <a:solidFill>
                <a:srgbClr val="1A2B3C"/>
              </a:solidFill>
              <a:latin typeface="Calibri"/>
              <a:ea typeface="Calibri"/>
              <a:cs typeface="Calibri"/>
            </a:endParaRPr>
          </a:p>
        </p:txBody>
      </p:sp>
      <p:sp>
        <p:nvSpPr>
          <p:cNvPr id="40" name="LBG"/>
          <p:cNvSpPr/>
          <p:nvPr/>
        </p:nvSpPr>
        <p:spPr>
          <a:xfrm>
            <a:off x="256461" y="2357062"/>
            <a:ext cx="4205520" cy="1680345"/>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1" name="LText"/>
          <p:cNvSpPr/>
          <p:nvPr/>
        </p:nvSpPr>
        <p:spPr>
          <a:xfrm>
            <a:off x="439341" y="2609816"/>
            <a:ext cx="3840480" cy="2286000"/>
          </a:xfrm>
          <a:prstGeom prst="rect">
            <a:avLst/>
          </a:prstGeom>
          <a:noFill/>
          <a:ln/>
        </p:spPr>
        <p:txBody>
          <a:bodyPr wrap="square" lIns="91440" tIns="45720" rIns="91440" bIns="45720" rtlCol="0" anchor="t"/>
          <a:lstStyle/>
          <a:p>
            <a:r>
              <a:rPr lang="en-US" sz="1200" b="1">
                <a:solidFill>
                  <a:srgbClr val="028090"/>
                </a:solidFill>
                <a:latin typeface="Trebuchet MS"/>
              </a:rPr>
              <a:t>C + H had a similar performance to solo H</a:t>
            </a:r>
          </a:p>
          <a:p>
            <a:pPr marL="228600" indent="-228600">
              <a:buChar char="•"/>
            </a:pPr>
            <a:r>
              <a:rPr lang="en-US" sz="1100" dirty="0">
                <a:solidFill>
                  <a:srgbClr val="1A2B3C"/>
                </a:solidFill>
                <a:latin typeface="Calibri"/>
              </a:rPr>
              <a:t>C uses class weights — adjusts gradients per class</a:t>
            </a:r>
          </a:p>
          <a:p>
            <a:pPr marL="228600" indent="-228600">
              <a:buChar char="•"/>
            </a:pPr>
            <a:r>
              <a:rPr lang="en-US" sz="1100">
                <a:solidFill>
                  <a:srgbClr val="1A2B3C"/>
                </a:solidFill>
                <a:latin typeface="Calibri"/>
              </a:rPr>
              <a:t>H uses dropout — randomly drops neurons</a:t>
            </a:r>
            <a:endParaRPr lang="en-US" sz="1100">
              <a:solidFill>
                <a:srgbClr val="1A2B3C"/>
              </a:solidFill>
              <a:latin typeface="Calibri"/>
              <a:ea typeface="Calibri"/>
              <a:cs typeface="Calibri"/>
            </a:endParaRPr>
          </a:p>
          <a:p>
            <a:pPr marL="228600" indent="-228600">
              <a:buChar char="•"/>
            </a:pPr>
            <a:r>
              <a:rPr lang="en-US" sz="1100" dirty="0">
                <a:solidFill>
                  <a:srgbClr val="1A2B3C"/>
                </a:solidFill>
                <a:latin typeface="Calibri"/>
              </a:rPr>
              <a:t>Different mechanisms = different mistakes, but model H's performance doesn't outweigh H's near perfect performance</a:t>
            </a:r>
            <a:endParaRPr lang="en-US" sz="1100" dirty="0">
              <a:solidFill>
                <a:srgbClr val="1A2B3C"/>
              </a:solidFill>
              <a:latin typeface="Calibri"/>
              <a:ea typeface="Calibri"/>
              <a:cs typeface="Calibri"/>
            </a:endParaRPr>
          </a:p>
        </p:txBody>
      </p:sp>
      <p:sp>
        <p:nvSpPr>
          <p:cNvPr id="50" name="RBG"/>
          <p:cNvSpPr/>
          <p:nvPr/>
        </p:nvSpPr>
        <p:spPr>
          <a:xfrm>
            <a:off x="4663920" y="2357063"/>
            <a:ext cx="4205520" cy="1680345"/>
          </a:xfrm>
          <a:prstGeom prst="rect">
            <a:avLst/>
          </a:prstGeom>
          <a:solidFill>
            <a:srgbClr val="0D1B2A"/>
          </a:solidFill>
          <a:ln w="0">
            <a:noFill/>
          </a:ln>
        </p:spPr>
        <p:txBody>
          <a:bodyPr/>
          <a:lstStyle/>
          <a:p>
            <a:endParaRPr lang="en-US"/>
          </a:p>
        </p:txBody>
      </p:sp>
      <p:sp>
        <p:nvSpPr>
          <p:cNvPr id="51" name="RText"/>
          <p:cNvSpPr/>
          <p:nvPr/>
        </p:nvSpPr>
        <p:spPr>
          <a:xfrm>
            <a:off x="4846800" y="2431223"/>
            <a:ext cx="3840480" cy="2286000"/>
          </a:xfrm>
          <a:prstGeom prst="rect">
            <a:avLst/>
          </a:prstGeom>
          <a:noFill/>
          <a:ln/>
        </p:spPr>
        <p:txBody>
          <a:bodyPr wrap="square" lIns="91440" tIns="45720" rIns="91440" bIns="45720" rtlCol="0" anchor="t"/>
          <a:lstStyle/>
          <a:p>
            <a:pPr>
              <a:buNone/>
            </a:pPr>
            <a:r>
              <a:rPr lang="en-US" sz="1200" b="1" dirty="0">
                <a:solidFill>
                  <a:srgbClr val="00A896"/>
                </a:solidFill>
                <a:latin typeface="Trebuchet MS"/>
              </a:rPr>
              <a:t>Kaggle validation gap</a:t>
            </a:r>
          </a:p>
          <a:p>
            <a:r>
              <a:rPr lang="en-US" sz="1200" b="1" dirty="0">
                <a:solidFill>
                  <a:srgbClr val="00A896"/>
                </a:solidFill>
                <a:latin typeface="Trebuchet MS"/>
              </a:rPr>
              <a:t>	</a:t>
            </a:r>
            <a:r>
              <a:rPr lang="en-US" sz="1200" b="1" dirty="0" err="1">
                <a:solidFill>
                  <a:srgbClr val="00A896"/>
                </a:solidFill>
                <a:latin typeface="Trebuchet MS"/>
              </a:rPr>
              <a:t>val</a:t>
            </a:r>
            <a:r>
              <a:rPr lang="en-US" sz="1200" b="1" dirty="0">
                <a:solidFill>
                  <a:srgbClr val="00A896"/>
                </a:solidFill>
                <a:latin typeface="Trebuchet MS"/>
              </a:rPr>
              <a:t> – 1.0000</a:t>
            </a:r>
          </a:p>
          <a:p>
            <a:r>
              <a:rPr lang="en-US" sz="1200" b="1" dirty="0">
                <a:solidFill>
                  <a:srgbClr val="00A896"/>
                </a:solidFill>
                <a:latin typeface="Trebuchet MS"/>
              </a:rPr>
              <a:t>	</a:t>
            </a:r>
            <a:r>
              <a:rPr lang="en-US" sz="1200" b="1" dirty="0" err="1">
                <a:solidFill>
                  <a:srgbClr val="00A896"/>
                </a:solidFill>
                <a:latin typeface="Trebuchet MS"/>
              </a:rPr>
              <a:t>kaggle</a:t>
            </a:r>
            <a:r>
              <a:rPr lang="en-US" sz="1200" b="1" dirty="0">
                <a:solidFill>
                  <a:srgbClr val="00A896"/>
                </a:solidFill>
                <a:latin typeface="Trebuchet MS"/>
              </a:rPr>
              <a:t> – 1.0000</a:t>
            </a:r>
          </a:p>
          <a:p>
            <a:r>
              <a:rPr lang="en-US" sz="2000" b="1">
                <a:solidFill>
                  <a:srgbClr val="FFFFFF"/>
                </a:solidFill>
                <a:latin typeface="Trebuchet MS"/>
              </a:rPr>
              <a:t>	−0.0000 (-0.00%)</a:t>
            </a:r>
          </a:p>
          <a:p>
            <a:pPr>
              <a:buNone/>
            </a:pPr>
            <a:endParaRPr lang="en-US" sz="1000" b="1" dirty="0">
              <a:solidFill>
                <a:srgbClr val="00A896"/>
              </a:solidFill>
              <a:latin typeface="Calibri"/>
            </a:endParaRPr>
          </a:p>
          <a:p>
            <a:r>
              <a:rPr lang="en-US" sz="1000" b="1">
                <a:solidFill>
                  <a:srgbClr val="00A896"/>
                </a:solidFill>
                <a:latin typeface="Calibri"/>
              </a:rPr>
              <a:t>No gap:</a:t>
            </a:r>
            <a:endParaRPr lang="en-US" sz="1000" b="1">
              <a:solidFill>
                <a:srgbClr val="00A896"/>
              </a:solidFill>
              <a:latin typeface="Calibri"/>
              <a:ea typeface="Calibri"/>
              <a:cs typeface="Calibri"/>
            </a:endParaRPr>
          </a:p>
          <a:p>
            <a:pPr marL="228600" indent="-228600">
              <a:buChar char="•"/>
            </a:pPr>
            <a:r>
              <a:rPr lang="en-US" sz="1100">
                <a:solidFill>
                  <a:srgbClr val="AACCD8"/>
                </a:solidFill>
                <a:latin typeface="Calibri"/>
                <a:ea typeface="Calibri"/>
                <a:cs typeface="Calibri"/>
              </a:rPr>
              <a:t>We correctly evaluated our model's performance locally</a:t>
            </a:r>
            <a:endParaRPr lang="en-US" sz="1100" dirty="0">
              <a:solidFill>
                <a:srgbClr val="AACCD8"/>
              </a:solidFill>
              <a:latin typeface="Calibri"/>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498080" cy="530352"/>
          </a:xfrm>
          <a:prstGeom prst="rect">
            <a:avLst/>
          </a:prstGeom>
          <a:noFill/>
          <a:ln/>
        </p:spPr>
        <p:txBody>
          <a:bodyPr wrap="square" lIns="0" tIns="0" rIns="0" bIns="0" rtlCol="0" anchor="ctr"/>
          <a:lstStyle/>
          <a:p>
            <a:r>
              <a:rPr lang="en-US" sz="2200" b="1">
                <a:solidFill>
                  <a:srgbClr val="0D1B2A"/>
                </a:solidFill>
                <a:latin typeface="Trebuchet MS"/>
                <a:ea typeface="Trebuchet MS" pitchFamily="34" charset="-122"/>
                <a:cs typeface="Trebuchet MS" pitchFamily="34" charset="-120"/>
              </a:rPr>
              <a:t>Why Are CNNs Better For This Task?</a:t>
            </a:r>
            <a:endParaRPr lang="en-US" sz="2200" b="1" dirty="0">
              <a:solidFill>
                <a:srgbClr val="0D1B2A"/>
              </a:solidFill>
              <a:latin typeface="Trebuchet MS"/>
            </a:endParaRPr>
          </a:p>
        </p:txBody>
      </p:sp>
      <p:sp>
        <p:nvSpPr>
          <p:cNvPr id="4" name="Shape 2"/>
          <p:cNvSpPr/>
          <p:nvPr/>
        </p:nvSpPr>
        <p:spPr>
          <a:xfrm>
            <a:off x="7498080" y="109728"/>
            <a:ext cx="146304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498080" y="109728"/>
            <a:ext cx="1463040" cy="301752"/>
          </a:xfrm>
          <a:prstGeom prst="rect">
            <a:avLst/>
          </a:prstGeom>
          <a:noFill/>
          <a:ln/>
        </p:spPr>
        <p:txBody>
          <a:bodyPr wrap="square" lIns="0" tIns="0" rIns="0" bIns="0" rtlCol="0" anchor="ctr"/>
          <a:lstStyle/>
          <a:p>
            <a:pPr marL="0" indent="0" algn="ctr">
              <a:buNone/>
            </a:pPr>
            <a:r>
              <a:rPr lang="en-US" sz="1000" b="1" dirty="0">
                <a:solidFill>
                  <a:srgbClr val="FFFFFF"/>
                </a:solidFill>
              </a:rPr>
              <a:t>Perf Eval</a:t>
            </a:r>
            <a:endParaRPr lang="en-US" sz="1000" dirty="0"/>
          </a:p>
        </p:txBody>
      </p:sp>
      <p:sp>
        <p:nvSpPr>
          <p:cNvPr id="6" name="Shape 4"/>
          <p:cNvSpPr/>
          <p:nvPr/>
        </p:nvSpPr>
        <p:spPr>
          <a:xfrm>
            <a:off x="347472" y="804672"/>
            <a:ext cx="4160520" cy="384048"/>
          </a:xfrm>
          <a:prstGeom prst="rect">
            <a:avLst/>
          </a:prstGeom>
          <a:solidFill>
            <a:srgbClr val="0D1B2A"/>
          </a:solidFill>
          <a:ln w="12700">
            <a:solidFill>
              <a:srgbClr val="0D1B2A"/>
            </a:solidFill>
            <a:prstDash val="solid"/>
          </a:ln>
        </p:spPr>
        <p:txBody>
          <a:bodyPr/>
          <a:lstStyle/>
          <a:p>
            <a:endParaRPr lang="pt-PT"/>
          </a:p>
        </p:txBody>
      </p:sp>
      <p:sp>
        <p:nvSpPr>
          <p:cNvPr id="7" name="Text 5"/>
          <p:cNvSpPr/>
          <p:nvPr/>
        </p:nvSpPr>
        <p:spPr>
          <a:xfrm>
            <a:off x="347472" y="80467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Theoretical reasons</a:t>
            </a:r>
            <a:endParaRPr lang="en-US" sz="1300" dirty="0"/>
          </a:p>
        </p:txBody>
      </p:sp>
      <p:sp>
        <p:nvSpPr>
          <p:cNvPr id="8" name="Shape 6"/>
          <p:cNvSpPr/>
          <p:nvPr/>
        </p:nvSpPr>
        <p:spPr>
          <a:xfrm>
            <a:off x="347472" y="129844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7"/>
          <p:cNvSpPr/>
          <p:nvPr/>
        </p:nvSpPr>
        <p:spPr>
          <a:xfrm>
            <a:off x="347472" y="1298448"/>
            <a:ext cx="73152" cy="1078992"/>
          </a:xfrm>
          <a:prstGeom prst="rect">
            <a:avLst/>
          </a:prstGeom>
          <a:solidFill>
            <a:srgbClr val="3D5A73"/>
          </a:solidFill>
          <a:ln w="12700">
            <a:solidFill>
              <a:srgbClr val="3D5A73"/>
            </a:solidFill>
            <a:prstDash val="solid"/>
          </a:ln>
        </p:spPr>
        <p:txBody>
          <a:bodyPr/>
          <a:lstStyle/>
          <a:p>
            <a:endParaRPr lang="pt-PT"/>
          </a:p>
        </p:txBody>
      </p:sp>
      <p:sp>
        <p:nvSpPr>
          <p:cNvPr id="10" name="Text 8"/>
          <p:cNvSpPr/>
          <p:nvPr/>
        </p:nvSpPr>
        <p:spPr>
          <a:xfrm>
            <a:off x="493776" y="1371600"/>
            <a:ext cx="3886200" cy="274320"/>
          </a:xfrm>
          <a:prstGeom prst="rect">
            <a:avLst/>
          </a:prstGeom>
          <a:noFill/>
          <a:ln/>
        </p:spPr>
        <p:txBody>
          <a:bodyPr wrap="square" lIns="0" tIns="0" rIns="0" bIns="0" rtlCol="0" anchor="ctr"/>
          <a:lstStyle/>
          <a:p>
            <a:r>
              <a:rPr lang="en-US" sz="1200" b="1">
                <a:solidFill>
                  <a:srgbClr val="0D1B2A"/>
                </a:solidFill>
                <a:latin typeface="Trebuchet MS"/>
                <a:ea typeface="Trebuchet MS" pitchFamily="34" charset="-122"/>
                <a:cs typeface="Trebuchet MS" pitchFamily="34" charset="-120"/>
              </a:rPr>
              <a:t>Spatial Inductive Bias</a:t>
            </a:r>
            <a:endParaRPr lang="en-US" sz="1200">
              <a:latin typeface="Trebuchet MS"/>
            </a:endParaRPr>
          </a:p>
        </p:txBody>
      </p:sp>
      <p:sp>
        <p:nvSpPr>
          <p:cNvPr id="11" name="Text 9"/>
          <p:cNvSpPr/>
          <p:nvPr/>
        </p:nvSpPr>
        <p:spPr>
          <a:xfrm>
            <a:off x="493776" y="1682496"/>
            <a:ext cx="3886200" cy="640080"/>
          </a:xfrm>
          <a:prstGeom prst="rect">
            <a:avLst/>
          </a:prstGeom>
          <a:noFill/>
          <a:ln/>
        </p:spPr>
        <p:txBody>
          <a:bodyPr wrap="square" lIns="0" tIns="0" rIns="0" bIns="0" rtlCol="0" anchor="ctr"/>
          <a:lstStyle/>
          <a:p>
            <a:r>
              <a:rPr lang="en-US" sz="1100" dirty="0">
                <a:solidFill>
                  <a:srgbClr val="3D5A73"/>
                </a:solidFill>
                <a:latin typeface="Calibri"/>
                <a:ea typeface="Calibri"/>
                <a:cs typeface="Calibri"/>
              </a:rPr>
              <a:t>A CNN can recognize the same sprite at top-left or bottom-right, even though the input vector is different (translation invariance). MLPs can't learn "this </a:t>
            </a:r>
            <a:r>
              <a:rPr lang="en-US" sz="1100" dirty="0" err="1">
                <a:solidFill>
                  <a:srgbClr val="3D5A73"/>
                </a:solidFill>
                <a:latin typeface="Calibri"/>
                <a:ea typeface="Calibri"/>
                <a:cs typeface="Calibri"/>
              </a:rPr>
              <a:t>pokemon</a:t>
            </a:r>
            <a:r>
              <a:rPr lang="en-US" sz="1100" dirty="0">
                <a:solidFill>
                  <a:srgbClr val="3D5A73"/>
                </a:solidFill>
                <a:latin typeface="Calibri"/>
                <a:ea typeface="Calibri"/>
                <a:cs typeface="Calibri"/>
              </a:rPr>
              <a:t> exists somewhere", even though the </a:t>
            </a:r>
            <a:r>
              <a:rPr lang="en-US" sz="1100" dirty="0" err="1">
                <a:solidFill>
                  <a:srgbClr val="3D5A73"/>
                </a:solidFill>
                <a:latin typeface="Calibri"/>
                <a:ea typeface="Calibri"/>
                <a:cs typeface="Calibri"/>
              </a:rPr>
              <a:t>pokemons</a:t>
            </a:r>
            <a:r>
              <a:rPr lang="en-US" sz="1100" dirty="0">
                <a:solidFill>
                  <a:srgbClr val="3D5A73"/>
                </a:solidFill>
                <a:latin typeface="Calibri"/>
                <a:ea typeface="Calibri"/>
                <a:cs typeface="Calibri"/>
              </a:rPr>
              <a:t> always appears in the same way.</a:t>
            </a:r>
          </a:p>
        </p:txBody>
      </p:sp>
      <p:sp>
        <p:nvSpPr>
          <p:cNvPr id="12" name="Shape 10"/>
          <p:cNvSpPr/>
          <p:nvPr/>
        </p:nvSpPr>
        <p:spPr>
          <a:xfrm>
            <a:off x="347472" y="253288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1"/>
          <p:cNvSpPr/>
          <p:nvPr/>
        </p:nvSpPr>
        <p:spPr>
          <a:xfrm>
            <a:off x="347472" y="2532888"/>
            <a:ext cx="73152" cy="1078992"/>
          </a:xfrm>
          <a:prstGeom prst="rect">
            <a:avLst/>
          </a:prstGeom>
          <a:solidFill>
            <a:srgbClr val="3D5A73"/>
          </a:solidFill>
          <a:ln w="12700">
            <a:solidFill>
              <a:srgbClr val="3D5A73"/>
            </a:solidFill>
            <a:prstDash val="solid"/>
          </a:ln>
        </p:spPr>
        <p:txBody>
          <a:bodyPr/>
          <a:lstStyle/>
          <a:p>
            <a:endParaRPr lang="pt-PT"/>
          </a:p>
        </p:txBody>
      </p:sp>
      <p:sp>
        <p:nvSpPr>
          <p:cNvPr id="14" name="Text 12"/>
          <p:cNvSpPr/>
          <p:nvPr/>
        </p:nvSpPr>
        <p:spPr>
          <a:xfrm>
            <a:off x="493776" y="2606040"/>
            <a:ext cx="3886200" cy="274320"/>
          </a:xfrm>
          <a:prstGeom prst="rect">
            <a:avLst/>
          </a:prstGeom>
          <a:noFill/>
          <a:ln/>
        </p:spPr>
        <p:txBody>
          <a:bodyPr wrap="square" lIns="0" tIns="0" rIns="0" bIns="0" rtlCol="0" anchor="ctr"/>
          <a:lstStyle/>
          <a:p>
            <a:r>
              <a:rPr lang="en-US" sz="1200" b="1">
                <a:solidFill>
                  <a:srgbClr val="0D1B2A"/>
                </a:solidFill>
                <a:latin typeface="Trebuchet MS"/>
              </a:rPr>
              <a:t>Local Feature Learning</a:t>
            </a:r>
            <a:endParaRPr lang="en-US"/>
          </a:p>
        </p:txBody>
      </p:sp>
      <p:sp>
        <p:nvSpPr>
          <p:cNvPr id="15" name="Text 13"/>
          <p:cNvSpPr/>
          <p:nvPr/>
        </p:nvSpPr>
        <p:spPr>
          <a:xfrm>
            <a:off x="484090" y="2878190"/>
            <a:ext cx="3886200" cy="640080"/>
          </a:xfrm>
          <a:prstGeom prst="rect">
            <a:avLst/>
          </a:prstGeom>
          <a:noFill/>
          <a:ln/>
        </p:spPr>
        <p:txBody>
          <a:bodyPr wrap="square" lIns="0" tIns="0" rIns="0" bIns="0" rtlCol="0" anchor="ctr"/>
          <a:lstStyle/>
          <a:p>
            <a:r>
              <a:rPr lang="en-US" sz="1100" dirty="0">
                <a:solidFill>
                  <a:srgbClr val="3D5A73"/>
                </a:solidFill>
                <a:latin typeface="Calibri"/>
                <a:ea typeface="Calibri"/>
                <a:cs typeface="Calibri"/>
              </a:rPr>
              <a:t>CNNs focus on local pattern (edges, shapes, flame tails, …), rather than treating each pixel independently. MLPs need weights for each </a:t>
            </a:r>
            <a:r>
              <a:rPr lang="en-US" sz="1100">
                <a:solidFill>
                  <a:srgbClr val="3D5A73"/>
                </a:solidFill>
                <a:latin typeface="Calibri"/>
                <a:ea typeface="Calibri"/>
                <a:cs typeface="Calibri"/>
              </a:rPr>
              <a:t>pixel, making them prone to overfit on small datasets like this one - too many parameters.</a:t>
            </a:r>
            <a:endParaRPr lang="en-US" sz="1100" dirty="0">
              <a:solidFill>
                <a:srgbClr val="3D5A73"/>
              </a:solidFill>
              <a:latin typeface="Calibri"/>
              <a:ea typeface="Calibri"/>
              <a:cs typeface="Calibri"/>
            </a:endParaRPr>
          </a:p>
        </p:txBody>
      </p:sp>
      <p:sp>
        <p:nvSpPr>
          <p:cNvPr id="16" name="Shape 14"/>
          <p:cNvSpPr/>
          <p:nvPr/>
        </p:nvSpPr>
        <p:spPr>
          <a:xfrm>
            <a:off x="347472" y="376732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5"/>
          <p:cNvSpPr/>
          <p:nvPr/>
        </p:nvSpPr>
        <p:spPr>
          <a:xfrm>
            <a:off x="347472" y="3767328"/>
            <a:ext cx="73152" cy="1078992"/>
          </a:xfrm>
          <a:prstGeom prst="rect">
            <a:avLst/>
          </a:prstGeom>
          <a:solidFill>
            <a:srgbClr val="3D5A73"/>
          </a:solidFill>
          <a:ln w="12700">
            <a:solidFill>
              <a:srgbClr val="3D5A73"/>
            </a:solidFill>
            <a:prstDash val="solid"/>
          </a:ln>
        </p:spPr>
        <p:txBody>
          <a:bodyPr/>
          <a:lstStyle/>
          <a:p>
            <a:endParaRPr lang="pt-PT"/>
          </a:p>
        </p:txBody>
      </p:sp>
      <p:sp>
        <p:nvSpPr>
          <p:cNvPr id="18" name="Text 16"/>
          <p:cNvSpPr/>
          <p:nvPr/>
        </p:nvSpPr>
        <p:spPr>
          <a:xfrm>
            <a:off x="493776" y="3840480"/>
            <a:ext cx="3886200" cy="274320"/>
          </a:xfrm>
          <a:prstGeom prst="rect">
            <a:avLst/>
          </a:prstGeom>
          <a:noFill/>
          <a:ln/>
        </p:spPr>
        <p:txBody>
          <a:bodyPr wrap="square" lIns="0" tIns="0" rIns="0" bIns="0" rtlCol="0" anchor="ctr"/>
          <a:lstStyle/>
          <a:p>
            <a:r>
              <a:rPr lang="en-US" sz="1200" b="1">
                <a:solidFill>
                  <a:srgbClr val="0D1B2A"/>
                </a:solidFill>
                <a:latin typeface="Trebuchet MS"/>
              </a:rPr>
              <a:t>Hierarchical Feature Learning</a:t>
            </a:r>
            <a:endParaRPr lang="en-US"/>
          </a:p>
        </p:txBody>
      </p:sp>
      <p:sp>
        <p:nvSpPr>
          <p:cNvPr id="19" name="Text 17"/>
          <p:cNvSpPr/>
          <p:nvPr/>
        </p:nvSpPr>
        <p:spPr>
          <a:xfrm>
            <a:off x="493776" y="4151376"/>
            <a:ext cx="3886200" cy="640080"/>
          </a:xfrm>
          <a:prstGeom prst="rect">
            <a:avLst/>
          </a:prstGeom>
          <a:noFill/>
          <a:ln/>
        </p:spPr>
        <p:txBody>
          <a:bodyPr wrap="square" lIns="0" tIns="0" rIns="0" bIns="0" rtlCol="0" anchor="ctr"/>
          <a:lstStyle/>
          <a:p>
            <a:r>
              <a:rPr lang="en-US" sz="1100" dirty="0">
                <a:solidFill>
                  <a:srgbClr val="3D5A73"/>
                </a:solidFill>
                <a:latin typeface="Calibri"/>
                <a:ea typeface="Calibri"/>
                <a:cs typeface="Calibri"/>
              </a:rPr>
              <a:t>CNNs can build layered representations from simple edges to more complex shapes. This helps identifying </a:t>
            </a:r>
            <a:r>
              <a:rPr lang="en-US" sz="1100" dirty="0" err="1">
                <a:solidFill>
                  <a:srgbClr val="3D5A73"/>
                </a:solidFill>
                <a:latin typeface="Calibri"/>
                <a:ea typeface="Calibri"/>
                <a:cs typeface="Calibri"/>
              </a:rPr>
              <a:t>pokemon</a:t>
            </a:r>
            <a:r>
              <a:rPr lang="en-US" sz="1100" dirty="0">
                <a:solidFill>
                  <a:srgbClr val="3D5A73"/>
                </a:solidFill>
                <a:latin typeface="Calibri"/>
                <a:ea typeface="Calibri"/>
                <a:cs typeface="Calibri"/>
              </a:rPr>
              <a:t> even when we lose the </a:t>
            </a:r>
            <a:r>
              <a:rPr lang="en-US" sz="1100" dirty="0" err="1">
                <a:solidFill>
                  <a:srgbClr val="3D5A73"/>
                </a:solidFill>
                <a:latin typeface="Calibri"/>
                <a:ea typeface="Calibri"/>
                <a:cs typeface="Calibri"/>
              </a:rPr>
              <a:t>colour</a:t>
            </a:r>
            <a:r>
              <a:rPr lang="en-US" sz="1100" dirty="0">
                <a:solidFill>
                  <a:srgbClr val="3D5A73"/>
                </a:solidFill>
                <a:latin typeface="Calibri"/>
                <a:ea typeface="Calibri"/>
                <a:cs typeface="Calibri"/>
              </a:rPr>
              <a:t>, for example, due to the memorization of the </a:t>
            </a:r>
            <a:r>
              <a:rPr lang="en-US" sz="1100" dirty="0" err="1">
                <a:solidFill>
                  <a:srgbClr val="3D5A73"/>
                </a:solidFill>
                <a:latin typeface="Calibri"/>
                <a:ea typeface="Calibri"/>
                <a:cs typeface="Calibri"/>
              </a:rPr>
              <a:t>pokemon's</a:t>
            </a:r>
            <a:r>
              <a:rPr lang="en-US" sz="1100" dirty="0">
                <a:solidFill>
                  <a:srgbClr val="3D5A73"/>
                </a:solidFill>
                <a:latin typeface="Calibri"/>
                <a:ea typeface="Calibri"/>
                <a:cs typeface="Calibri"/>
              </a:rPr>
              <a:t> shape and details.</a:t>
            </a:r>
          </a:p>
        </p:txBody>
      </p:sp>
      <p:sp>
        <p:nvSpPr>
          <p:cNvPr id="20" name="Shape 18"/>
          <p:cNvSpPr/>
          <p:nvPr/>
        </p:nvSpPr>
        <p:spPr>
          <a:xfrm>
            <a:off x="4681728" y="804672"/>
            <a:ext cx="4160520" cy="384048"/>
          </a:xfrm>
          <a:prstGeom prst="rect">
            <a:avLst/>
          </a:prstGeom>
          <a:solidFill>
            <a:srgbClr val="00A896"/>
          </a:solidFill>
          <a:ln w="12700">
            <a:solidFill>
              <a:srgbClr val="00A896"/>
            </a:solidFill>
            <a:prstDash val="solid"/>
          </a:ln>
        </p:spPr>
        <p:txBody>
          <a:bodyPr/>
          <a:lstStyle/>
          <a:p>
            <a:endParaRPr lang="pt-PT"/>
          </a:p>
        </p:txBody>
      </p:sp>
      <p:sp>
        <p:nvSpPr>
          <p:cNvPr id="21" name="Text 19"/>
          <p:cNvSpPr/>
          <p:nvPr/>
        </p:nvSpPr>
        <p:spPr>
          <a:xfrm>
            <a:off x="4681728" y="80467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Empirical confirmation</a:t>
            </a:r>
            <a:endParaRPr lang="en-US" sz="1300" dirty="0"/>
          </a:p>
        </p:txBody>
      </p:sp>
      <p:sp>
        <p:nvSpPr>
          <p:cNvPr id="22" name="Shape 20"/>
          <p:cNvSpPr/>
          <p:nvPr/>
        </p:nvSpPr>
        <p:spPr>
          <a:xfrm>
            <a:off x="4681728" y="129844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3" name="Shape 21"/>
          <p:cNvSpPr/>
          <p:nvPr/>
        </p:nvSpPr>
        <p:spPr>
          <a:xfrm>
            <a:off x="4681728" y="1298448"/>
            <a:ext cx="73152" cy="1078992"/>
          </a:xfrm>
          <a:prstGeom prst="rect">
            <a:avLst/>
          </a:prstGeom>
          <a:solidFill>
            <a:srgbClr val="E74C3C"/>
          </a:solidFill>
          <a:ln w="12700">
            <a:solidFill>
              <a:srgbClr val="E74C3C"/>
            </a:solidFill>
            <a:prstDash val="solid"/>
          </a:ln>
        </p:spPr>
        <p:txBody>
          <a:bodyPr/>
          <a:lstStyle/>
          <a:p>
            <a:endParaRPr lang="pt-PT"/>
          </a:p>
        </p:txBody>
      </p:sp>
      <p:sp>
        <p:nvSpPr>
          <p:cNvPr id="24" name="Text 22"/>
          <p:cNvSpPr/>
          <p:nvPr/>
        </p:nvSpPr>
        <p:spPr>
          <a:xfrm>
            <a:off x="4828032" y="1371600"/>
            <a:ext cx="3886200" cy="274320"/>
          </a:xfrm>
          <a:prstGeom prst="rect">
            <a:avLst/>
          </a:prstGeom>
          <a:noFill/>
          <a:ln/>
        </p:spPr>
        <p:txBody>
          <a:bodyPr wrap="square" lIns="0" tIns="0" rIns="0" bIns="0" rtlCol="0" anchor="ctr"/>
          <a:lstStyle/>
          <a:p>
            <a:r>
              <a:rPr lang="en-US" sz="1200" b="1">
                <a:solidFill>
                  <a:srgbClr val="0D1B2A"/>
                </a:solidFill>
                <a:latin typeface="Trebuchet MS"/>
                <a:ea typeface="Trebuchet MS" pitchFamily="34" charset="-122"/>
                <a:cs typeface="Trebuchet MS" pitchFamily="34" charset="-120"/>
              </a:rPr>
              <a:t>CNN vs MLP: +0.7572 F1</a:t>
            </a:r>
            <a:endParaRPr lang="en-US" sz="1200">
              <a:latin typeface="Trebuchet MS"/>
            </a:endParaRPr>
          </a:p>
        </p:txBody>
      </p:sp>
      <p:sp>
        <p:nvSpPr>
          <p:cNvPr id="25" name="Text 23"/>
          <p:cNvSpPr/>
          <p:nvPr/>
        </p:nvSpPr>
        <p:spPr>
          <a:xfrm>
            <a:off x="4828032" y="1682496"/>
            <a:ext cx="3886200" cy="640080"/>
          </a:xfrm>
          <a:prstGeom prst="rect">
            <a:avLst/>
          </a:prstGeom>
          <a:noFill/>
          <a:ln/>
        </p:spPr>
        <p:txBody>
          <a:bodyPr wrap="square" lIns="0" tIns="0" rIns="0" bIns="0" rtlCol="0" anchor="ctr"/>
          <a:lstStyle/>
          <a:p>
            <a:r>
              <a:rPr lang="en-US" sz="1100" dirty="0">
                <a:solidFill>
                  <a:srgbClr val="3D5A73"/>
                </a:solidFill>
                <a:latin typeface="Calibri"/>
                <a:ea typeface="Calibri"/>
                <a:cs typeface="Calibri"/>
              </a:rPr>
              <a:t>The same </a:t>
            </a:r>
            <a:r>
              <a:rPr lang="en-US" sz="1100" dirty="0" err="1">
                <a:solidFill>
                  <a:srgbClr val="3D5A73"/>
                </a:solidFill>
                <a:latin typeface="Calibri"/>
                <a:ea typeface="Calibri"/>
                <a:cs typeface="Calibri"/>
              </a:rPr>
              <a:t>pokemon</a:t>
            </a:r>
            <a:r>
              <a:rPr lang="en-US" sz="1100" dirty="0">
                <a:solidFill>
                  <a:srgbClr val="3D5A73"/>
                </a:solidFill>
                <a:latin typeface="Calibri"/>
                <a:ea typeface="Calibri"/>
                <a:cs typeface="Calibri"/>
              </a:rPr>
              <a:t> appearing in different positions breaks the pixel vector. CNN  doesn't mind this.</a:t>
            </a:r>
          </a:p>
        </p:txBody>
      </p:sp>
      <p:sp>
        <p:nvSpPr>
          <p:cNvPr id="26" name="Shape 24"/>
          <p:cNvSpPr/>
          <p:nvPr/>
        </p:nvSpPr>
        <p:spPr>
          <a:xfrm>
            <a:off x="4681728" y="253288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7" name="Shape 25"/>
          <p:cNvSpPr/>
          <p:nvPr/>
        </p:nvSpPr>
        <p:spPr>
          <a:xfrm>
            <a:off x="4681728" y="2532888"/>
            <a:ext cx="73152" cy="1078992"/>
          </a:xfrm>
          <a:prstGeom prst="rect">
            <a:avLst/>
          </a:prstGeom>
          <a:solidFill>
            <a:srgbClr val="E97C35"/>
          </a:solidFill>
          <a:ln w="12700">
            <a:solidFill>
              <a:srgbClr val="E97C35"/>
            </a:solidFill>
            <a:prstDash val="solid"/>
          </a:ln>
        </p:spPr>
        <p:txBody>
          <a:bodyPr/>
          <a:lstStyle/>
          <a:p>
            <a:endParaRPr lang="pt-PT"/>
          </a:p>
        </p:txBody>
      </p:sp>
      <p:sp>
        <p:nvSpPr>
          <p:cNvPr id="28" name="Text 26"/>
          <p:cNvSpPr/>
          <p:nvPr/>
        </p:nvSpPr>
        <p:spPr>
          <a:xfrm>
            <a:off x="4828032" y="2606040"/>
            <a:ext cx="3886200" cy="274320"/>
          </a:xfrm>
          <a:prstGeom prst="rect">
            <a:avLst/>
          </a:prstGeom>
          <a:noFill/>
          <a:ln/>
        </p:spPr>
        <p:txBody>
          <a:bodyPr wrap="square" lIns="0" tIns="0" rIns="0" bIns="0" rtlCol="0" anchor="ctr"/>
          <a:lstStyle/>
          <a:p>
            <a:r>
              <a:rPr lang="en-US" sz="1200" b="1">
                <a:solidFill>
                  <a:srgbClr val="0D1B2A"/>
                </a:solidFill>
                <a:latin typeface="Trebuchet MS"/>
                <a:ea typeface="Trebuchet MS" pitchFamily="34" charset="-122"/>
                <a:cs typeface="Trebuchet MS" pitchFamily="34" charset="-120"/>
              </a:rPr>
              <a:t>CNN vs MLP: -96.7% Parameters</a:t>
            </a:r>
            <a:endParaRPr lang="en-US" sz="1200" b="1">
              <a:solidFill>
                <a:srgbClr val="0D1B2A"/>
              </a:solidFill>
              <a:latin typeface="Tw Cen MT"/>
            </a:endParaRPr>
          </a:p>
        </p:txBody>
      </p:sp>
      <p:sp>
        <p:nvSpPr>
          <p:cNvPr id="29" name="Text 27"/>
          <p:cNvSpPr/>
          <p:nvPr/>
        </p:nvSpPr>
        <p:spPr>
          <a:xfrm>
            <a:off x="4828032" y="2916936"/>
            <a:ext cx="3886200" cy="640080"/>
          </a:xfrm>
          <a:prstGeom prst="rect">
            <a:avLst/>
          </a:prstGeom>
          <a:noFill/>
          <a:ln/>
        </p:spPr>
        <p:txBody>
          <a:bodyPr wrap="square" lIns="0" tIns="0" rIns="0" bIns="0" rtlCol="0" anchor="ctr"/>
          <a:lstStyle/>
          <a:p>
            <a:r>
              <a:rPr lang="en-US" sz="1100" dirty="0">
                <a:solidFill>
                  <a:srgbClr val="3D5A73"/>
                </a:solidFill>
                <a:latin typeface="Calibri"/>
                <a:ea typeface="Calibri"/>
                <a:cs typeface="Calibri"/>
              </a:rPr>
              <a:t>The CNN we analyzed has around 200 000 parameters, while the best MLP model has more than 6 million. With a 4.26/1 feature ratio, the MLP is </a:t>
            </a:r>
            <a:r>
              <a:rPr lang="en-US" sz="1100">
                <a:solidFill>
                  <a:srgbClr val="3D5A73"/>
                </a:solidFill>
                <a:latin typeface="Calibri"/>
                <a:ea typeface="Calibri"/>
                <a:cs typeface="Calibri"/>
              </a:rPr>
              <a:t>memorizing noise rather than learning patterns</a:t>
            </a:r>
            <a:endParaRPr lang="en-US" sz="1100" dirty="0">
              <a:solidFill>
                <a:srgbClr val="3D5A73"/>
              </a:solidFill>
              <a:latin typeface="Calibri"/>
              <a:ea typeface="Calibri"/>
              <a:cs typeface="Calibri"/>
            </a:endParaRPr>
          </a:p>
        </p:txBody>
      </p:sp>
      <p:sp>
        <p:nvSpPr>
          <p:cNvPr id="30" name="Shape 28"/>
          <p:cNvSpPr/>
          <p:nvPr/>
        </p:nvSpPr>
        <p:spPr>
          <a:xfrm>
            <a:off x="4681728" y="376732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31" name="Shape 29"/>
          <p:cNvSpPr/>
          <p:nvPr/>
        </p:nvSpPr>
        <p:spPr>
          <a:xfrm>
            <a:off x="4681728" y="3767328"/>
            <a:ext cx="73152" cy="1078992"/>
          </a:xfrm>
          <a:prstGeom prst="rect">
            <a:avLst/>
          </a:prstGeom>
          <a:solidFill>
            <a:srgbClr val="3D5A73"/>
          </a:solidFill>
          <a:ln w="12700">
            <a:solidFill>
              <a:srgbClr val="3D5A73"/>
            </a:solidFill>
            <a:prstDash val="solid"/>
          </a:ln>
        </p:spPr>
        <p:txBody>
          <a:bodyPr/>
          <a:lstStyle/>
          <a:p>
            <a:endParaRPr lang="pt-PT"/>
          </a:p>
        </p:txBody>
      </p:sp>
      <p:sp>
        <p:nvSpPr>
          <p:cNvPr id="32" name="Text 30"/>
          <p:cNvSpPr/>
          <p:nvPr/>
        </p:nvSpPr>
        <p:spPr>
          <a:xfrm>
            <a:off x="4828032" y="3840480"/>
            <a:ext cx="3886200" cy="274320"/>
          </a:xfrm>
          <a:prstGeom prst="rect">
            <a:avLst/>
          </a:prstGeom>
          <a:noFill/>
          <a:ln/>
        </p:spPr>
        <p:txBody>
          <a:bodyPr wrap="square" lIns="0" tIns="0" rIns="0" bIns="0" rtlCol="0" anchor="ctr"/>
          <a:lstStyle/>
          <a:p>
            <a:r>
              <a:rPr lang="en-US" sz="1200" b="1">
                <a:solidFill>
                  <a:srgbClr val="0D1B2A"/>
                </a:solidFill>
                <a:latin typeface="Trebuchet MS"/>
              </a:rPr>
              <a:t>CNN Grayscale: -4.81% F1</a:t>
            </a:r>
            <a:endParaRPr lang="en-US"/>
          </a:p>
        </p:txBody>
      </p:sp>
      <p:sp>
        <p:nvSpPr>
          <p:cNvPr id="33" name="Text 31"/>
          <p:cNvSpPr/>
          <p:nvPr/>
        </p:nvSpPr>
        <p:spPr>
          <a:xfrm>
            <a:off x="4828032" y="4151376"/>
            <a:ext cx="3886200" cy="640080"/>
          </a:xfrm>
          <a:prstGeom prst="rect">
            <a:avLst/>
          </a:prstGeom>
          <a:noFill/>
          <a:ln/>
        </p:spPr>
        <p:txBody>
          <a:bodyPr wrap="square" lIns="0" tIns="0" rIns="0" bIns="0" rtlCol="0" anchor="ctr"/>
          <a:lstStyle/>
          <a:p>
            <a:r>
              <a:rPr lang="en-US" sz="1100" dirty="0">
                <a:solidFill>
                  <a:srgbClr val="3D5A73"/>
                </a:solidFill>
                <a:latin typeface="Calibri"/>
                <a:ea typeface="Calibri"/>
                <a:cs typeface="Calibri"/>
              </a:rPr>
              <a:t>The analyzed model has a 4.81% performance decrease (0.9519 F1) when trained with grayscale data, as opposed to RGB. While the performance is worse, it still is much better than the best MLP model (0.2428 F1). The CNN learns the </a:t>
            </a:r>
            <a:r>
              <a:rPr lang="en-US" sz="1100" dirty="0" err="1">
                <a:solidFill>
                  <a:srgbClr val="3D5A73"/>
                </a:solidFill>
                <a:latin typeface="Calibri"/>
                <a:ea typeface="Calibri"/>
                <a:cs typeface="Calibri"/>
              </a:rPr>
              <a:t>pokemon</a:t>
            </a:r>
            <a:r>
              <a:rPr lang="en-US" sz="1100" dirty="0">
                <a:solidFill>
                  <a:srgbClr val="3D5A73"/>
                </a:solidFill>
                <a:latin typeface="Calibri"/>
                <a:ea typeface="Calibri"/>
                <a:cs typeface="Calibri"/>
              </a:rPr>
              <a:t> shapes correctly.</a:t>
            </a:r>
          </a:p>
        </p:txBody>
      </p:sp>
      <p:sp>
        <p:nvSpPr>
          <p:cNvPr id="34" name="Shape 2">
            <a:extLst>
              <a:ext uri="{FF2B5EF4-FFF2-40B4-BE49-F238E27FC236}">
                <a16:creationId xmlns:a16="http://schemas.microsoft.com/office/drawing/2014/main" id="{165FD74B-79DA-23ED-55E8-07094F8039D1}"/>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Perf Eval</a:t>
            </a:r>
            <a:endParaRPr lang="pt-PT" b="1" dirty="0">
              <a:solidFill>
                <a:schemeClr val="bg1"/>
              </a:solidFill>
            </a:endParaRPr>
          </a:p>
        </p:txBody>
      </p:sp>
      <p:sp>
        <p:nvSpPr>
          <p:cNvPr id="35" name="Rectangle: Rounded Corners 34">
            <a:extLst>
              <a:ext uri="{FF2B5EF4-FFF2-40B4-BE49-F238E27FC236}">
                <a16:creationId xmlns:a16="http://schemas.microsoft.com/office/drawing/2014/main" id="{41064285-E4DC-E9BB-6886-354EDD050043}"/>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n-US" sz="2800" b="1"/>
              <a:t>3</a:t>
            </a:r>
            <a:endParaRPr lang="en-US" sz="28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Shape 1"/>
          <p:cNvSpPr/>
          <p:nvPr/>
        </p:nvSpPr>
        <p:spPr>
          <a:xfrm>
            <a:off x="6400800" y="-731520"/>
            <a:ext cx="4114800" cy="4114800"/>
          </a:xfrm>
          <a:prstGeom prst="ellipse">
            <a:avLst/>
          </a:prstGeom>
          <a:solidFill>
            <a:srgbClr val="1C3A52">
              <a:alpha val="60000"/>
            </a:srgbClr>
          </a:solidFill>
          <a:ln w="12700">
            <a:solidFill>
              <a:srgbClr val="1C3A52"/>
            </a:solidFill>
            <a:prstDash val="solid"/>
          </a:ln>
        </p:spPr>
        <p:txBody>
          <a:bodyPr/>
          <a:lstStyle/>
          <a:p>
            <a:endParaRPr lang="pt-PT"/>
          </a:p>
        </p:txBody>
      </p:sp>
      <p:sp>
        <p:nvSpPr>
          <p:cNvPr id="4" name="Shape 2"/>
          <p:cNvSpPr/>
          <p:nvPr/>
        </p:nvSpPr>
        <p:spPr>
          <a:xfrm>
            <a:off x="7498080" y="2103120"/>
            <a:ext cx="2560320" cy="2560320"/>
          </a:xfrm>
          <a:prstGeom prst="ellipse">
            <a:avLst/>
          </a:prstGeom>
          <a:solidFill>
            <a:srgbClr val="00A896">
              <a:alpha val="42000"/>
            </a:srgbClr>
          </a:solidFill>
          <a:ln w="12700">
            <a:solidFill>
              <a:srgbClr val="00A896"/>
            </a:solidFill>
            <a:prstDash val="solid"/>
          </a:ln>
        </p:spPr>
        <p:txBody>
          <a:bodyPr/>
          <a:lstStyle/>
          <a:p>
            <a:endParaRPr lang="pt-PT"/>
          </a:p>
        </p:txBody>
      </p:sp>
      <p:sp>
        <p:nvSpPr>
          <p:cNvPr id="5" name="Text 3"/>
          <p:cNvSpPr/>
          <p:nvPr/>
        </p:nvSpPr>
        <p:spPr>
          <a:xfrm>
            <a:off x="457200" y="109728"/>
            <a:ext cx="68580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Conclusions &amp; What's Next</a:t>
            </a:r>
            <a:endParaRPr lang="en-US" sz="2200" dirty="0"/>
          </a:p>
        </p:txBody>
      </p:sp>
      <p:sp>
        <p:nvSpPr>
          <p:cNvPr id="6" name="Shape 4"/>
          <p:cNvSpPr/>
          <p:nvPr/>
        </p:nvSpPr>
        <p:spPr>
          <a:xfrm>
            <a:off x="347472" y="80467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804672"/>
            <a:ext cx="73152" cy="713232"/>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493776" y="859536"/>
            <a:ext cx="5715000" cy="256032"/>
          </a:xfrm>
          <a:prstGeom prst="rect">
            <a:avLst/>
          </a:prstGeom>
          <a:noFill/>
          <a:ln/>
        </p:spPr>
        <p:txBody>
          <a:bodyPr wrap="square" lIns="0" tIns="0" rIns="0" bIns="0" rtlCol="0" anchor="ctr"/>
          <a:lstStyle/>
          <a:p>
            <a:r>
              <a:rPr lang="en-US" sz="1100" b="1" dirty="0">
                <a:solidFill>
                  <a:srgbClr val="FFFFFF"/>
                </a:solidFill>
                <a:latin typeface="Trebuchet MS"/>
                <a:ea typeface="Trebuchet MS" pitchFamily="34" charset="-122"/>
                <a:cs typeface="Trebuchet MS" pitchFamily="34" charset="-120"/>
              </a:rPr>
              <a:t>Best CNN result: 1.0000 </a:t>
            </a:r>
            <a:r>
              <a:rPr lang="en-US" sz="1100" b="1" dirty="0" err="1">
                <a:solidFill>
                  <a:srgbClr val="FFFFFF"/>
                </a:solidFill>
                <a:latin typeface="Trebuchet MS"/>
                <a:ea typeface="Trebuchet MS" pitchFamily="34" charset="-122"/>
                <a:cs typeface="Trebuchet MS" pitchFamily="34" charset="-120"/>
              </a:rPr>
              <a:t>val</a:t>
            </a:r>
            <a:r>
              <a:rPr lang="en-US" sz="1100" b="1" dirty="0">
                <a:solidFill>
                  <a:srgbClr val="FFFFFF"/>
                </a:solidFill>
                <a:latin typeface="Trebuchet MS"/>
                <a:ea typeface="Trebuchet MS" pitchFamily="34" charset="-122"/>
                <a:cs typeface="Trebuchet MS" pitchFamily="34" charset="-120"/>
              </a:rPr>
              <a:t> F1 (I, J, K, L, M, I+K), 1.0000 Kaggle (M)</a:t>
            </a:r>
            <a:endParaRPr lang="en-US" sz="1100" dirty="0">
              <a:latin typeface="Trebuchet MS"/>
            </a:endParaRPr>
          </a:p>
        </p:txBody>
      </p:sp>
      <p:sp>
        <p:nvSpPr>
          <p:cNvPr id="9" name="Text 7"/>
          <p:cNvSpPr/>
          <p:nvPr/>
        </p:nvSpPr>
        <p:spPr>
          <a:xfrm>
            <a:off x="493776" y="1152144"/>
            <a:ext cx="5715000" cy="310896"/>
          </a:xfrm>
          <a:prstGeom prst="rect">
            <a:avLst/>
          </a:prstGeom>
          <a:noFill/>
          <a:ln/>
        </p:spPr>
        <p:txBody>
          <a:bodyPr wrap="square" lIns="0" tIns="0" rIns="0" bIns="0" rtlCol="0" anchor="ctr"/>
          <a:lstStyle/>
          <a:p>
            <a:r>
              <a:rPr lang="en-US" sz="1050">
                <a:solidFill>
                  <a:schemeClr val="accent2">
                    <a:lumMod val="40000"/>
                    <a:lumOff val="60000"/>
                  </a:schemeClr>
                </a:solidFill>
                <a:latin typeface="Calibri"/>
                <a:ea typeface="Calibri"/>
                <a:cs typeface="Calibri"/>
              </a:rPr>
              <a:t>4.12x above MLP best model. All 15 solo + 2 ensemble experiments are above the best MLP.</a:t>
            </a:r>
          </a:p>
        </p:txBody>
      </p:sp>
      <p:sp>
        <p:nvSpPr>
          <p:cNvPr id="10" name="Shape 8"/>
          <p:cNvSpPr/>
          <p:nvPr/>
        </p:nvSpPr>
        <p:spPr>
          <a:xfrm>
            <a:off x="347472" y="162763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347472" y="1627632"/>
            <a:ext cx="73152" cy="713232"/>
          </a:xfrm>
          <a:prstGeom prst="rect">
            <a:avLst/>
          </a:prstGeom>
          <a:solidFill>
            <a:srgbClr val="02C39A"/>
          </a:solidFill>
          <a:ln w="12700">
            <a:solidFill>
              <a:srgbClr val="02C39A"/>
            </a:solidFill>
            <a:prstDash val="solid"/>
          </a:ln>
        </p:spPr>
        <p:txBody>
          <a:bodyPr/>
          <a:lstStyle/>
          <a:p>
            <a:endParaRPr lang="pt-PT"/>
          </a:p>
        </p:txBody>
      </p:sp>
      <p:sp>
        <p:nvSpPr>
          <p:cNvPr id="12" name="Text 10"/>
          <p:cNvSpPr/>
          <p:nvPr/>
        </p:nvSpPr>
        <p:spPr>
          <a:xfrm>
            <a:off x="493776" y="1682496"/>
            <a:ext cx="5715000" cy="256032"/>
          </a:xfrm>
          <a:prstGeom prst="rect">
            <a:avLst/>
          </a:prstGeom>
          <a:noFill/>
          <a:ln/>
        </p:spPr>
        <p:txBody>
          <a:bodyPr wrap="square" lIns="0" tIns="0" rIns="0" bIns="0" rtlCol="0" anchor="ctr"/>
          <a:lstStyle/>
          <a:p>
            <a:r>
              <a:rPr lang="en-US" sz="1100" b="1" dirty="0">
                <a:solidFill>
                  <a:srgbClr val="FFFFFF"/>
                </a:solidFill>
                <a:latin typeface="Trebuchet MS"/>
                <a:ea typeface="Trebuchet MS" pitchFamily="34" charset="-122"/>
                <a:cs typeface="Trebuchet MS" pitchFamily="34" charset="-120"/>
              </a:rPr>
              <a:t>Dropout and </a:t>
            </a:r>
            <a:r>
              <a:rPr lang="en-US" sz="1100" b="1" dirty="0" err="1">
                <a:solidFill>
                  <a:srgbClr val="FFFFFF"/>
                </a:solidFill>
                <a:latin typeface="Trebuchet MS"/>
                <a:ea typeface="Trebuchet MS" pitchFamily="34" charset="-122"/>
                <a:cs typeface="Trebuchet MS" pitchFamily="34" charset="-120"/>
              </a:rPr>
              <a:t>WeightedRandomSampler</a:t>
            </a:r>
            <a:r>
              <a:rPr lang="en-US" sz="1100" b="1" dirty="0">
                <a:solidFill>
                  <a:srgbClr val="FFFFFF"/>
                </a:solidFill>
                <a:latin typeface="Trebuchet MS"/>
                <a:ea typeface="Trebuchet MS" pitchFamily="34" charset="-122"/>
                <a:cs typeface="Trebuchet MS" pitchFamily="34" charset="-120"/>
              </a:rPr>
              <a:t> = most impactful techniques</a:t>
            </a:r>
            <a:endParaRPr lang="en-US" sz="1100" dirty="0">
              <a:latin typeface="Trebuchet MS"/>
            </a:endParaRPr>
          </a:p>
        </p:txBody>
      </p:sp>
      <p:sp>
        <p:nvSpPr>
          <p:cNvPr id="13" name="Text 11"/>
          <p:cNvSpPr/>
          <p:nvPr/>
        </p:nvSpPr>
        <p:spPr>
          <a:xfrm>
            <a:off x="493776" y="1975104"/>
            <a:ext cx="5715000" cy="310896"/>
          </a:xfrm>
          <a:prstGeom prst="rect">
            <a:avLst/>
          </a:prstGeom>
          <a:noFill/>
          <a:ln/>
        </p:spPr>
        <p:txBody>
          <a:bodyPr wrap="square" lIns="0" tIns="0" rIns="0" bIns="0" rtlCol="0" anchor="ctr"/>
          <a:lstStyle/>
          <a:p>
            <a:r>
              <a:rPr lang="en-US" sz="1050">
                <a:solidFill>
                  <a:schemeClr val="accent2">
                    <a:lumMod val="40000"/>
                    <a:lumOff val="60000"/>
                  </a:schemeClr>
                </a:solidFill>
                <a:latin typeface="Calibri"/>
                <a:ea typeface="Calibri"/>
                <a:cs typeface="Calibri"/>
              </a:rPr>
              <a:t>Prevented overfit and handles class imbalance. All top solo experiments use them with dropout=0.3.</a:t>
            </a:r>
          </a:p>
        </p:txBody>
      </p:sp>
      <p:sp>
        <p:nvSpPr>
          <p:cNvPr id="14" name="Shape 12"/>
          <p:cNvSpPr/>
          <p:nvPr/>
        </p:nvSpPr>
        <p:spPr>
          <a:xfrm>
            <a:off x="347472" y="245059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sz="2000">
              <a:solidFill>
                <a:schemeClr val="accent2">
                  <a:lumMod val="40000"/>
                  <a:lumOff val="60000"/>
                </a:schemeClr>
              </a:solidFill>
            </a:endParaRPr>
          </a:p>
        </p:txBody>
      </p:sp>
      <p:sp>
        <p:nvSpPr>
          <p:cNvPr id="15" name="Shape 13"/>
          <p:cNvSpPr/>
          <p:nvPr/>
        </p:nvSpPr>
        <p:spPr>
          <a:xfrm>
            <a:off x="347472" y="2450592"/>
            <a:ext cx="73152" cy="713232"/>
          </a:xfrm>
          <a:prstGeom prst="rect">
            <a:avLst/>
          </a:prstGeom>
          <a:solidFill>
            <a:srgbClr val="E97C35"/>
          </a:solidFill>
          <a:ln w="12700">
            <a:solidFill>
              <a:srgbClr val="E97C35"/>
            </a:solidFill>
            <a:prstDash val="solid"/>
          </a:ln>
        </p:spPr>
        <p:txBody>
          <a:bodyPr/>
          <a:lstStyle/>
          <a:p>
            <a:endParaRPr lang="pt-PT"/>
          </a:p>
        </p:txBody>
      </p:sp>
      <p:sp>
        <p:nvSpPr>
          <p:cNvPr id="16" name="Text 14"/>
          <p:cNvSpPr/>
          <p:nvPr/>
        </p:nvSpPr>
        <p:spPr>
          <a:xfrm>
            <a:off x="493776" y="2505456"/>
            <a:ext cx="5715000" cy="256032"/>
          </a:xfrm>
          <a:prstGeom prst="rect">
            <a:avLst/>
          </a:prstGeom>
          <a:noFill/>
          <a:ln/>
        </p:spPr>
        <p:txBody>
          <a:bodyPr wrap="square" lIns="0" tIns="0" rIns="0" bIns="0" rtlCol="0" anchor="ctr"/>
          <a:lstStyle/>
          <a:p>
            <a:pPr marL="0" indent="0">
              <a:buNone/>
            </a:pPr>
            <a:r>
              <a:rPr lang="en-US" sz="1100" b="1">
                <a:solidFill>
                  <a:srgbClr val="FFFFFF"/>
                </a:solidFill>
                <a:latin typeface="Trebuchet MS"/>
                <a:ea typeface="Trebuchet MS" pitchFamily="34" charset="-122"/>
                <a:cs typeface="Trebuchet MS" pitchFamily="34" charset="-120"/>
              </a:rPr>
              <a:t>Augmentation hurt</a:t>
            </a:r>
            <a:endParaRPr lang="en-US" sz="1100">
              <a:latin typeface="Trebuchet MS"/>
            </a:endParaRPr>
          </a:p>
        </p:txBody>
      </p:sp>
      <p:sp>
        <p:nvSpPr>
          <p:cNvPr id="17" name="Text 15"/>
          <p:cNvSpPr/>
          <p:nvPr/>
        </p:nvSpPr>
        <p:spPr>
          <a:xfrm>
            <a:off x="493776" y="2798064"/>
            <a:ext cx="5715000" cy="310896"/>
          </a:xfrm>
          <a:prstGeom prst="rect">
            <a:avLst/>
          </a:prstGeom>
          <a:noFill/>
          <a:ln/>
        </p:spPr>
        <p:txBody>
          <a:bodyPr wrap="square" lIns="0" tIns="0" rIns="0" bIns="0" rtlCol="0" anchor="ctr"/>
          <a:lstStyle/>
          <a:p>
            <a:r>
              <a:rPr lang="en-US" sz="1050">
                <a:solidFill>
                  <a:schemeClr val="accent2">
                    <a:lumMod val="40000"/>
                    <a:lumOff val="60000"/>
                  </a:schemeClr>
                </a:solidFill>
                <a:latin typeface="Calibri"/>
                <a:ea typeface="Calibri"/>
                <a:cs typeface="Calibri"/>
              </a:rPr>
              <a:t>Confirmed empirically: performance decreases while using due to sprites always being presented the same way</a:t>
            </a:r>
          </a:p>
        </p:txBody>
      </p:sp>
      <p:sp>
        <p:nvSpPr>
          <p:cNvPr id="18" name="Shape 16"/>
          <p:cNvSpPr/>
          <p:nvPr/>
        </p:nvSpPr>
        <p:spPr>
          <a:xfrm>
            <a:off x="347472" y="327355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347472" y="3273552"/>
            <a:ext cx="73152" cy="713232"/>
          </a:xfrm>
          <a:prstGeom prst="rect">
            <a:avLst/>
          </a:prstGeom>
          <a:solidFill>
            <a:srgbClr val="00A896"/>
          </a:solidFill>
          <a:ln w="12700">
            <a:solidFill>
              <a:srgbClr val="00A896"/>
            </a:solidFill>
            <a:prstDash val="solid"/>
          </a:ln>
        </p:spPr>
        <p:txBody>
          <a:bodyPr/>
          <a:lstStyle/>
          <a:p>
            <a:endParaRPr lang="pt-PT"/>
          </a:p>
        </p:txBody>
      </p:sp>
      <p:sp>
        <p:nvSpPr>
          <p:cNvPr id="20" name="Text 18"/>
          <p:cNvSpPr/>
          <p:nvPr/>
        </p:nvSpPr>
        <p:spPr>
          <a:xfrm>
            <a:off x="493776" y="3328416"/>
            <a:ext cx="5715000" cy="256032"/>
          </a:xfrm>
          <a:prstGeom prst="rect">
            <a:avLst/>
          </a:prstGeom>
          <a:noFill/>
          <a:ln/>
        </p:spPr>
        <p:txBody>
          <a:bodyPr wrap="square" lIns="0" tIns="0" rIns="0" bIns="0" rtlCol="0" anchor="ctr"/>
          <a:lstStyle/>
          <a:p>
            <a:r>
              <a:rPr lang="en-US" sz="1100" b="1">
                <a:solidFill>
                  <a:srgbClr val="FFFFFF"/>
                </a:solidFill>
                <a:latin typeface="Trebuchet MS"/>
              </a:rPr>
              <a:t>CNNs are better than MLPs for this task; ceiling surpassed</a:t>
            </a:r>
            <a:endParaRPr lang="en-US" sz="1100" dirty="0"/>
          </a:p>
        </p:txBody>
      </p:sp>
      <p:sp>
        <p:nvSpPr>
          <p:cNvPr id="21" name="Text 19"/>
          <p:cNvSpPr/>
          <p:nvPr/>
        </p:nvSpPr>
        <p:spPr>
          <a:xfrm>
            <a:off x="493776" y="3621024"/>
            <a:ext cx="5715000" cy="310896"/>
          </a:xfrm>
          <a:prstGeom prst="rect">
            <a:avLst/>
          </a:prstGeom>
          <a:noFill/>
          <a:ln/>
        </p:spPr>
        <p:txBody>
          <a:bodyPr wrap="square" lIns="0" tIns="0" rIns="0" bIns="0" rtlCol="0" anchor="ctr"/>
          <a:lstStyle/>
          <a:p>
            <a:r>
              <a:rPr lang="en-US" sz="1050" dirty="0">
                <a:solidFill>
                  <a:schemeClr val="accent2">
                    <a:lumMod val="40000"/>
                    <a:lumOff val="60000"/>
                  </a:schemeClr>
                </a:solidFill>
                <a:latin typeface="Calibri"/>
                <a:ea typeface="Calibri"/>
                <a:cs typeface="Calibri"/>
              </a:rPr>
              <a:t>Feature-to-sample ratio 4.26:1 = no amount of tuning fixes MLP bad performance; CNN keeps spatial structure, and learns sprite shapes/details</a:t>
            </a:r>
          </a:p>
        </p:txBody>
      </p:sp>
      <p:sp>
        <p:nvSpPr>
          <p:cNvPr id="22" name="Shape 20"/>
          <p:cNvSpPr/>
          <p:nvPr/>
        </p:nvSpPr>
        <p:spPr>
          <a:xfrm>
            <a:off x="347472" y="409651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23" name="Shape 21"/>
          <p:cNvSpPr/>
          <p:nvPr/>
        </p:nvSpPr>
        <p:spPr>
          <a:xfrm>
            <a:off x="347472" y="4096512"/>
            <a:ext cx="73152" cy="713232"/>
          </a:xfrm>
          <a:prstGeom prst="rect">
            <a:avLst/>
          </a:prstGeom>
          <a:solidFill>
            <a:srgbClr val="27AE60"/>
          </a:solidFill>
          <a:ln w="12700">
            <a:solidFill>
              <a:srgbClr val="27AE60"/>
            </a:solidFill>
            <a:prstDash val="solid"/>
          </a:ln>
        </p:spPr>
        <p:txBody>
          <a:bodyPr/>
          <a:lstStyle/>
          <a:p>
            <a:endParaRPr lang="pt-PT"/>
          </a:p>
        </p:txBody>
      </p:sp>
      <p:sp>
        <p:nvSpPr>
          <p:cNvPr id="24" name="Text 22"/>
          <p:cNvSpPr/>
          <p:nvPr/>
        </p:nvSpPr>
        <p:spPr>
          <a:xfrm>
            <a:off x="493776" y="4151376"/>
            <a:ext cx="5715000" cy="256032"/>
          </a:xfrm>
          <a:prstGeom prst="rect">
            <a:avLst/>
          </a:prstGeom>
          <a:noFill/>
          <a:ln/>
        </p:spPr>
        <p:txBody>
          <a:bodyPr wrap="square" lIns="0" tIns="0" rIns="0" bIns="0" rtlCol="0" anchor="ctr"/>
          <a:lstStyle/>
          <a:p>
            <a:r>
              <a:rPr lang="en-US" sz="1100" b="1">
                <a:latin typeface="Trebuchet MS"/>
              </a:rPr>
              <a:t>No need for ensembles</a:t>
            </a:r>
            <a:endParaRPr lang="en-US" sz="1100" b="1" dirty="0">
              <a:latin typeface="Trebuchet MS"/>
            </a:endParaRPr>
          </a:p>
        </p:txBody>
      </p:sp>
      <p:sp>
        <p:nvSpPr>
          <p:cNvPr id="25" name="Text 23"/>
          <p:cNvSpPr/>
          <p:nvPr/>
        </p:nvSpPr>
        <p:spPr>
          <a:xfrm>
            <a:off x="493776" y="4443984"/>
            <a:ext cx="5715000" cy="310896"/>
          </a:xfrm>
          <a:prstGeom prst="rect">
            <a:avLst/>
          </a:prstGeom>
          <a:noFill/>
          <a:ln/>
        </p:spPr>
        <p:txBody>
          <a:bodyPr wrap="square" lIns="0" tIns="0" rIns="0" bIns="0" rtlCol="0" anchor="ctr"/>
          <a:lstStyle/>
          <a:p>
            <a:r>
              <a:rPr lang="en-US" sz="1050" dirty="0">
                <a:solidFill>
                  <a:schemeClr val="accent2">
                    <a:lumMod val="40000"/>
                    <a:lumOff val="60000"/>
                  </a:schemeClr>
                </a:solidFill>
                <a:latin typeface="Calibri"/>
                <a:ea typeface="Calibri"/>
                <a:cs typeface="Calibri"/>
              </a:rPr>
              <a:t>Ensembled experiments returned similar results; CNN solo is already good enough for this task</a:t>
            </a:r>
          </a:p>
        </p:txBody>
      </p:sp>
      <p:sp>
        <p:nvSpPr>
          <p:cNvPr id="26" name="Shape 24"/>
          <p:cNvSpPr/>
          <p:nvPr/>
        </p:nvSpPr>
        <p:spPr>
          <a:xfrm>
            <a:off x="6565392" y="804672"/>
            <a:ext cx="2331720" cy="3950208"/>
          </a:xfrm>
          <a:prstGeom prst="rect">
            <a:avLst/>
          </a:prstGeom>
          <a:solidFill>
            <a:srgbClr val="00A896"/>
          </a:solidFill>
          <a:ln w="12700">
            <a:solidFill>
              <a:srgbClr val="00A896"/>
            </a:solidFill>
            <a:prstDash val="solid"/>
          </a:ln>
          <a:effectLst>
            <a:outerShdw blurRad="101600" dist="38100" dir="8100000" algn="bl" rotWithShape="0">
              <a:srgbClr val="000000">
                <a:alpha val="10000"/>
              </a:srgbClr>
            </a:outerShdw>
          </a:effectLst>
        </p:spPr>
        <p:txBody>
          <a:bodyPr/>
          <a:lstStyle/>
          <a:p>
            <a:endParaRPr lang="pt-PT"/>
          </a:p>
        </p:txBody>
      </p:sp>
      <p:sp>
        <p:nvSpPr>
          <p:cNvPr id="27" name="Text 25"/>
          <p:cNvSpPr/>
          <p:nvPr/>
        </p:nvSpPr>
        <p:spPr>
          <a:xfrm>
            <a:off x="6565392" y="841248"/>
            <a:ext cx="2331720" cy="384048"/>
          </a:xfrm>
          <a:prstGeom prst="rect">
            <a:avLst/>
          </a:prstGeom>
          <a:noFill/>
          <a:ln/>
        </p:spPr>
        <p:txBody>
          <a:bodyPr wrap="square" lIns="0" tIns="0" rIns="0" bIns="0" rtlCol="0" anchor="ctr"/>
          <a:lstStyle/>
          <a:p>
            <a:pPr marL="0" indent="0" algn="ctr">
              <a:buNone/>
            </a:pPr>
            <a:r>
              <a:rPr lang="en-US" sz="1500" b="1">
                <a:solidFill>
                  <a:srgbClr val="FFFFFF"/>
                </a:solidFill>
                <a:latin typeface="Trebuchet MS"/>
                <a:ea typeface="Trebuchet MS" pitchFamily="34" charset="-122"/>
                <a:cs typeface="Trebuchet MS" pitchFamily="34" charset="-120"/>
              </a:rPr>
              <a:t>Next: Task 3</a:t>
            </a:r>
            <a:endParaRPr lang="en-US" sz="1500" dirty="0"/>
          </a:p>
        </p:txBody>
      </p:sp>
      <p:sp>
        <p:nvSpPr>
          <p:cNvPr id="28" name="Text 26"/>
          <p:cNvSpPr/>
          <p:nvPr/>
        </p:nvSpPr>
        <p:spPr>
          <a:xfrm>
            <a:off x="6565392" y="1298448"/>
            <a:ext cx="2331720" cy="914400"/>
          </a:xfrm>
          <a:prstGeom prst="rect">
            <a:avLst/>
          </a:prstGeom>
          <a:noFill/>
          <a:ln/>
        </p:spPr>
        <p:txBody>
          <a:bodyPr wrap="square" lIns="91440" tIns="45720" rIns="91440" bIns="45720" rtlCol="0" anchor="ctr"/>
          <a:lstStyle/>
          <a:p>
            <a:pPr algn="ctr"/>
            <a:r>
              <a:rPr lang="en-US" sz="2000" b="1">
                <a:latin typeface="Trebuchet MS"/>
              </a:rPr>
              <a:t>Transfer Learning and Fine-Tuning</a:t>
            </a:r>
            <a:endParaRPr lang="en-US" sz="2000" b="1" dirty="0">
              <a:latin typeface="Trebuchet MS"/>
            </a:endParaRPr>
          </a:p>
          <a:p>
            <a:pPr marL="0" indent="0" algn="ctr">
              <a:buNone/>
            </a:pPr>
            <a:endParaRPr lang="en-US" sz="1200" dirty="0">
              <a:latin typeface="Trebuchet MS"/>
            </a:endParaRPr>
          </a:p>
        </p:txBody>
      </p:sp>
      <p:sp>
        <p:nvSpPr>
          <p:cNvPr id="29" name="Text 27"/>
          <p:cNvSpPr/>
          <p:nvPr/>
        </p:nvSpPr>
        <p:spPr>
          <a:xfrm>
            <a:off x="6629400" y="2304288"/>
            <a:ext cx="2212848" cy="2286000"/>
          </a:xfrm>
          <a:prstGeom prst="rect">
            <a:avLst/>
          </a:prstGeom>
          <a:noFill/>
          <a:ln/>
        </p:spPr>
        <p:txBody>
          <a:bodyPr wrap="square" lIns="91440" tIns="45720" rIns="91440" bIns="45720" rtlCol="0" anchor="ctr"/>
          <a:lstStyle/>
          <a:p>
            <a:pPr marL="342900" indent="-342900">
              <a:buSzPct val="100000"/>
              <a:buChar char="•"/>
            </a:pPr>
            <a:r>
              <a:rPr lang="en-US" sz="1000">
                <a:solidFill>
                  <a:srgbClr val="FFFFFF"/>
                </a:solidFill>
                <a:latin typeface="Calibri"/>
                <a:ea typeface="Calibri"/>
                <a:cs typeface="Calibri"/>
              </a:rPr>
              <a:t>Can we use a pre-trained model to our task?</a:t>
            </a:r>
            <a:endParaRPr lang="en-US" sz="1000">
              <a:latin typeface="Calibri"/>
              <a:ea typeface="Calibri"/>
              <a:cs typeface="Calibri"/>
            </a:endParaRPr>
          </a:p>
          <a:p>
            <a:pPr marL="342900" indent="-342900">
              <a:buSzPct val="100000"/>
              <a:buChar char="•"/>
            </a:pPr>
            <a:r>
              <a:rPr lang="en-US" sz="1000">
                <a:solidFill>
                  <a:srgbClr val="FFFFFF"/>
                </a:solidFill>
                <a:latin typeface="Calibri"/>
                <a:ea typeface="Calibri"/>
                <a:cs typeface="Calibri"/>
              </a:rPr>
              <a:t>How deep will we need to go to replace the weights? Classifier head only, or further (with minimal learning rates)</a:t>
            </a:r>
            <a:r>
              <a:rPr lang="en-US" sz="1000" dirty="0">
                <a:solidFill>
                  <a:srgbClr val="FFFFFF"/>
                </a:solidFill>
                <a:latin typeface="Calibri"/>
                <a:ea typeface="Calibri"/>
                <a:cs typeface="Calibri"/>
              </a:rPr>
              <a:t>?</a:t>
            </a:r>
            <a:endParaRPr lang="en-US" sz="1000">
              <a:latin typeface="Calibri"/>
              <a:ea typeface="Calibri"/>
              <a:cs typeface="Calibri"/>
            </a:endParaRPr>
          </a:p>
          <a:p>
            <a:pPr marL="342900" indent="-342900">
              <a:buSzPct val="100000"/>
              <a:buChar char="•"/>
            </a:pPr>
            <a:r>
              <a:rPr lang="en-US" sz="1000">
                <a:solidFill>
                  <a:srgbClr val="FFFFFF"/>
                </a:solidFill>
                <a:latin typeface="Calibri"/>
                <a:ea typeface="Calibri"/>
                <a:cs typeface="Calibri"/>
              </a:rPr>
              <a:t>Will augmentation still hurt the models in this new dataset?</a:t>
            </a:r>
            <a:endParaRPr lang="en-US" sz="1000">
              <a:latin typeface="Calibri"/>
              <a:ea typeface="Calibri"/>
              <a:cs typeface="Calibri"/>
            </a:endParaRPr>
          </a:p>
          <a:p>
            <a:pPr marL="342900" indent="-342900">
              <a:buSzPct val="100000"/>
              <a:buChar char="•"/>
            </a:pPr>
            <a:r>
              <a:rPr lang="en-US" sz="1000">
                <a:solidFill>
                  <a:srgbClr val="FFFFFF"/>
                </a:solidFill>
                <a:latin typeface="Calibri"/>
                <a:ea typeface="Calibri"/>
                <a:cs typeface="Calibri"/>
              </a:rPr>
              <a:t>Target F1: 0.60 to 0.70</a:t>
            </a:r>
            <a:endParaRPr lang="en-US" sz="1000">
              <a:latin typeface="Calibri"/>
              <a:ea typeface="Calibri"/>
              <a:cs typeface="Calibri"/>
            </a:endParaRPr>
          </a:p>
        </p:txBody>
      </p:sp>
      <p:sp>
        <p:nvSpPr>
          <p:cNvPr id="31" name="Shape 29"/>
          <p:cNvSpPr/>
          <p:nvPr/>
        </p:nvSpPr>
        <p:spPr>
          <a:xfrm>
            <a:off x="0" y="4846320"/>
            <a:ext cx="9144000" cy="301752"/>
          </a:xfrm>
          <a:prstGeom prst="rect">
            <a:avLst/>
          </a:prstGeom>
          <a:solidFill>
            <a:srgbClr val="00A896">
              <a:alpha val="80000"/>
            </a:srgbClr>
          </a:solidFill>
          <a:ln w="12700">
            <a:solidFill>
              <a:srgbClr val="00A896"/>
            </a:solidFill>
            <a:prstDash val="solid"/>
          </a:ln>
        </p:spPr>
        <p:txBody>
          <a:bodyPr/>
          <a:lstStyle/>
          <a:p>
            <a:endParaRPr lang="pt-PT"/>
          </a:p>
        </p:txBody>
      </p:sp>
      <p:sp>
        <p:nvSpPr>
          <p:cNvPr id="32" name="Text 30"/>
          <p:cNvSpPr/>
          <p:nvPr/>
        </p:nvSpPr>
        <p:spPr>
          <a:xfrm>
            <a:off x="274320" y="4855464"/>
            <a:ext cx="8595360" cy="283464"/>
          </a:xfrm>
          <a:prstGeom prst="rect">
            <a:avLst/>
          </a:prstGeom>
          <a:noFill/>
          <a:ln/>
        </p:spPr>
        <p:txBody>
          <a:bodyPr wrap="square" lIns="0" tIns="0" rIns="0" bIns="0" rtlCol="0" anchor="ctr"/>
          <a:lstStyle/>
          <a:p>
            <a:pPr marL="0" indent="0" algn="ctr">
              <a:buNone/>
            </a:pPr>
            <a:r>
              <a:rPr lang="en-US" sz="1000">
                <a:solidFill>
                  <a:srgbClr val="FFFFFF"/>
                </a:solidFill>
                <a:latin typeface="Calibri"/>
                <a:ea typeface="Calibri"/>
                <a:cs typeface="Calibri"/>
              </a:rPr>
              <a:t>Task 2 complete  ·  Kaggle score: 1.0000 · 17 experiments  ·  ~37 min on T4</a:t>
            </a:r>
            <a:endParaRPr lang="en-US" sz="1000">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0555-57EC-4E35-5048-823A2DEFE6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B102AD-A2D7-3936-D7A6-04426D3643AD}"/>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BB423936-36F1-D113-3DE6-5ABBB1D2EE5C}"/>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sp>
        <p:nvSpPr>
          <p:cNvPr id="5" name="Text 3">
            <a:extLst>
              <a:ext uri="{FF2B5EF4-FFF2-40B4-BE49-F238E27FC236}">
                <a16:creationId xmlns:a16="http://schemas.microsoft.com/office/drawing/2014/main" id="{97924F36-4650-876C-64EC-5FD675153D5D}"/>
              </a:ext>
            </a:extLst>
          </p:cNvPr>
          <p:cNvSpPr/>
          <p:nvPr/>
        </p:nvSpPr>
        <p:spPr>
          <a:xfrm>
            <a:off x="347472" y="502920"/>
            <a:ext cx="6858000" cy="292608"/>
          </a:xfrm>
          <a:prstGeom prst="rect">
            <a:avLst/>
          </a:prstGeom>
          <a:noFill/>
          <a:ln/>
        </p:spPr>
        <p:txBody>
          <a:bodyPr wrap="square" lIns="0" tIns="0" rIns="0" bIns="0" rtlCol="0" anchor="ctr"/>
          <a:lstStyle/>
          <a:p>
            <a:pPr marL="0" indent="0">
              <a:buNone/>
            </a:pPr>
            <a:r>
              <a:rPr lang="en-US" sz="1000" b="1" kern="0" spc="200">
                <a:solidFill>
                  <a:srgbClr val="02C39A"/>
                </a:solidFill>
                <a:latin typeface="Calibri"/>
                <a:ea typeface="Calibri"/>
                <a:cs typeface="Calibri"/>
              </a:rPr>
              <a:t>DEEP LEARNING  ·  ASSIGNMENT 1  ·  TASK 2</a:t>
            </a:r>
            <a:endParaRPr lang="en-US" sz="1000" dirty="0"/>
          </a:p>
        </p:txBody>
      </p:sp>
      <p:sp>
        <p:nvSpPr>
          <p:cNvPr id="6" name="Text 4">
            <a:extLst>
              <a:ext uri="{FF2B5EF4-FFF2-40B4-BE49-F238E27FC236}">
                <a16:creationId xmlns:a16="http://schemas.microsoft.com/office/drawing/2014/main" id="{E29C7CFC-1327-6781-BDBC-2455C958B608}"/>
              </a:ext>
            </a:extLst>
          </p:cNvPr>
          <p:cNvSpPr/>
          <p:nvPr/>
        </p:nvSpPr>
        <p:spPr>
          <a:xfrm>
            <a:off x="347472" y="868680"/>
            <a:ext cx="6583680" cy="7772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Pokémon Type Classification</a:t>
            </a:r>
            <a:endParaRPr lang="en-US" sz="3400" dirty="0"/>
          </a:p>
        </p:txBody>
      </p:sp>
      <p:sp>
        <p:nvSpPr>
          <p:cNvPr id="7" name="Text 5">
            <a:extLst>
              <a:ext uri="{FF2B5EF4-FFF2-40B4-BE49-F238E27FC236}">
                <a16:creationId xmlns:a16="http://schemas.microsoft.com/office/drawing/2014/main" id="{947BC29D-0119-742E-B479-E6D99C580F5E}"/>
              </a:ext>
            </a:extLst>
          </p:cNvPr>
          <p:cNvSpPr/>
          <p:nvPr/>
        </p:nvSpPr>
        <p:spPr>
          <a:xfrm>
            <a:off x="347472" y="1719072"/>
            <a:ext cx="6583680" cy="438912"/>
          </a:xfrm>
          <a:prstGeom prst="rect">
            <a:avLst/>
          </a:prstGeom>
          <a:noFill/>
          <a:ln/>
        </p:spPr>
        <p:txBody>
          <a:bodyPr wrap="square" lIns="0" tIns="0" rIns="0" bIns="0" rtlCol="0" anchor="ctr"/>
          <a:lstStyle/>
          <a:p>
            <a:r>
              <a:rPr lang="en-US" sz="1600">
                <a:solidFill>
                  <a:srgbClr val="7AADCC"/>
                </a:solidFill>
                <a:latin typeface="Calibri"/>
                <a:ea typeface="Calibri"/>
                <a:cs typeface="Calibri"/>
              </a:rPr>
              <a:t>TASK 2 - Convolutional Neural Network</a:t>
            </a:r>
            <a:endParaRPr lang="en-US" sz="1600">
              <a:latin typeface="Calibri"/>
              <a:ea typeface="Calibri"/>
              <a:cs typeface="Calibri"/>
            </a:endParaRPr>
          </a:p>
        </p:txBody>
      </p:sp>
      <p:sp>
        <p:nvSpPr>
          <p:cNvPr id="8" name="Shape 6">
            <a:extLst>
              <a:ext uri="{FF2B5EF4-FFF2-40B4-BE49-F238E27FC236}">
                <a16:creationId xmlns:a16="http://schemas.microsoft.com/office/drawing/2014/main" id="{AC89F985-F493-5CA9-B6A5-08BA6D32CAA8}"/>
              </a:ext>
            </a:extLst>
          </p:cNvPr>
          <p:cNvSpPr/>
          <p:nvPr/>
        </p:nvSpPr>
        <p:spPr>
          <a:xfrm>
            <a:off x="347472" y="2267712"/>
            <a:ext cx="3474720" cy="36576"/>
          </a:xfrm>
          <a:prstGeom prst="rect">
            <a:avLst/>
          </a:prstGeom>
          <a:solidFill>
            <a:srgbClr val="00A896"/>
          </a:solidFill>
          <a:ln w="12700">
            <a:solidFill>
              <a:srgbClr val="00A896"/>
            </a:solidFill>
            <a:prstDash val="solid"/>
          </a:ln>
        </p:spPr>
        <p:txBody>
          <a:bodyPr/>
          <a:lstStyle/>
          <a:p>
            <a:endParaRPr lang="pt-PT"/>
          </a:p>
        </p:txBody>
      </p:sp>
      <p:sp>
        <p:nvSpPr>
          <p:cNvPr id="9" name="Text 7">
            <a:extLst>
              <a:ext uri="{FF2B5EF4-FFF2-40B4-BE49-F238E27FC236}">
                <a16:creationId xmlns:a16="http://schemas.microsoft.com/office/drawing/2014/main" id="{F5F674C6-1E3F-AC7B-2B6A-E96DFE19657C}"/>
              </a:ext>
            </a:extLst>
          </p:cNvPr>
          <p:cNvSpPr/>
          <p:nvPr/>
        </p:nvSpPr>
        <p:spPr>
          <a:xfrm>
            <a:off x="347472" y="2377440"/>
            <a:ext cx="6858000" cy="914400"/>
          </a:xfrm>
          <a:prstGeom prst="rect">
            <a:avLst/>
          </a:prstGeom>
          <a:noFill/>
          <a:ln/>
        </p:spPr>
        <p:txBody>
          <a:bodyPr wrap="square" rtlCol="0" anchor="ctr"/>
          <a:lstStyle/>
          <a:p>
            <a:pPr marL="0" indent="0">
              <a:buNone/>
            </a:pPr>
            <a:r>
              <a:rPr lang="en-US" sz="1300" dirty="0">
                <a:solidFill>
                  <a:srgbClr val="AACDE0"/>
                </a:solidFill>
                <a:latin typeface="Calibri" pitchFamily="34" charset="0"/>
                <a:ea typeface="Calibri" pitchFamily="34" charset="-122"/>
                <a:cs typeface="Calibri" pitchFamily="34" charset="-120"/>
              </a:rPr>
              <a:t>70698 – Francisco Silva</a:t>
            </a:r>
          </a:p>
          <a:p>
            <a:r>
              <a:rPr lang="en-US" sz="1300" dirty="0">
                <a:solidFill>
                  <a:srgbClr val="AACDE0"/>
                </a:solidFill>
                <a:latin typeface="Calibri" pitchFamily="34" charset="0"/>
                <a:cs typeface="Calibri" pitchFamily="34" charset="-120"/>
              </a:rPr>
              <a:t>73208 </a:t>
            </a:r>
            <a:r>
              <a:rPr lang="en-US" sz="1300" dirty="0">
                <a:solidFill>
                  <a:srgbClr val="AACDE0"/>
                </a:solidFill>
                <a:latin typeface="Calibri" pitchFamily="34" charset="0"/>
                <a:ea typeface="Calibri" pitchFamily="34" charset="-122"/>
                <a:cs typeface="Calibri" pitchFamily="34" charset="-120"/>
              </a:rPr>
              <a:t>– Rúben Silva</a:t>
            </a:r>
            <a:endParaRPr lang="en-US" sz="1300" dirty="0"/>
          </a:p>
          <a:p>
            <a:pPr marL="0" indent="0">
              <a:buNone/>
            </a:pPr>
            <a:r>
              <a:rPr lang="en-US" sz="1300" dirty="0">
                <a:solidFill>
                  <a:srgbClr val="AACDE0"/>
                </a:solidFill>
                <a:latin typeface="Calibri" pitchFamily="34" charset="0"/>
                <a:ea typeface="Calibri" pitchFamily="34" charset="-122"/>
                <a:cs typeface="Calibri" pitchFamily="34" charset="-120"/>
              </a:rPr>
              <a:t>73554 – Miguel </a:t>
            </a:r>
            <a:r>
              <a:rPr lang="en-US" sz="1300" dirty="0" err="1">
                <a:solidFill>
                  <a:srgbClr val="AACDE0"/>
                </a:solidFill>
                <a:latin typeface="Calibri" pitchFamily="34" charset="0"/>
                <a:ea typeface="Calibri" pitchFamily="34" charset="-122"/>
                <a:cs typeface="Calibri" pitchFamily="34" charset="-120"/>
              </a:rPr>
              <a:t>Cangalhas</a:t>
            </a:r>
            <a:endParaRPr lang="en-US" sz="1300" dirty="0">
              <a:solidFill>
                <a:srgbClr val="AACDE0"/>
              </a:solidFill>
              <a:latin typeface="Calibri" pitchFamily="34" charset="0"/>
              <a:ea typeface="Calibri" pitchFamily="34" charset="-122"/>
              <a:cs typeface="Calibri" pitchFamily="34" charset="-120"/>
            </a:endParaRPr>
          </a:p>
        </p:txBody>
      </p:sp>
      <p:pic>
        <p:nvPicPr>
          <p:cNvPr id="1028" name="Picture 4" descr="NOVA FCT">
            <a:extLst>
              <a:ext uri="{FF2B5EF4-FFF2-40B4-BE49-F238E27FC236}">
                <a16:creationId xmlns:a16="http://schemas.microsoft.com/office/drawing/2014/main" id="{0676964B-354F-668D-B660-CAD8B1F02F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823F5CCF-ED72-A15A-EF86-1D993A0B121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6549E42C-BAD7-D06C-8CBF-7F1BA5902D18}"/>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Brick Wall Speech Bubble Thank You Design Presentation Template">
            <a:extLst>
              <a:ext uri="{FF2B5EF4-FFF2-40B4-BE49-F238E27FC236}">
                <a16:creationId xmlns:a16="http://schemas.microsoft.com/office/drawing/2014/main" id="{96078CA1-7000-0C4A-46C3-970B1FE9EFE5}"/>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10000" b="90000" l="10000" r="90000">
                        <a14:foregroundMark x1="21979" y1="30417" x2="29896" y2="35139"/>
                        <a14:foregroundMark x1="29896" y1="35139" x2="41146" y2="33056"/>
                        <a14:foregroundMark x1="41146" y1="33056" x2="56458" y2="33750"/>
                        <a14:foregroundMark x1="48125" y1="63194" x2="77500" y2="66667"/>
                        <a14:foregroundMark x1="77500" y1="66667" x2="79063" y2="66667"/>
                        <a14:foregroundMark x1="78229" y1="58472" x2="76979" y2="64861"/>
                      </a14:backgroundRemoval>
                    </a14:imgEffect>
                  </a14:imgLayer>
                </a14:imgProps>
              </a:ext>
              <a:ext uri="{28A0092B-C50C-407E-A947-70E740481C1C}">
                <a14:useLocalDpi xmlns:a14="http://schemas.microsoft.com/office/drawing/2010/main" val="0"/>
              </a:ext>
            </a:extLst>
          </a:blip>
          <a:srcRect/>
          <a:stretch>
            <a:fillRect/>
          </a:stretch>
        </p:blipFill>
        <p:spPr bwMode="auto">
          <a:xfrm>
            <a:off x="3923792" y="1164859"/>
            <a:ext cx="3460537" cy="2595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52703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527</TotalTime>
  <Words>3762</Words>
  <Application>Microsoft Office PowerPoint</Application>
  <PresentationFormat>Apresentação no Ecrã (16:9)</PresentationFormat>
  <Paragraphs>487</Paragraphs>
  <Slides>27</Slides>
  <Notes>12</Notes>
  <HiddenSlides>0</HiddenSlides>
  <MMClips>0</MMClips>
  <ScaleCrop>false</ScaleCrop>
  <HeadingPairs>
    <vt:vector size="6" baseType="variant">
      <vt:variant>
        <vt:lpstr>Tipos de letra usados</vt:lpstr>
      </vt:variant>
      <vt:variant>
        <vt:i4>5</vt:i4>
      </vt:variant>
      <vt:variant>
        <vt:lpstr>Tema</vt:lpstr>
      </vt:variant>
      <vt:variant>
        <vt:i4>2</vt:i4>
      </vt:variant>
      <vt:variant>
        <vt:lpstr>Títulos dos diapositivos</vt:lpstr>
      </vt:variant>
      <vt:variant>
        <vt:i4>27</vt:i4>
      </vt:variant>
    </vt:vector>
  </HeadingPairs>
  <TitlesOfParts>
    <vt:vector size="34" baseType="lpstr">
      <vt:lpstr>Arial</vt:lpstr>
      <vt:lpstr>Calibri</vt:lpstr>
      <vt:lpstr>Corbel</vt:lpstr>
      <vt:lpstr>Trebuchet MS</vt:lpstr>
      <vt:lpstr>Tw Cen MT</vt:lpstr>
      <vt:lpstr>Depth</vt:lpstr>
      <vt:lpstr>Droplet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 — MLP Pokémon Classification</dc:title>
  <dc:subject>PptxGenJS Presentation</dc:subject>
  <dc:creator>PptxGenJS</dc:creator>
  <cp:lastModifiedBy>Miguel Jose de Melo Ferreira Cangalhas</cp:lastModifiedBy>
  <cp:revision>1920</cp:revision>
  <dcterms:created xsi:type="dcterms:W3CDTF">2026-03-07T01:48:48Z</dcterms:created>
  <dcterms:modified xsi:type="dcterms:W3CDTF">2026-03-28T17:03:40Z</dcterms:modified>
</cp:coreProperties>
</file>