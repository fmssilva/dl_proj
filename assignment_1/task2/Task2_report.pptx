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30"/>
  </p:notesMasterIdLst>
  <p:sldIdLst>
    <p:sldId id="256" r:id="rId3"/>
    <p:sldId id="301" r:id="rId4"/>
    <p:sldId id="281" r:id="rId5"/>
    <p:sldId id="288" r:id="rId6"/>
    <p:sldId id="285" r:id="rId7"/>
    <p:sldId id="302" r:id="rId8"/>
    <p:sldId id="286" r:id="rId9"/>
    <p:sldId id="287" r:id="rId10"/>
    <p:sldId id="295" r:id="rId11"/>
    <p:sldId id="303" r:id="rId12"/>
    <p:sldId id="304" r:id="rId13"/>
    <p:sldId id="296" r:id="rId14"/>
    <p:sldId id="289" r:id="rId15"/>
    <p:sldId id="290" r:id="rId16"/>
    <p:sldId id="283" r:id="rId17"/>
    <p:sldId id="271" r:id="rId18"/>
    <p:sldId id="273" r:id="rId19"/>
    <p:sldId id="305" r:id="rId20"/>
    <p:sldId id="293" r:id="rId21"/>
    <p:sldId id="284" r:id="rId22"/>
    <p:sldId id="275" r:id="rId23"/>
    <p:sldId id="297" r:id="rId24"/>
    <p:sldId id="298" r:id="rId25"/>
    <p:sldId id="299" r:id="rId26"/>
    <p:sldId id="278" r:id="rId27"/>
    <p:sldId id="279" r:id="rId28"/>
    <p:sldId id="300" r:id="rId29"/>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896"/>
    <a:srgbClr val="0D1B2A"/>
    <a:srgbClr val="61B2E9"/>
    <a:srgbClr val="EF4F0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4A61B75-DC6C-91AD-544F-487179451F0D}" v="2" dt="2026-03-31T13:10:10.099"/>
    <p1510:client id="{CDABB519-467D-FD08-6A41-EB6CC6DEA994}" v="72" dt="2026-03-31T09:43:37.433"/>
    <p1510:client id="{DA793C8F-70EE-6D19-B59A-A289D2A9283E}" v="297" dt="2026-03-31T12:48:54.2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3" d="100"/>
          <a:sy n="143" d="100"/>
        </p:scale>
        <p:origin x="60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475A1-DEF6-D10E-8697-72BF654B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07DCD-71D3-A7FA-7B56-6929D2E1CC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C87203-1C5F-A086-5121-74702AC085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0D66F-EBA4-DA3B-7ABF-07C608793D13}"/>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589285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7AF81-1813-59E3-9904-71A4972CD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1D61B-7CAA-3224-FD38-A3F7CCAAF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1629DE-A130-EB43-93FC-9C0F3BEF2A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4ADDA-FC97-F300-01FD-08F9FE2FBAB1}"/>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3838198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8400-0C3E-F44B-0F7F-FB447416E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94077-DC70-7860-D88D-2E012B863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6C7627-08B3-EB64-5D9A-90C4A6AE72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10D99B-F0B4-C7DA-5A9B-D974AA8E4D9B}"/>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339834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1313259" y="975589"/>
            <a:ext cx="6517482" cy="1881910"/>
          </a:xfrm>
        </p:spPr>
        <p:txBody>
          <a:bodyPr anchor="b">
            <a:normAutofit/>
          </a:bodyPr>
          <a:lstStyle>
            <a:lvl1pPr algn="ctr">
              <a:defRPr sz="3600"/>
            </a:lvl1pPr>
          </a:lstStyle>
          <a:p>
            <a:r>
              <a:rPr lang="en-US"/>
              <a:t>Click to edit Master title style</a:t>
            </a:r>
            <a:endParaRPr lang="en-US" dirty="0"/>
          </a:p>
        </p:txBody>
      </p:sp>
      <p:sp>
        <p:nvSpPr>
          <p:cNvPr id="3" name="Subtitle 2"/>
          <p:cNvSpPr>
            <a:spLocks noGrp="1"/>
          </p:cNvSpPr>
          <p:nvPr>
            <p:ph type="subTitle" idx="1"/>
          </p:nvPr>
        </p:nvSpPr>
        <p:spPr>
          <a:xfrm>
            <a:off x="1313259" y="2914651"/>
            <a:ext cx="6517482" cy="1028699"/>
          </a:xfrm>
        </p:spPr>
        <p:txBody>
          <a:bodyPr>
            <a:normAutofit/>
          </a:bodyPr>
          <a:lstStyle>
            <a:lvl1pPr marL="0" indent="0" algn="ctr">
              <a:buNone/>
              <a:defRPr sz="1650">
                <a:solidFill>
                  <a:schemeClr val="bg1">
                    <a:lumMod val="50000"/>
                  </a:schemeClr>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83920300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777287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60113442"/>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621423"/>
            <a:ext cx="7763814" cy="2052614"/>
          </a:xfrm>
        </p:spPr>
        <p:txBody>
          <a:bodyPr anchor="b">
            <a:normAutofit/>
          </a:bodyPr>
          <a:lstStyle>
            <a:lvl1pPr>
              <a:defRPr sz="3000"/>
            </a:lvl1pPr>
          </a:lstStyle>
          <a:p>
            <a:r>
              <a:rPr lang="en-US"/>
              <a:t>Click to edit Master title style</a:t>
            </a:r>
            <a:endParaRPr lang="en-US" dirty="0"/>
          </a:p>
        </p:txBody>
      </p:sp>
      <p:sp>
        <p:nvSpPr>
          <p:cNvPr id="3" name="Text Placeholder 2"/>
          <p:cNvSpPr>
            <a:spLocks noGrp="1"/>
          </p:cNvSpPr>
          <p:nvPr>
            <p:ph type="body" idx="1"/>
          </p:nvPr>
        </p:nvSpPr>
        <p:spPr>
          <a:xfrm>
            <a:off x="685331" y="2743093"/>
            <a:ext cx="7763814" cy="1026137"/>
          </a:xfrm>
        </p:spPr>
        <p:txBody>
          <a:bodyPr>
            <a:normAutofit/>
          </a:bodyPr>
          <a:lstStyle>
            <a:lvl1pPr marL="0" indent="0" algn="ctr">
              <a:buNone/>
              <a:defRPr sz="1500">
                <a:solidFill>
                  <a:schemeClr val="bg1">
                    <a:lumMod val="50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465294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382952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1775320"/>
            <a:ext cx="382905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699694362"/>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1778263"/>
            <a:ext cx="3655106"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3"/>
          <p:cNvSpPr>
            <a:spLocks noGrp="1"/>
          </p:cNvSpPr>
          <p:nvPr>
            <p:ph sz="quarter" idx="13"/>
          </p:nvPr>
        </p:nvSpPr>
        <p:spPr>
          <a:xfrm>
            <a:off x="685331" y="2288260"/>
            <a:ext cx="3829520"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1778263"/>
            <a:ext cx="3661353"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3" name="Content Placeholder 5"/>
          <p:cNvSpPr>
            <a:spLocks noGrp="1"/>
          </p:cNvSpPr>
          <p:nvPr>
            <p:ph sz="quarter" idx="14"/>
          </p:nvPr>
        </p:nvSpPr>
        <p:spPr>
          <a:xfrm>
            <a:off x="4629150" y="2288260"/>
            <a:ext cx="3829051"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36937495"/>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5448440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Date Placeholder 1"/>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507790090"/>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2951766" cy="1517439"/>
          </a:xfrm>
        </p:spPr>
        <p:txBody>
          <a:bodyPr anchor="b"/>
          <a:lstStyle>
            <a:lvl1pPr algn="ctr">
              <a:defRPr sz="2400"/>
            </a:lvl1pPr>
          </a:lstStyle>
          <a:p>
            <a:r>
              <a:rPr lang="en-US"/>
              <a:t>Click to edit Master title style</a:t>
            </a:r>
            <a:endParaRPr lang="en-US" dirty="0"/>
          </a:p>
        </p:txBody>
      </p:sp>
      <p:sp>
        <p:nvSpPr>
          <p:cNvPr id="10" name="Content Placeholder 2"/>
          <p:cNvSpPr>
            <a:spLocks noGrp="1"/>
          </p:cNvSpPr>
          <p:nvPr>
            <p:ph sz="quarter" idx="13"/>
          </p:nvPr>
        </p:nvSpPr>
        <p:spPr>
          <a:xfrm>
            <a:off x="3808547" y="457201"/>
            <a:ext cx="4650122" cy="3886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1974639"/>
            <a:ext cx="2951767" cy="2368761"/>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464754"/>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4451227" cy="1517441"/>
          </a:xfrm>
        </p:spPr>
        <p:txBody>
          <a:bodyPr anchor="b"/>
          <a:lstStyle>
            <a:lvl1pPr algn="ct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68602" y="457201"/>
            <a:ext cx="2441519" cy="38862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46" y="1974639"/>
            <a:ext cx="4451212" cy="2368760"/>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5906301"/>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46" y="3217030"/>
            <a:ext cx="7773324" cy="608708"/>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523696"/>
            <a:ext cx="7366899" cy="2410602"/>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31" y="3831546"/>
            <a:ext cx="7773339" cy="511854"/>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78210890"/>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7773339" cy="2570434"/>
          </a:xfrm>
        </p:spPr>
        <p:txBody>
          <a:bodyPr anchor="ctr"/>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153616"/>
            <a:ext cx="7773339" cy="1189785"/>
          </a:xfrm>
        </p:spPr>
        <p:txBody>
          <a:bodyPr anchor="ct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82293182"/>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1084659" y="457200"/>
            <a:ext cx="6977064" cy="2244678"/>
          </a:xfrm>
        </p:spPr>
        <p:txBody>
          <a:bodyPr anchor="ctr"/>
          <a:lstStyle>
            <a:lvl1pPr>
              <a:defRPr sz="24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707524"/>
            <a:ext cx="6564224" cy="446091"/>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85331" y="3279597"/>
            <a:ext cx="7773339" cy="1065790"/>
          </a:xfrm>
        </p:spPr>
        <p:txBody>
          <a:bodyPr anchor="ctr">
            <a:normAutofit/>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13" name="TextBox 12"/>
          <p:cNvSpPr txBox="1"/>
          <p:nvPr/>
        </p:nvSpPr>
        <p:spPr>
          <a:xfrm>
            <a:off x="751116" y="56562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4" name="TextBox 13"/>
          <p:cNvSpPr txBox="1"/>
          <p:nvPr/>
        </p:nvSpPr>
        <p:spPr>
          <a:xfrm>
            <a:off x="7918169" y="2245184"/>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883424276"/>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1604041"/>
            <a:ext cx="7773339" cy="1883876"/>
          </a:xfrm>
        </p:spPr>
        <p:txBody>
          <a:bodyPr anchor="b"/>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496751"/>
            <a:ext cx="7773339" cy="855483"/>
          </a:xfrm>
        </p:spPr>
        <p:txBody>
          <a:bodyPr anchor="t"/>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754657086"/>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Title 1"/>
          <p:cNvSpPr>
            <a:spLocks noGrp="1"/>
          </p:cNvSpPr>
          <p:nvPr>
            <p:ph type="title"/>
          </p:nvPr>
        </p:nvSpPr>
        <p:spPr>
          <a:xfrm>
            <a:off x="685331" y="457200"/>
            <a:ext cx="7773339" cy="1203821"/>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1775320"/>
            <a:ext cx="2474232"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685331" y="2207517"/>
            <a:ext cx="2474232"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39292" y="1775320"/>
            <a:ext cx="2468641"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31012" y="2207517"/>
            <a:ext cx="2477513"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979974" y="1775320"/>
            <a:ext cx="2478696"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979974" y="2207517"/>
            <a:ext cx="2478696"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244322476"/>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0" name="Title 1"/>
          <p:cNvSpPr>
            <a:spLocks noGrp="1"/>
          </p:cNvSpPr>
          <p:nvPr>
            <p:ph type="title"/>
          </p:nvPr>
        </p:nvSpPr>
        <p:spPr>
          <a:xfrm>
            <a:off x="685331" y="458079"/>
            <a:ext cx="7773339" cy="120294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3153615"/>
            <a:ext cx="2472307"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685331" y="1775320"/>
            <a:ext cx="2472307" cy="1143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685331" y="3585811"/>
            <a:ext cx="2472307"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332069" y="3153615"/>
            <a:ext cx="247637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331011" y="1775320"/>
            <a:ext cx="2477514"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331011" y="3585811"/>
            <a:ext cx="2477514"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979974" y="3153615"/>
            <a:ext cx="247551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979974" y="1775320"/>
            <a:ext cx="2478696"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979880" y="3585809"/>
            <a:ext cx="2478790" cy="757591"/>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534475446"/>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1775320"/>
            <a:ext cx="7773339" cy="2568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85221913"/>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Vertical Title 1"/>
          <p:cNvSpPr>
            <a:spLocks noGrp="1"/>
          </p:cNvSpPr>
          <p:nvPr>
            <p:ph type="title" orient="vert"/>
          </p:nvPr>
        </p:nvSpPr>
        <p:spPr>
          <a:xfrm>
            <a:off x="6543675" y="457201"/>
            <a:ext cx="1914995" cy="38861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457201"/>
            <a:ext cx="5744043" cy="38861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2307999"/>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5825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3/31/2026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463888"/>
            <a:ext cx="7773338" cy="119713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1775320"/>
            <a:ext cx="7773339" cy="2568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4412457"/>
            <a:ext cx="2057400" cy="273844"/>
          </a:xfrm>
          <a:prstGeom prst="rect">
            <a:avLst/>
          </a:prstGeom>
        </p:spPr>
        <p:txBody>
          <a:bodyPr vert="horz" lIns="91440" tIns="45720" rIns="91440" bIns="45720" rtlCol="0" anchor="ctr"/>
          <a:lstStyle>
            <a:lvl1pPr algn="r">
              <a:defRPr sz="750">
                <a:solidFill>
                  <a:schemeClr val="tx1"/>
                </a:solidFill>
              </a:defRPr>
            </a:lvl1pPr>
          </a:lstStyle>
          <a:p>
            <a:fld id="{4AAD347D-5ACD-4C99-B74B-A9C85AD731AF}" type="datetimeFigureOut">
              <a:rPr lang="en-US" smtClean="0"/>
              <a:t>3/31/2026</a:t>
            </a:fld>
            <a:endParaRPr lang="en-US" dirty="0"/>
          </a:p>
        </p:txBody>
      </p:sp>
      <p:sp>
        <p:nvSpPr>
          <p:cNvPr id="5" name="Footer Placeholder 4"/>
          <p:cNvSpPr>
            <a:spLocks noGrp="1"/>
          </p:cNvSpPr>
          <p:nvPr>
            <p:ph type="ftr" sz="quarter" idx="3"/>
          </p:nvPr>
        </p:nvSpPr>
        <p:spPr>
          <a:xfrm>
            <a:off x="685331" y="4412457"/>
            <a:ext cx="5004665" cy="273844"/>
          </a:xfrm>
          <a:prstGeom prst="rect">
            <a:avLst/>
          </a:prstGeom>
        </p:spPr>
        <p:txBody>
          <a:bodyPr vert="horz" lIns="91440" tIns="45720" rIns="91440" bIns="45720" rtlCol="0" anchor="ctr"/>
          <a:lstStyle>
            <a:lvl1pPr algn="l">
              <a:defRPr sz="750">
                <a:solidFill>
                  <a:schemeClr val="tx1"/>
                </a:solidFill>
              </a:defRPr>
            </a:lvl1pPr>
          </a:lstStyle>
          <a:p>
            <a:endParaRPr lang="en-US" dirty="0"/>
          </a:p>
        </p:txBody>
      </p:sp>
      <p:sp>
        <p:nvSpPr>
          <p:cNvPr id="6" name="Slide Number Placeholder 5"/>
          <p:cNvSpPr>
            <a:spLocks noGrp="1"/>
          </p:cNvSpPr>
          <p:nvPr>
            <p:ph type="sldNum" sz="quarter" idx="4"/>
          </p:nvPr>
        </p:nvSpPr>
        <p:spPr>
          <a:xfrm>
            <a:off x="7885509" y="4412457"/>
            <a:ext cx="573161" cy="273844"/>
          </a:xfrm>
          <a:prstGeom prst="rect">
            <a:avLst/>
          </a:prstGeom>
        </p:spPr>
        <p:txBody>
          <a:bodyPr vert="horz" lIns="91440" tIns="45720" rIns="91440" bIns="45720" rtlCol="0" anchor="ctr"/>
          <a:lstStyle>
            <a:lvl1pPr algn="r">
              <a:defRPr sz="750">
                <a:solidFill>
                  <a:schemeClr val="tx1"/>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4106938611"/>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 id="2147483858" r:id="rId18"/>
  </p:sldLayoutIdLst>
  <p:hf hdr="0" ftr="0" dt="0"/>
  <p:txStyles>
    <p:titleStyle>
      <a:lvl1pPr algn="ctr" defTabSz="685800" rtl="0" eaLnBrk="1" latinLnBrk="0" hangingPunct="1">
        <a:lnSpc>
          <a:spcPct val="90000"/>
        </a:lnSpc>
        <a:spcBef>
          <a:spcPct val="0"/>
        </a:spcBef>
        <a:buNone/>
        <a:defRPr sz="2700" kern="1200" cap="all" baseline="0">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tx1"/>
        </a:buClr>
        <a:buFont typeface="Arial" panose="020B0604020202020204" pitchFamily="34" charset="0"/>
        <a:buChar char="•"/>
        <a:defRPr sz="1500" kern="1200" cap="all" baseline="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tx1"/>
        </a:buClr>
        <a:buFont typeface="Arial" panose="020B0604020202020204" pitchFamily="34" charset="0"/>
        <a:buChar char="•"/>
        <a:defRPr sz="1350" kern="1200" cap="all"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tx1"/>
        </a:buClr>
        <a:buFont typeface="Arial" panose="020B0604020202020204" pitchFamily="34" charset="0"/>
        <a:buChar char="•"/>
        <a:defRPr sz="1200" kern="1200" cap="all" baseline="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6.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4.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8.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6.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6.xml"/></Relationships>
</file>

<file path=ppt/slides/_rels/slide2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png"/><Relationship Id="rId1" Type="http://schemas.openxmlformats.org/officeDocument/2006/relationships/slideLayout" Target="../slideLayouts/slideLayout3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 Id="rId9"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dirty="0">
                <a:solidFill>
                  <a:srgbClr val="02C39A"/>
                </a:solidFill>
                <a:latin typeface="Calibri" pitchFamily="34" charset="0"/>
                <a:ea typeface="Calibri" pitchFamily="34" charset="-122"/>
                <a:cs typeface="Calibri" pitchFamily="34" charset="-120"/>
              </a:rPr>
              <a:t>DEEP LEARNING  ·  ASSIGNMENT 1  ·  TASK 2</a:t>
            </a:r>
            <a:endParaRPr lang="en-US" sz="1000" dirty="0"/>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870541" y="1932174"/>
            <a:ext cx="7532951" cy="438912"/>
          </a:xfrm>
          <a:prstGeom prst="rect">
            <a:avLst/>
          </a:prstGeom>
          <a:noFill/>
          <a:ln/>
        </p:spPr>
        <p:txBody>
          <a:bodyPr wrap="square" lIns="0" tIns="0" rIns="0" bIns="0" rtlCol="0" anchor="ctr"/>
          <a:lstStyle/>
          <a:p>
            <a:r>
              <a:rPr lang="en-US" sz="3600">
                <a:solidFill>
                  <a:srgbClr val="7AADCC"/>
                </a:solidFill>
                <a:latin typeface="Calibri"/>
                <a:ea typeface="Calibri"/>
                <a:cs typeface="Calibri"/>
              </a:rPr>
              <a:t>Task 2 - Convolutional Neural Network</a:t>
            </a:r>
            <a:endParaRPr lang="en-US" sz="3600">
              <a:latin typeface="Calibri"/>
              <a:ea typeface="Calibri"/>
              <a:cs typeface="Calibri"/>
            </a:endParaRPr>
          </a:p>
        </p:txBody>
      </p:sp>
      <p:sp>
        <p:nvSpPr>
          <p:cNvPr id="8" name="Shape 6"/>
          <p:cNvSpPr/>
          <p:nvPr/>
        </p:nvSpPr>
        <p:spPr>
          <a:xfrm flipV="1">
            <a:off x="841480" y="2381781"/>
            <a:ext cx="7165253" cy="6997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E0AD6CE1-8DD7-EA0E-3A10-D977ED07164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F7BD48B3-01CF-732B-559B-5C2A8608FA95}"/>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 (Task 2)</a:t>
            </a:r>
            <a:endParaRPr lang="en-US" sz="2200" dirty="0"/>
          </a:p>
        </p:txBody>
      </p:sp>
      <p:sp>
        <p:nvSpPr>
          <p:cNvPr id="4" name="Shape 2">
            <a:extLst>
              <a:ext uri="{FF2B5EF4-FFF2-40B4-BE49-F238E27FC236}">
                <a16:creationId xmlns:a16="http://schemas.microsoft.com/office/drawing/2014/main" id="{18B8DBFB-A82A-8A1F-30D1-B682A18B7B3C}"/>
              </a:ext>
            </a:extLst>
          </p:cNvPr>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616973DD-8CF0-26D8-0FD0-784620FC065F}"/>
              </a:ext>
            </a:extLst>
          </p:cNvPr>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E6B1FF23-D968-7974-6A9F-DB933B190302}"/>
              </a:ext>
            </a:extLst>
          </p:cNvPr>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2.1</a:t>
            </a:r>
          </a:p>
        </p:txBody>
      </p:sp>
      <p:sp>
        <p:nvSpPr>
          <p:cNvPr id="9" name="Text 7">
            <a:extLst>
              <a:ext uri="{FF2B5EF4-FFF2-40B4-BE49-F238E27FC236}">
                <a16:creationId xmlns:a16="http://schemas.microsoft.com/office/drawing/2014/main" id="{1A4EEA4D-82B3-CDAD-BFA0-3D31AA35C5CA}"/>
              </a:ext>
            </a:extLst>
          </p:cNvPr>
          <p:cNvSpPr/>
          <p:nvPr/>
        </p:nvSpPr>
        <p:spPr>
          <a:xfrm>
            <a:off x="1051560" y="932688"/>
            <a:ext cx="3200400" cy="411480"/>
          </a:xfrm>
          <a:prstGeom prst="rect">
            <a:avLst/>
          </a:prstGeom>
          <a:noFill/>
          <a:ln/>
        </p:spPr>
        <p:txBody>
          <a:bodyPr wrap="square" lIns="0" tIns="0" rIns="0" bIns="0" rtlCol="0" anchor="ctr"/>
          <a:lstStyle/>
          <a:p>
            <a:r>
              <a:rPr lang="en-US" sz="1400" b="1">
                <a:solidFill>
                  <a:srgbClr val="FFFFFF"/>
                </a:solidFill>
                <a:latin typeface="Trebuchet MS"/>
              </a:rPr>
              <a:t>CNN Model Development</a:t>
            </a:r>
            <a:endParaRPr lang="en-US"/>
          </a:p>
        </p:txBody>
      </p:sp>
      <p:sp>
        <p:nvSpPr>
          <p:cNvPr id="11" name="Shape 9">
            <a:extLst>
              <a:ext uri="{FF2B5EF4-FFF2-40B4-BE49-F238E27FC236}">
                <a16:creationId xmlns:a16="http://schemas.microsoft.com/office/drawing/2014/main" id="{06E21292-5A68-2116-F8F3-E4B71CE1CDA2}"/>
              </a:ext>
            </a:extLst>
          </p:cNvPr>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a:extLst>
              <a:ext uri="{FF2B5EF4-FFF2-40B4-BE49-F238E27FC236}">
                <a16:creationId xmlns:a16="http://schemas.microsoft.com/office/drawing/2014/main" id="{26953524-E134-78EB-E1F9-011FF455373E}"/>
              </a:ext>
            </a:extLst>
          </p:cNvPr>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a:extLst>
              <a:ext uri="{FF2B5EF4-FFF2-40B4-BE49-F238E27FC236}">
                <a16:creationId xmlns:a16="http://schemas.microsoft.com/office/drawing/2014/main" id="{84200415-3E31-8607-B56A-FF3FC7673127}"/>
              </a:ext>
            </a:extLst>
          </p:cNvPr>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2.2</a:t>
            </a:r>
            <a:endParaRPr lang="en-US" sz="2200" b="1" dirty="0">
              <a:solidFill>
                <a:srgbClr val="00A896"/>
              </a:solidFill>
              <a:latin typeface="Trebuchet MS"/>
            </a:endParaRPr>
          </a:p>
        </p:txBody>
      </p:sp>
      <p:sp>
        <p:nvSpPr>
          <p:cNvPr id="16" name="Text 14">
            <a:extLst>
              <a:ext uri="{FF2B5EF4-FFF2-40B4-BE49-F238E27FC236}">
                <a16:creationId xmlns:a16="http://schemas.microsoft.com/office/drawing/2014/main" id="{534DEB6F-45FC-AEF5-C409-D5FF250BAA50}"/>
              </a:ext>
            </a:extLst>
          </p:cNvPr>
          <p:cNvSpPr/>
          <p:nvPr/>
        </p:nvSpPr>
        <p:spPr>
          <a:xfrm>
            <a:off x="5440680" y="932688"/>
            <a:ext cx="3200400" cy="411480"/>
          </a:xfrm>
          <a:prstGeom prst="rect">
            <a:avLst/>
          </a:prstGeom>
          <a:noFill/>
          <a:ln/>
        </p:spPr>
        <p:txBody>
          <a:bodyPr wrap="square" lIns="0" tIns="0" rIns="0" bIns="0" rtlCol="0" anchor="ctr"/>
          <a:lstStyle/>
          <a:p>
            <a:r>
              <a:rPr lang="en-US" sz="1400" b="1" dirty="0">
                <a:solidFill>
                  <a:srgbClr val="FFFFFF"/>
                </a:solidFill>
                <a:latin typeface="Trebuchet MS"/>
                <a:ea typeface="Trebuchet MS" pitchFamily="34" charset="-122"/>
                <a:cs typeface="Trebuchet MS" pitchFamily="34" charset="-120"/>
              </a:rPr>
              <a:t>CNN </a:t>
            </a:r>
            <a:r>
              <a:rPr lang="en-US" sz="1400" b="1">
                <a:solidFill>
                  <a:srgbClr val="FFFFFF"/>
                </a:solidFill>
                <a:latin typeface="Trebuchet MS"/>
                <a:ea typeface="Trebuchet MS" pitchFamily="34" charset="-122"/>
                <a:cs typeface="Trebuchet MS" pitchFamily="34" charset="-120"/>
              </a:rPr>
              <a:t>Training Efficiency</a:t>
            </a:r>
            <a:endParaRPr lang="en-US" sz="1400">
              <a:latin typeface="Corbel"/>
            </a:endParaRPr>
          </a:p>
        </p:txBody>
      </p:sp>
      <p:sp>
        <p:nvSpPr>
          <p:cNvPr id="18" name="Shape 16">
            <a:extLst>
              <a:ext uri="{FF2B5EF4-FFF2-40B4-BE49-F238E27FC236}">
                <a16:creationId xmlns:a16="http://schemas.microsoft.com/office/drawing/2014/main" id="{077BC993-03BE-47AA-C96D-25FC5BFC0858}"/>
              </a:ext>
            </a:extLst>
          </p:cNvPr>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a:extLst>
              <a:ext uri="{FF2B5EF4-FFF2-40B4-BE49-F238E27FC236}">
                <a16:creationId xmlns:a16="http://schemas.microsoft.com/office/drawing/2014/main" id="{B0DAF62F-D0FC-382A-9C0D-4579869576AF}"/>
              </a:ext>
            </a:extLst>
          </p:cNvPr>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a:extLst>
              <a:ext uri="{FF2B5EF4-FFF2-40B4-BE49-F238E27FC236}">
                <a16:creationId xmlns:a16="http://schemas.microsoft.com/office/drawing/2014/main" id="{A1DC5693-2DC8-CD0B-D57E-21AB8B659DDB}"/>
              </a:ext>
            </a:extLst>
          </p:cNvPr>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2.3</a:t>
            </a:r>
            <a:endParaRPr lang="en-US" sz="2200" b="1" dirty="0">
              <a:solidFill>
                <a:srgbClr val="00A896"/>
              </a:solidFill>
              <a:latin typeface="Trebuchet MS"/>
            </a:endParaRPr>
          </a:p>
        </p:txBody>
      </p:sp>
      <p:sp>
        <p:nvSpPr>
          <p:cNvPr id="23" name="Text 21">
            <a:extLst>
              <a:ext uri="{FF2B5EF4-FFF2-40B4-BE49-F238E27FC236}">
                <a16:creationId xmlns:a16="http://schemas.microsoft.com/office/drawing/2014/main" id="{7BA1232D-3B7D-9344-6B80-EAE9DCEA4D7E}"/>
              </a:ext>
            </a:extLst>
          </p:cNvPr>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rPr>
              <a:t>CNN Performance Evaluation</a:t>
            </a:r>
            <a:endParaRPr lang="en-US"/>
          </a:p>
        </p:txBody>
      </p:sp>
      <p:pic>
        <p:nvPicPr>
          <p:cNvPr id="7" name="Picture 8" descr="NOSSA™ | NOVA School of Science &amp; Technology">
            <a:extLst>
              <a:ext uri="{FF2B5EF4-FFF2-40B4-BE49-F238E27FC236}">
                <a16:creationId xmlns:a16="http://schemas.microsoft.com/office/drawing/2014/main" id="{FE1E5FDD-EC68-36C1-3496-C70F89340CF9}"/>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45582F91-F82F-6695-5ABA-AC153DC16ABC}"/>
              </a:ext>
            </a:extLst>
          </p:cNvPr>
          <p:cNvSpPr/>
          <p:nvPr/>
        </p:nvSpPr>
        <p:spPr>
          <a:xfrm>
            <a:off x="1027176" y="138988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Architectures  · Experiments · Augmentation · Regularization · Ensembles · Results</a:t>
            </a:r>
          </a:p>
        </p:txBody>
      </p:sp>
      <p:sp>
        <p:nvSpPr>
          <p:cNvPr id="8" name="Text 15">
            <a:extLst>
              <a:ext uri="{FF2B5EF4-FFF2-40B4-BE49-F238E27FC236}">
                <a16:creationId xmlns:a16="http://schemas.microsoft.com/office/drawing/2014/main" id="{E1A1C06B-B22B-F4BE-84EA-F8CC56FA0683}"/>
              </a:ext>
            </a:extLst>
          </p:cNvPr>
          <p:cNvSpPr/>
          <p:nvPr/>
        </p:nvSpPr>
        <p:spPr>
          <a:xfrm>
            <a:off x="5416296" y="138988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Early Stopping · GPU budget · Checkpointing</a:t>
            </a:r>
          </a:p>
          <a:p>
            <a:pPr marL="0" indent="0">
              <a:buNone/>
            </a:pPr>
            <a:endParaRPr lang="en-US" sz="1400" dirty="0">
              <a:solidFill>
                <a:srgbClr val="7AADCC"/>
              </a:solidFill>
              <a:latin typeface="Calibri"/>
              <a:ea typeface="Calibri"/>
              <a:cs typeface="Calibri"/>
            </a:endParaRPr>
          </a:p>
        </p:txBody>
      </p:sp>
      <p:sp>
        <p:nvSpPr>
          <p:cNvPr id="14" name="Text 22">
            <a:extLst>
              <a:ext uri="{FF2B5EF4-FFF2-40B4-BE49-F238E27FC236}">
                <a16:creationId xmlns:a16="http://schemas.microsoft.com/office/drawing/2014/main" id="{E7CF663A-2942-4EC2-15F0-D01B7DC858F3}"/>
              </a:ext>
            </a:extLst>
          </p:cNvPr>
          <p:cNvSpPr/>
          <p:nvPr/>
        </p:nvSpPr>
        <p:spPr>
          <a:xfrm>
            <a:off x="1027176" y="335584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Macro-F1 · Per-class · Confusion Matrix</a:t>
            </a:r>
          </a:p>
          <a:p>
            <a:pPr marL="0" indent="0">
              <a:buNone/>
            </a:pPr>
            <a:endParaRPr lang="en-US" sz="1400" dirty="0">
              <a:solidFill>
                <a:srgbClr val="7AADCC"/>
              </a:solidFill>
              <a:latin typeface="Calibri"/>
              <a:ea typeface="Calibri"/>
              <a:cs typeface="Calibri"/>
            </a:endParaRPr>
          </a:p>
        </p:txBody>
      </p:sp>
    </p:spTree>
    <p:extLst>
      <p:ext uri="{BB962C8B-B14F-4D97-AF65-F5344CB8AC3E}">
        <p14:creationId xmlns:p14="http://schemas.microsoft.com/office/powerpoint/2010/main" val="16261591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2.1</a:t>
            </a:r>
            <a:endParaRPr lang="en-US" sz="3200"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4" name="NumCircle"/>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3288011220"/>
              </p:ext>
            </p:extLst>
          </p:nvPr>
        </p:nvGraphicFramePr>
        <p:xfrm>
          <a:off x="174433" y="1255677"/>
          <a:ext cx="8653017" cy="388782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2570359">
                  <a:extLst>
                    <a:ext uri="{9D8B030D-6E8A-4147-A177-3AD203B41FA5}">
                      <a16:colId xmlns:a16="http://schemas.microsoft.com/office/drawing/2014/main" val="2858452526"/>
                    </a:ext>
                  </a:extLst>
                </a:gridCol>
                <a:gridCol w="964747">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Name</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Model</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Criterion</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loss</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function</a:t>
                      </a:r>
                      <a:r>
                        <a:rPr lang="pt-PT" sz="1100" b="1" u="none" strike="noStrike" dirty="0">
                          <a:effectLst/>
                          <a:latin typeface="Calibri"/>
                          <a:ea typeface="Calibri"/>
                          <a:cs typeface="Calibri"/>
                        </a:rPr>
                        <a:t>)</a:t>
                      </a:r>
                      <a:endParaRPr lang="pt-PT" sz="1100" b="1" i="0" u="none" strike="noStrike"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Optimizer</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Purpose</a:t>
                      </a:r>
                      <a:endParaRPr lang="pt-PT" sz="1100" b="1" i="0" u="none" strike="noStrike">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LeNet5_base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LeNet5(conv=[6,16], fc=[120,84], pool=AvgPool2x2)</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Baseline</a:t>
                      </a:r>
                      <a:r>
                        <a:rPr lang="pt-PT" sz="1050" b="0" u="none" strike="noStrike" dirty="0">
                          <a:effectLst/>
                          <a:latin typeface="Calibri"/>
                          <a:ea typeface="Calibri"/>
                          <a:cs typeface="Calibri"/>
                        </a:rPr>
                        <a:t> - no </a:t>
                      </a:r>
                      <a:r>
                        <a:rPr lang="pt-PT" sz="1050" b="0" u="none" strike="noStrike">
                          <a:effectLst/>
                          <a:latin typeface="Calibri"/>
                          <a:ea typeface="Calibri"/>
                          <a:cs typeface="Calibri"/>
                        </a:rPr>
                        <a:t>regularization</a:t>
                      </a:r>
                      <a:r>
                        <a:rPr lang="pt-PT" sz="1050" b="0" u="none" strike="noStrike" dirty="0">
                          <a:effectLst/>
                          <a:latin typeface="Calibri"/>
                          <a:ea typeface="Calibri"/>
                          <a:cs typeface="Calibri"/>
                        </a:rPr>
                        <a:t>; compare performance </a:t>
                      </a:r>
                      <a:r>
                        <a:rPr lang="pt-PT" sz="1050" b="0" u="none" strike="noStrike" err="1">
                          <a:effectLst/>
                          <a:latin typeface="Calibri"/>
                          <a:ea typeface="Calibri"/>
                          <a:cs typeface="Calibri"/>
                        </a:rPr>
                        <a:t>with</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existing</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Simple_cw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CNN(</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CE +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Evaluate the performance of a simple 20k params CNN</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Medium_dcw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Exploration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the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effects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multiple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convolution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and</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pooling</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layers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regularization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with</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inverse-frequency class weights in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CrossEntropyLoss</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and dropout</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H</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Medium_dwrs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(replaces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WeightedRandomSampler</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replaces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Deep_dwrs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DeepCNN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=[32x2,64x2,128],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=[128,9],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Deepen network with more conv + pool + non-linearity layers</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K</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Wide_dwrs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WideCNN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=[32,64,128,256],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Compare Deep vs Wide CNN; regularization with </a:t>
                      </a:r>
                      <a:r>
                        <a:rPr lang="en-US" sz="1050" b="0" i="0" u="none" strike="noStrike"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WeightedRandomSampler</a:t>
                      </a: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and dropout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MultiScale_dwrs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MultiScaleCNN</a:t>
                      </a:r>
                      <a:r>
                        <a:rPr lang="pt-PT" sz="1050" b="0" u="none" strike="noStrike" dirty="0">
                          <a:effectLst/>
                          <a:latin typeface="Calibri"/>
                          <a:ea typeface="Calibri"/>
                          <a:cs typeface="Calibri"/>
                        </a:rPr>
                        <a:t>(</a:t>
                      </a:r>
                      <a:r>
                        <a:rPr lang="pt-PT" sz="1050" b="0" u="none" strike="noStrike" err="1">
                          <a:effectLst/>
                          <a:latin typeface="Calibri"/>
                          <a:ea typeface="Calibri"/>
                          <a:cs typeface="Calibri"/>
                        </a:rPr>
                        <a:t>conv</a:t>
                      </a:r>
                      <a:r>
                        <a:rPr lang="pt-PT" sz="1050" b="0" u="none" strike="noStrike" dirty="0">
                          <a:effectLst/>
                          <a:latin typeface="Calibri"/>
                          <a:ea typeface="Calibri"/>
                          <a:cs typeface="Calibri"/>
                        </a:rPr>
                        <a:t>=[(3x3+5x5)-&gt;32, (3x3+5x5)-&gt;64, (3x3+5x5)-&gt;128], </a:t>
                      </a:r>
                      <a:r>
                        <a:rPr lang="pt-PT" sz="1050" b="0" u="none" strike="noStrike" err="1">
                          <a:effectLst/>
                          <a:latin typeface="Calibri"/>
                          <a:ea typeface="Calibri"/>
                          <a:cs typeface="Calibri"/>
                        </a:rPr>
                        <a:t>fc</a:t>
                      </a:r>
                      <a:r>
                        <a:rPr lang="pt-PT" sz="1050" b="0" u="none" strike="noStrike" dirty="0">
                          <a:effectLst/>
                          <a:latin typeface="Calibri"/>
                          <a:ea typeface="Calibri"/>
                          <a:cs typeface="Calibri"/>
                        </a:rPr>
                        <a:t>=[9], pool=MaxPool2x2+MaxPool2x2, </a:t>
                      </a:r>
                      <a:r>
                        <a:rPr lang="pt-PT" sz="1050" b="0" u="none" strike="noStrike" err="1">
                          <a:effectLst/>
                          <a:latin typeface="Calibri"/>
                          <a:ea typeface="Calibri"/>
                          <a:cs typeface="Calibri"/>
                        </a:rPr>
                        <a:t>drop</a:t>
                      </a:r>
                      <a:r>
                        <a:rPr lang="pt-PT" sz="1050" b="0" u="none" strike="noStrike" dirty="0">
                          <a:effectLst/>
                          <a:latin typeface="Calibri"/>
                          <a:ea typeface="Calibri"/>
                          <a:cs typeface="Calibri"/>
                        </a:rPr>
                        <a:t>=0.3, BN)</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dirty="0">
                          <a:solidFill>
                            <a:srgbClr val="000000"/>
                          </a:solidFill>
                          <a:effectLst/>
                          <a:latin typeface="Calibri"/>
                          <a:ea typeface="Calibri"/>
                          <a:cs typeface="Calibri"/>
                        </a:rPr>
                        <a:t>Capture </a:t>
                      </a:r>
                      <a:r>
                        <a:rPr lang="pt-PT" sz="1050" b="0" i="0" u="none" strike="noStrike" err="1">
                          <a:solidFill>
                            <a:srgbClr val="000000"/>
                          </a:solidFill>
                          <a:effectLst/>
                          <a:latin typeface="Calibri"/>
                          <a:ea typeface="Calibri"/>
                          <a:cs typeface="Calibri"/>
                        </a:rPr>
                        <a:t>multiple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granularities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simultaneously</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Residual_dwrs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ResidualCNN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=[64x2, 128x2, 256x2],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drop=0.4, BN, skip)</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Test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the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effects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of</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skipping</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layers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with</a:t>
                      </a:r>
                      <a:r>
                        <a:rPr lang="pt-PT" sz="1050" b="0" i="0" u="none" strike="noStrike" dirty="0">
                          <a:solidFill>
                            <a:srgbClr val="000000"/>
                          </a:solidFill>
                          <a:effectLst/>
                          <a:latin typeface="Calibri"/>
                          <a:ea typeface="Calibri"/>
                          <a:cs typeface="Calibri"/>
                        </a:rPr>
                        <a:t> a </a:t>
                      </a:r>
                      <a:r>
                        <a:rPr lang="pt-PT" sz="1050" b="0" i="0" u="none" strike="noStrike" err="1">
                          <a:solidFill>
                            <a:srgbClr val="000000"/>
                          </a:solidFill>
                          <a:effectLst/>
                          <a:latin typeface="Calibri"/>
                          <a:ea typeface="Calibri"/>
                          <a:cs typeface="Calibri"/>
                        </a:rPr>
                        <a:t>ResNet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explored different several different CNN architectures (number and size of Conv + Pool + FC layers, batch normalization, dropout, regularization, label smoothing, </a:t>
            </a:r>
            <a:r>
              <a:rPr lang="en-US" sz="1200" dirty="0" err="1">
                <a:solidFill>
                  <a:schemeClr val="bg1"/>
                </a:solidFill>
                <a:latin typeface="Calibri" pitchFamily="34" charset="0"/>
              </a:rPr>
              <a:t>WeightedRandomSampler</a:t>
            </a:r>
            <a:r>
              <a:rPr lang="en-US" sz="1200" dirty="0">
                <a:solidFill>
                  <a:schemeClr val="bg1"/>
                </a:solidFill>
                <a:latin typeface="Calibri" pitchFamily="34" charset="0"/>
              </a:rPr>
              <a:t>, and others). After getting a sense of the best ones, we explored different variations of them.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852406" y="3501648"/>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1549110"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pic>
        <p:nvPicPr>
          <p:cNvPr id="8" name="Graphic 7">
            <a:extLst>
              <a:ext uri="{FF2B5EF4-FFF2-40B4-BE49-F238E27FC236}">
                <a16:creationId xmlns:a16="http://schemas.microsoft.com/office/drawing/2014/main" id="{3B6DEE50-D237-157E-C9AF-8E5BED9A16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55261" y="475021"/>
            <a:ext cx="3626191" cy="4669983"/>
          </a:xfrm>
          <a:prstGeom prst="rect">
            <a:avLst/>
          </a:prstGeom>
        </p:spPr>
      </p:pic>
      <p:sp>
        <p:nvSpPr>
          <p:cNvPr id="13" name="Badge">
            <a:extLst>
              <a:ext uri="{FF2B5EF4-FFF2-40B4-BE49-F238E27FC236}">
                <a16:creationId xmlns:a16="http://schemas.microsoft.com/office/drawing/2014/main" id="{6290DB65-3642-0BC3-DBE8-40CBEB2EDE82}"/>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5" name="NumCircle">
            <a:extLst>
              <a:ext uri="{FF2B5EF4-FFF2-40B4-BE49-F238E27FC236}">
                <a16:creationId xmlns:a16="http://schemas.microsoft.com/office/drawing/2014/main" id="{D2AA396D-045A-C446-7595-256EA235ED08}"/>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FA41F-4614-5B57-9F0A-61C1B19D928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9DA82D07-9DFC-17AF-BC82-7670C208C84D}"/>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E70981-1341-76D1-34AD-3ED054DB3F11}"/>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40" name="LeftCard">
            <a:extLst>
              <a:ext uri="{FF2B5EF4-FFF2-40B4-BE49-F238E27FC236}">
                <a16:creationId xmlns:a16="http://schemas.microsoft.com/office/drawing/2014/main" id="{A16806B3-3ECD-14A0-88AD-5B3A97096C13}"/>
              </a:ext>
            </a:extLst>
          </p:cNvPr>
          <p:cNvSpPr/>
          <p:nvPr/>
        </p:nvSpPr>
        <p:spPr>
          <a:xfrm>
            <a:off x="2747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a:extLst>
              <a:ext uri="{FF2B5EF4-FFF2-40B4-BE49-F238E27FC236}">
                <a16:creationId xmlns:a16="http://schemas.microsoft.com/office/drawing/2014/main" id="{9BDAF3A1-2951-AD7C-59CD-A826476E9619}"/>
              </a:ext>
            </a:extLst>
          </p:cNvPr>
          <p:cNvSpPr/>
          <p:nvPr/>
        </p:nvSpPr>
        <p:spPr>
          <a:xfrm>
            <a:off x="457679" y="1590281"/>
            <a:ext cx="3840480" cy="2816640"/>
          </a:xfrm>
          <a:prstGeom prst="rect">
            <a:avLst/>
          </a:prstGeom>
          <a:noFill/>
          <a:ln/>
        </p:spPr>
        <p:txBody>
          <a:bodyPr wrap="square" lIns="91440" tIns="45720" rIns="91440" bIns="45720" rtlCol="0" anchor="t"/>
          <a:lstStyle/>
          <a:p>
            <a:r>
              <a:rPr lang="en-US" sz="1300" b="1">
                <a:solidFill>
                  <a:srgbClr val="028090"/>
                </a:solidFill>
                <a:latin typeface="Trebuchet MS"/>
              </a:rPr>
              <a:t>Feature Extraction + </a:t>
            </a:r>
            <a:endParaRPr lang="en-US" sz="1300" b="1" dirty="0">
              <a:solidFill>
                <a:srgbClr val="028090"/>
              </a:solidFill>
              <a:latin typeface="Trebuchet MS" pitchFamily="34" charset="0"/>
            </a:endParaRPr>
          </a:p>
          <a:p>
            <a:pPr marL="228600" indent="-228600">
              <a:buChar char="•"/>
            </a:pPr>
            <a:r>
              <a:rPr lang="en-US" sz="1100" dirty="0">
                <a:solidFill>
                  <a:srgbClr val="1A2B3C"/>
                </a:solidFill>
                <a:latin typeface="Calibri"/>
                <a:ea typeface="Calibri"/>
                <a:cs typeface="Calibri"/>
              </a:rPr>
              <a:t>Progressive channel expansion forces the model to </a:t>
            </a:r>
            <a:r>
              <a:rPr lang="en-US" sz="1100">
                <a:solidFill>
                  <a:srgbClr val="1A2B3C"/>
                </a:solidFill>
                <a:latin typeface="Calibri"/>
                <a:ea typeface="Calibri"/>
                <a:cs typeface="Calibri"/>
              </a:rPr>
              <a:t>increasingly learn broader representations of the features</a:t>
            </a:r>
            <a:endParaRPr lang="en-US" sz="1100" err="1">
              <a:solidFill>
                <a:srgbClr val="1A2B3C"/>
              </a:solidFill>
              <a:latin typeface="Calibri"/>
              <a:ea typeface="Calibri"/>
              <a:cs typeface="Calibri"/>
            </a:endParaRPr>
          </a:p>
          <a:p>
            <a:pPr marL="228600" indent="-228600">
              <a:buChar char="•"/>
            </a:pPr>
            <a:r>
              <a:rPr lang="en-US" sz="1100">
                <a:solidFill>
                  <a:srgbClr val="1A2B3C"/>
                </a:solidFill>
                <a:latin typeface="Calibri"/>
                <a:ea typeface="Calibri"/>
                <a:cs typeface="Calibri"/>
              </a:rPr>
              <a:t>Coupled with a moderate number of convolution layers (3x3) allows us our model to learn both low, and higher-level features</a:t>
            </a:r>
            <a:endParaRPr lang="en-US" sz="1100" err="1">
              <a:solidFill>
                <a:srgbClr val="1A2B3C"/>
              </a:solidFill>
              <a:latin typeface="Calibri"/>
              <a:ea typeface="Calibri"/>
              <a:cs typeface="Calibri"/>
            </a:endParaRPr>
          </a:p>
          <a:p>
            <a:pPr marL="228600" indent="-228600">
              <a:buChar char="•"/>
            </a:pPr>
            <a:r>
              <a:rPr lang="en-US" sz="1100" dirty="0">
                <a:solidFill>
                  <a:srgbClr val="1A2B3C"/>
                </a:solidFill>
                <a:latin typeface="Calibri"/>
                <a:ea typeface="Calibri"/>
                <a:cs typeface="Calibri"/>
              </a:rPr>
              <a:t>Pooling to provide robustness (e.g. translation invariance and help with small rotations)</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a:ea typeface="Calibri"/>
                <a:cs typeface="Calibri"/>
              </a:rPr>
              <a:t>Narrow (e.g. 32-32-32): lower abstraction</a:t>
            </a:r>
          </a:p>
          <a:p>
            <a:pPr marL="685800" lvl="1" indent="-228600">
              <a:buChar char="•"/>
            </a:pPr>
            <a:r>
              <a:rPr lang="en-US" sz="1100" dirty="0">
                <a:solidFill>
                  <a:srgbClr val="1A2B3C"/>
                </a:solidFill>
                <a:latin typeface="Calibri"/>
                <a:ea typeface="Calibri"/>
                <a:cs typeface="Calibri"/>
              </a:rPr>
              <a:t>No convolution: as it was evident by comparing the results with MLP, having convolution layers helps the model generalize better</a:t>
            </a:r>
          </a:p>
          <a:p>
            <a:pPr marL="685800" lvl="1" indent="-228600">
              <a:buChar char="•"/>
            </a:pPr>
            <a:r>
              <a:rPr lang="en-US" sz="1100">
                <a:solidFill>
                  <a:srgbClr val="1A2B3C"/>
                </a:solidFill>
                <a:latin typeface="Calibri"/>
                <a:ea typeface="Calibri"/>
                <a:cs typeface="Calibri"/>
              </a:rPr>
              <a:t>Too deep: risk of overfitting; increased training time</a:t>
            </a:r>
          </a:p>
          <a:p>
            <a:pPr marL="685800" lvl="1" indent="-228600">
              <a:buChar char="•"/>
            </a:pPr>
            <a:r>
              <a:rPr lang="en-US" sz="1100">
                <a:solidFill>
                  <a:srgbClr val="1A2B3C"/>
                </a:solidFill>
                <a:latin typeface="Calibri"/>
                <a:ea typeface="Calibri"/>
                <a:cs typeface="Calibri"/>
              </a:rPr>
              <a:t>No pooling</a:t>
            </a:r>
          </a:p>
          <a:p>
            <a:pPr lvl="1"/>
            <a:endParaRPr lang="en-US" sz="1100" dirty="0">
              <a:solidFill>
                <a:srgbClr val="1A2B3C"/>
              </a:solidFill>
              <a:latin typeface="Calibri" pitchFamily="34" charset="0"/>
            </a:endParaRPr>
          </a:p>
        </p:txBody>
      </p:sp>
      <p:sp>
        <p:nvSpPr>
          <p:cNvPr id="42" name="RightCard">
            <a:extLst>
              <a:ext uri="{FF2B5EF4-FFF2-40B4-BE49-F238E27FC236}">
                <a16:creationId xmlns:a16="http://schemas.microsoft.com/office/drawing/2014/main" id="{4171A54E-3F95-E26C-C33E-4FE7468D5857}"/>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a:extLst>
              <a:ext uri="{FF2B5EF4-FFF2-40B4-BE49-F238E27FC236}">
                <a16:creationId xmlns:a16="http://schemas.microsoft.com/office/drawing/2014/main" id="{D58336A2-B898-41F8-1D2D-703775955E9C}"/>
              </a:ext>
            </a:extLst>
          </p:cNvPr>
          <p:cNvSpPr/>
          <p:nvPr/>
        </p:nvSpPr>
        <p:spPr>
          <a:xfrm>
            <a:off x="4847279" y="1590281"/>
            <a:ext cx="3840480" cy="2816640"/>
          </a:xfrm>
          <a:prstGeom prst="rect">
            <a:avLst/>
          </a:prstGeom>
          <a:noFill/>
          <a:ln/>
        </p:spPr>
        <p:txBody>
          <a:bodyPr wrap="square" lIns="91440" tIns="45720" rIns="91440" bIns="45720" rtlCol="0" anchor="t"/>
          <a:lstStyle/>
          <a:p>
            <a:pPr>
              <a:buNone/>
            </a:pPr>
            <a:r>
              <a:rPr lang="en-US" sz="1300" b="1" dirty="0" err="1">
                <a:solidFill>
                  <a:srgbClr val="028090"/>
                </a:solidFill>
                <a:latin typeface="Trebuchet MS"/>
              </a:rPr>
              <a:t>BatchNorm</a:t>
            </a:r>
            <a:r>
              <a:rPr lang="en-US" sz="1300" b="1" dirty="0">
                <a:solidFill>
                  <a:srgbClr val="028090"/>
                </a:solidFill>
                <a:latin typeface="Trebuchet MS"/>
              </a:rPr>
              <a:t> + </a:t>
            </a:r>
            <a:r>
              <a:rPr lang="en-US" sz="1300" b="1" dirty="0" err="1">
                <a:solidFill>
                  <a:srgbClr val="028090"/>
                </a:solidFill>
                <a:latin typeface="Trebuchet MS"/>
              </a:rPr>
              <a:t>ReLU</a:t>
            </a:r>
            <a:endParaRPr lang="en-US" dirty="0" err="1"/>
          </a:p>
          <a:p>
            <a:pPr marL="228600" indent="-228600">
              <a:buChar char="•"/>
            </a:pPr>
            <a:r>
              <a:rPr lang="en-US" sz="1100" b="1">
                <a:solidFill>
                  <a:srgbClr val="1A2B3C"/>
                </a:solidFill>
                <a:latin typeface="Calibri"/>
                <a:ea typeface="Calibri"/>
                <a:cs typeface="Calibri"/>
              </a:rPr>
              <a:t>BatchNorm2d after every Conv layer</a:t>
            </a:r>
          </a:p>
          <a:p>
            <a:pPr lvl="1"/>
            <a:r>
              <a:rPr lang="en-US" sz="1100">
                <a:solidFill>
                  <a:srgbClr val="1A2B3C"/>
                </a:solidFill>
                <a:latin typeface="Calibri"/>
                <a:ea typeface="Calibri"/>
                <a:cs typeface="Calibri"/>
              </a:rPr>
              <a:t>Normalization step which speeds up training and increases stability</a:t>
            </a:r>
            <a:endParaRPr lang="en-US" sz="1100" dirty="0">
              <a:solidFill>
                <a:srgbClr val="1A2B3C"/>
              </a:solidFill>
              <a:latin typeface="Calibri" pitchFamily="34" charset="0"/>
              <a:ea typeface="Calibri"/>
              <a:cs typeface="Calibri"/>
            </a:endParaRP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a:ea typeface="Calibri"/>
                <a:cs typeface="Calibri"/>
              </a:rPr>
              <a:t>No vanishing gradient for positive activations in small </a:t>
            </a:r>
            <a:r>
              <a:rPr lang="en-US" sz="1100">
                <a:solidFill>
                  <a:srgbClr val="1A2B3C"/>
                </a:solidFill>
                <a:latin typeface="Calibri"/>
                <a:ea typeface="Calibri"/>
                <a:cs typeface="Calibri"/>
              </a:rPr>
              <a:t>networks like the ones developed; simple and efficient</a:t>
            </a:r>
          </a:p>
        </p:txBody>
      </p:sp>
      <p:sp>
        <p:nvSpPr>
          <p:cNvPr id="11" name="Title">
            <a:extLst>
              <a:ext uri="{FF2B5EF4-FFF2-40B4-BE49-F238E27FC236}">
                <a16:creationId xmlns:a16="http://schemas.microsoft.com/office/drawing/2014/main" id="{D85A0A53-1B5F-8891-7A97-497305264F07}"/>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a:solidFill>
                  <a:srgbClr val="0D1B2A"/>
                </a:solidFill>
                <a:latin typeface="Trebuchet MS"/>
              </a:rPr>
              <a:t>Architecture:</a:t>
            </a:r>
            <a:endParaRPr lang="en-US"/>
          </a:p>
        </p:txBody>
      </p:sp>
      <p:sp>
        <p:nvSpPr>
          <p:cNvPr id="6" name="Badge">
            <a:extLst>
              <a:ext uri="{FF2B5EF4-FFF2-40B4-BE49-F238E27FC236}">
                <a16:creationId xmlns:a16="http://schemas.microsoft.com/office/drawing/2014/main" id="{2441FFA1-3287-41EE-263D-14786D672F9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9" name="NumCircle">
            <a:extLst>
              <a:ext uri="{FF2B5EF4-FFF2-40B4-BE49-F238E27FC236}">
                <a16:creationId xmlns:a16="http://schemas.microsoft.com/office/drawing/2014/main" id="{E3FF0140-F3B5-4645-9471-5571E2A2BEBD}"/>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1661304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lIns="91440" tIns="45720" rIns="91440" bIns="45720" rtlCol="0" anchor="t"/>
          <a:lstStyle/>
          <a:p>
            <a:pPr>
              <a:buNone/>
            </a:pPr>
            <a:r>
              <a:rPr lang="en-US" sz="1400" b="1" dirty="0">
                <a:solidFill>
                  <a:srgbClr val="028090"/>
                </a:solidFill>
                <a:latin typeface="Trebuchet MS" pitchFamily="34" charset="0"/>
              </a:rPr>
              <a:t>Dropout (0.3)</a:t>
            </a:r>
          </a:p>
          <a:p>
            <a:r>
              <a:rPr lang="en-US" sz="1100" b="1">
                <a:solidFill>
                  <a:srgbClr val="1C3A52"/>
                </a:solidFill>
                <a:latin typeface="Calibri"/>
                <a:ea typeface="Calibri"/>
                <a:cs typeface="Calibri"/>
              </a:rPr>
              <a:t>Applied after Pooling (before FC layers)</a:t>
            </a:r>
          </a:p>
          <a:p>
            <a:pPr marL="228600" indent="-228600">
              <a:buChar char="•"/>
            </a:pPr>
            <a:r>
              <a:rPr lang="en-US" sz="1100">
                <a:solidFill>
                  <a:srgbClr val="1A2B3C"/>
                </a:solidFill>
                <a:latin typeface="Calibri"/>
                <a:ea typeface="Calibri"/>
                <a:cs typeface="Calibri"/>
              </a:rPr>
              <a:t>Randomly zeroes p% of neurons </a:t>
            </a:r>
            <a:r>
              <a:rPr lang="en-US" sz="1100" dirty="0">
                <a:solidFill>
                  <a:srgbClr val="1A2B3C"/>
                </a:solidFill>
                <a:latin typeface="Calibri"/>
                <a:ea typeface="Calibri"/>
                <a:cs typeface="Calibri"/>
              </a:rPr>
              <a:t>each forward pass</a:t>
            </a:r>
          </a:p>
          <a:p>
            <a:pPr marL="228600" indent="-228600">
              <a:buChar char="•"/>
            </a:pPr>
            <a:r>
              <a:rPr lang="en-US" sz="1100" dirty="0">
                <a:solidFill>
                  <a:srgbClr val="1A2B3C"/>
                </a:solidFill>
                <a:latin typeface="Calibri" pitchFamily="34" charset="0"/>
              </a:rPr>
              <a:t>Prevents co-adaptation, forces redundant representations</a:t>
            </a:r>
          </a:p>
          <a:p>
            <a:r>
              <a:rPr lang="en-US" sz="1100" b="1">
                <a:solidFill>
                  <a:srgbClr val="1C3A52"/>
                </a:solidFill>
                <a:latin typeface="Calibri"/>
                <a:ea typeface="Calibri"/>
                <a:cs typeface="Calibri"/>
              </a:rPr>
              <a:t>Why 0.3?:</a:t>
            </a:r>
          </a:p>
          <a:p>
            <a:pPr marL="228600" indent="-228600">
              <a:buFont typeface="Arial"/>
              <a:buChar char="•"/>
            </a:pPr>
            <a:r>
              <a:rPr lang="en-US" sz="1100" dirty="0">
                <a:solidFill>
                  <a:srgbClr val="1A2B3C"/>
                </a:solidFill>
                <a:latin typeface="Calibri"/>
                <a:ea typeface="Calibri"/>
                <a:cs typeface="Calibri"/>
              </a:rPr>
              <a:t>Multiple values were tested (0.1, 0.15, 0.2, 0.3, 0.4, 0.5); 0.3 is the sweet spot - not too much regularization, not too </a:t>
            </a:r>
            <a:r>
              <a:rPr lang="en-US" sz="1100">
                <a:solidFill>
                  <a:srgbClr val="1A2B3C"/>
                </a:solidFill>
                <a:latin typeface="Calibri"/>
                <a:ea typeface="Calibri"/>
                <a:cs typeface="Calibri"/>
              </a:rPr>
              <a:t>little</a:t>
            </a:r>
            <a:endParaRPr lang="en-US" sz="1100">
              <a:solidFill>
                <a:srgbClr val="1A2B3C"/>
              </a:solidFill>
              <a:latin typeface="Calibri" pitchFamily="34" charset="0"/>
              <a:ea typeface="Calibri"/>
              <a:cs typeface="Calibri"/>
            </a:endParaRP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Label Smoothing (0.1)</a:t>
            </a:r>
          </a:p>
          <a:p>
            <a:r>
              <a:rPr lang="en-US" sz="1100" b="1">
                <a:solidFill>
                  <a:srgbClr val="1C3A52"/>
                </a:solidFill>
                <a:latin typeface="Calibri"/>
                <a:ea typeface="Calibri"/>
                <a:cs typeface="Calibri"/>
              </a:rPr>
              <a:t>Decreased effectiveness when compared to MLPs. Idea:</a:t>
            </a:r>
            <a:endParaRPr lang="en-US" sz="1100" b="1">
              <a:solidFill>
                <a:srgbClr val="1C3A52"/>
              </a:solidFill>
              <a:latin typeface="Calibri" pitchFamily="34" charset="0"/>
              <a:ea typeface="Calibri"/>
              <a:cs typeface="Calibri"/>
            </a:endParaRPr>
          </a:p>
          <a:p>
            <a:pPr marL="228600" indent="-228600">
              <a:buChar char="•"/>
            </a:pPr>
            <a:r>
              <a:rPr lang="en-US" sz="1100" dirty="0">
                <a:solidFill>
                  <a:srgbClr val="1A2B3C"/>
                </a:solidFill>
                <a:latin typeface="Calibri"/>
                <a:ea typeface="Calibri"/>
                <a:cs typeface="Calibri"/>
              </a:rPr>
              <a:t>Softens hard one-hot targets </a:t>
            </a:r>
            <a:r>
              <a:rPr lang="en-US" sz="1100">
                <a:solidFill>
                  <a:srgbClr val="1A2B3C"/>
                </a:solidFill>
                <a:latin typeface="Calibri"/>
                <a:ea typeface="Calibri"/>
                <a:cs typeface="Calibri"/>
              </a:rPr>
              <a:t>(0.9/0.1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a:ea typeface="Calibri"/>
                <a:cs typeface="Calibri"/>
              </a:rPr>
              <a:t>Key on noisy boundaries — Bug/Grass and Rock/Ground share </a:t>
            </a:r>
            <a:r>
              <a:rPr lang="en-US" sz="1100" dirty="0" err="1">
                <a:solidFill>
                  <a:srgbClr val="1A2B3C"/>
                </a:solidFill>
                <a:latin typeface="Calibri"/>
                <a:ea typeface="Calibri"/>
                <a:cs typeface="Calibri"/>
              </a:rPr>
              <a:t>colour</a:t>
            </a:r>
            <a:r>
              <a:rPr lang="en-US" sz="1100" dirty="0">
                <a:solidFill>
                  <a:srgbClr val="1A2B3C"/>
                </a:solidFill>
                <a:latin typeface="Calibri"/>
                <a:ea typeface="Calibri"/>
                <a:cs typeface="Calibri"/>
              </a:rPr>
              <a:t> palettes</a:t>
            </a:r>
          </a:p>
          <a:p>
            <a:pPr>
              <a:buNone/>
            </a:pPr>
            <a:r>
              <a:rPr lang="en-US" sz="1100" b="1">
                <a:solidFill>
                  <a:srgbClr val="1C3A52"/>
                </a:solidFill>
                <a:latin typeface="Calibri"/>
                <a:ea typeface="Calibri"/>
                <a:cs typeface="Calibri"/>
              </a:rPr>
              <a:t>BUT:</a:t>
            </a:r>
          </a:p>
          <a:p>
            <a:pPr marL="228600" indent="-228600">
              <a:buChar char="•"/>
            </a:pPr>
            <a:r>
              <a:rPr lang="en-US" sz="1100">
                <a:solidFill>
                  <a:srgbClr val="1A2B3C"/>
                </a:solidFill>
                <a:latin typeface="Calibri"/>
                <a:ea typeface="Calibri"/>
                <a:cs typeface="Calibri"/>
              </a:rPr>
              <a:t>LS=0.1 (F) = 0.9750 vs LS=0.0 </a:t>
            </a:r>
            <a:r>
              <a:rPr lang="en-US" sz="1100" dirty="0">
                <a:solidFill>
                  <a:srgbClr val="1A2B3C"/>
                </a:solidFill>
                <a:latin typeface="Calibri"/>
                <a:ea typeface="Calibri"/>
                <a:cs typeface="Calibri"/>
              </a:rPr>
              <a:t>(C) = </a:t>
            </a:r>
            <a:r>
              <a:rPr lang="en-US" sz="1100">
                <a:solidFill>
                  <a:srgbClr val="1A2B3C"/>
                </a:solidFill>
                <a:latin typeface="Calibri"/>
                <a:ea typeface="Calibri"/>
                <a:cs typeface="Calibri"/>
              </a:rPr>
              <a:t>0.9880 — tiny decrease</a:t>
            </a:r>
          </a:p>
          <a:p>
            <a:endParaRPr lang="en-US" sz="1100" dirty="0">
              <a:solidFill>
                <a:srgbClr val="1A2B3C"/>
              </a:solidFill>
              <a:latin typeface="Calibri"/>
              <a:ea typeface="Calibri"/>
              <a:cs typeface="Calibri"/>
            </a:endParaRPr>
          </a:p>
          <a:p>
            <a:r>
              <a:rPr lang="en-US" sz="1100" dirty="0">
                <a:solidFill>
                  <a:srgbClr val="1A2B3C"/>
                </a:solidFill>
                <a:latin typeface="Calibri"/>
                <a:ea typeface="Calibri"/>
                <a:cs typeface="Calibri"/>
              </a:rPr>
              <a:t>A lot of models can effectively </a:t>
            </a:r>
            <a:r>
              <a:rPr lang="en-US" sz="1100">
                <a:solidFill>
                  <a:srgbClr val="1A2B3C"/>
                </a:solidFill>
                <a:latin typeface="Calibri"/>
                <a:ea typeface="Calibri"/>
                <a:cs typeface="Calibri"/>
              </a:rPr>
              <a:t>converge to a near-perfect validation score, adding label smoothing adds unnecessary </a:t>
            </a:r>
            <a:r>
              <a:rPr lang="en-US" sz="1100" dirty="0">
                <a:solidFill>
                  <a:srgbClr val="1A2B3C"/>
                </a:solidFill>
                <a:latin typeface="Calibri"/>
                <a:ea typeface="Calibri"/>
                <a:cs typeface="Calibri"/>
              </a:rPr>
              <a:t>noise</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lIns="91440" tIns="45720" rIns="91440" bIns="45720" rtlCol="0" anchor="t"/>
          <a:lstStyle/>
          <a:p>
            <a:pPr>
              <a:buNone/>
            </a:pPr>
            <a:r>
              <a:rPr lang="en-US" sz="1400" b="1" dirty="0">
                <a:solidFill>
                  <a:srgbClr val="1C3A52"/>
                </a:solidFill>
                <a:latin typeface="Trebuchet MS" pitchFamily="34" charset="0"/>
              </a:rPr>
              <a:t>Imbalance Handling</a:t>
            </a:r>
          </a:p>
          <a:p>
            <a:r>
              <a:rPr lang="en-US" sz="1100" b="1" dirty="0">
                <a:solidFill>
                  <a:srgbClr val="1C3A52"/>
                </a:solidFill>
                <a:latin typeface="Calibri"/>
                <a:ea typeface="Calibri"/>
                <a:cs typeface="Calibri"/>
              </a:rPr>
              <a:t>Weighted </a:t>
            </a:r>
            <a:r>
              <a:rPr lang="en-US" sz="1100" b="1" err="1">
                <a:solidFill>
                  <a:srgbClr val="1C3A52"/>
                </a:solidFill>
                <a:latin typeface="Calibri"/>
                <a:ea typeface="Calibri"/>
                <a:cs typeface="Calibri"/>
              </a:rPr>
              <a:t>CrossEntropyLoss</a:t>
            </a:r>
            <a:r>
              <a:rPr lang="en-US" sz="1100" b="1" dirty="0">
                <a:solidFill>
                  <a:srgbClr val="1C3A52"/>
                </a:solidFill>
                <a:latin typeface="Calibri"/>
                <a:ea typeface="Calibri"/>
                <a:cs typeface="Calibri"/>
              </a:rPr>
              <a:t>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r>
              <a:rPr lang="en-US" sz="1100" b="1" dirty="0" err="1">
                <a:solidFill>
                  <a:srgbClr val="1C3A52"/>
                </a:solidFill>
                <a:latin typeface="Calibri"/>
                <a:ea typeface="Calibri"/>
                <a:cs typeface="Calibri"/>
              </a:rPr>
              <a:t>WeightedRandomSampler</a:t>
            </a:r>
            <a:r>
              <a:rPr lang="en-US" sz="1100" b="1" dirty="0">
                <a:solidFill>
                  <a:srgbClr val="1C3A52"/>
                </a:solidFill>
                <a:latin typeface="Calibri"/>
                <a:ea typeface="Calibri"/>
                <a:cs typeface="Calibri"/>
              </a:rPr>
              <a:t> (tested separately) - most impactful single change</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r>
              <a:rPr lang="en-US" sz="1100" b="1">
                <a:solidFill>
                  <a:srgbClr val="C0392B"/>
                </a:solidFill>
                <a:latin typeface="Calibri"/>
                <a:ea typeface="Calibri"/>
                <a:cs typeface="Calibri"/>
              </a:rPr>
              <a:t>Pitfall: CW + Sampler together can pose a problem</a:t>
            </a:r>
            <a:endParaRPr lang="en-US" sz="1100" b="1">
              <a:solidFill>
                <a:srgbClr val="C0392B"/>
              </a:solidFill>
              <a:latin typeface="Calibri" pitchFamily="34" charset="0"/>
              <a:ea typeface="Calibri"/>
              <a:cs typeface="Calibri"/>
            </a:endParaRPr>
          </a:p>
          <a:p>
            <a:pPr marL="228600" indent="-228600">
              <a:buFont typeface="Arial"/>
              <a:buChar char="•"/>
            </a:pPr>
            <a:r>
              <a:rPr lang="en-US" sz="1100" dirty="0">
                <a:solidFill>
                  <a:srgbClr val="1A2B3C"/>
                </a:solidFill>
                <a:latin typeface="Calibri"/>
                <a:ea typeface="Calibri"/>
                <a:cs typeface="Calibri"/>
              </a:rPr>
              <a:t>As seen in the previous task</a:t>
            </a:r>
            <a:endParaRPr lang="en-US" dirty="0"/>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15" name="Badge">
            <a:extLst>
              <a:ext uri="{FF2B5EF4-FFF2-40B4-BE49-F238E27FC236}">
                <a16:creationId xmlns:a16="http://schemas.microsoft.com/office/drawing/2014/main" id="{126339B8-3404-3014-9413-7BB1812D9E3C}"/>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7" name="NumCircle">
            <a:extLst>
              <a:ext uri="{FF2B5EF4-FFF2-40B4-BE49-F238E27FC236}">
                <a16:creationId xmlns:a16="http://schemas.microsoft.com/office/drawing/2014/main" id="{B9C98147-9059-627A-B0EE-F6A32AC7B17B}"/>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lIns="91440" tIns="45720" rIns="91440" bIns="45720" rtlCol="0" anchor="t"/>
          <a:lstStyle/>
          <a:p>
            <a:pPr>
              <a:buNone/>
            </a:pPr>
            <a:r>
              <a:rPr lang="en-US" sz="1400" b="1" dirty="0" err="1">
                <a:solidFill>
                  <a:srgbClr val="028090"/>
                </a:solidFill>
                <a:latin typeface="Trebuchet MS"/>
              </a:rPr>
              <a:t>Optimiser</a:t>
            </a:r>
            <a:r>
              <a:rPr lang="en-US" sz="1400" b="1" dirty="0">
                <a:solidFill>
                  <a:srgbClr val="028090"/>
                </a:solidFill>
                <a:latin typeface="Trebuchet MS"/>
              </a:rPr>
              <a:t> + Scheduler</a:t>
            </a:r>
          </a:p>
          <a:p>
            <a:pPr marL="228600" indent="-228600">
              <a:buChar char="•"/>
            </a:pPr>
            <a:r>
              <a:rPr lang="en-US" sz="1200" b="1" dirty="0">
                <a:solidFill>
                  <a:srgbClr val="1C3A52"/>
                </a:solidFill>
                <a:latin typeface="Calibri"/>
                <a:ea typeface="Calibri"/>
                <a:cs typeface="Calibri"/>
              </a:rPr>
              <a:t>Adam </a:t>
            </a:r>
            <a:r>
              <a:rPr lang="en-US" sz="1200" b="1" dirty="0" err="1">
                <a:solidFill>
                  <a:srgbClr val="1C3A52"/>
                </a:solidFill>
                <a:latin typeface="Calibri"/>
                <a:ea typeface="Calibri"/>
                <a:cs typeface="Calibri"/>
              </a:rPr>
              <a:t>lr</a:t>
            </a:r>
            <a:r>
              <a:rPr lang="en-US" sz="1200" b="1" dirty="0">
                <a:solidFill>
                  <a:srgbClr val="1C3A52"/>
                </a:solidFill>
                <a:latin typeface="Calibri"/>
                <a:ea typeface="Calibri"/>
                <a:cs typeface="Calibri"/>
              </a:rPr>
              <a:t>=1e-3 </a:t>
            </a:r>
            <a:r>
              <a:rPr lang="en-US" sz="1200" dirty="0">
                <a:solidFill>
                  <a:srgbClr val="1A2B3C"/>
                </a:solidFill>
                <a:latin typeface="Calibri"/>
                <a:ea typeface="Calibri"/>
                <a:cs typeface="Calibri"/>
              </a:rPr>
              <a:t>— robust adaptive LR, standard for CNNs (Kingma &amp; Ba, 2015)</a:t>
            </a:r>
          </a:p>
          <a:p>
            <a:pPr marL="228600" indent="-228600">
              <a:buChar char="•"/>
            </a:pPr>
            <a:r>
              <a:rPr lang="en-US" sz="1200" b="1" dirty="0" err="1">
                <a:solidFill>
                  <a:srgbClr val="1C3A52"/>
                </a:solidFill>
                <a:latin typeface="Calibri"/>
                <a:ea typeface="Calibri"/>
                <a:cs typeface="Calibri"/>
              </a:rPr>
              <a:t>StepLR</a:t>
            </a:r>
            <a:r>
              <a:rPr lang="en-US" sz="1200" b="1" dirty="0">
                <a:solidFill>
                  <a:srgbClr val="1C3A52"/>
                </a:solidFill>
                <a:latin typeface="Calibri"/>
                <a:ea typeface="Calibri"/>
                <a:cs typeface="Calibri"/>
              </a:rPr>
              <a:t>(step=5, gamma=0.5) </a:t>
            </a:r>
            <a:r>
              <a:rPr lang="en-US" sz="1200" dirty="0">
                <a:solidFill>
                  <a:srgbClr val="1A2B3C"/>
                </a:solidFill>
                <a:latin typeface="Calibri"/>
                <a:ea typeface="Calibri"/>
                <a:cs typeface="Calibri"/>
              </a:rPr>
              <a:t>— halves LR every 5 epochs; </a:t>
            </a:r>
            <a:r>
              <a:rPr lang="en-US" sz="1200" dirty="0" err="1">
                <a:solidFill>
                  <a:srgbClr val="1A2B3C"/>
                </a:solidFill>
                <a:latin typeface="Calibri"/>
                <a:ea typeface="Calibri"/>
                <a:cs typeface="Calibri"/>
              </a:rPr>
              <a:t>CosineAnnealingLR</a:t>
            </a:r>
            <a:r>
              <a:rPr lang="en-US" sz="1200" dirty="0">
                <a:solidFill>
                  <a:srgbClr val="1A2B3C"/>
                </a:solidFill>
                <a:latin typeface="Calibri"/>
                <a:ea typeface="Calibri"/>
                <a:cs typeface="Calibri"/>
              </a:rPr>
              <a:t> also tested but similar results</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8" name="Badge">
            <a:extLst>
              <a:ext uri="{FF2B5EF4-FFF2-40B4-BE49-F238E27FC236}">
                <a16:creationId xmlns:a16="http://schemas.microsoft.com/office/drawing/2014/main" id="{FD79B158-A654-9152-AFE8-A8A17209200C}"/>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5" name="NumCircle">
            <a:extLst>
              <a:ext uri="{FF2B5EF4-FFF2-40B4-BE49-F238E27FC236}">
                <a16:creationId xmlns:a16="http://schemas.microsoft.com/office/drawing/2014/main" id="{371472B0-C293-A262-4D3E-C9008B9E80F4}"/>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There were multiple models that reached a validation Macro-Averaged F1-Score of 1.0, we chose the one that balanced fastest converging with fewest parameters, which was model M - Deep CNN. We then applied different pipelines of pre-</a:t>
            </a:r>
            <a:r>
              <a:rPr lang="en-US" sz="1200">
                <a:solidFill>
                  <a:schemeClr val="bg1"/>
                </a:solidFill>
                <a:latin typeface="Calibri"/>
                <a:ea typeface="Calibri"/>
                <a:cs typeface="Calibri"/>
              </a:rPr>
              <a:t>processing and data augmentation.</a:t>
            </a:r>
            <a:endParaRPr lang="en-US" sz="1200" dirty="0">
              <a:solidFill>
                <a:schemeClr val="bg1"/>
              </a:solidFill>
              <a:latin typeface="Calibri"/>
              <a:ea typeface="Calibri"/>
              <a:cs typeface="Calibri"/>
            </a:endParaRP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buNone/>
            </a:pPr>
            <a:r>
              <a:rPr lang="en-US" sz="1300" b="1" dirty="0">
                <a:solidFill>
                  <a:srgbClr val="028090"/>
                </a:solidFill>
                <a:latin typeface="Calibri"/>
              </a:rPr>
              <a:t>Grayscale </a:t>
            </a:r>
          </a:p>
          <a:p>
            <a:pPr algn="ctr"/>
            <a:r>
              <a:rPr lang="en-US" sz="1300" dirty="0">
                <a:solidFill>
                  <a:srgbClr val="1A2B3C"/>
                </a:solidFill>
                <a:latin typeface="Calibri"/>
              </a:rPr>
              <a:t>A 64x64 RGB image results in an initial vector of length = 12.288. If we convert to grayscale the size is reduced by 3, to 4096. Are we able to achieve similar results with this smaller input?  Turns out no. </a:t>
            </a:r>
            <a:r>
              <a:rPr lang="en-US" sz="1300" err="1">
                <a:solidFill>
                  <a:srgbClr val="1A2B3C"/>
                </a:solidFill>
                <a:latin typeface="Calibri"/>
              </a:rPr>
              <a:t>Pokemon</a:t>
            </a:r>
            <a:r>
              <a:rPr lang="en-US" sz="1300" dirty="0">
                <a:solidFill>
                  <a:srgbClr val="1A2B3C"/>
                </a:solidFill>
                <a:latin typeface="Calibri"/>
              </a:rPr>
              <a:t> classi</a:t>
            </a:r>
            <a:r>
              <a:rPr lang="en-US" sz="1300" err="1">
                <a:solidFill>
                  <a:srgbClr val="1A2B3C"/>
                </a:solidFill>
                <a:latin typeface="Calibri"/>
              </a:rPr>
              <a:t>ficatio</a:t>
            </a:r>
            <a:r>
              <a:rPr lang="en-US" sz="1300" dirty="0">
                <a:solidFill>
                  <a:srgbClr val="1A2B3C"/>
                </a:solidFill>
                <a:latin typeface="Calibri"/>
              </a:rPr>
              <a:t>n is strongly color-dependent (Fire=orange, water=blue, poison=purple, </a:t>
            </a:r>
            <a:r>
              <a:rPr lang="en-US" sz="1300">
                <a:solidFill>
                  <a:srgbClr val="1A2B3C"/>
                </a:solidFill>
                <a:latin typeface="Calibri"/>
              </a:rPr>
              <a:t>grass=green, ...)</a:t>
            </a:r>
            <a:endParaRPr lang="en-US" sz="1300">
              <a:solidFill>
                <a:srgbClr val="1A2B3C"/>
              </a:solidFill>
              <a:latin typeface="Calibri"/>
              <a:ea typeface="Calibri"/>
              <a:cs typeface="Calibri"/>
            </a:endParaRPr>
          </a:p>
          <a:p>
            <a:pPr algn="ctr"/>
            <a:endParaRPr lang="en-US" sz="1300" dirty="0">
              <a:solidFill>
                <a:srgbClr val="1A2B3C"/>
              </a:solidFill>
              <a:latin typeface="Calibri"/>
              <a:ea typeface="Calibri"/>
              <a:cs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r>
              <a:rPr lang="en-US" sz="1400" dirty="0">
                <a:solidFill>
                  <a:srgbClr val="1C3A52"/>
                </a:solidFill>
                <a:latin typeface="Calibri"/>
              </a:rPr>
              <a:t>In the previous task we mentioned that CNNs could benefit from this type of data augmentation, however, doing it gave us WORSE results. Why did this happen? Isn't training with slightly different variants of our images helpful for generalization? This is explored in the next slide.</a:t>
            </a:r>
            <a:endParaRPr lang="en-US" sz="1400" dirty="0">
              <a:solidFill>
                <a:srgbClr val="1C3A52"/>
              </a:solidFill>
              <a:latin typeface="Calibri"/>
              <a:ea typeface="Calibri"/>
              <a:cs typeface="Calibri"/>
            </a:endParaRPr>
          </a:p>
        </p:txBody>
      </p:sp>
      <p:pic>
        <p:nvPicPr>
          <p:cNvPr id="7" name="Picture 6" descr="A green and blue rectangle with black text&#10;&#10;AI-generated content may be incorrect.">
            <a:extLst>
              <a:ext uri="{FF2B5EF4-FFF2-40B4-BE49-F238E27FC236}">
                <a16:creationId xmlns:a16="http://schemas.microsoft.com/office/drawing/2014/main" id="{BA7A2BDF-A57A-9369-8AEF-BA118B76C6D5}"/>
              </a:ext>
            </a:extLst>
          </p:cNvPr>
          <p:cNvPicPr>
            <a:picLocks noChangeAspect="1"/>
          </p:cNvPicPr>
          <p:nvPr/>
        </p:nvPicPr>
        <p:blipFill>
          <a:blip r:embed="rId2"/>
          <a:srcRect r="45073" b="1075"/>
          <a:stretch>
            <a:fillRect/>
          </a:stretch>
        </p:blipFill>
        <p:spPr>
          <a:xfrm>
            <a:off x="410198" y="3719794"/>
            <a:ext cx="2107104" cy="739085"/>
          </a:xfrm>
          <a:prstGeom prst="rect">
            <a:avLst/>
          </a:prstGeom>
        </p:spPr>
      </p:pic>
      <p:sp>
        <p:nvSpPr>
          <p:cNvPr id="16" name="TextBox 15">
            <a:extLst>
              <a:ext uri="{FF2B5EF4-FFF2-40B4-BE49-F238E27FC236}">
                <a16:creationId xmlns:a16="http://schemas.microsoft.com/office/drawing/2014/main" id="{FD0D12E7-38EE-4D59-7537-F5A5AC20B2DA}"/>
              </a:ext>
            </a:extLst>
          </p:cNvPr>
          <p:cNvSpPr txBox="1"/>
          <p:nvPr/>
        </p:nvSpPr>
        <p:spPr>
          <a:xfrm>
            <a:off x="2810705" y="4228745"/>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-4.81%!</a:t>
            </a:r>
          </a:p>
        </p:txBody>
      </p:sp>
      <p:pic>
        <p:nvPicPr>
          <p:cNvPr id="17" name="Picture 16" descr="A green and blue rectangle with black text&#10;&#10;AI-generated content may be incorrect.">
            <a:extLst>
              <a:ext uri="{FF2B5EF4-FFF2-40B4-BE49-F238E27FC236}">
                <a16:creationId xmlns:a16="http://schemas.microsoft.com/office/drawing/2014/main" id="{4913A525-002F-C934-62F6-5FB4F69C5410}"/>
              </a:ext>
            </a:extLst>
          </p:cNvPr>
          <p:cNvPicPr>
            <a:picLocks noChangeAspect="1"/>
          </p:cNvPicPr>
          <p:nvPr/>
        </p:nvPicPr>
        <p:blipFill>
          <a:blip r:embed="rId2"/>
          <a:srcRect r="45073" b="1075"/>
          <a:stretch>
            <a:fillRect/>
          </a:stretch>
        </p:blipFill>
        <p:spPr>
          <a:xfrm>
            <a:off x="4775372" y="3710108"/>
            <a:ext cx="2107104" cy="739085"/>
          </a:xfrm>
          <a:prstGeom prst="rect">
            <a:avLst/>
          </a:prstGeom>
        </p:spPr>
      </p:pic>
      <p:sp>
        <p:nvSpPr>
          <p:cNvPr id="23" name="TextBox 22">
            <a:extLst>
              <a:ext uri="{FF2B5EF4-FFF2-40B4-BE49-F238E27FC236}">
                <a16:creationId xmlns:a16="http://schemas.microsoft.com/office/drawing/2014/main" id="{77FDADCB-1C13-BF33-8976-E9729F56FD9C}"/>
              </a:ext>
            </a:extLst>
          </p:cNvPr>
          <p:cNvSpPr txBox="1"/>
          <p:nvPr/>
        </p:nvSpPr>
        <p:spPr>
          <a:xfrm>
            <a:off x="7280793" y="4228744"/>
            <a:ext cx="141940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-1.5%!</a:t>
            </a:r>
          </a:p>
        </p:txBody>
      </p:sp>
      <p:pic>
        <p:nvPicPr>
          <p:cNvPr id="6" name="Picture 5">
            <a:extLst>
              <a:ext uri="{FF2B5EF4-FFF2-40B4-BE49-F238E27FC236}">
                <a16:creationId xmlns:a16="http://schemas.microsoft.com/office/drawing/2014/main" id="{5263C5E9-40E0-D9BE-563C-92D3111D2F54}"/>
              </a:ext>
            </a:extLst>
          </p:cNvPr>
          <p:cNvPicPr>
            <a:picLocks noChangeAspect="1"/>
          </p:cNvPicPr>
          <p:nvPr/>
        </p:nvPicPr>
        <p:blipFill>
          <a:blip r:embed="rId3"/>
          <a:srcRect l="-127" t="-1004" r="583" b="-6007"/>
          <a:stretch>
            <a:fillRect/>
          </a:stretch>
        </p:blipFill>
        <p:spPr>
          <a:xfrm>
            <a:off x="410198" y="4455964"/>
            <a:ext cx="2109236" cy="233399"/>
          </a:xfrm>
          <a:prstGeom prst="rect">
            <a:avLst/>
          </a:prstGeom>
        </p:spPr>
      </p:pic>
      <p:pic>
        <p:nvPicPr>
          <p:cNvPr id="9" name="Picture 8">
            <a:extLst>
              <a:ext uri="{FF2B5EF4-FFF2-40B4-BE49-F238E27FC236}">
                <a16:creationId xmlns:a16="http://schemas.microsoft.com/office/drawing/2014/main" id="{B01B9F67-192D-5CF2-09BE-E5E8A5B61B33}"/>
              </a:ext>
            </a:extLst>
          </p:cNvPr>
          <p:cNvPicPr>
            <a:picLocks noChangeAspect="1"/>
          </p:cNvPicPr>
          <p:nvPr/>
        </p:nvPicPr>
        <p:blipFill>
          <a:blip r:embed="rId4"/>
          <a:stretch>
            <a:fillRect/>
          </a:stretch>
        </p:blipFill>
        <p:spPr>
          <a:xfrm>
            <a:off x="4785586" y="4458264"/>
            <a:ext cx="2110676" cy="227471"/>
          </a:xfrm>
          <a:prstGeom prst="rect">
            <a:avLst/>
          </a:prstGeom>
        </p:spPr>
      </p:pic>
      <p:sp>
        <p:nvSpPr>
          <p:cNvPr id="8" name="Text 8">
            <a:extLst>
              <a:ext uri="{FF2B5EF4-FFF2-40B4-BE49-F238E27FC236}">
                <a16:creationId xmlns:a16="http://schemas.microsoft.com/office/drawing/2014/main" id="{11F270A3-E9C8-93A2-E2A3-54B392C4C4F0}"/>
              </a:ext>
            </a:extLst>
          </p:cNvPr>
          <p:cNvSpPr/>
          <p:nvPr/>
        </p:nvSpPr>
        <p:spPr>
          <a:xfrm>
            <a:off x="4339292" y="4761855"/>
            <a:ext cx="4535193" cy="371181"/>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Note that we tried very simple augmentation processes for this analysis; stronger augmentation gave us even worse results</a:t>
            </a:r>
            <a:endParaRPr lang="en-US" dirty="0"/>
          </a:p>
        </p:txBody>
      </p:sp>
      <p:sp>
        <p:nvSpPr>
          <p:cNvPr id="12" name="Badge">
            <a:extLst>
              <a:ext uri="{FF2B5EF4-FFF2-40B4-BE49-F238E27FC236}">
                <a16:creationId xmlns:a16="http://schemas.microsoft.com/office/drawing/2014/main" id="{03989AA3-7962-BB37-1508-0A25D80204B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4" name="NumCircle">
            <a:extLst>
              <a:ext uri="{FF2B5EF4-FFF2-40B4-BE49-F238E27FC236}">
                <a16:creationId xmlns:a16="http://schemas.microsoft.com/office/drawing/2014/main" id="{3C5B3943-9502-9F87-0D4D-E2E48353AFAA}"/>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3772889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ea typeface="Calibri"/>
                <a:cs typeface="Calibri"/>
              </a:rPr>
              <a:t>Why does data augmentation hurt the models? </a:t>
            </a:r>
            <a:r>
              <a:rPr lang="en-US" sz="1200" dirty="0">
                <a:solidFill>
                  <a:schemeClr val="bg1"/>
                </a:solidFill>
                <a:latin typeface="Calibri"/>
                <a:ea typeface="Calibri"/>
                <a:cs typeface="Calibri"/>
              </a:rPr>
              <a:t>Let's take a look at some samples from the dataset which feature the same </a:t>
            </a:r>
            <a:r>
              <a:rPr lang="en-US" sz="1200" dirty="0" err="1">
                <a:solidFill>
                  <a:schemeClr val="bg1"/>
                </a:solidFill>
                <a:latin typeface="Calibri"/>
                <a:ea typeface="Calibri"/>
                <a:cs typeface="Calibri"/>
              </a:rPr>
              <a:t>pokemon</a:t>
            </a:r>
            <a:r>
              <a:rPr lang="en-US" sz="1200" dirty="0">
                <a:solidFill>
                  <a:schemeClr val="bg1"/>
                </a:solidFill>
                <a:latin typeface="Calibri"/>
                <a:ea typeface="Calibri"/>
                <a:cs typeface="Calibri"/>
              </a:rPr>
              <a:t> </a:t>
            </a:r>
            <a:r>
              <a:rPr lang="en-US" sz="1200" b="1" dirty="0">
                <a:solidFill>
                  <a:schemeClr val="accent2">
                    <a:lumMod val="40000"/>
                    <a:lumOff val="60000"/>
                  </a:schemeClr>
                </a:solidFill>
                <a:latin typeface="Trebuchet MS"/>
                <a:ea typeface="Calibri"/>
                <a:cs typeface="Calibri"/>
              </a:rPr>
              <a:t> </a:t>
            </a:r>
            <a:endParaRPr lang="en-US" sz="1200">
              <a:solidFill>
                <a:schemeClr val="accent2">
                  <a:lumMod val="40000"/>
                  <a:lumOff val="60000"/>
                </a:schemeClr>
              </a:solidFill>
              <a:latin typeface="Calibri"/>
              <a:ea typeface="Calibri"/>
              <a:cs typeface="Calibri"/>
            </a:endParaRPr>
          </a:p>
        </p:txBody>
      </p:sp>
      <p:pic>
        <p:nvPicPr>
          <p:cNvPr id="4" name="Picture 3" descr="A cartoon of a blue bird&#10;&#10;AI-generated content may be incorrect.">
            <a:extLst>
              <a:ext uri="{FF2B5EF4-FFF2-40B4-BE49-F238E27FC236}">
                <a16:creationId xmlns:a16="http://schemas.microsoft.com/office/drawing/2014/main" id="{2F5F8CF7-4031-BCBF-7782-91A802000151}"/>
              </a:ext>
            </a:extLst>
          </p:cNvPr>
          <p:cNvPicPr>
            <a:picLocks noChangeAspect="1"/>
          </p:cNvPicPr>
          <p:nvPr/>
        </p:nvPicPr>
        <p:blipFill>
          <a:blip r:embed="rId2"/>
          <a:stretch>
            <a:fillRect/>
          </a:stretch>
        </p:blipFill>
        <p:spPr>
          <a:xfrm>
            <a:off x="925378" y="1433916"/>
            <a:ext cx="1355455" cy="1365142"/>
          </a:xfrm>
          <a:prstGeom prst="rect">
            <a:avLst/>
          </a:prstGeom>
        </p:spPr>
      </p:pic>
      <p:pic>
        <p:nvPicPr>
          <p:cNvPr id="8" name="Picture 7" descr="A cartoon bird flying in the air&#10;&#10;AI-generated content may be incorrect.">
            <a:extLst>
              <a:ext uri="{FF2B5EF4-FFF2-40B4-BE49-F238E27FC236}">
                <a16:creationId xmlns:a16="http://schemas.microsoft.com/office/drawing/2014/main" id="{3C50916E-E0FC-9A85-49D1-52E3002C76C8}"/>
              </a:ext>
            </a:extLst>
          </p:cNvPr>
          <p:cNvPicPr>
            <a:picLocks noChangeAspect="1"/>
          </p:cNvPicPr>
          <p:nvPr/>
        </p:nvPicPr>
        <p:blipFill>
          <a:blip r:embed="rId3"/>
          <a:stretch>
            <a:fillRect/>
          </a:stretch>
        </p:blipFill>
        <p:spPr>
          <a:xfrm>
            <a:off x="2388030" y="1433916"/>
            <a:ext cx="1355455" cy="1365142"/>
          </a:xfrm>
          <a:prstGeom prst="rect">
            <a:avLst/>
          </a:prstGeom>
        </p:spPr>
      </p:pic>
      <p:pic>
        <p:nvPicPr>
          <p:cNvPr id="9" name="Picture 8" descr="A cartoon bird in the air&#10;&#10;AI-generated content may be incorrect.">
            <a:extLst>
              <a:ext uri="{FF2B5EF4-FFF2-40B4-BE49-F238E27FC236}">
                <a16:creationId xmlns:a16="http://schemas.microsoft.com/office/drawing/2014/main" id="{782EA57B-27C7-685F-0D5F-653D661BDF7F}"/>
              </a:ext>
            </a:extLst>
          </p:cNvPr>
          <p:cNvPicPr>
            <a:picLocks noChangeAspect="1"/>
          </p:cNvPicPr>
          <p:nvPr/>
        </p:nvPicPr>
        <p:blipFill>
          <a:blip r:embed="rId4"/>
          <a:stretch>
            <a:fillRect/>
          </a:stretch>
        </p:blipFill>
        <p:spPr>
          <a:xfrm>
            <a:off x="3840996" y="1433916"/>
            <a:ext cx="1355455" cy="1365142"/>
          </a:xfrm>
          <a:prstGeom prst="rect">
            <a:avLst/>
          </a:prstGeom>
        </p:spPr>
      </p:pic>
      <p:pic>
        <p:nvPicPr>
          <p:cNvPr id="13" name="Picture 12" descr="A cartoon of a blue dragon&#10;&#10;AI-generated content may be incorrect.">
            <a:extLst>
              <a:ext uri="{FF2B5EF4-FFF2-40B4-BE49-F238E27FC236}">
                <a16:creationId xmlns:a16="http://schemas.microsoft.com/office/drawing/2014/main" id="{8B8F9A2F-DFE0-A568-5915-A25786918F62}"/>
              </a:ext>
            </a:extLst>
          </p:cNvPr>
          <p:cNvPicPr>
            <a:picLocks noChangeAspect="1"/>
          </p:cNvPicPr>
          <p:nvPr/>
        </p:nvPicPr>
        <p:blipFill>
          <a:blip r:embed="rId5"/>
          <a:stretch>
            <a:fillRect/>
          </a:stretch>
        </p:blipFill>
        <p:spPr>
          <a:xfrm>
            <a:off x="5293962" y="1433916"/>
            <a:ext cx="1355455" cy="1365142"/>
          </a:xfrm>
          <a:prstGeom prst="rect">
            <a:avLst/>
          </a:prstGeom>
        </p:spPr>
      </p:pic>
      <p:pic>
        <p:nvPicPr>
          <p:cNvPr id="14" name="Picture 13" descr="A cartoon of a blue dragon&#10;&#10;AI-generated content may be incorrect.">
            <a:extLst>
              <a:ext uri="{FF2B5EF4-FFF2-40B4-BE49-F238E27FC236}">
                <a16:creationId xmlns:a16="http://schemas.microsoft.com/office/drawing/2014/main" id="{EA7CA163-5ECA-096D-252C-8A24B79B6A5F}"/>
              </a:ext>
            </a:extLst>
          </p:cNvPr>
          <p:cNvPicPr>
            <a:picLocks noChangeAspect="1"/>
          </p:cNvPicPr>
          <p:nvPr/>
        </p:nvPicPr>
        <p:blipFill>
          <a:blip r:embed="rId6"/>
          <a:stretch>
            <a:fillRect/>
          </a:stretch>
        </p:blipFill>
        <p:spPr>
          <a:xfrm>
            <a:off x="6746928" y="1433916"/>
            <a:ext cx="1355455" cy="1365142"/>
          </a:xfrm>
          <a:prstGeom prst="rect">
            <a:avLst/>
          </a:prstGeom>
        </p:spPr>
      </p:pic>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6" name="Text 8">
            <a:extLst>
              <a:ext uri="{FF2B5EF4-FFF2-40B4-BE49-F238E27FC236}">
                <a16:creationId xmlns:a16="http://schemas.microsoft.com/office/drawing/2014/main" id="{EF16EA7A-8BF6-C90D-A5B0-C71DE4180631}"/>
              </a:ext>
            </a:extLst>
          </p:cNvPr>
          <p:cNvSpPr/>
          <p:nvPr/>
        </p:nvSpPr>
        <p:spPr>
          <a:xfrm>
            <a:off x="871548" y="2940804"/>
            <a:ext cx="7247395" cy="1795088"/>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From this small set of examples we can see that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always remains in the same upright position, facing the same direction, with the same </a:t>
            </a:r>
            <a:r>
              <a:rPr lang="en-US" sz="1200" dirty="0" err="1">
                <a:solidFill>
                  <a:srgbClr val="0D1B2A"/>
                </a:solidFill>
                <a:latin typeface="Calibri"/>
                <a:ea typeface="Calibri"/>
                <a:cs typeface="Calibri"/>
              </a:rPr>
              <a:t>colours</a:t>
            </a:r>
            <a:r>
              <a:rPr lang="en-US" sz="1200" dirty="0">
                <a:solidFill>
                  <a:srgbClr val="0D1B2A"/>
                </a:solidFill>
                <a:latin typeface="Calibri"/>
                <a:ea typeface="Calibri"/>
                <a:cs typeface="Calibri"/>
              </a:rPr>
              <a:t>, … and the only thing that changes are: its position in the picture, and the background. Since CNNs are invariant to the object's position in the picture, in reality, the only thing that really changes is the background. So, if we replace a training example that has all these characteristics with a flipped image of </a:t>
            </a:r>
            <a:r>
              <a:rPr lang="en-US" sz="1200" dirty="0" err="1">
                <a:solidFill>
                  <a:srgbClr val="0D1B2A"/>
                </a:solidFill>
                <a:latin typeface="Calibri"/>
                <a:ea typeface="Calibri"/>
                <a:cs typeface="Calibri"/>
              </a:rPr>
              <a:t>Golduck</a:t>
            </a:r>
            <a:r>
              <a:rPr lang="en-US" sz="1200" dirty="0">
                <a:solidFill>
                  <a:srgbClr val="0D1B2A"/>
                </a:solidFill>
                <a:latin typeface="Calibri"/>
                <a:ea typeface="Calibri"/>
                <a:cs typeface="Calibri"/>
              </a:rPr>
              <a:t> (for example), we're making the model learn something it will never "see" in </a:t>
            </a:r>
            <a:r>
              <a:rPr lang="en-US" sz="1200" dirty="0" err="1">
                <a:solidFill>
                  <a:srgbClr val="0D1B2A"/>
                </a:solidFill>
                <a:latin typeface="Calibri"/>
                <a:ea typeface="Calibri"/>
                <a:cs typeface="Calibri"/>
              </a:rPr>
              <a:t>val</a:t>
            </a:r>
            <a:r>
              <a:rPr lang="en-US" sz="1200" dirty="0">
                <a:solidFill>
                  <a:srgbClr val="0D1B2A"/>
                </a:solidFill>
                <a:latin typeface="Calibri"/>
                <a:ea typeface="Calibri"/>
                <a:cs typeface="Calibri"/>
              </a:rPr>
              <a:t>/test time by adding unnecessary noise, which hurts our model's performance (specially in the case of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changes and grayscale since, as explored in task 1, the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is one of the dominant factors in identifying a </a:t>
            </a:r>
            <a:r>
              <a:rPr lang="en-US" sz="1200" dirty="0" err="1">
                <a:solidFill>
                  <a:srgbClr val="0D1B2A"/>
                </a:solidFill>
                <a:latin typeface="Calibri"/>
                <a:ea typeface="Calibri"/>
                <a:cs typeface="Calibri"/>
              </a:rPr>
              <a:t>pokemon's</a:t>
            </a:r>
            <a:r>
              <a:rPr lang="en-US" sz="1200" dirty="0">
                <a:solidFill>
                  <a:srgbClr val="0D1B2A"/>
                </a:solidFill>
                <a:latin typeface="Calibri"/>
                <a:ea typeface="Calibri"/>
                <a:cs typeface="Calibri"/>
              </a:rPr>
              <a:t> type).</a:t>
            </a:r>
          </a:p>
          <a:p>
            <a:pPr algn="ctr"/>
            <a:r>
              <a:rPr lang="en-US" sz="1200" dirty="0">
                <a:solidFill>
                  <a:srgbClr val="0D1B2A"/>
                </a:solidFill>
                <a:latin typeface="Calibri"/>
                <a:ea typeface="Calibri"/>
                <a:cs typeface="Calibri"/>
              </a:rPr>
              <a:t>Even though we're not trying to identify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itself, but its type, this reasoning can be applied.</a:t>
            </a:r>
          </a:p>
        </p:txBody>
      </p:sp>
      <p:sp>
        <p:nvSpPr>
          <p:cNvPr id="7" name="Badge">
            <a:extLst>
              <a:ext uri="{FF2B5EF4-FFF2-40B4-BE49-F238E27FC236}">
                <a16:creationId xmlns:a16="http://schemas.microsoft.com/office/drawing/2014/main" id="{F59433D5-7CF0-1EB2-A5B2-79EB4DA7484E}"/>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7" name="NumCircle">
            <a:extLst>
              <a:ext uri="{FF2B5EF4-FFF2-40B4-BE49-F238E27FC236}">
                <a16:creationId xmlns:a16="http://schemas.microsoft.com/office/drawing/2014/main" id="{500B4D26-2D6F-A6A2-6FD0-DB96D3A3D21F}"/>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28787202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DF70A316-BC22-B5CA-52C0-184DD0665105}"/>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Even though some of our models achieve a perfect score, we still decided to combine other to see if the results </a:t>
            </a:r>
            <a:r>
              <a:rPr lang="en-US" sz="1200">
                <a:solidFill>
                  <a:schemeClr val="bg1"/>
                </a:solidFill>
                <a:latin typeface="Calibri"/>
                <a:ea typeface="Calibri"/>
                <a:cs typeface="Calibri"/>
              </a:rPr>
              <a:t>changed significantly by combining</a:t>
            </a:r>
            <a:r>
              <a:rPr lang="en-US" sz="1200" dirty="0">
                <a:solidFill>
                  <a:schemeClr val="bg1"/>
                </a:solidFill>
                <a:latin typeface="Calibri"/>
                <a:ea typeface="Calibri"/>
                <a:cs typeface="Calibri"/>
              </a:rPr>
              <a:t> models. </a:t>
            </a:r>
          </a:p>
          <a:p>
            <a:pPr>
              <a:buNone/>
            </a:pPr>
            <a:r>
              <a:rPr lang="en-US" sz="1200">
                <a:solidFill>
                  <a:schemeClr val="bg1"/>
                </a:solidFill>
                <a:latin typeface="Calibri"/>
                <a:ea typeface="Calibri"/>
                <a:cs typeface="Calibri"/>
              </a:rPr>
              <a:t>To help analyze possible good combinations we drew a heat map so we can  see the results of each model for each class. </a:t>
            </a:r>
          </a:p>
        </p:txBody>
      </p:sp>
      <p:sp>
        <p:nvSpPr>
          <p:cNvPr id="15" name="Shape 5">
            <a:extLst>
              <a:ext uri="{FF2B5EF4-FFF2-40B4-BE49-F238E27FC236}">
                <a16:creationId xmlns:a16="http://schemas.microsoft.com/office/drawing/2014/main" id="{E0663452-87F6-D497-728F-C9322AD6EC4A}"/>
              </a:ext>
            </a:extLst>
          </p:cNvPr>
          <p:cNvSpPr/>
          <p:nvPr/>
        </p:nvSpPr>
        <p:spPr>
          <a:xfrm>
            <a:off x="5482304" y="2182507"/>
            <a:ext cx="3391508" cy="192575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AD56327E-0491-8598-A5AA-01C1F736B423}"/>
              </a:ext>
            </a:extLst>
          </p:cNvPr>
          <p:cNvSpPr/>
          <p:nvPr/>
        </p:nvSpPr>
        <p:spPr>
          <a:xfrm>
            <a:off x="6065039" y="218033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Ensemble ~ Solo </a:t>
            </a:r>
            <a:r>
              <a:rPr lang="en-US" sz="2000" b="1" dirty="0">
                <a:solidFill>
                  <a:srgbClr val="E97C35"/>
                </a:solidFill>
                <a:latin typeface="Trebuchet MS"/>
                <a:ea typeface="Trebuchet MS" pitchFamily="34" charset="-122"/>
                <a:cs typeface="Trebuchet MS" pitchFamily="34" charset="-120"/>
              </a:rPr>
              <a:t>?</a:t>
            </a:r>
            <a:endParaRPr lang="en-US" sz="200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r>
              <a:rPr lang="en-US" sz="1100">
                <a:solidFill>
                  <a:srgbClr val="3D5A73"/>
                </a:solidFill>
                <a:latin typeface="Calibri"/>
                <a:ea typeface="Calibri"/>
                <a:cs typeface="Calibri"/>
              </a:rPr>
              <a:t>We tried 2 different combinations:</a:t>
            </a:r>
          </a:p>
          <a:p>
            <a:pPr marL="171450" indent="-171450">
              <a:buFont typeface="Arial"/>
              <a:buChar char="•"/>
            </a:pPr>
            <a:r>
              <a:rPr lang="en-US" sz="1100">
                <a:solidFill>
                  <a:srgbClr val="3D5A73"/>
                </a:solidFill>
                <a:latin typeface="Calibri"/>
                <a:ea typeface="Calibri"/>
                <a:cs typeface="Calibri"/>
              </a:rPr>
              <a:t>C + H: could a bad model like C affect the performance in an ensemble with H?</a:t>
            </a:r>
          </a:p>
          <a:p>
            <a:pPr marL="171450" indent="-171450">
              <a:buFont typeface="Arial"/>
              <a:buChar char="•"/>
            </a:pPr>
            <a:r>
              <a:rPr lang="en-US" sz="1100" dirty="0">
                <a:solidFill>
                  <a:srgbClr val="3D5A73"/>
                </a:solidFill>
                <a:latin typeface="Calibri"/>
                <a:ea typeface="Calibri"/>
                <a:cs typeface="Calibri"/>
              </a:rPr>
              <a:t>I + K: could two models with </a:t>
            </a:r>
            <a:r>
              <a:rPr lang="en-US" sz="1100" dirty="0" err="1">
                <a:solidFill>
                  <a:srgbClr val="3D5A73"/>
                </a:solidFill>
                <a:latin typeface="Calibri"/>
                <a:ea typeface="Calibri"/>
                <a:cs typeface="Calibri"/>
              </a:rPr>
              <a:t>val</a:t>
            </a:r>
            <a:r>
              <a:rPr lang="en-US" sz="1100" dirty="0">
                <a:solidFill>
                  <a:srgbClr val="3D5A73"/>
                </a:solidFill>
                <a:latin typeface="Calibri"/>
                <a:ea typeface="Calibri"/>
                <a:cs typeface="Calibri"/>
              </a:rPr>
              <a:t> score 1.0 be combined together to get a worse performance? (much likely not... but let's test it anyway)</a:t>
            </a:r>
          </a:p>
        </p:txBody>
      </p:sp>
      <p:pic>
        <p:nvPicPr>
          <p:cNvPr id="4" name="Picture 3" descr="A red and yellow chart&#10;&#10;AI-generated content may be incorrect.">
            <a:extLst>
              <a:ext uri="{FF2B5EF4-FFF2-40B4-BE49-F238E27FC236}">
                <a16:creationId xmlns:a16="http://schemas.microsoft.com/office/drawing/2014/main" id="{F4969307-FC84-7CB8-B9B5-F395526D20A7}"/>
              </a:ext>
            </a:extLst>
          </p:cNvPr>
          <p:cNvPicPr>
            <a:picLocks noChangeAspect="1"/>
          </p:cNvPicPr>
          <p:nvPr/>
        </p:nvPicPr>
        <p:blipFill>
          <a:blip r:embed="rId2"/>
          <a:srcRect l="2135" t="2808" r="384" b="19870"/>
          <a:stretch>
            <a:fillRect/>
          </a:stretch>
        </p:blipFill>
        <p:spPr>
          <a:xfrm>
            <a:off x="289266" y="1592567"/>
            <a:ext cx="4916359" cy="3465387"/>
          </a:xfrm>
          <a:prstGeom prst="rect">
            <a:avLst/>
          </a:prstGeom>
        </p:spPr>
      </p:pic>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a:t>
            </a:r>
            <a:endParaRPr lang="en-US" sz="2000" b="1">
              <a:solidFill>
                <a:srgbClr val="E97C35"/>
              </a:solidFill>
              <a:latin typeface="Trebuchet MS"/>
            </a:endParaRPr>
          </a:p>
        </p:txBody>
      </p:sp>
      <p:sp>
        <p:nvSpPr>
          <p:cNvPr id="8" name="Badge">
            <a:extLst>
              <a:ext uri="{FF2B5EF4-FFF2-40B4-BE49-F238E27FC236}">
                <a16:creationId xmlns:a16="http://schemas.microsoft.com/office/drawing/2014/main" id="{83E50EB0-1D58-FD60-142B-D1FFC795D9F6}"/>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3" name="NumCircle">
            <a:extLst>
              <a:ext uri="{FF2B5EF4-FFF2-40B4-BE49-F238E27FC236}">
                <a16:creationId xmlns:a16="http://schemas.microsoft.com/office/drawing/2014/main" id="{6570A38E-445A-3FE5-88A3-9316311152D3}"/>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1377209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As it turns out, [I + K] still gets a validation score of 1.0 as we expected, but [C + H]'s performance stays relatively similar to just using H (with some variance), even though C got a weight of 0.4 and H 0.6. C's bad performance is not enough to drag the ensemble's performance down</a:t>
            </a:r>
          </a:p>
        </p:txBody>
      </p:sp>
      <p:pic>
        <p:nvPicPr>
          <p:cNvPr id="13" name="Picture 12" descr="A graph of a number of blue and orange bars&#10;&#10;AI-generated content may be incorrect.">
            <a:extLst>
              <a:ext uri="{FF2B5EF4-FFF2-40B4-BE49-F238E27FC236}">
                <a16:creationId xmlns:a16="http://schemas.microsoft.com/office/drawing/2014/main" id="{75E61C24-6BA4-F317-6A7B-8AC21A3B72ED}"/>
              </a:ext>
            </a:extLst>
          </p:cNvPr>
          <p:cNvPicPr>
            <a:picLocks noChangeAspect="1"/>
          </p:cNvPicPr>
          <p:nvPr/>
        </p:nvPicPr>
        <p:blipFill>
          <a:blip r:embed="rId2"/>
          <a:srcRect t="83" r="-135" b="49906"/>
          <a:stretch>
            <a:fillRect/>
          </a:stretch>
        </p:blipFill>
        <p:spPr>
          <a:xfrm>
            <a:off x="272939" y="1747812"/>
            <a:ext cx="8598137" cy="3095413"/>
          </a:xfrm>
          <a:prstGeom prst="rect">
            <a:avLst/>
          </a:prstGeom>
        </p:spPr>
      </p:pic>
      <p:sp>
        <p:nvSpPr>
          <p:cNvPr id="6" name="Badge">
            <a:extLst>
              <a:ext uri="{FF2B5EF4-FFF2-40B4-BE49-F238E27FC236}">
                <a16:creationId xmlns:a16="http://schemas.microsoft.com/office/drawing/2014/main" id="{87DF1068-D9E0-F0FA-ED52-030DA79B0F34}"/>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8" name="NumCircle">
            <a:extLst>
              <a:ext uri="{FF2B5EF4-FFF2-40B4-BE49-F238E27FC236}">
                <a16:creationId xmlns:a16="http://schemas.microsoft.com/office/drawing/2014/main" id="{7B9FB318-E678-5F63-DCF2-55F82BC94294}"/>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23890972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What Worked</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a:solidFill>
                  <a:srgbClr val="1A2B3C"/>
                </a:solidFill>
                <a:latin typeface="Calibri"/>
                <a:ea typeface="Calibri"/>
                <a:cs typeface="Calibri"/>
              </a:rPr>
              <a:t>- all top models use it</a:t>
            </a:r>
          </a:p>
          <a:p>
            <a:pPr marL="228600" indent="-228600">
              <a:buChar char="✓"/>
            </a:pPr>
            <a:r>
              <a:rPr lang="en-US" sz="1100" b="1" dirty="0" err="1">
                <a:solidFill>
                  <a:srgbClr val="028090"/>
                </a:solidFill>
                <a:latin typeface="Calibri"/>
                <a:ea typeface="Calibri"/>
                <a:cs typeface="Calibri"/>
              </a:rPr>
              <a:t>BatchNorm</a:t>
            </a:r>
            <a:endParaRPr lang="en-US" sz="1100" b="1" dirty="0" err="1">
              <a:solidFill>
                <a:srgbClr val="028090"/>
              </a:solidFill>
              <a:latin typeface="Calibri" pitchFamily="34" charset="0"/>
              <a:ea typeface="Calibri"/>
              <a:cs typeface="Calibri"/>
            </a:endParaRPr>
          </a:p>
          <a:p>
            <a:pPr lvl="1"/>
            <a:r>
              <a:rPr lang="en-US" sz="1000">
                <a:solidFill>
                  <a:srgbClr val="1A2B3C"/>
                </a:solidFill>
                <a:latin typeface="Calibri"/>
                <a:ea typeface="Calibri"/>
                <a:cs typeface="Calibri"/>
              </a:rPr>
              <a:t>- stabilizes gradients; increases training speed effectively</a:t>
            </a:r>
          </a:p>
          <a:p>
            <a:pPr marL="228600" indent="-228600">
              <a:buChar char="✓"/>
            </a:pPr>
            <a:r>
              <a:rPr lang="en-US" sz="1100" b="1">
                <a:solidFill>
                  <a:srgbClr val="028090"/>
                </a:solidFill>
                <a:latin typeface="Calibri"/>
                <a:ea typeface="Calibri"/>
                <a:cs typeface="Calibri"/>
              </a:rPr>
              <a:t>Deeper/Wider networks</a:t>
            </a:r>
            <a:endParaRPr lang="en-US" dirty="0"/>
          </a:p>
          <a:p>
            <a:pPr lvl="1"/>
            <a:r>
              <a:rPr lang="en-US" sz="1000">
                <a:solidFill>
                  <a:srgbClr val="1A2B3C"/>
                </a:solidFill>
                <a:latin typeface="Calibri"/>
                <a:ea typeface="Calibri"/>
                <a:cs typeface="Calibri"/>
              </a:rPr>
              <a:t>- increases the amount of information/detail passed to the classifier </a:t>
            </a:r>
            <a:r>
              <a:rPr lang="en-US" sz="1000" dirty="0">
                <a:solidFill>
                  <a:srgbClr val="1A2B3C"/>
                </a:solidFill>
                <a:latin typeface="Calibri"/>
                <a:ea typeface="Calibri"/>
                <a:cs typeface="Calibri"/>
              </a:rPr>
              <a:t>head</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a:solidFill>
                  <a:srgbClr val="C0392B"/>
                </a:solidFill>
                <a:latin typeface="Trebuchet MS"/>
              </a:rPr>
              <a:t>What Did Not Work</a:t>
            </a:r>
          </a:p>
          <a:p>
            <a:pPr marL="228600" indent="-228600">
              <a:buChar char="✗"/>
            </a:pPr>
            <a:r>
              <a:rPr lang="en-US" sz="1100" b="1">
                <a:solidFill>
                  <a:srgbClr val="C0392B"/>
                </a:solidFill>
                <a:latin typeface="Calibri"/>
                <a:ea typeface="Calibri"/>
                <a:cs typeface="Calibri"/>
              </a:rPr>
              <a:t>Augmentation (flip/jitter/rotate/...)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0.0149 F1; the </a:t>
            </a:r>
            <a:r>
              <a:rPr lang="en-US" sz="1000" dirty="0" err="1">
                <a:solidFill>
                  <a:srgbClr val="1A2B3C"/>
                </a:solidFill>
                <a:latin typeface="Calibri"/>
                <a:ea typeface="Calibri"/>
                <a:cs typeface="Calibri"/>
              </a:rPr>
              <a:t>pokemons</a:t>
            </a:r>
            <a:r>
              <a:rPr lang="en-US" sz="1000" dirty="0">
                <a:solidFill>
                  <a:srgbClr val="1A2B3C"/>
                </a:solidFill>
                <a:latin typeface="Calibri"/>
                <a:ea typeface="Calibri"/>
                <a:cs typeface="Calibri"/>
              </a:rPr>
              <a:t> are always the same way, the only thing that changes are the background at the position; CNNs are translation invariant so the only real thing that changes for our network is the background. The more aggressive the augmentation is the bigger the decay in performance</a:t>
            </a:r>
          </a:p>
          <a:p>
            <a:pPr marL="228600" indent="-228600">
              <a:buChar char="✗"/>
            </a:pPr>
            <a:r>
              <a:rPr lang="en-US" sz="1100" b="1">
                <a:solidFill>
                  <a:srgbClr val="C0392B"/>
                </a:solidFill>
                <a:latin typeface="Calibri"/>
                <a:ea typeface="Calibri"/>
                <a:cs typeface="Calibri"/>
              </a:rPr>
              <a:t>Many FC layers</a:t>
            </a:r>
            <a:endParaRPr lang="en-US" sz="1100" b="1" dirty="0">
              <a:solidFill>
                <a:srgbClr val="C0392B"/>
              </a:solidFill>
              <a:latin typeface="Calibri"/>
              <a:ea typeface="Calibri"/>
              <a:cs typeface="Calibri"/>
            </a:endParaRPr>
          </a:p>
          <a:p>
            <a:pPr lvl="1"/>
            <a:r>
              <a:rPr lang="en-US" sz="1000" dirty="0">
                <a:solidFill>
                  <a:srgbClr val="1A2B3C"/>
                </a:solidFill>
                <a:latin typeface="Calibri"/>
                <a:ea typeface="Calibri"/>
                <a:cs typeface="Calibri"/>
              </a:rPr>
              <a:t>- 3 or more FC layers starts giving us a slower training and </a:t>
            </a:r>
            <a:r>
              <a:rPr lang="en-US" sz="1000">
                <a:solidFill>
                  <a:srgbClr val="1A2B3C"/>
                </a:solidFill>
                <a:latin typeface="Calibri"/>
                <a:ea typeface="Calibri"/>
                <a:cs typeface="Calibri"/>
              </a:rPr>
              <a:t>worse results (parameters increase a lot if our convolution channels are wide); keep it simple and </a:t>
            </a:r>
            <a:r>
              <a:rPr lang="en-US" sz="1000" dirty="0">
                <a:solidFill>
                  <a:srgbClr val="1A2B3C"/>
                </a:solidFill>
                <a:latin typeface="Calibri"/>
                <a:ea typeface="Calibri"/>
                <a:cs typeface="Calibri"/>
              </a:rPr>
              <a:t>let convolutional layers learn the information, then pass them to minimal FC layers</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0.0481; </a:t>
            </a:r>
            <a:r>
              <a:rPr lang="en-US" sz="1000" dirty="0" err="1">
                <a:solidFill>
                  <a:srgbClr val="1A2B3C"/>
                </a:solidFill>
                <a:latin typeface="Calibri"/>
                <a:ea typeface="Calibri"/>
                <a:cs typeface="Calibri"/>
              </a:rPr>
              <a:t>colour</a:t>
            </a:r>
            <a:r>
              <a:rPr lang="en-US" sz="1000" dirty="0">
                <a:solidFill>
                  <a:srgbClr val="1A2B3C"/>
                </a:solidFill>
                <a:latin typeface="Calibri"/>
                <a:ea typeface="Calibri"/>
                <a:cs typeface="Calibri"/>
              </a:rPr>
              <a:t> is a key discriminative signal, removing it degrades performance</a:t>
            </a:r>
          </a:p>
          <a:p>
            <a:pPr marL="228600" indent="-228600">
              <a:buChar char="✗"/>
            </a:pPr>
            <a:r>
              <a:rPr lang="en-US" sz="1100" b="1">
                <a:solidFill>
                  <a:srgbClr val="C0392B"/>
                </a:solidFill>
                <a:latin typeface="Calibri"/>
                <a:ea typeface="Calibri"/>
                <a:cs typeface="Calibri"/>
              </a:rPr>
              <a:t>Ensembles</a:t>
            </a:r>
            <a:endParaRPr lang="en-US" sz="1100" b="1">
              <a:solidFill>
                <a:srgbClr val="C0392B"/>
              </a:solidFill>
              <a:latin typeface="Calibri" pitchFamily="34" charset="0"/>
              <a:ea typeface="Calibri"/>
              <a:cs typeface="Calibri"/>
            </a:endParaRPr>
          </a:p>
          <a:p>
            <a:pPr lvl="1"/>
            <a:r>
              <a:rPr lang="en-US" sz="1100" b="1" dirty="0">
                <a:solidFill>
                  <a:srgbClr val="C0392B"/>
                </a:solidFill>
                <a:latin typeface="Calibri"/>
                <a:ea typeface="Calibri"/>
                <a:cs typeface="Calibri"/>
              </a:rPr>
              <a:t>-  </a:t>
            </a:r>
            <a:r>
              <a:rPr lang="en-US" sz="1000" dirty="0">
                <a:solidFill>
                  <a:srgbClr val="1A2B3C"/>
                </a:solidFill>
                <a:latin typeface="Calibri"/>
                <a:ea typeface="Calibri"/>
                <a:cs typeface="Calibri"/>
              </a:rPr>
              <a:t>Ensembled models </a:t>
            </a:r>
            <a:r>
              <a:rPr lang="en-US" sz="1000">
                <a:solidFill>
                  <a:srgbClr val="1A2B3C"/>
                </a:solidFill>
                <a:latin typeface="Calibri"/>
                <a:ea typeface="Calibri"/>
                <a:cs typeface="Calibri"/>
              </a:rPr>
              <a:t>could not</a:t>
            </a:r>
            <a:r>
              <a:rPr lang="en-US" sz="1000" dirty="0">
                <a:solidFill>
                  <a:srgbClr val="1A2B3C"/>
                </a:solidFill>
                <a:latin typeface="Calibri"/>
                <a:ea typeface="Calibri"/>
                <a:cs typeface="Calibri"/>
              </a:rPr>
              <a:t> achieve a better performance</a:t>
            </a:r>
          </a:p>
          <a:p>
            <a:pPr marL="228600" indent="-228600">
              <a:buChar char="✗"/>
            </a:pPr>
            <a:r>
              <a:rPr lang="en-US" sz="1100" b="1">
                <a:solidFill>
                  <a:srgbClr val="C0392B"/>
                </a:solidFill>
                <a:latin typeface="Calibri"/>
                <a:ea typeface="Calibri"/>
                <a:cs typeface="Calibri"/>
              </a:rPr>
              <a:t>Label Smoothing</a:t>
            </a:r>
            <a:endParaRPr lang="en-US" sz="1100" b="1" dirty="0">
              <a:solidFill>
                <a:srgbClr val="C0392B"/>
              </a:solidFill>
              <a:latin typeface="Calibri"/>
              <a:ea typeface="Calibri"/>
              <a:cs typeface="Calibri"/>
            </a:endParaRPr>
          </a:p>
          <a:p>
            <a:pPr lvl="1"/>
            <a:r>
              <a:rPr lang="en-US" sz="1100" b="1" dirty="0">
                <a:solidFill>
                  <a:srgbClr val="C0392B"/>
                </a:solidFill>
                <a:latin typeface="Calibri"/>
                <a:ea typeface="Calibri"/>
                <a:cs typeface="Calibri"/>
              </a:rPr>
              <a:t>- </a:t>
            </a:r>
            <a:r>
              <a:rPr lang="en-US" sz="1000">
                <a:solidFill>
                  <a:srgbClr val="1A2B3C"/>
                </a:solidFill>
                <a:latin typeface="Calibri"/>
                <a:ea typeface="Calibri"/>
                <a:cs typeface="Calibri"/>
              </a:rPr>
              <a:t>CNNs can already achieve top performance, introducing noise can hurt our models</a:t>
            </a:r>
          </a:p>
          <a:p>
            <a:pPr lvl="1"/>
            <a:endParaRPr lang="en-US" sz="1000" dirty="0">
              <a:solidFill>
                <a:srgbClr val="1A2B3C"/>
              </a:solidFill>
              <a:latin typeface="Calibri" pitchFamily="34" charset="0"/>
              <a:ea typeface="Calibri"/>
              <a:cs typeface="Calibri"/>
            </a:endParaRPr>
          </a:p>
        </p:txBody>
      </p:sp>
      <p:sp>
        <p:nvSpPr>
          <p:cNvPr id="6" name="Badge">
            <a:extLst>
              <a:ext uri="{FF2B5EF4-FFF2-40B4-BE49-F238E27FC236}">
                <a16:creationId xmlns:a16="http://schemas.microsoft.com/office/drawing/2014/main" id="{84CBF970-9D0A-4F08-5800-044F2A4F4BE5}"/>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9" name="NumCircle">
            <a:extLst>
              <a:ext uri="{FF2B5EF4-FFF2-40B4-BE49-F238E27FC236}">
                <a16:creationId xmlns:a16="http://schemas.microsoft.com/office/drawing/2014/main" id="{008643FF-96DF-75DD-EAED-8581A7B9887C}"/>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strike="sngStrike" dirty="0">
                <a:solidFill>
                  <a:srgbClr val="0D1B2A"/>
                </a:solidFill>
                <a:latin typeface="Trebuchet MS"/>
              </a:rPr>
              <a:t>MLP Ceiling ~0.24</a:t>
            </a:r>
            <a:r>
              <a:rPr lang="en-US" sz="2200" b="1">
                <a:solidFill>
                  <a:srgbClr val="0D1B2A"/>
                </a:solidFill>
                <a:latin typeface="Trebuchet MS"/>
              </a:rPr>
              <a:t> CNN can achieve a 1.0 score!</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r>
              <a:rPr lang="en-US" sz="1000" dirty="0">
                <a:solidFill>
                  <a:srgbClr val="AACCD8"/>
                </a:solidFill>
                <a:latin typeface="Calibri"/>
                <a:ea typeface="Calibri"/>
                <a:cs typeface="Calibri"/>
              </a:rPr>
              <a:t>best </a:t>
            </a:r>
            <a:r>
              <a:rPr lang="en-US" sz="1000" dirty="0" err="1">
                <a:solidFill>
                  <a:srgbClr val="AACCD8"/>
                </a:solidFill>
                <a:latin typeface="Calibri"/>
                <a:ea typeface="Calibri"/>
                <a:cs typeface="Calibri"/>
              </a:rPr>
              <a:t>val</a:t>
            </a:r>
            <a:r>
              <a:rPr lang="en-US" sz="1000" dirty="0">
                <a:solidFill>
                  <a:srgbClr val="AACCD8"/>
                </a:solidFill>
                <a:latin typeface="Calibri"/>
                <a:ea typeface="Calibri"/>
                <a:cs typeface="Calibri"/>
              </a:rPr>
              <a:t> macro-F1 (I, J, K, L, M, [I+K])</a:t>
            </a:r>
            <a:endParaRPr lang="en-US" sz="1000" dirty="0">
              <a:solidFill>
                <a:srgbClr val="AACCD8"/>
              </a:solidFill>
              <a:latin typeface="Calibri" pitchFamily="34" charset="0"/>
              <a:ea typeface="Calibri"/>
              <a:cs typeface="Calibri"/>
            </a:endParaRPr>
          </a:p>
          <a:p>
            <a:r>
              <a:rPr lang="en-US" sz="2800" b="1">
                <a:solidFill>
                  <a:srgbClr val="FFFFFF"/>
                </a:solidFill>
                <a:latin typeface="Trebuchet MS"/>
              </a:rPr>
              <a:t>1.0000</a:t>
            </a:r>
            <a:endParaRPr lang="en-US" sz="2800" b="1">
              <a:solidFill>
                <a:srgbClr val="FFFFFF"/>
              </a:solidFill>
              <a:latin typeface="Trebuchet MS" pitchFamily="34" charset="0"/>
            </a:endParaRP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a:solidFill>
                  <a:srgbClr val="FFFFFF"/>
                </a:solidFill>
                <a:latin typeface="Trebuchet MS"/>
              </a:rPr>
              <a:t>1.0000</a:t>
            </a:r>
            <a:endParaRPr lang="en-US" sz="2800" b="1" dirty="0">
              <a:solidFill>
                <a:srgbClr val="FFFFFF"/>
              </a:solidFill>
              <a:latin typeface="Trebuchet MS"/>
            </a:endParaRP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05395" y="3096665"/>
            <a:ext cx="4465810" cy="1956480"/>
          </a:xfrm>
          <a:prstGeom prst="rect">
            <a:avLst/>
          </a:prstGeom>
          <a:noFill/>
          <a:ln/>
        </p:spPr>
        <p:txBody>
          <a:bodyPr wrap="square" lIns="91440" tIns="45720" rIns="91440" bIns="45720" rtlCol="0" anchor="t"/>
          <a:lstStyle/>
          <a:p>
            <a:r>
              <a:rPr lang="en-US" sz="1300" b="1">
                <a:solidFill>
                  <a:srgbClr val="00A896"/>
                </a:solidFill>
                <a:latin typeface="Trebuchet MS"/>
              </a:rPr>
              <a:t>Why are CNNs so much better than MLP for this task?</a:t>
            </a:r>
            <a:endParaRPr lang="en-US" sz="1300" b="1" dirty="0">
              <a:solidFill>
                <a:srgbClr val="00A896"/>
              </a:solidFill>
              <a:latin typeface="Trebuchet MS" pitchFamily="34" charset="0"/>
            </a:endParaRPr>
          </a:p>
          <a:p>
            <a:pPr marL="228600" indent="-228600">
              <a:buChar char="•"/>
            </a:pPr>
            <a:r>
              <a:rPr lang="en-US" sz="1100" dirty="0">
                <a:solidFill>
                  <a:schemeClr val="bg1"/>
                </a:solidFill>
                <a:latin typeface="Calibri"/>
                <a:ea typeface="Calibri"/>
                <a:cs typeface="Calibri"/>
              </a:rPr>
              <a:t>The amount of parameters that an MLP generates is too much, we would need a huge dataset to get good results (note that MLPs are more powerful than CNNs - not the contrary)</a:t>
            </a:r>
            <a:endParaRPr lang="en-US" sz="1100" dirty="0">
              <a:solidFill>
                <a:schemeClr val="bg1"/>
              </a:solidFill>
              <a:latin typeface="Calibri" pitchFamily="34" charset="0"/>
              <a:ea typeface="Calibri"/>
              <a:cs typeface="Calibri"/>
            </a:endParaRPr>
          </a:p>
          <a:p>
            <a:pPr marL="228600" indent="-228600">
              <a:buFont typeface="Arial"/>
              <a:buChar char="•"/>
            </a:pPr>
            <a:r>
              <a:rPr lang="en-US" sz="1100" dirty="0">
                <a:solidFill>
                  <a:schemeClr val="bg1"/>
                </a:solidFill>
                <a:latin typeface="Calibri"/>
                <a:ea typeface="Calibri"/>
                <a:cs typeface="Calibri"/>
              </a:rPr>
              <a:t>This problem screams CNN! The dataset has images, In which the </a:t>
            </a:r>
            <a:r>
              <a:rPr lang="en-US" sz="1100" dirty="0" err="1">
                <a:solidFill>
                  <a:schemeClr val="bg1"/>
                </a:solidFill>
                <a:latin typeface="Calibri"/>
                <a:ea typeface="Calibri"/>
                <a:cs typeface="Calibri"/>
              </a:rPr>
              <a:t>pokemons</a:t>
            </a:r>
            <a:r>
              <a:rPr lang="en-US" sz="1100" dirty="0">
                <a:solidFill>
                  <a:schemeClr val="bg1"/>
                </a:solidFill>
                <a:latin typeface="Calibri"/>
                <a:ea typeface="Calibri"/>
                <a:cs typeface="Calibri"/>
              </a:rPr>
              <a:t> always appear in the same way, only changing their position and the background: CNNs are invariant to translations! MLPs lose all sense of spatial structure</a:t>
            </a:r>
          </a:p>
          <a:p>
            <a:r>
              <a:rPr lang="en-US" sz="1100" b="1" dirty="0">
                <a:solidFill>
                  <a:schemeClr val="accent2">
                    <a:lumMod val="40000"/>
                    <a:lumOff val="60000"/>
                  </a:schemeClr>
                </a:solidFill>
                <a:latin typeface="Calibri"/>
                <a:ea typeface="Calibri"/>
                <a:cs typeface="Calibri"/>
              </a:rPr>
              <a:t>Next: Transfer Learning and Fine-Tuning (Task 3) - can we achieve the </a:t>
            </a:r>
            <a:r>
              <a:rPr lang="en-US" sz="1100" b="1">
                <a:solidFill>
                  <a:schemeClr val="accent2">
                    <a:lumMod val="40000"/>
                    <a:lumOff val="60000"/>
                  </a:schemeClr>
                </a:solidFill>
                <a:latin typeface="Calibri"/>
                <a:ea typeface="Calibri"/>
                <a:cs typeface="Calibri"/>
              </a:rPr>
              <a:t>same performance by replacing the classifier head of a pretrained model?</a:t>
            </a:r>
          </a:p>
        </p:txBody>
      </p:sp>
      <p:pic>
        <p:nvPicPr>
          <p:cNvPr id="6" name="Picture 5" descr="A graph of a number of blue and orange bars&#10;&#10;AI-generated content may be incorrect.">
            <a:extLst>
              <a:ext uri="{FF2B5EF4-FFF2-40B4-BE49-F238E27FC236}">
                <a16:creationId xmlns:a16="http://schemas.microsoft.com/office/drawing/2014/main" id="{D64762DA-D57E-BC1B-30A5-4CC05B384AF5}"/>
              </a:ext>
            </a:extLst>
          </p:cNvPr>
          <p:cNvPicPr>
            <a:picLocks noChangeAspect="1"/>
          </p:cNvPicPr>
          <p:nvPr/>
        </p:nvPicPr>
        <p:blipFill>
          <a:blip r:embed="rId2"/>
          <a:srcRect t="83" r="-135" b="49906"/>
          <a:stretch>
            <a:fillRect/>
          </a:stretch>
        </p:blipFill>
        <p:spPr>
          <a:xfrm>
            <a:off x="941303" y="604812"/>
            <a:ext cx="6612418" cy="2359245"/>
          </a:xfrm>
          <a:prstGeom prst="rect">
            <a:avLst/>
          </a:prstGeom>
        </p:spPr>
      </p:pic>
      <p:sp>
        <p:nvSpPr>
          <p:cNvPr id="7" name="Badge">
            <a:extLst>
              <a:ext uri="{FF2B5EF4-FFF2-40B4-BE49-F238E27FC236}">
                <a16:creationId xmlns:a16="http://schemas.microsoft.com/office/drawing/2014/main" id="{D190A8B6-4D71-C6D2-7EBF-5791B007E9C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2" name="NumCircle">
            <a:extLst>
              <a:ext uri="{FF2B5EF4-FFF2-40B4-BE49-F238E27FC236}">
                <a16:creationId xmlns:a16="http://schemas.microsoft.com/office/drawing/2014/main" id="{6A936187-BA62-E41B-488C-5D385A1E5971}"/>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2.2</a:t>
            </a:r>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a:solidFill>
                  <a:srgbClr val="00A896"/>
                </a:solidFill>
                <a:latin typeface="Trebuchet MS"/>
                <a:ea typeface="Trebuchet MS" pitchFamily="34" charset="-122"/>
                <a:cs typeface="Trebuchet MS" pitchFamily="34" charset="-120"/>
              </a:rPr>
              <a:t>37 min</a:t>
            </a:r>
            <a:endParaRPr lang="en-US" sz="220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a:solidFill>
                  <a:srgbClr val="3D5A73"/>
                </a:solidFill>
                <a:latin typeface="Calibri"/>
                <a:ea typeface="Calibri"/>
                <a:cs typeface="Calibri"/>
              </a:rPr>
              <a:t>total wall-clock (15 solo runs + data </a:t>
            </a:r>
            <a:r>
              <a:rPr lang="en-US" sz="1000" dirty="0">
                <a:solidFill>
                  <a:srgbClr val="3D5A73"/>
                </a:solidFill>
                <a:latin typeface="Calibri"/>
                <a:ea typeface="Calibri"/>
                <a:cs typeface="Calibri"/>
              </a:rPr>
              <a:t>pre-processing/augmentation and ensembles)</a:t>
            </a:r>
            <a:endParaRPr lang="en-US" sz="100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a:solidFill>
                  <a:srgbClr val="27AE60"/>
                </a:solidFill>
                <a:latin typeface="Trebuchet MS"/>
                <a:ea typeface="Trebuchet MS" pitchFamily="34" charset="-122"/>
                <a:cs typeface="Trebuchet MS" pitchFamily="34" charset="-120"/>
              </a:rPr>
              <a:t>&lt; 1500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dirty="0">
                <a:solidFill>
                  <a:srgbClr val="3D5A73"/>
                </a:solidFill>
                <a:latin typeface="Calibri"/>
                <a:ea typeface="Calibri"/>
                <a:cs typeface="Calibri"/>
              </a:rPr>
              <a:t>GPU memory peak (</a:t>
            </a:r>
            <a:r>
              <a:rPr lang="en-US" sz="1000">
                <a:solidFill>
                  <a:srgbClr val="3D5A73"/>
                </a:solidFill>
                <a:latin typeface="Calibri"/>
                <a:ea typeface="Calibri"/>
                <a:cs typeface="Calibri"/>
              </a:rPr>
              <a:t>more than MLP),</a:t>
            </a:r>
          </a:p>
          <a:p>
            <a:pPr algn="ctr"/>
            <a:r>
              <a:rPr lang="en-US" sz="1000">
                <a:solidFill>
                  <a:srgbClr val="3D5A73"/>
                </a:solidFill>
                <a:latin typeface="Calibri"/>
                <a:ea typeface="Calibri"/>
                <a:cs typeface="Calibri"/>
              </a:rPr>
              <a:t>according to W&amp;B</a:t>
            </a:r>
            <a:endParaRPr lang="en-US" sz="1000" dirty="0">
              <a:solidFill>
                <a:srgbClr val="3D5A73"/>
              </a:solidFill>
              <a:latin typeface="Calibri"/>
              <a:ea typeface="Calibri"/>
              <a:cs typeface="Calibri"/>
            </a:endParaRP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a:solidFill>
                  <a:srgbClr val="E97C35"/>
                </a:solidFill>
                <a:latin typeface="Trebuchet MS"/>
                <a:ea typeface="Trebuchet MS" pitchFamily="34" charset="-122"/>
                <a:cs typeface="Trebuchet MS" pitchFamily="34" charset="-120"/>
              </a:rPr>
              <a:t>62%</a:t>
            </a:r>
            <a:endParaRPr lang="en-US" sz="220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267002824"/>
              </p:ext>
            </p:extLst>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A_CNN  -  87.2 s (excluding ensembles)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Stopped at epoch 19 (no reg -&gt; fast plateau; despite the massive overfit obtained)</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I_CNN_augmented</a:t>
                      </a:r>
                      <a:r>
                        <a:rPr lang="en-US" sz="1200" dirty="0">
                          <a:solidFill>
                            <a:srgbClr val="000000"/>
                          </a:solidFill>
                          <a:latin typeface="Calibri"/>
                          <a:ea typeface="Calibri"/>
                          <a:cs typeface="Calibri"/>
                        </a:rPr>
                        <a:t>  —  172 s</a:t>
                      </a:r>
                      <a:endParaRPr lang="en-US" sz="120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Full 30 epochs; data augmentation gives us more 53 seconds than base model I_CNN, and worse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a:solidFill>
                            <a:srgbClr val="000000"/>
                          </a:solidFill>
                          <a:latin typeface="Calibri"/>
                          <a:ea typeface="Calibri"/>
                          <a:cs typeface="Calibri"/>
                        </a:rPr>
                        <a:t>~134 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Across 13 solo runs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118.5 s  -  25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EarlyStopping</a:t>
                      </a:r>
                      <a:r>
                        <a:rPr lang="en-US" sz="1200" dirty="0">
                          <a:solidFill>
                            <a:srgbClr val="000000"/>
                          </a:solidFill>
                          <a:latin typeface="Calibri"/>
                          <a:ea typeface="Calibri"/>
                          <a:cs typeface="Calibri"/>
                        </a:rPr>
                        <a:t> saved best at epoch 25</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a:ea typeface="Calibri"/>
                          <a:cs typeface="Calibri"/>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Smoke-test mode: 5 epochs, 100 samples - used for debugging</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dirty="0">
                <a:solidFill>
                  <a:srgbClr val="1A2B3C"/>
                </a:solidFill>
                <a:latin typeface="Calibri"/>
                <a:ea typeface="Calibri"/>
                <a:cs typeface="Calibri"/>
              </a:rPr>
              <a:t>5-fold CV × 13 experiments ≈ 65 training runs ≈ which will exceed the 1h </a:t>
            </a:r>
            <a:r>
              <a:rPr lang="en-US" sz="1200" dirty="0" err="1">
                <a:solidFill>
                  <a:srgbClr val="1A2B3C"/>
                </a:solidFill>
                <a:latin typeface="Calibri"/>
                <a:ea typeface="Calibri"/>
                <a:cs typeface="Calibri"/>
              </a:rPr>
              <a:t>Colab</a:t>
            </a:r>
            <a:r>
              <a:rPr lang="en-US" sz="120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dirty="0">
              <a:latin typeface="Calibri"/>
              <a:ea typeface="Calibri"/>
              <a:cs typeface="Calibri"/>
            </a:endParaRPr>
          </a:p>
        </p:txBody>
      </p:sp>
      <p:sp>
        <p:nvSpPr>
          <p:cNvPr id="29" name="Badge">
            <a:extLst>
              <a:ext uri="{FF2B5EF4-FFF2-40B4-BE49-F238E27FC236}">
                <a16:creationId xmlns:a16="http://schemas.microsoft.com/office/drawing/2014/main" id="{5C589F9A-0527-0A5E-2FBB-F293535A66A1}"/>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31" name="NumCircle">
            <a:extLst>
              <a:ext uri="{FF2B5EF4-FFF2-40B4-BE49-F238E27FC236}">
                <a16:creationId xmlns:a16="http://schemas.microsoft.com/office/drawing/2014/main" id="{E7041BF3-31F1-4C6A-9C6C-ED818DA65622}"/>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2571018"/>
              </p:ext>
            </p:extLst>
          </p:nvPr>
        </p:nvGraphicFramePr>
        <p:xfrm>
          <a:off x="347472" y="644652"/>
          <a:ext cx="8449056" cy="439826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lvl="0" indent="0">
                        <a:buNone/>
                      </a:pPr>
                      <a:r>
                        <a:rPr lang="en-US" sz="1400" b="0" i="0" u="none" strike="noStrike" noProof="0">
                          <a:solidFill>
                            <a:srgbClr val="000000"/>
                          </a:solidFill>
                          <a:latin typeface="Tw Cen MT"/>
                        </a:rPr>
                        <a:t>A - LeNet5_base </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19/30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LeNet5 finds plateau quickly</a:t>
                      </a:r>
                      <a:endParaRPr lang="en-US" sz="140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79">
                <a:tc>
                  <a:txBody>
                    <a:bodyPr/>
                    <a:lstStyle/>
                    <a:p>
                      <a:pPr marL="0" lvl="0" indent="0">
                        <a:buNone/>
                      </a:pPr>
                      <a:r>
                        <a:rPr lang="en-US" sz="1400" b="0" i="0" u="none" strike="noStrike" noProof="0">
                          <a:solidFill>
                            <a:srgbClr val="000000"/>
                          </a:solidFill>
                          <a:latin typeface="Tw Cen MT"/>
                        </a:rPr>
                        <a:t>B - LeNet5_dwrs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Moderate dropout and </a:t>
                      </a:r>
                      <a:r>
                        <a:rPr lang="en-US" sz="1400" dirty="0" err="1">
                          <a:solidFill>
                            <a:srgbClr val="000000"/>
                          </a:solidFill>
                        </a:rPr>
                        <a:t>WRSampler</a:t>
                      </a:r>
                      <a:r>
                        <a:rPr lang="en-US" sz="1400" dirty="0">
                          <a:solidFill>
                            <a:srgbClr val="000000"/>
                          </a:solidFill>
                        </a:rPr>
                        <a: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79">
                <a:tc>
                  <a:txBody>
                    <a:bodyPr/>
                    <a:lstStyle/>
                    <a:p>
                      <a:pPr marL="0" lvl="0" indent="0">
                        <a:buNone/>
                      </a:pPr>
                      <a:r>
                        <a:rPr lang="en-US" sz="1400" b="0" i="0" u="none" strike="noStrike" noProof="0" dirty="0">
                          <a:solidFill>
                            <a:srgbClr val="000000"/>
                          </a:solidFill>
                          <a:latin typeface="Tw Cen MT"/>
                        </a:rPr>
                        <a:t>C - </a:t>
                      </a:r>
                      <a:r>
                        <a:rPr lang="en-US" sz="1400" b="0" i="0" u="none" strike="noStrike" noProof="0" dirty="0" err="1">
                          <a:solidFill>
                            <a:srgbClr val="000000"/>
                          </a:solidFill>
                          <a:latin typeface="Tw Cen MT"/>
                        </a:rPr>
                        <a:t>Simple_cw</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Model fails to converge in 30 epochs (low number and small convolutions)</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79">
                <a:tc>
                  <a:txBody>
                    <a:bodyPr/>
                    <a:lstStyle/>
                    <a:p>
                      <a:pPr marL="0" lvl="0" indent="0">
                        <a:buNone/>
                      </a:pPr>
                      <a:r>
                        <a:rPr lang="en-US" sz="1400" b="0" i="0" u="none" strike="noStrike" noProof="0" dirty="0">
                          <a:solidFill>
                            <a:srgbClr val="000000"/>
                          </a:solidFill>
                        </a:rPr>
                        <a:t>D - </a:t>
                      </a:r>
                      <a:r>
                        <a:rPr lang="en-US" sz="1400" b="0" i="0" u="none" strike="noStrike" noProof="0" dirty="0" err="1">
                          <a:solidFill>
                            <a:srgbClr val="000000"/>
                          </a:solidFill>
                          <a:latin typeface="Tw Cen MT"/>
                        </a:rPr>
                        <a:t>Medium_base</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Deeper model allows for more convergence (0.02 train loss);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79">
                <a:tc>
                  <a:txBody>
                    <a:bodyPr/>
                    <a:lstStyle/>
                    <a:p>
                      <a:pPr marL="0" indent="0">
                        <a:buNone/>
                      </a:pPr>
                      <a:r>
                        <a:rPr lang="en-US" sz="1400" dirty="0">
                          <a:solidFill>
                            <a:srgbClr val="000000"/>
                          </a:solidFill>
                        </a:rPr>
                        <a:t>E - </a:t>
                      </a:r>
                      <a:r>
                        <a:rPr lang="en-US" sz="1400" b="0" i="0" u="none" strike="noStrike" noProof="0" dirty="0" err="1">
                          <a:solidFill>
                            <a:srgbClr val="000000"/>
                          </a:solidFill>
                          <a:latin typeface="Tw Cen MT"/>
                        </a:rPr>
                        <a:t>Medium_d</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in previous model doesn't improve convergence;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79">
                <a:tc>
                  <a:txBody>
                    <a:bodyPr/>
                    <a:lstStyle/>
                    <a:p>
                      <a:pPr marL="0" indent="0">
                        <a:buNone/>
                      </a:pPr>
                      <a:r>
                        <a:rPr lang="en-US" sz="1400" dirty="0">
                          <a:solidFill>
                            <a:srgbClr val="000000"/>
                          </a:solidFill>
                        </a:rPr>
                        <a:t>F - </a:t>
                      </a:r>
                      <a:r>
                        <a:rPr lang="en-US" sz="1400" b="0" i="0" u="none" strike="noStrike" noProof="0" dirty="0" err="1">
                          <a:solidFill>
                            <a:srgbClr val="000000"/>
                          </a:solidFill>
                          <a:latin typeface="Tw Cen MT"/>
                        </a:rPr>
                        <a:t>Medium_dls</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label smoothing hurt the convergence; the problem isn't regularization</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79">
                <a:tc>
                  <a:txBody>
                    <a:bodyPr/>
                    <a:lstStyle/>
                    <a:p>
                      <a:pPr marL="0" indent="0">
                        <a:buNone/>
                      </a:pPr>
                      <a:r>
                        <a:rPr lang="en-US" sz="1400" dirty="0">
                          <a:solidFill>
                            <a:srgbClr val="000000"/>
                          </a:solidFill>
                        </a:rPr>
                        <a:t>G - </a:t>
                      </a:r>
                      <a:r>
                        <a:rPr lang="en-US" sz="1400" dirty="0" err="1">
                          <a:solidFill>
                            <a:srgbClr val="000000"/>
                          </a:solidFill>
                        </a:rPr>
                        <a:t>Medium_dcw</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class weights; confirms previous theory, we need a deeper/wider network</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0279">
                <a:tc>
                  <a:txBody>
                    <a:bodyPr/>
                    <a:lstStyle/>
                    <a:p>
                      <a:pPr marL="0" indent="0">
                        <a:buNone/>
                      </a:pPr>
                      <a:r>
                        <a:rPr lang="en-US" sz="1400" b="0" i="0" u="none" strike="noStrike" noProof="0" dirty="0">
                          <a:solidFill>
                            <a:srgbClr val="000000"/>
                          </a:solidFill>
                          <a:latin typeface="Tw Cen MT"/>
                        </a:rPr>
                        <a:t>H - </a:t>
                      </a:r>
                      <a:r>
                        <a:rPr lang="en-US" sz="1400" b="0" i="0" u="none" strike="noStrike" noProof="0" dirty="0" err="1">
                          <a:solidFill>
                            <a:srgbClr val="000000"/>
                          </a:solidFill>
                          <a:latin typeface="Tw Cen MT"/>
                        </a:rPr>
                        <a:t>Medium_dwrs</a:t>
                      </a:r>
                      <a:endParaRPr lang="en-US" sz="1400"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a:t>
                      </a:r>
                      <a:r>
                        <a:rPr lang="en-US" sz="1400" dirty="0" err="1">
                          <a:solidFill>
                            <a:srgbClr val="000000"/>
                          </a:solidFill>
                        </a:rPr>
                        <a:t>WeightedRandomSampler</a:t>
                      </a:r>
                      <a:r>
                        <a:rPr lang="en-US" sz="1400" dirty="0">
                          <a:solidFill>
                            <a:srgbClr val="000000"/>
                          </a:solidFill>
                        </a:rPr>
                        <a:t> also fails to improve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0279">
                <a:tc>
                  <a:txBody>
                    <a:bodyPr/>
                    <a:lstStyle/>
                    <a:p>
                      <a:pPr marL="0" indent="0">
                        <a:buNone/>
                      </a:pPr>
                      <a:r>
                        <a:rPr lang="en-US" sz="1400" b="0" i="0" u="none" strike="noStrike" noProof="0" dirty="0">
                          <a:solidFill>
                            <a:srgbClr val="000000"/>
                          </a:solidFill>
                          <a:latin typeface="Tw Cen MT"/>
                        </a:rPr>
                        <a:t>I - </a:t>
                      </a:r>
                      <a:r>
                        <a:rPr lang="en-US" sz="1400" b="0" i="0" u="none" strike="noStrike" noProof="0" dirty="0" err="1">
                          <a:solidFill>
                            <a:srgbClr val="000000"/>
                          </a:solidFill>
                          <a:latin typeface="Tw Cen MT"/>
                        </a:rPr>
                        <a:t>Deep_dwrs</a:t>
                      </a:r>
                      <a:r>
                        <a:rPr lang="en-US" sz="1400" b="0" i="0" u="none" strike="noStrike" noProof="0" dirty="0">
                          <a:solidFill>
                            <a:srgbClr val="000000"/>
                          </a:solidFill>
                          <a:latin typeface="Tw Cen MT"/>
                        </a:rPr>
                        <a:t>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25/30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Two more convolution channels makes finding optimum fast; confirmed theory where regularization was not the issue </a:t>
                      </a:r>
                      <a:r>
                        <a:rPr lang="en-US" sz="1100" b="1" i="0" u="none" strike="noStrike" noProof="0" dirty="0">
                          <a:solidFill>
                            <a:srgbClr val="27AE60"/>
                          </a:solidFill>
                          <a:latin typeface="Tw Cen MT"/>
                        </a:rPr>
                        <a:t>✓</a:t>
                      </a:r>
                      <a:endParaRPr lang="en-US" sz="1400" dirty="0">
                        <a:solidFill>
                          <a:srgbClr val="000000"/>
                        </a:solidFill>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2" name="Badge">
            <a:extLst>
              <a:ext uri="{FF2B5EF4-FFF2-40B4-BE49-F238E27FC236}">
                <a16:creationId xmlns:a16="http://schemas.microsoft.com/office/drawing/2014/main" id="{229580A7-6884-5EAC-5668-A563C2D5EAC4}"/>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24" name="NumCircle">
            <a:extLst>
              <a:ext uri="{FF2B5EF4-FFF2-40B4-BE49-F238E27FC236}">
                <a16:creationId xmlns:a16="http://schemas.microsoft.com/office/drawing/2014/main" id="{9E94472E-BCD3-C86C-4D86-31D6A04E8FC4}"/>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3D362-864A-AB17-E83C-35DAA81F539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A271828-793F-1284-EE16-94BD6091F513}"/>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a:extLst>
              <a:ext uri="{FF2B5EF4-FFF2-40B4-BE49-F238E27FC236}">
                <a16:creationId xmlns:a16="http://schemas.microsoft.com/office/drawing/2014/main" id="{64E86317-556D-8180-9B73-F018E54B552E}"/>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graphicFrame>
        <p:nvGraphicFramePr>
          <p:cNvPr id="11" name="Table 0">
            <a:extLst>
              <a:ext uri="{FF2B5EF4-FFF2-40B4-BE49-F238E27FC236}">
                <a16:creationId xmlns:a16="http://schemas.microsoft.com/office/drawing/2014/main" id="{CDB23056-8598-95A7-04F2-1FCC3F362398}"/>
              </a:ext>
            </a:extLst>
          </p:cNvPr>
          <p:cNvGraphicFramePr>
            <a:graphicFrameLocks noGrp="1"/>
          </p:cNvGraphicFramePr>
          <p:nvPr>
            <p:extLst>
              <p:ext uri="{D42A27DB-BD31-4B8C-83A1-F6EECF244321}">
                <p14:modId xmlns:p14="http://schemas.microsoft.com/office/powerpoint/2010/main" val="2351065962"/>
              </p:ext>
            </p:extLst>
          </p:nvPr>
        </p:nvGraphicFramePr>
        <p:xfrm>
          <a:off x="347472" y="644652"/>
          <a:ext cx="8449056" cy="2239350"/>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indent="0">
                        <a:buNone/>
                      </a:pPr>
                      <a:r>
                        <a:rPr lang="en-US" sz="1400" dirty="0">
                          <a:solidFill>
                            <a:srgbClr val="000000"/>
                          </a:solidFill>
                        </a:rPr>
                        <a:t>J - </a:t>
                      </a:r>
                      <a:r>
                        <a:rPr lang="en-US" sz="1400" dirty="0" err="1">
                          <a:solidFill>
                            <a:srgbClr val="000000"/>
                          </a:solidFill>
                        </a:rPr>
                        <a:t>Wide_d</a:t>
                      </a:r>
                      <a:endParaRPr lang="en-US" sz="1400" b="0" i="0" u="none" strike="noStrike" noProof="0" dirty="0" err="1">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Best checkpoint at epoch 25; patience runs out at 22. Widening channels is an alternative to deepening the network to achieve 1.0</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00279">
                <a:tc>
                  <a:txBody>
                    <a:bodyPr/>
                    <a:lstStyle/>
                    <a:p>
                      <a:pPr marL="0" lvl="0" indent="0">
                        <a:buNone/>
                      </a:pPr>
                      <a:r>
                        <a:rPr lang="en-US" sz="1400" dirty="0">
                          <a:solidFill>
                            <a:srgbClr val="000000"/>
                          </a:solidFill>
                        </a:rPr>
                        <a:t>K - </a:t>
                      </a:r>
                      <a:r>
                        <a:rPr lang="en-US" sz="1400" dirty="0" err="1">
                          <a:solidFill>
                            <a:srgbClr val="000000"/>
                          </a:solidFill>
                        </a:rPr>
                        <a:t>Wide_dwrs</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25/30</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dirty="0">
                          <a:solidFill>
                            <a:srgbClr val="000000"/>
                          </a:solidFill>
                        </a:rPr>
                        <a:t>Apply dropout and </a:t>
                      </a:r>
                      <a:r>
                        <a:rPr lang="en-US" sz="1400" dirty="0" err="1">
                          <a:solidFill>
                            <a:srgbClr val="000000"/>
                          </a:solidFill>
                        </a:rPr>
                        <a:t>WeightedRandomSampler</a:t>
                      </a:r>
                      <a:r>
                        <a:rPr lang="en-US" sz="1400" dirty="0">
                          <a:solidFill>
                            <a:srgbClr val="000000"/>
                          </a:solidFill>
                        </a:rPr>
                        <a:t> in this wider network gives us a perfect convergence</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761210630"/>
                  </a:ext>
                </a:extLst>
              </a:tr>
              <a:tr h="309966">
                <a:tc>
                  <a:txBody>
                    <a:bodyPr/>
                    <a:lstStyle/>
                    <a:p>
                      <a:pPr marL="0" lvl="0" indent="0">
                        <a:buNone/>
                      </a:pPr>
                      <a:r>
                        <a:rPr lang="en-US" sz="1400" dirty="0">
                          <a:solidFill>
                            <a:srgbClr val="000000"/>
                          </a:solidFill>
                        </a:rPr>
                        <a:t>L - </a:t>
                      </a:r>
                      <a:r>
                        <a:rPr lang="en-US" sz="1400" b="0" i="0" u="none" strike="noStrike" noProof="0" dirty="0" err="1">
                          <a:solidFill>
                            <a:srgbClr val="000000"/>
                          </a:solidFill>
                          <a:latin typeface="Tw Cen MT"/>
                        </a:rPr>
                        <a:t>MultiScale_dwrs</a:t>
                      </a:r>
                      <a:endParaRPr lang="en-US" sz="1400" dirty="0" err="1">
                        <a:solidFill>
                          <a:srgbClr val="000000"/>
                        </a:solidFill>
                      </a:endParaRP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29/30</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a:solidFill>
                            <a:srgbClr val="000000"/>
                          </a:solidFill>
                        </a:rPr>
                        <a:t>Early stops with way deep network and multiple scale kernels </a:t>
                      </a: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3248077057"/>
                  </a:ext>
                </a:extLst>
              </a:tr>
              <a:tr h="339025">
                <a:tc>
                  <a:txBody>
                    <a:bodyPr/>
                    <a:lstStyle/>
                    <a:p>
                      <a:pPr marL="0" lvl="0" indent="0">
                        <a:buNone/>
                      </a:pPr>
                      <a:r>
                        <a:rPr lang="en-US" sz="1400" dirty="0">
                          <a:solidFill>
                            <a:srgbClr val="000000"/>
                          </a:solidFill>
                        </a:rPr>
                        <a:t>M - </a:t>
                      </a:r>
                      <a:r>
                        <a:rPr lang="en-US" sz="1400" b="0" i="0" u="none" strike="noStrike" noProof="0" dirty="0" err="1">
                          <a:solidFill>
                            <a:srgbClr val="000000"/>
                          </a:solidFill>
                          <a:latin typeface="Tw Cen MT"/>
                        </a:rPr>
                        <a:t>Residual_dwrs</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0" i="0" u="none" strike="noStrike" noProof="0">
                          <a:solidFill>
                            <a:srgbClr val="000000"/>
                          </a:solidFill>
                          <a:latin typeface="Tw Cen MT"/>
                        </a:rPr>
                        <a:t>19/30</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buNone/>
                      </a:pPr>
                      <a:r>
                        <a:rPr lang="en-US" sz="1400">
                          <a:solidFill>
                            <a:srgbClr val="000000"/>
                          </a:solidFill>
                        </a:rPr>
                        <a:t>Residual Network converges the fastest (in terms of number of epochs, not time); </a:t>
                      </a:r>
                      <a:r>
                        <a:rPr lang="en-US" sz="1400" err="1">
                          <a:solidFill>
                            <a:srgbClr val="000000"/>
                          </a:solidFill>
                        </a:rPr>
                        <a:t>EarlyStoping</a:t>
                      </a:r>
                      <a:r>
                        <a:rPr lang="en-US" sz="1400" dirty="0">
                          <a:solidFill>
                            <a:srgbClr val="000000"/>
                          </a:solidFill>
                        </a:rPr>
                        <a:t> occurs earliest</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extLst>
                  <a:ext uri="{0D108BD9-81ED-4DB2-BD59-A6C34878D82A}">
                    <a16:rowId xmlns:a16="http://schemas.microsoft.com/office/drawing/2014/main" val="274348874"/>
                  </a:ext>
                </a:extLst>
              </a:tr>
            </a:tbl>
          </a:graphicData>
        </a:graphic>
      </p:graphicFrame>
      <p:sp>
        <p:nvSpPr>
          <p:cNvPr id="18" name="Badge">
            <a:extLst>
              <a:ext uri="{FF2B5EF4-FFF2-40B4-BE49-F238E27FC236}">
                <a16:creationId xmlns:a16="http://schemas.microsoft.com/office/drawing/2014/main" id="{1F0C0D8E-EC21-70AB-8B7E-A51D0653EE03}"/>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20" name="NumCircle">
            <a:extLst>
              <a:ext uri="{FF2B5EF4-FFF2-40B4-BE49-F238E27FC236}">
                <a16:creationId xmlns:a16="http://schemas.microsoft.com/office/drawing/2014/main" id="{72A48146-A399-C659-DA7B-AC09A767DD74}"/>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extLst>
      <p:ext uri="{BB962C8B-B14F-4D97-AF65-F5344CB8AC3E}">
        <p14:creationId xmlns:p14="http://schemas.microsoft.com/office/powerpoint/2010/main" val="1374614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a:solidFill>
                  <a:srgbClr val="1A2B3C"/>
                </a:solidFill>
                <a:latin typeface="Calibri"/>
              </a:rPr>
              <a:t>1      2.0604 1.9553 0.2342 0.2262</a:t>
            </a:r>
          </a:p>
          <a:p>
            <a:r>
              <a:rPr lang="en-US" sz="1000">
                <a:solidFill>
                  <a:srgbClr val="1A2B3C"/>
                </a:solidFill>
                <a:latin typeface="Calibri"/>
              </a:rPr>
              <a:t>5 0.6173  0.8140  0.6838 0.6717</a:t>
            </a:r>
            <a:endParaRPr lang="en-US" sz="1000">
              <a:solidFill>
                <a:srgbClr val="1A2B3C"/>
              </a:solidFill>
              <a:latin typeface="Calibri"/>
              <a:ea typeface="Calibri"/>
              <a:cs typeface="Calibri"/>
            </a:endParaRPr>
          </a:p>
          <a:p>
            <a:r>
              <a:rPr lang="en-US" sz="1000">
                <a:solidFill>
                  <a:srgbClr val="1A2B3C"/>
                </a:solidFill>
                <a:latin typeface="Calibri"/>
              </a:rPr>
              <a:t>10 0.0970  5.1619  0.2870 0.2652</a:t>
            </a:r>
            <a:endParaRPr lang="en-US" sz="1000">
              <a:solidFill>
                <a:srgbClr val="1A2B3C"/>
              </a:solidFill>
              <a:latin typeface="Calibri"/>
              <a:ea typeface="Calibri"/>
              <a:cs typeface="Calibri"/>
            </a:endParaRPr>
          </a:p>
          <a:p>
            <a:r>
              <a:rPr lang="en-US" sz="1000">
                <a:solidFill>
                  <a:srgbClr val="1A2B3C"/>
                </a:solidFill>
                <a:latin typeface="Calibri"/>
              </a:rPr>
              <a:t>15 0.0201  0.1798  0.9119 0.9294</a:t>
            </a:r>
            <a:endParaRPr lang="en-US" sz="1000">
              <a:solidFill>
                <a:srgbClr val="1A2B3C"/>
              </a:solidFill>
              <a:latin typeface="Calibri"/>
              <a:ea typeface="Calibri"/>
              <a:cs typeface="Calibri"/>
            </a:endParaRPr>
          </a:p>
          <a:p>
            <a:r>
              <a:rPr lang="en-US" sz="1000" b="1" dirty="0">
                <a:solidFill>
                  <a:schemeClr val="accent2">
                    <a:lumMod val="76000"/>
                  </a:schemeClr>
                </a:solidFill>
                <a:latin typeface="Calibri"/>
              </a:rPr>
              <a:t>18 0.0159  0.0083  1.0000 1.0000 </a:t>
            </a:r>
            <a:r>
              <a:rPr lang="en-US" sz="1000" b="1">
                <a:solidFill>
                  <a:schemeClr val="accent2">
                    <a:lumMod val="76000"/>
                  </a:schemeClr>
                </a:solidFill>
                <a:latin typeface="Calibri"/>
              </a:rPr>
              <a:t>←</a:t>
            </a:r>
            <a:r>
              <a:rPr lang="en-US" sz="1000" b="1" dirty="0">
                <a:solidFill>
                  <a:schemeClr val="accent2">
                    <a:lumMod val="76000"/>
                  </a:schemeClr>
                </a:solidFill>
                <a:latin typeface="Calibri"/>
              </a:rPr>
              <a:t> </a:t>
            </a:r>
            <a:r>
              <a:rPr lang="en-US" sz="1000" b="1">
                <a:solidFill>
                  <a:schemeClr val="accent2">
                    <a:lumMod val="76000"/>
                  </a:schemeClr>
                </a:solidFill>
                <a:latin typeface="Calibri"/>
              </a:rPr>
              <a:t>checkpoint</a:t>
            </a:r>
            <a:endParaRPr lang="en-US" b="1">
              <a:solidFill>
                <a:schemeClr val="accent2">
                  <a:lumMod val="76000"/>
                </a:schemeClr>
              </a:solidFill>
            </a:endParaRPr>
          </a:p>
          <a:p>
            <a:r>
              <a:rPr lang="en-US" sz="1000">
                <a:solidFill>
                  <a:srgbClr val="1A2B3C"/>
                </a:solidFill>
                <a:latin typeface="Calibri"/>
              </a:rPr>
              <a:t>20 0.0121  0.3623  0.5121 0.4657</a:t>
            </a:r>
            <a:endParaRPr lang="en-US" sz="1000">
              <a:solidFill>
                <a:srgbClr val="1A2B3C"/>
              </a:solidFill>
              <a:latin typeface="Calibri"/>
              <a:ea typeface="Calibri"/>
              <a:cs typeface="Calibri"/>
            </a:endParaRPr>
          </a:p>
          <a:p>
            <a:r>
              <a:rPr lang="en-US" sz="1000">
                <a:latin typeface="Calibri"/>
              </a:rPr>
              <a:t>25 0.0173  0.0150  0.9982 0.9964 ← early stopping</a:t>
            </a:r>
            <a:endParaRPr lang="en-US" sz="1000">
              <a:latin typeface="Calibri"/>
              <a:ea typeface="Calibri"/>
              <a:cs typeface="Calibri"/>
            </a:endParaRP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a:ea typeface="Calibri"/>
                <a:cs typeface="Calibri"/>
              </a:rPr>
              <a:t>Saves best checkpoint .</a:t>
            </a:r>
            <a:r>
              <a:rPr lang="en-US" sz="1200" dirty="0" err="1">
                <a:solidFill>
                  <a:srgbClr val="1A2B3C"/>
                </a:solidFill>
                <a:latin typeface="Calibri"/>
                <a:ea typeface="Calibri"/>
                <a:cs typeface="Calibri"/>
              </a:rPr>
              <a:t>pth</a:t>
            </a:r>
            <a:r>
              <a:rPr lang="en-US" sz="1200" dirty="0">
                <a:solidFill>
                  <a:srgbClr val="1A2B3C"/>
                </a:solidFill>
                <a:latin typeface="Calibri"/>
                <a:ea typeface="Calibri"/>
                <a:cs typeface="Calibri"/>
              </a:rPr>
              <a:t> per run</a:t>
            </a:r>
            <a:endParaRPr lang="en-US" sz="1200" dirty="0">
              <a:latin typeface="Calibri"/>
              <a:ea typeface="Calibri"/>
              <a:cs typeface="Calibri"/>
            </a:endParaRPr>
          </a:p>
          <a:p>
            <a:pPr marL="800100" lvl="1" indent="-342900">
              <a:buSzPct val="100000"/>
              <a:buChar char="•"/>
            </a:pPr>
            <a:r>
              <a:rPr lang="en-US" sz="1200">
                <a:solidFill>
                  <a:srgbClr val="1A2B3C"/>
                </a:solidFill>
                <a:latin typeface="Calibri"/>
                <a:ea typeface="Calibri"/>
                <a:cs typeface="Calibri"/>
              </a:rPr>
              <a:t>Allows &gt;30 epochs when plateau is slow</a:t>
            </a:r>
            <a:endParaRPr lang="en-US" sz="1200">
              <a:latin typeface="Calibri"/>
              <a:ea typeface="Calibri"/>
              <a:cs typeface="Calibri"/>
            </a:endParaRPr>
          </a:p>
        </p:txBody>
      </p:sp>
      <p:pic>
        <p:nvPicPr>
          <p:cNvPr id="6" name="Picture 5" descr="A graph of a train loss and a train loss&#10;&#10;AI-generated content may be incorrect.">
            <a:extLst>
              <a:ext uri="{FF2B5EF4-FFF2-40B4-BE49-F238E27FC236}">
                <a16:creationId xmlns:a16="http://schemas.microsoft.com/office/drawing/2014/main" id="{FAFE54AD-59D3-0BE0-74AA-A928F778EF6B}"/>
              </a:ext>
            </a:extLst>
          </p:cNvPr>
          <p:cNvPicPr>
            <a:picLocks noChangeAspect="1"/>
          </p:cNvPicPr>
          <p:nvPr/>
        </p:nvPicPr>
        <p:blipFill>
          <a:blip r:embed="rId2"/>
          <a:stretch>
            <a:fillRect/>
          </a:stretch>
        </p:blipFill>
        <p:spPr>
          <a:xfrm>
            <a:off x="862094" y="2641307"/>
            <a:ext cx="7400441" cy="2476225"/>
          </a:xfrm>
          <a:prstGeom prst="rect">
            <a:avLst/>
          </a:prstGeom>
        </p:spPr>
      </p:pic>
      <p:sp>
        <p:nvSpPr>
          <p:cNvPr id="8" name="Badge">
            <a:extLst>
              <a:ext uri="{FF2B5EF4-FFF2-40B4-BE49-F238E27FC236}">
                <a16:creationId xmlns:a16="http://schemas.microsoft.com/office/drawing/2014/main" id="{5E3C9511-E3B9-BF09-7D5C-5E771B6C6320}"/>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10" name="NumCircle">
            <a:extLst>
              <a:ext uri="{FF2B5EF4-FFF2-40B4-BE49-F238E27FC236}">
                <a16:creationId xmlns:a16="http://schemas.microsoft.com/office/drawing/2014/main" id="{D9CE2A85-2D4C-C7CB-CAA8-B852F2AABC2A}"/>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2.3</a:t>
            </a:r>
            <a:endParaRPr lang="en-US" sz="3200"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313065" y="2436880"/>
            <a:ext cx="5073630" cy="253005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a:ea typeface="Calibri"/>
                <a:cs typeface="Calibri"/>
              </a:rPr>
              <a:t>Best </a:t>
            </a:r>
            <a:r>
              <a:rPr lang="en-US" sz="1100" dirty="0" err="1">
                <a:solidFill>
                  <a:srgbClr val="FFFFFF"/>
                </a:solidFill>
                <a:latin typeface="Calibri"/>
                <a:ea typeface="Calibri"/>
                <a:cs typeface="Calibri"/>
              </a:rPr>
              <a:t>val</a:t>
            </a:r>
            <a:r>
              <a:rPr lang="en-US" sz="1100" dirty="0">
                <a:solidFill>
                  <a:srgbClr val="FFFFFF"/>
                </a:solidFill>
                <a:latin typeface="Calibri"/>
                <a:ea typeface="Calibri"/>
                <a:cs typeface="Calibri"/>
              </a:rPr>
              <a:t> Macro-F1</a:t>
            </a:r>
            <a:endParaRPr lang="en-US" sz="1100" dirty="0">
              <a:latin typeface="Calibri"/>
              <a:ea typeface="Calibri"/>
              <a:cs typeface="Calibri"/>
            </a:endParaRPr>
          </a:p>
          <a:p>
            <a:pPr marL="0" indent="0" algn="ctr">
              <a:buNone/>
            </a:pPr>
            <a:r>
              <a:rPr lang="en-US" sz="1100">
                <a:solidFill>
                  <a:srgbClr val="FFFFFF"/>
                </a:solidFill>
                <a:latin typeface="Calibri"/>
                <a:ea typeface="Calibri"/>
                <a:cs typeface="Calibri"/>
              </a:rPr>
              <a:t>(I_CNN)</a:t>
            </a:r>
            <a:endParaRPr lang="en-US" sz="110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a:solidFill>
                  <a:srgbClr val="FFFFFF"/>
                </a:solidFill>
                <a:latin typeface="Calibri"/>
                <a:ea typeface="Calibri"/>
                <a:cs typeface="Calibri"/>
              </a:rPr>
              <a:t>(I_CNN)</a:t>
            </a:r>
            <a:endParaRPr lang="en-US" sz="110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public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24" name="Shape 2">
            <a:extLst>
              <a:ext uri="{FF2B5EF4-FFF2-40B4-BE49-F238E27FC236}">
                <a16:creationId xmlns:a16="http://schemas.microsoft.com/office/drawing/2014/main" id="{DBB4021F-FBEA-312C-E965-99EA0B129BF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r>
              <a:rPr lang="en-US">
                <a:solidFill>
                  <a:srgbClr val="888888"/>
                </a:solidFill>
                <a:latin typeface="Calibri"/>
              </a:rPr>
              <a:t>Always-Water              		0.021      		18.7%</a:t>
            </a:r>
            <a:endParaRPr lang="en-US">
              <a:solidFill>
                <a:srgbClr val="888888"/>
              </a:solidFill>
              <a:latin typeface="Calibri"/>
              <a:ea typeface="Calibri"/>
              <a:cs typeface="Calibri"/>
            </a:endParaRPr>
          </a:p>
          <a:p>
            <a:r>
              <a:rPr lang="en-US" b="1">
                <a:solidFill>
                  <a:srgbClr val="00A896"/>
                </a:solidFill>
                <a:latin typeface="Calibri"/>
                <a:ea typeface="Calibri"/>
                <a:cs typeface="Calibri"/>
              </a:rPr>
              <a:t>M_CNN (submitted) ★		1.0000              100%</a:t>
            </a:r>
            <a:endParaRPr lang="en-US" b="1" dirty="0">
              <a:solidFill>
                <a:srgbClr val="00A896"/>
              </a:solidFill>
              <a:latin typeface="Calibri"/>
              <a:ea typeface="Calibri"/>
              <a:cs typeface="Calibri"/>
            </a:endParaRPr>
          </a:p>
          <a:p>
            <a:r>
              <a:rPr lang="en-US">
                <a:solidFill>
                  <a:srgbClr val="1C3A52"/>
                </a:solidFill>
                <a:latin typeface="Calibri"/>
              </a:rPr>
              <a:t>Kaggle public test                     1.0000                 —</a:t>
            </a:r>
          </a:p>
          <a:p>
            <a:r>
              <a:rPr lang="en-US">
                <a:solidFill>
                  <a:srgbClr val="1C3A52"/>
                </a:solidFill>
                <a:latin typeface="Calibri"/>
              </a:rPr>
              <a:t>Kaggle private test                   0.99752               — </a:t>
            </a:r>
            <a:r>
              <a:rPr lang="en-US" dirty="0">
                <a:solidFill>
                  <a:srgbClr val="1C3A52"/>
                </a:solidFill>
                <a:latin typeface="Calibri"/>
              </a:rPr>
              <a:t>  </a:t>
            </a:r>
            <a:endParaRPr lang="en-US">
              <a:solidFill>
                <a:srgbClr val="1C3A52"/>
              </a:solidFill>
              <a:latin typeface="Calibri"/>
              <a:ea typeface="Calibri"/>
              <a:cs typeface="Calibri"/>
            </a:endParaRP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530051"/>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433861"/>
            <a:ext cx="3414141" cy="2541843"/>
          </a:xfrm>
          <a:prstGeom prst="rect">
            <a:avLst/>
          </a:prstGeom>
          <a:noFill/>
          <a:ln/>
        </p:spPr>
        <p:txBody>
          <a:bodyPr wrap="square" lIns="91440" tIns="45720" rIns="91440" bIns="45720" rtlCol="0" anchor="t"/>
          <a:lstStyle/>
          <a:p>
            <a:r>
              <a:rPr lang="en-US" b="1" dirty="0">
                <a:solidFill>
                  <a:srgbClr val="00A896"/>
                </a:solidFill>
                <a:latin typeface="Trebuchet MS"/>
              </a:rPr>
              <a:t>Our model achieved </a:t>
            </a:r>
            <a:r>
              <a:rPr lang="en-US" b="1">
                <a:solidFill>
                  <a:srgbClr val="00A896"/>
                </a:solidFill>
                <a:latin typeface="Trebuchet MS"/>
              </a:rPr>
              <a:t>a perfect performance</a:t>
            </a:r>
            <a:endParaRPr lang="en-US" b="1" dirty="0">
              <a:solidFill>
                <a:srgbClr val="00A896"/>
              </a:solidFill>
              <a:latin typeface="Trebuchet MS"/>
            </a:endParaRPr>
          </a:p>
          <a:p>
            <a:pPr>
              <a:buNone/>
            </a:pPr>
            <a:r>
              <a:rPr lang="en-US" sz="1600" b="1">
                <a:solidFill>
                  <a:srgbClr val="00A896"/>
                </a:solidFill>
                <a:latin typeface="Calibri"/>
              </a:rPr>
              <a:t>Kaggle private score:</a:t>
            </a:r>
            <a:endParaRPr lang="en-US" sz="1600" b="1">
              <a:solidFill>
                <a:srgbClr val="00A896"/>
              </a:solidFill>
              <a:latin typeface="Calibri"/>
              <a:ea typeface="Calibri"/>
              <a:cs typeface="Calibri"/>
            </a:endParaRPr>
          </a:p>
          <a:p>
            <a:r>
              <a:rPr lang="en-US" sz="1600" b="1" dirty="0">
                <a:solidFill>
                  <a:srgbClr val="00A896"/>
                </a:solidFill>
                <a:latin typeface="Calibri"/>
              </a:rPr>
              <a:t>	</a:t>
            </a:r>
            <a:r>
              <a:rPr lang="en-US" sz="2400" b="1">
                <a:solidFill>
                  <a:srgbClr val="00A896"/>
                </a:solidFill>
                <a:latin typeface="Calibri"/>
              </a:rPr>
              <a:t>0.99752</a:t>
            </a:r>
            <a:endParaRPr lang="en-US" sz="2400" b="1" dirty="0">
              <a:solidFill>
                <a:srgbClr val="00A896"/>
              </a:solidFill>
              <a:latin typeface="Calibri"/>
              <a:ea typeface="Calibri"/>
              <a:cs typeface="Calibri"/>
            </a:endParaRPr>
          </a:p>
          <a:p>
            <a:r>
              <a:rPr lang="en-US" sz="1100" b="1" dirty="0">
                <a:solidFill>
                  <a:schemeClr val="bg1"/>
                </a:solidFill>
                <a:latin typeface="Calibri"/>
                <a:ea typeface="Calibri"/>
                <a:cs typeface="Calibri"/>
              </a:rPr>
              <a:t>Note: </a:t>
            </a:r>
            <a:r>
              <a:rPr lang="en-US" sz="1100" dirty="0">
                <a:solidFill>
                  <a:schemeClr val="bg1"/>
                </a:solidFill>
                <a:latin typeface="Calibri"/>
                <a:ea typeface="Calibri"/>
                <a:cs typeface="Calibri"/>
              </a:rPr>
              <a:t>we submitted M (Residual Network) instead of I since it also achieves a perfect score, but with lower losses (10^-3 vs 10^-2). In this report, we decided to analyze I instead of M since it converged faster, and M is so powerful that changing parameters and doing strange augmentation didn't hurt it, making it impossible to come to new conclusions</a:t>
            </a:r>
          </a:p>
          <a:p>
            <a:endParaRPr lang="en-US" sz="2400" dirty="0">
              <a:solidFill>
                <a:srgbClr val="00A896"/>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0.99752</a:t>
            </a:r>
            <a:endParaRPr lang="en-US" sz="3200">
              <a:solidFill>
                <a:srgbClr val="00A896"/>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private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Calibri"/>
              <a:ea typeface="Calibri"/>
              <a:cs typeface="Calibri"/>
            </a:endParaRPr>
          </a:p>
        </p:txBody>
      </p:sp>
      <p:sp>
        <p:nvSpPr>
          <p:cNvPr id="32" name="NumCircle">
            <a:extLst>
              <a:ext uri="{FF2B5EF4-FFF2-40B4-BE49-F238E27FC236}">
                <a16:creationId xmlns:a16="http://schemas.microsoft.com/office/drawing/2014/main" id="{BA48E8AF-0D9A-8CAA-14B2-DBB1DC40E32A}"/>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0" name="InsightBG"/>
          <p:cNvSpPr/>
          <p:nvPr/>
        </p:nvSpPr>
        <p:spPr>
          <a:xfrm>
            <a:off x="-2500" y="4467666"/>
            <a:ext cx="9149000" cy="671513"/>
          </a:xfrm>
          <a:prstGeom prst="rect">
            <a:avLst/>
          </a:prstGeom>
          <a:solidFill>
            <a:srgbClr val="1C3A52"/>
          </a:solidFill>
          <a:ln w="0">
            <a:noFill/>
          </a:ln>
        </p:spPr>
        <p:txBody>
          <a:bodyPr/>
          <a:lstStyle/>
          <a:p>
            <a:endParaRPr lang="en-US"/>
          </a:p>
        </p:txBody>
      </p:sp>
      <p:sp>
        <p:nvSpPr>
          <p:cNvPr id="51" name="InsightText"/>
          <p:cNvSpPr/>
          <p:nvPr/>
        </p:nvSpPr>
        <p:spPr>
          <a:xfrm>
            <a:off x="323254" y="4611902"/>
            <a:ext cx="8496050" cy="384840"/>
          </a:xfrm>
          <a:prstGeom prst="rect">
            <a:avLst/>
          </a:prstGeom>
          <a:noFill/>
          <a:ln/>
        </p:spPr>
        <p:txBody>
          <a:bodyPr wrap="square" lIns="91440" tIns="45720" rIns="91440" bIns="45720" rtlCol="0" anchor="ctr"/>
          <a:lstStyle/>
          <a:p>
            <a:r>
              <a:rPr lang="en-US" sz="1100" b="1" dirty="0">
                <a:solidFill>
                  <a:schemeClr val="accent2">
                    <a:lumMod val="40000"/>
                    <a:lumOff val="60000"/>
                  </a:schemeClr>
                </a:solidFill>
                <a:latin typeface="Trebuchet MS"/>
              </a:rPr>
              <a:t>In worse models, the color palette still drives some performance: </a:t>
            </a:r>
            <a:r>
              <a:rPr lang="en-US" sz="1200" dirty="0">
                <a:solidFill>
                  <a:srgbClr val="AACCD8"/>
                </a:solidFill>
                <a:latin typeface="Calibri"/>
              </a:rPr>
              <a:t>as in MLPs there's high F1 in Fire/Poison/Water, due to the distinctive </a:t>
            </a:r>
            <a:r>
              <a:rPr lang="en-US" sz="1200" dirty="0" err="1">
                <a:solidFill>
                  <a:srgbClr val="AACCD8"/>
                </a:solidFill>
                <a:latin typeface="Calibri"/>
              </a:rPr>
              <a:t>colours</a:t>
            </a:r>
            <a:r>
              <a:rPr lang="en-US" sz="1200" dirty="0">
                <a:solidFill>
                  <a:srgbClr val="AACCD8"/>
                </a:solidFill>
                <a:latin typeface="Calibri"/>
              </a:rPr>
              <a:t> of these types; shared palette or humanoid shape give us low F1 (Bug/Rock/Fighting/Ground), since they have no predominant </a:t>
            </a:r>
            <a:r>
              <a:rPr lang="en-US" sz="1200" dirty="0" err="1">
                <a:solidFill>
                  <a:srgbClr val="AACCD8"/>
                </a:solidFill>
                <a:latin typeface="Calibri"/>
              </a:rPr>
              <a:t>colours</a:t>
            </a:r>
            <a:r>
              <a:rPr lang="en-US" sz="1200" dirty="0">
                <a:solidFill>
                  <a:srgbClr val="AACCD8"/>
                </a:solidFill>
                <a:latin typeface="Calibri"/>
              </a:rPr>
              <a:t>. These models had more difficulty making the jump from the </a:t>
            </a:r>
            <a:r>
              <a:rPr lang="en-US" sz="1200" dirty="0" err="1">
                <a:solidFill>
                  <a:srgbClr val="AACCD8"/>
                </a:solidFill>
                <a:latin typeface="Calibri"/>
              </a:rPr>
              <a:t>colours</a:t>
            </a:r>
            <a:r>
              <a:rPr lang="en-US" sz="1200" dirty="0">
                <a:solidFill>
                  <a:srgbClr val="AACCD8"/>
                </a:solidFill>
                <a:latin typeface="Calibri"/>
              </a:rPr>
              <a:t> to the shapes of the </a:t>
            </a:r>
            <a:r>
              <a:rPr lang="en-US" sz="1200" dirty="0" err="1">
                <a:solidFill>
                  <a:srgbClr val="AACCD8"/>
                </a:solidFill>
                <a:latin typeface="Calibri"/>
              </a:rPr>
              <a:t>pokemon</a:t>
            </a:r>
            <a:r>
              <a:rPr lang="en-US" sz="1200" dirty="0">
                <a:solidFill>
                  <a:srgbClr val="AACCD8"/>
                </a:solidFill>
                <a:latin typeface="Calibri"/>
              </a:rPr>
              <a:t> themselves</a:t>
            </a:r>
            <a:endParaRPr lang="en-US" sz="1200" dirty="0">
              <a:solidFill>
                <a:srgbClr val="AACCD8"/>
              </a:solidFill>
              <a:latin typeface="Calibri"/>
              <a:ea typeface="Calibri"/>
              <a:cs typeface="Calibri"/>
            </a:endParaRPr>
          </a:p>
        </p:txBody>
      </p:sp>
      <p:pic>
        <p:nvPicPr>
          <p:cNvPr id="6" name="Picture 5" descr="A red and yellow chart&#10;&#10;AI-generated content may be incorrect.">
            <a:extLst>
              <a:ext uri="{FF2B5EF4-FFF2-40B4-BE49-F238E27FC236}">
                <a16:creationId xmlns:a16="http://schemas.microsoft.com/office/drawing/2014/main" id="{10968137-3EBD-2374-015A-4AF676334C6E}"/>
              </a:ext>
            </a:extLst>
          </p:cNvPr>
          <p:cNvPicPr>
            <a:picLocks noChangeAspect="1"/>
          </p:cNvPicPr>
          <p:nvPr/>
        </p:nvPicPr>
        <p:blipFill>
          <a:blip r:embed="rId2"/>
          <a:stretch>
            <a:fillRect/>
          </a:stretch>
        </p:blipFill>
        <p:spPr>
          <a:xfrm>
            <a:off x="-1030" y="613273"/>
            <a:ext cx="4233824" cy="3647551"/>
          </a:xfrm>
          <a:prstGeom prst="rect">
            <a:avLst/>
          </a:prstGeom>
        </p:spPr>
      </p:pic>
      <p:graphicFrame>
        <p:nvGraphicFramePr>
          <p:cNvPr id="11" name="Table 0">
            <a:extLst>
              <a:ext uri="{FF2B5EF4-FFF2-40B4-BE49-F238E27FC236}">
                <a16:creationId xmlns:a16="http://schemas.microsoft.com/office/drawing/2014/main" id="{0DAD39FF-0189-2C36-9279-54274F87F156}"/>
              </a:ext>
            </a:extLst>
          </p:cNvPr>
          <p:cNvGraphicFramePr>
            <a:graphicFrameLocks noGrp="1"/>
          </p:cNvGraphicFramePr>
          <p:nvPr>
            <p:extLst>
              <p:ext uri="{D42A27DB-BD31-4B8C-83A1-F6EECF244321}">
                <p14:modId xmlns:p14="http://schemas.microsoft.com/office/powerpoint/2010/main" val="4091317701"/>
              </p:ext>
            </p:extLst>
          </p:nvPr>
        </p:nvGraphicFramePr>
        <p:xfrm>
          <a:off x="5050203" y="626101"/>
          <a:ext cx="3055847" cy="3412498"/>
        </p:xfrm>
        <a:graphic>
          <a:graphicData uri="http://schemas.openxmlformats.org/drawingml/2006/table">
            <a:tbl>
              <a:tblPr/>
              <a:tblGrid>
                <a:gridCol w="708080">
                  <a:extLst>
                    <a:ext uri="{9D8B030D-6E8A-4147-A177-3AD203B41FA5}">
                      <a16:colId xmlns:a16="http://schemas.microsoft.com/office/drawing/2014/main" val="20000"/>
                    </a:ext>
                  </a:extLst>
                </a:gridCol>
                <a:gridCol w="619932">
                  <a:extLst>
                    <a:ext uri="{9D8B030D-6E8A-4147-A177-3AD203B41FA5}">
                      <a16:colId xmlns:a16="http://schemas.microsoft.com/office/drawing/2014/main" val="20001"/>
                    </a:ext>
                  </a:extLst>
                </a:gridCol>
                <a:gridCol w="611586">
                  <a:extLst>
                    <a:ext uri="{9D8B030D-6E8A-4147-A177-3AD203B41FA5}">
                      <a16:colId xmlns:a16="http://schemas.microsoft.com/office/drawing/2014/main" val="4133161899"/>
                    </a:ext>
                  </a:extLst>
                </a:gridCol>
                <a:gridCol w="1116249">
                  <a:extLst>
                    <a:ext uri="{9D8B030D-6E8A-4147-A177-3AD203B41FA5}">
                      <a16:colId xmlns:a16="http://schemas.microsoft.com/office/drawing/2014/main" val="20002"/>
                    </a:ext>
                  </a:extLst>
                </a:gridCol>
              </a:tblGrid>
              <a:tr h="371659">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a:solidFill>
                            <a:srgbClr val="FFFFFF"/>
                          </a:solidFill>
                          <a:latin typeface="Calibri"/>
                          <a:ea typeface="Calibri"/>
                          <a:cs typeface="Calibri"/>
                        </a:rPr>
                        <a:t>CNN F1</a:t>
                      </a:r>
                      <a:endParaRPr lang="en-US" sz="11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a:solidFill>
                            <a:srgbClr val="FFFFFF"/>
                          </a:solidFill>
                          <a:latin typeface="Calibri"/>
                          <a:ea typeface="Calibri"/>
                          <a:cs typeface="Calibri"/>
                        </a:rPr>
                        <a:t>MLP F1</a:t>
                      </a:r>
                      <a:endParaRPr lang="en-US" sz="1100" b="1" dirty="0">
                        <a:solidFill>
                          <a:srgbClr val="FFFFFF"/>
                        </a:solidFill>
                        <a:latin typeface="Calibri"/>
                        <a:ea typeface="Calibri"/>
                        <a:cs typeface="Calibri"/>
                      </a:endParaRPr>
                    </a:p>
                  </a:txBody>
                  <a:tcP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0D1B2A"/>
                    </a:solidFill>
                  </a:tcPr>
                </a:tc>
                <a:tc>
                  <a:txBody>
                    <a:bodyPr/>
                    <a:lstStyle/>
                    <a:p>
                      <a:pPr marL="0" lvl="0" indent="0" algn="ctr">
                        <a:buNone/>
                      </a:pPr>
                      <a:r>
                        <a:rPr lang="en-US" sz="1100" b="1">
                          <a:solidFill>
                            <a:srgbClr val="FFFFFF"/>
                          </a:solidFill>
                          <a:latin typeface="Calibri"/>
                          <a:ea typeface="Calibri"/>
                          <a:cs typeface="Calibri"/>
                        </a:rPr>
                        <a:t>Improvement</a:t>
                      </a:r>
                      <a:endParaRPr lang="en-US"/>
                    </a:p>
                  </a:txBody>
                  <a:tcP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0.457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indent="0" algn="ctr">
                        <a:buNone/>
                      </a:pPr>
                      <a:r>
                        <a:rPr lang="en-US" sz="1100" b="1">
                          <a:solidFill>
                            <a:srgbClr val="00B050"/>
                          </a:solidFill>
                          <a:latin typeface="Calibri"/>
                          <a:ea typeface="Calibri"/>
                          <a:cs typeface="Calibri"/>
                        </a:rPr>
                        <a:t>+0.543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0.359</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+0.641</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7871">
                <a:tc>
                  <a:txBody>
                    <a:bodyPr/>
                    <a:lstStyle/>
                    <a:p>
                      <a:pPr marL="0" indent="0">
                        <a:buNone/>
                      </a:pPr>
                      <a:r>
                        <a:rPr lang="en-US" sz="1100" b="1" dirty="0">
                          <a:solidFill>
                            <a:srgbClr val="000000"/>
                          </a:solidFill>
                          <a:latin typeface="Calibri"/>
                          <a:ea typeface="Calibri"/>
                          <a:cs typeface="Calibri"/>
                        </a:rPr>
                        <a:t>Water</a:t>
                      </a:r>
                      <a:endParaRPr lang="en-US" sz="1100" b="1">
                        <a:latin typeface="Calibri"/>
                        <a:ea typeface="Calibri"/>
                        <a:cs typeface="Calibri"/>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0.332</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+0.668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0.286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+0.714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0.215</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+0.785</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0.140</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+0.860</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0.126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+0.874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0.134</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+0.866</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0.107</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+0.893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2">
            <a:extLst>
              <a:ext uri="{FF2B5EF4-FFF2-40B4-BE49-F238E27FC236}">
                <a16:creationId xmlns:a16="http://schemas.microsoft.com/office/drawing/2014/main" id="{29BA15D0-3936-62B2-8776-4A81F788C65C}"/>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9" name="NumCircle">
            <a:extLst>
              <a:ext uri="{FF2B5EF4-FFF2-40B4-BE49-F238E27FC236}">
                <a16:creationId xmlns:a16="http://schemas.microsoft.com/office/drawing/2014/main" id="{558FF5CF-69F3-17A8-5326-78D12DAF5B73}"/>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18598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54517" y="4194659"/>
            <a:ext cx="4017997" cy="954705"/>
          </a:xfrm>
          <a:prstGeom prst="rect">
            <a:avLst/>
          </a:prstGeom>
          <a:solidFill>
            <a:srgbClr val="0D1B2A"/>
          </a:solidFill>
          <a:ln w="0">
            <a:noFill/>
          </a:ln>
        </p:spPr>
        <p:txBody>
          <a:bodyPr/>
          <a:lstStyle/>
          <a:p>
            <a:endParaRPr lang="en-US"/>
          </a:p>
        </p:txBody>
      </p:sp>
      <p:sp>
        <p:nvSpPr>
          <p:cNvPr id="31" name="CatchText"/>
          <p:cNvSpPr/>
          <p:nvPr/>
        </p:nvSpPr>
        <p:spPr>
          <a:xfrm>
            <a:off x="292749" y="4173475"/>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Normal is the catch-all for MLP</a:t>
            </a:r>
            <a:endParaRPr lang="en-US"/>
          </a:p>
          <a:p>
            <a:pPr marL="228600" indent="-228600">
              <a:buChar char="•"/>
            </a:pPr>
            <a:r>
              <a:rPr lang="en-US" sz="1100" dirty="0">
                <a:solidFill>
                  <a:schemeClr val="bg1"/>
                </a:solidFill>
                <a:latin typeface="Calibri"/>
              </a:rPr>
              <a:t>Normal = most diverse class: humanoids of every shape and size, no dominant </a:t>
            </a:r>
            <a:r>
              <a:rPr lang="en-US" sz="1100" dirty="0" err="1">
                <a:solidFill>
                  <a:schemeClr val="bg1"/>
                </a:solidFill>
                <a:latin typeface="Calibri"/>
              </a:rPr>
              <a:t>colour</a:t>
            </a:r>
            <a:endParaRPr lang="en-US" sz="1100" dirty="0" err="1">
              <a:solidFill>
                <a:schemeClr val="bg1"/>
              </a:solidFill>
              <a:latin typeface="Calibri"/>
              <a:ea typeface="Calibri"/>
              <a:cs typeface="Calibri"/>
            </a:endParaRPr>
          </a:p>
          <a:p>
            <a:pPr marL="228600" indent="-228600">
              <a:buChar char="•"/>
            </a:pPr>
            <a:r>
              <a:rPr lang="en-US" sz="1100" dirty="0">
                <a:solidFill>
                  <a:schemeClr val="bg1"/>
                </a:solidFill>
                <a:latin typeface="Calibri"/>
              </a:rPr>
              <a:t>Bug, Fighting and Ground all lack distinctive palettes — the MLP falls back to predicting Normal</a:t>
            </a:r>
          </a:p>
        </p:txBody>
      </p:sp>
      <p:pic>
        <p:nvPicPr>
          <p:cNvPr id="7" name="Picture 6">
            <a:extLst>
              <a:ext uri="{FF2B5EF4-FFF2-40B4-BE49-F238E27FC236}">
                <a16:creationId xmlns:a16="http://schemas.microsoft.com/office/drawing/2014/main" id="{93140B6C-BAD5-FF14-C36A-64E2C5AB0B87}"/>
              </a:ext>
            </a:extLst>
          </p:cNvPr>
          <p:cNvPicPr>
            <a:picLocks noChangeAspect="1"/>
          </p:cNvPicPr>
          <p:nvPr/>
        </p:nvPicPr>
        <p:blipFill>
          <a:blip r:embed="rId2"/>
          <a:stretch>
            <a:fillRect/>
          </a:stretch>
        </p:blipFill>
        <p:spPr>
          <a:xfrm>
            <a:off x="221486" y="1089422"/>
            <a:ext cx="3816489" cy="3107531"/>
          </a:xfrm>
          <a:prstGeom prst="rect">
            <a:avLst/>
          </a:prstGeom>
        </p:spPr>
      </p:pic>
      <p:sp>
        <p:nvSpPr>
          <p:cNvPr id="8" name="CatchText">
            <a:extLst>
              <a:ext uri="{FF2B5EF4-FFF2-40B4-BE49-F238E27FC236}">
                <a16:creationId xmlns:a16="http://schemas.microsoft.com/office/drawing/2014/main" id="{206C3F56-0D8B-5637-9765-9A2455DC7083}"/>
              </a:ext>
            </a:extLst>
          </p:cNvPr>
          <p:cNvSpPr/>
          <p:nvPr/>
        </p:nvSpPr>
        <p:spPr>
          <a:xfrm>
            <a:off x="1801866" y="673037"/>
            <a:ext cx="665079" cy="395657"/>
          </a:xfrm>
          <a:prstGeom prst="rect">
            <a:avLst/>
          </a:prstGeom>
          <a:noFill/>
          <a:ln/>
        </p:spPr>
        <p:txBody>
          <a:bodyPr wrap="square" lIns="91440" tIns="45720" rIns="91440" bIns="45720" rtlCol="0" anchor="t"/>
          <a:lstStyle/>
          <a:p>
            <a:r>
              <a:rPr lang="en-US" sz="2000" b="1">
                <a:latin typeface="Trebuchet MS"/>
              </a:rPr>
              <a:t>MLP</a:t>
            </a:r>
            <a:endParaRPr lang="en-US" sz="2000"/>
          </a:p>
          <a:p>
            <a:pPr marL="228600" indent="-228600">
              <a:buChar char="•"/>
            </a:pPr>
            <a:endParaRPr lang="en-US" sz="1100" dirty="0">
              <a:latin typeface="Calibri"/>
              <a:ea typeface="Calibri"/>
              <a:cs typeface="Calibri"/>
            </a:endParaRPr>
          </a:p>
        </p:txBody>
      </p:sp>
      <p:pic>
        <p:nvPicPr>
          <p:cNvPr id="13" name="Picture 12" descr="A graph of a number of blue squares&#10;&#10;AI-generated content may be incorrect.">
            <a:extLst>
              <a:ext uri="{FF2B5EF4-FFF2-40B4-BE49-F238E27FC236}">
                <a16:creationId xmlns:a16="http://schemas.microsoft.com/office/drawing/2014/main" id="{D1277C1D-5659-D855-875F-6E823397BB4D}"/>
              </a:ext>
            </a:extLst>
          </p:cNvPr>
          <p:cNvPicPr>
            <a:picLocks noChangeAspect="1"/>
          </p:cNvPicPr>
          <p:nvPr/>
        </p:nvPicPr>
        <p:blipFill>
          <a:blip r:embed="rId3"/>
          <a:stretch>
            <a:fillRect/>
          </a:stretch>
        </p:blipFill>
        <p:spPr>
          <a:xfrm>
            <a:off x="4574381" y="1085850"/>
            <a:ext cx="3924300" cy="3114675"/>
          </a:xfrm>
          <a:prstGeom prst="rect">
            <a:avLst/>
          </a:prstGeom>
        </p:spPr>
      </p:pic>
      <p:sp>
        <p:nvSpPr>
          <p:cNvPr id="14" name="CatchBG">
            <a:extLst>
              <a:ext uri="{FF2B5EF4-FFF2-40B4-BE49-F238E27FC236}">
                <a16:creationId xmlns:a16="http://schemas.microsoft.com/office/drawing/2014/main" id="{6E306E00-2890-9B44-D47E-21C5D109AD13}"/>
              </a:ext>
            </a:extLst>
          </p:cNvPr>
          <p:cNvSpPr/>
          <p:nvPr/>
        </p:nvSpPr>
        <p:spPr>
          <a:xfrm>
            <a:off x="4521133" y="4194658"/>
            <a:ext cx="4017997" cy="954705"/>
          </a:xfrm>
          <a:prstGeom prst="rect">
            <a:avLst/>
          </a:prstGeom>
          <a:solidFill>
            <a:srgbClr val="0D1B2A"/>
          </a:solidFill>
          <a:ln w="0">
            <a:noFill/>
          </a:ln>
        </p:spPr>
        <p:txBody>
          <a:bodyPr/>
          <a:lstStyle/>
          <a:p>
            <a:endParaRPr lang="en-US"/>
          </a:p>
        </p:txBody>
      </p:sp>
      <p:sp>
        <p:nvSpPr>
          <p:cNvPr id="15" name="CatchText">
            <a:extLst>
              <a:ext uri="{FF2B5EF4-FFF2-40B4-BE49-F238E27FC236}">
                <a16:creationId xmlns:a16="http://schemas.microsoft.com/office/drawing/2014/main" id="{B4E6DBCC-BEFA-D387-E58B-1D8FA5762AB6}"/>
              </a:ext>
            </a:extLst>
          </p:cNvPr>
          <p:cNvSpPr/>
          <p:nvPr/>
        </p:nvSpPr>
        <p:spPr>
          <a:xfrm>
            <a:off x="4659365" y="4173474"/>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CNNs are immune to this</a:t>
            </a:r>
            <a:endParaRPr lang="en-US"/>
          </a:p>
          <a:p>
            <a:pPr marL="228600" indent="-228600">
              <a:buFont typeface="Arial"/>
              <a:buChar char="•"/>
            </a:pPr>
            <a:r>
              <a:rPr lang="en-US" sz="1100" dirty="0">
                <a:solidFill>
                  <a:schemeClr val="bg1"/>
                </a:solidFill>
                <a:latin typeface="Calibri"/>
                <a:ea typeface="Calibri"/>
                <a:cs typeface="Calibri"/>
              </a:rPr>
              <a:t>As stated before, they can learn other patterns besides </a:t>
            </a:r>
            <a:r>
              <a:rPr lang="en-US" sz="1100" dirty="0" err="1">
                <a:solidFill>
                  <a:schemeClr val="bg1"/>
                </a:solidFill>
                <a:latin typeface="Calibri"/>
                <a:ea typeface="Calibri"/>
                <a:cs typeface="Calibri"/>
              </a:rPr>
              <a:t>colour</a:t>
            </a:r>
            <a:r>
              <a:rPr lang="en-US" sz="1100" dirty="0">
                <a:solidFill>
                  <a:schemeClr val="bg1"/>
                </a:solidFill>
                <a:latin typeface="Calibri"/>
                <a:ea typeface="Calibri"/>
                <a:cs typeface="Calibri"/>
              </a:rPr>
              <a:t> and independent pixels</a:t>
            </a:r>
          </a:p>
        </p:txBody>
      </p:sp>
      <p:sp>
        <p:nvSpPr>
          <p:cNvPr id="16" name="CatchText">
            <a:extLst>
              <a:ext uri="{FF2B5EF4-FFF2-40B4-BE49-F238E27FC236}">
                <a16:creationId xmlns:a16="http://schemas.microsoft.com/office/drawing/2014/main" id="{7999AF14-4CB2-B054-1934-616B39B0E07A}"/>
              </a:ext>
            </a:extLst>
          </p:cNvPr>
          <p:cNvSpPr/>
          <p:nvPr/>
        </p:nvSpPr>
        <p:spPr>
          <a:xfrm>
            <a:off x="6150624" y="673036"/>
            <a:ext cx="781164" cy="413516"/>
          </a:xfrm>
          <a:prstGeom prst="rect">
            <a:avLst/>
          </a:prstGeom>
          <a:noFill/>
          <a:ln/>
        </p:spPr>
        <p:txBody>
          <a:bodyPr wrap="square" lIns="91440" tIns="45720" rIns="91440" bIns="45720" rtlCol="0" anchor="t"/>
          <a:lstStyle/>
          <a:p>
            <a:r>
              <a:rPr lang="en-US" sz="2000" b="1">
                <a:latin typeface="Trebuchet MS"/>
              </a:rPr>
              <a:t>CNN</a:t>
            </a:r>
            <a:endParaRPr lang="en-US" sz="2000"/>
          </a:p>
          <a:p>
            <a:pPr marL="228600" indent="-228600">
              <a:buChar char="•"/>
            </a:pPr>
            <a:endParaRPr lang="en-US" sz="1100" dirty="0">
              <a:latin typeface="Calibri"/>
              <a:ea typeface="Calibri"/>
              <a:cs typeface="Calibri"/>
            </a:endParaRPr>
          </a:p>
        </p:txBody>
      </p:sp>
      <p:sp>
        <p:nvSpPr>
          <p:cNvPr id="9" name="Shape 2">
            <a:extLst>
              <a:ext uri="{FF2B5EF4-FFF2-40B4-BE49-F238E27FC236}">
                <a16:creationId xmlns:a16="http://schemas.microsoft.com/office/drawing/2014/main" id="{327BFDEF-F7A7-BB23-1A7D-A78AEDACEDD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11" name="NumCircle">
            <a:extLst>
              <a:ext uri="{FF2B5EF4-FFF2-40B4-BE49-F238E27FC236}">
                <a16:creationId xmlns:a16="http://schemas.microsoft.com/office/drawing/2014/main" id="{A4A43363-4011-D7C6-6B2C-89563A9E8912}"/>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r>
              <a:rPr lang="en-US" sz="1000" b="1" dirty="0">
                <a:solidFill>
                  <a:srgbClr val="00A896"/>
                </a:solidFill>
                <a:latin typeface="Calibri"/>
              </a:rPr>
              <a:t>ENSEMBLE I+K ★  F1=1.0000 acc=100%   </a:t>
            </a:r>
            <a:r>
              <a:rPr lang="en-US" sz="1000" dirty="0">
                <a:solidFill>
                  <a:srgbClr val="1A2B3C"/>
                </a:solidFill>
                <a:latin typeface="Calibri"/>
              </a:rPr>
              <a:t> Combining perfect models together doesn't change the result - expected</a:t>
            </a:r>
          </a:p>
        </p:txBody>
      </p:sp>
      <p:sp>
        <p:nvSpPr>
          <p:cNvPr id="13" name="E2"/>
          <p:cNvSpPr/>
          <p:nvPr/>
        </p:nvSpPr>
        <p:spPr>
          <a:xfrm>
            <a:off x="274320" y="1189331"/>
            <a:ext cx="8604289" cy="407482"/>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1"/>
            <a:ext cx="8604289" cy="407482"/>
          </a:xfrm>
          <a:prstGeom prst="rect">
            <a:avLst/>
          </a:prstGeom>
          <a:noFill/>
          <a:ln/>
        </p:spPr>
        <p:txBody>
          <a:bodyPr wrap="square" lIns="91440" tIns="0" rIns="0" bIns="0" rtlCol="0" anchor="ctr"/>
          <a:lstStyle/>
          <a:p>
            <a:r>
              <a:rPr lang="en-US" sz="1000" b="1" dirty="0">
                <a:solidFill>
                  <a:srgbClr val="028090"/>
                </a:solidFill>
                <a:latin typeface="Calibri"/>
              </a:rPr>
              <a:t>ENSEMBLE C+H F1=0.9908 acc=99.0%   </a:t>
            </a:r>
            <a:r>
              <a:rPr lang="en-US" sz="1000" dirty="0">
                <a:solidFill>
                  <a:srgbClr val="1A2B3C"/>
                </a:solidFill>
                <a:latin typeface="Calibri"/>
              </a:rPr>
              <a:t>Combining a bad model with a perfect one gave a similar performance, no additional noise (class weights + dropout combination)</a:t>
            </a:r>
            <a:endParaRPr lang="en-US" sz="1000" dirty="0">
              <a:solidFill>
                <a:srgbClr val="1A2B3C"/>
              </a:solidFill>
              <a:latin typeface="Calibri"/>
              <a:ea typeface="Calibri"/>
              <a:cs typeface="Calibri"/>
            </a:endParaRPr>
          </a:p>
        </p:txBody>
      </p:sp>
      <p:sp>
        <p:nvSpPr>
          <p:cNvPr id="40" name="LBG"/>
          <p:cNvSpPr/>
          <p:nvPr/>
        </p:nvSpPr>
        <p:spPr>
          <a:xfrm>
            <a:off x="256461" y="2357062"/>
            <a:ext cx="4205520" cy="1680345"/>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39341" y="2609816"/>
            <a:ext cx="3840480" cy="2286000"/>
          </a:xfrm>
          <a:prstGeom prst="rect">
            <a:avLst/>
          </a:prstGeom>
          <a:noFill/>
          <a:ln/>
        </p:spPr>
        <p:txBody>
          <a:bodyPr wrap="square" lIns="91440" tIns="45720" rIns="91440" bIns="45720" rtlCol="0" anchor="t"/>
          <a:lstStyle/>
          <a:p>
            <a:r>
              <a:rPr lang="en-US" sz="1200" b="1">
                <a:solidFill>
                  <a:srgbClr val="028090"/>
                </a:solidFill>
                <a:latin typeface="Trebuchet MS"/>
              </a:rPr>
              <a:t>C + H had a similar performance to solo H</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a:solidFill>
                  <a:srgbClr val="1A2B3C"/>
                </a:solidFill>
                <a:latin typeface="Calibri"/>
              </a:rPr>
              <a:t>H uses dropout — randomly drops neurons</a:t>
            </a:r>
            <a:endParaRPr lang="en-US" sz="1100">
              <a:solidFill>
                <a:srgbClr val="1A2B3C"/>
              </a:solidFill>
              <a:latin typeface="Calibri"/>
              <a:ea typeface="Calibri"/>
              <a:cs typeface="Calibri"/>
            </a:endParaRPr>
          </a:p>
          <a:p>
            <a:pPr marL="228600" indent="-228600">
              <a:buChar char="•"/>
            </a:pPr>
            <a:r>
              <a:rPr lang="en-US" sz="1100" dirty="0">
                <a:solidFill>
                  <a:srgbClr val="1A2B3C"/>
                </a:solidFill>
                <a:latin typeface="Calibri"/>
              </a:rPr>
              <a:t>Different mechanisms = different mistakes, but model H's performance doesn't outweigh H's near perfect performance</a:t>
            </a:r>
            <a:endParaRPr lang="en-US" sz="1100" dirty="0">
              <a:solidFill>
                <a:srgbClr val="1A2B3C"/>
              </a:solidFill>
              <a:latin typeface="Calibri"/>
              <a:ea typeface="Calibri"/>
              <a:cs typeface="Calibri"/>
            </a:endParaRPr>
          </a:p>
        </p:txBody>
      </p:sp>
      <p:sp>
        <p:nvSpPr>
          <p:cNvPr id="50" name="RBG"/>
          <p:cNvSpPr/>
          <p:nvPr/>
        </p:nvSpPr>
        <p:spPr>
          <a:xfrm>
            <a:off x="4663920" y="2357063"/>
            <a:ext cx="4205520" cy="1680345"/>
          </a:xfrm>
          <a:prstGeom prst="rect">
            <a:avLst/>
          </a:prstGeom>
          <a:solidFill>
            <a:srgbClr val="0D1B2A"/>
          </a:solidFill>
          <a:ln w="0">
            <a:noFill/>
          </a:ln>
        </p:spPr>
        <p:txBody>
          <a:bodyPr/>
          <a:lstStyle/>
          <a:p>
            <a:endParaRPr lang="en-US"/>
          </a:p>
        </p:txBody>
      </p:sp>
      <p:sp>
        <p:nvSpPr>
          <p:cNvPr id="51" name="RText"/>
          <p:cNvSpPr/>
          <p:nvPr/>
        </p:nvSpPr>
        <p:spPr>
          <a:xfrm>
            <a:off x="4846800" y="2431223"/>
            <a:ext cx="3840480" cy="2286000"/>
          </a:xfrm>
          <a:prstGeom prst="rect">
            <a:avLst/>
          </a:prstGeom>
          <a:noFill/>
          <a:ln/>
        </p:spPr>
        <p:txBody>
          <a:bodyPr wrap="square" lIns="91440" tIns="45720" rIns="91440" bIns="45720" rtlCol="0" anchor="t"/>
          <a:lstStyle/>
          <a:p>
            <a:pPr>
              <a:buNone/>
            </a:pPr>
            <a:r>
              <a:rPr lang="en-US" sz="1200" b="1" dirty="0">
                <a:solidFill>
                  <a:srgbClr val="00A896"/>
                </a:solidFill>
                <a:latin typeface="Trebuchet MS"/>
              </a:rPr>
              <a:t>Kaggle validation gap</a:t>
            </a:r>
          </a:p>
          <a:p>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1.0000</a:t>
            </a:r>
          </a:p>
          <a:p>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0.99752</a:t>
            </a:r>
          </a:p>
          <a:p>
            <a:r>
              <a:rPr lang="en-US" sz="2000" b="1">
                <a:solidFill>
                  <a:srgbClr val="FFFFFF"/>
                </a:solidFill>
                <a:latin typeface="Trebuchet MS"/>
              </a:rPr>
              <a:t>	−0.00248 (-0.2486%)</a:t>
            </a:r>
          </a:p>
          <a:p>
            <a:pPr>
              <a:buNone/>
            </a:pPr>
            <a:endParaRPr lang="en-US" sz="1000" b="1" dirty="0">
              <a:solidFill>
                <a:srgbClr val="00A896"/>
              </a:solidFill>
              <a:latin typeface="Calibri"/>
            </a:endParaRPr>
          </a:p>
          <a:p>
            <a:r>
              <a:rPr lang="en-US" sz="1000" b="1">
                <a:solidFill>
                  <a:srgbClr val="00A896"/>
                </a:solidFill>
                <a:latin typeface="Calibri"/>
              </a:rPr>
              <a:t>Negligible gap:</a:t>
            </a:r>
            <a:endParaRPr lang="en-US" sz="1000" b="1">
              <a:solidFill>
                <a:srgbClr val="00A896"/>
              </a:solidFill>
              <a:latin typeface="Calibri"/>
              <a:ea typeface="Calibri"/>
              <a:cs typeface="Calibri"/>
            </a:endParaRPr>
          </a:p>
          <a:p>
            <a:pPr marL="228600" indent="-228600">
              <a:buChar char="•"/>
            </a:pPr>
            <a:r>
              <a:rPr lang="en-US" sz="1100">
                <a:solidFill>
                  <a:srgbClr val="AACCD8"/>
                </a:solidFill>
                <a:latin typeface="Calibri"/>
                <a:ea typeface="Calibri"/>
                <a:cs typeface="Calibri"/>
              </a:rPr>
              <a:t>We correctly evaluated our model's performance locally</a:t>
            </a:r>
            <a:endParaRPr lang="en-US" sz="1100" dirty="0">
              <a:solidFill>
                <a:srgbClr val="AACCD8"/>
              </a:solidFill>
              <a:latin typeface="Calibri"/>
              <a:ea typeface="Calibri"/>
              <a:cs typeface="Calibri"/>
            </a:endParaRPr>
          </a:p>
        </p:txBody>
      </p:sp>
      <p:sp>
        <p:nvSpPr>
          <p:cNvPr id="7" name="Shape 2">
            <a:extLst>
              <a:ext uri="{FF2B5EF4-FFF2-40B4-BE49-F238E27FC236}">
                <a16:creationId xmlns:a16="http://schemas.microsoft.com/office/drawing/2014/main" id="{046D97F3-2152-72D7-FF43-B776D8D831CA}"/>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9" name="NumCircle">
            <a:extLst>
              <a:ext uri="{FF2B5EF4-FFF2-40B4-BE49-F238E27FC236}">
                <a16:creationId xmlns:a16="http://schemas.microsoft.com/office/drawing/2014/main" id="{BE1F69D0-A6A2-C8B1-B747-7A8A529A1E49}"/>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r>
              <a:rPr lang="en-US" sz="2200" b="1">
                <a:solidFill>
                  <a:srgbClr val="0D1B2A"/>
                </a:solidFill>
                <a:latin typeface="Trebuchet MS"/>
                <a:ea typeface="Trebuchet MS" pitchFamily="34" charset="-122"/>
                <a:cs typeface="Trebuchet MS" pitchFamily="34" charset="-120"/>
              </a:rPr>
              <a:t>Why Are CNNs Better For This Task?</a:t>
            </a:r>
            <a:endParaRPr lang="en-US" sz="2200" b="1" dirty="0">
              <a:solidFill>
                <a:srgbClr val="0D1B2A"/>
              </a:solidFill>
              <a:latin typeface="Trebuchet MS"/>
            </a:endParaRPr>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Spatial Inductive Bias</a:t>
            </a:r>
            <a:endParaRPr lang="en-US" sz="1200">
              <a:latin typeface="Trebuchet MS"/>
            </a:endParaRPr>
          </a:p>
        </p:txBody>
      </p:sp>
      <p:sp>
        <p:nvSpPr>
          <p:cNvPr id="11" name="Text 9"/>
          <p:cNvSpPr/>
          <p:nvPr/>
        </p:nvSpPr>
        <p:spPr>
          <a:xfrm>
            <a:off x="493776"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A CNN can recognize the same sprite at top-left or bottom-right, even though the input vector is different (translation invariance). MLPs can't learn "this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exists somewhere", even though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always appears in the same way.</a:t>
            </a:r>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r>
              <a:rPr lang="en-US" sz="1200" b="1">
                <a:solidFill>
                  <a:srgbClr val="0D1B2A"/>
                </a:solidFill>
                <a:latin typeface="Trebuchet MS"/>
              </a:rPr>
              <a:t>Local Feature Learning</a:t>
            </a:r>
            <a:endParaRPr lang="en-US"/>
          </a:p>
        </p:txBody>
      </p:sp>
      <p:sp>
        <p:nvSpPr>
          <p:cNvPr id="15" name="Text 13"/>
          <p:cNvSpPr/>
          <p:nvPr/>
        </p:nvSpPr>
        <p:spPr>
          <a:xfrm>
            <a:off x="484090" y="2878190"/>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focus on local pattern (edges, shapes, flame tails, …), rather than treating each pixel independently. MLPs need weights for each </a:t>
            </a:r>
            <a:r>
              <a:rPr lang="en-US" sz="1100">
                <a:solidFill>
                  <a:srgbClr val="3D5A73"/>
                </a:solidFill>
                <a:latin typeface="Calibri"/>
                <a:ea typeface="Calibri"/>
                <a:cs typeface="Calibri"/>
              </a:rPr>
              <a:t>pixel, making them prone to overfit on small datasets like this one - too many parameters.</a:t>
            </a:r>
            <a:endParaRPr lang="en-US" sz="1100" dirty="0">
              <a:solidFill>
                <a:srgbClr val="3D5A73"/>
              </a:solidFill>
              <a:latin typeface="Calibri"/>
              <a:ea typeface="Calibri"/>
              <a:cs typeface="Calibri"/>
            </a:endParaRPr>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r>
              <a:rPr lang="en-US" sz="1200" b="1">
                <a:solidFill>
                  <a:srgbClr val="0D1B2A"/>
                </a:solidFill>
                <a:latin typeface="Trebuchet MS"/>
              </a:rPr>
              <a:t>Hierarchical Feature Learning</a:t>
            </a:r>
            <a:endParaRPr lang="en-US"/>
          </a:p>
        </p:txBody>
      </p:sp>
      <p:sp>
        <p:nvSpPr>
          <p:cNvPr id="19" name="Text 17"/>
          <p:cNvSpPr/>
          <p:nvPr/>
        </p:nvSpPr>
        <p:spPr>
          <a:xfrm>
            <a:off x="493776"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can build layered representations from simple edges to more complex shapes. This helps identifying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even when we lose the </a:t>
            </a:r>
            <a:r>
              <a:rPr lang="en-US" sz="1100" dirty="0" err="1">
                <a:solidFill>
                  <a:srgbClr val="3D5A73"/>
                </a:solidFill>
                <a:latin typeface="Calibri"/>
                <a:ea typeface="Calibri"/>
                <a:cs typeface="Calibri"/>
              </a:rPr>
              <a:t>colour</a:t>
            </a:r>
            <a:r>
              <a:rPr lang="en-US" sz="1100" dirty="0">
                <a:solidFill>
                  <a:srgbClr val="3D5A73"/>
                </a:solidFill>
                <a:latin typeface="Calibri"/>
                <a:ea typeface="Calibri"/>
                <a:cs typeface="Calibri"/>
              </a:rPr>
              <a:t>, for example, due to the memorization of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shape and details.</a:t>
            </a:r>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+0.7572 F1</a:t>
            </a:r>
            <a:endParaRPr lang="en-US" sz="1200">
              <a:latin typeface="Trebuchet MS"/>
            </a:endParaRPr>
          </a:p>
        </p:txBody>
      </p:sp>
      <p:sp>
        <p:nvSpPr>
          <p:cNvPr id="25" name="Text 23"/>
          <p:cNvSpPr/>
          <p:nvPr/>
        </p:nvSpPr>
        <p:spPr>
          <a:xfrm>
            <a:off x="4828032"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same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appearing in different positions breaks the pixel vector. CNN  doesn't mind this.</a:t>
            </a:r>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-96.7% Parameters</a:t>
            </a:r>
            <a:endParaRPr lang="en-US" sz="1200" b="1">
              <a:solidFill>
                <a:srgbClr val="0D1B2A"/>
              </a:solidFill>
              <a:latin typeface="Tw Cen MT"/>
            </a:endParaRPr>
          </a:p>
        </p:txBody>
      </p:sp>
      <p:sp>
        <p:nvSpPr>
          <p:cNvPr id="29" name="Text 27"/>
          <p:cNvSpPr/>
          <p:nvPr/>
        </p:nvSpPr>
        <p:spPr>
          <a:xfrm>
            <a:off x="4828032" y="291693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CNN we analyzed has around 200 000 parameters, while the best MLP model has more than 6 million. With a 4.26/1 feature ratio, the MLP is </a:t>
            </a:r>
            <a:r>
              <a:rPr lang="en-US" sz="1100">
                <a:solidFill>
                  <a:srgbClr val="3D5A73"/>
                </a:solidFill>
                <a:latin typeface="Calibri"/>
                <a:ea typeface="Calibri"/>
                <a:cs typeface="Calibri"/>
              </a:rPr>
              <a:t>memorizing noise rather than learning patterns</a:t>
            </a:r>
            <a:endParaRPr lang="en-US" sz="1100" dirty="0">
              <a:solidFill>
                <a:srgbClr val="3D5A73"/>
              </a:solidFill>
              <a:latin typeface="Calibri"/>
              <a:ea typeface="Calibri"/>
              <a:cs typeface="Calibri"/>
            </a:endParaRPr>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r>
              <a:rPr lang="en-US" sz="1200" b="1">
                <a:solidFill>
                  <a:srgbClr val="0D1B2A"/>
                </a:solidFill>
                <a:latin typeface="Trebuchet MS"/>
              </a:rPr>
              <a:t>CNN Grayscale: -4.81% F1</a:t>
            </a:r>
            <a:endParaRPr lang="en-US"/>
          </a:p>
        </p:txBody>
      </p:sp>
      <p:sp>
        <p:nvSpPr>
          <p:cNvPr id="33" name="Text 31"/>
          <p:cNvSpPr/>
          <p:nvPr/>
        </p:nvSpPr>
        <p:spPr>
          <a:xfrm>
            <a:off x="4828032"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analyzed model has a 4.81% performance decrease (0.9519 F1) when trained with grayscale data, as opposed to RGB. While the performance is worse, it still is much better than the best MLP model (0.2428 F1). The CNN learns the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shapes correctly.</a:t>
            </a:r>
          </a:p>
        </p:txBody>
      </p:sp>
      <p:sp>
        <p:nvSpPr>
          <p:cNvPr id="41" name="Shape 2">
            <a:extLst>
              <a:ext uri="{FF2B5EF4-FFF2-40B4-BE49-F238E27FC236}">
                <a16:creationId xmlns:a16="http://schemas.microsoft.com/office/drawing/2014/main" id="{C57A5BFA-AC7E-EB19-EC06-592D883C878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43" name="NumCircle">
            <a:extLst>
              <a:ext uri="{FF2B5EF4-FFF2-40B4-BE49-F238E27FC236}">
                <a16:creationId xmlns:a16="http://schemas.microsoft.com/office/drawing/2014/main" id="{8302D6AB-0F74-1815-7D32-55FE90CCCDF9}"/>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Best CNN result: 1.0000 </a:t>
            </a:r>
            <a:r>
              <a:rPr lang="en-US" sz="1100" b="1" dirty="0" err="1">
                <a:solidFill>
                  <a:srgbClr val="FFFFFF"/>
                </a:solidFill>
                <a:latin typeface="Trebuchet MS"/>
                <a:ea typeface="Trebuchet MS" pitchFamily="34" charset="-122"/>
                <a:cs typeface="Trebuchet MS" pitchFamily="34" charset="-120"/>
              </a:rPr>
              <a:t>val</a:t>
            </a:r>
            <a:r>
              <a:rPr lang="en-US" sz="1100" b="1" dirty="0">
                <a:solidFill>
                  <a:srgbClr val="FFFFFF"/>
                </a:solidFill>
                <a:latin typeface="Trebuchet MS"/>
                <a:ea typeface="Trebuchet MS" pitchFamily="34" charset="-122"/>
                <a:cs typeface="Trebuchet MS" pitchFamily="34" charset="-120"/>
              </a:rPr>
              <a:t> F1 (I, J, K, L, M, I+K), </a:t>
            </a:r>
            <a:r>
              <a:rPr lang="en-US" sz="1100" b="1" dirty="0">
                <a:solidFill>
                  <a:srgbClr val="FFFFFF"/>
                </a:solidFill>
                <a:latin typeface="Trebuchet MS"/>
                <a:ea typeface="+mn-lt"/>
                <a:cs typeface="+mn-lt"/>
              </a:rPr>
              <a:t>0.99752</a:t>
            </a:r>
            <a:r>
              <a:rPr lang="en-US" sz="1100" b="1" dirty="0">
                <a:solidFill>
                  <a:srgbClr val="FFFFFF"/>
                </a:solidFill>
                <a:latin typeface="Trebuchet MS"/>
                <a:ea typeface="Trebuchet MS" pitchFamily="34" charset="-122"/>
                <a:cs typeface="Trebuchet MS" pitchFamily="34" charset="-120"/>
              </a:rPr>
              <a:t> Kaggle (M)</a:t>
            </a:r>
            <a:endParaRPr lang="en-US" sz="1100" dirty="0">
              <a:latin typeface="Trebuchet MS"/>
            </a:endParaRPr>
          </a:p>
        </p:txBody>
      </p:sp>
      <p:sp>
        <p:nvSpPr>
          <p:cNvPr id="9" name="Text 7"/>
          <p:cNvSpPr/>
          <p:nvPr/>
        </p:nvSpPr>
        <p:spPr>
          <a:xfrm>
            <a:off x="493776" y="115214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4.12x above MLP best model. All 15 solo + 2 ensemble experiments are above the best MLP.</a:t>
            </a: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Dropout and </a:t>
            </a:r>
            <a:r>
              <a:rPr lang="en-US" sz="1100" b="1" dirty="0" err="1">
                <a:solidFill>
                  <a:srgbClr val="FFFFFF"/>
                </a:solidFill>
                <a:latin typeface="Trebuchet MS"/>
                <a:ea typeface="Trebuchet MS" pitchFamily="34" charset="-122"/>
                <a:cs typeface="Trebuchet MS" pitchFamily="34" charset="-120"/>
              </a:rPr>
              <a:t>WeightedRandomSampler</a:t>
            </a:r>
            <a:r>
              <a:rPr lang="en-US" sz="1100" b="1" dirty="0">
                <a:solidFill>
                  <a:srgbClr val="FFFFFF"/>
                </a:solidFill>
                <a:latin typeface="Trebuchet MS"/>
                <a:ea typeface="Trebuchet MS" pitchFamily="34" charset="-122"/>
                <a:cs typeface="Trebuchet MS" pitchFamily="34" charset="-120"/>
              </a:rPr>
              <a:t> = most impactful techniques</a:t>
            </a:r>
            <a:endParaRPr lang="en-US" sz="1100" dirty="0">
              <a:latin typeface="Trebuchet MS"/>
            </a:endParaRPr>
          </a:p>
        </p:txBody>
      </p:sp>
      <p:sp>
        <p:nvSpPr>
          <p:cNvPr id="13" name="Text 11"/>
          <p:cNvSpPr/>
          <p:nvPr/>
        </p:nvSpPr>
        <p:spPr>
          <a:xfrm>
            <a:off x="493776" y="197510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Prevented overfit and handles class imbalance. All top solo experiments use them with dropout=0.3.</a:t>
            </a: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a:solidFill>
                  <a:srgbClr val="FFFFFF"/>
                </a:solidFill>
                <a:latin typeface="Trebuchet MS"/>
                <a:ea typeface="Trebuchet MS" pitchFamily="34" charset="-122"/>
                <a:cs typeface="Trebuchet MS" pitchFamily="34" charset="-120"/>
              </a:rPr>
              <a:t>Augmentation hurt</a:t>
            </a:r>
            <a:endParaRPr lang="en-US" sz="1100">
              <a:latin typeface="Trebuchet MS"/>
            </a:endParaRPr>
          </a:p>
        </p:txBody>
      </p:sp>
      <p:sp>
        <p:nvSpPr>
          <p:cNvPr id="17" name="Text 15"/>
          <p:cNvSpPr/>
          <p:nvPr/>
        </p:nvSpPr>
        <p:spPr>
          <a:xfrm>
            <a:off x="493776" y="279806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Confirmed empirically: performance decreases while using due to sprites always being presented the same way</a:t>
            </a: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r>
              <a:rPr lang="en-US" sz="1100" b="1">
                <a:solidFill>
                  <a:srgbClr val="FFFFFF"/>
                </a:solidFill>
                <a:latin typeface="Trebuchet MS"/>
              </a:rPr>
              <a:t>CNNs are better than MLPs for this task; ceiling surpassed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Feature-to-sample ratio 4.26:1 = no amount of tuning fixes MLP bad performance; CNN keeps spatial structure, and learns sprite shapes/details</a:t>
            </a: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r>
              <a:rPr lang="en-US" sz="1100" b="1">
                <a:latin typeface="Trebuchet MS"/>
              </a:rPr>
              <a:t>No need for ensembles</a:t>
            </a:r>
            <a:endParaRPr lang="en-US" sz="1100" b="1" dirty="0">
              <a:latin typeface="Trebuchet MS"/>
            </a:endParaRPr>
          </a:p>
        </p:txBody>
      </p:sp>
      <p:sp>
        <p:nvSpPr>
          <p:cNvPr id="25" name="Text 23"/>
          <p:cNvSpPr/>
          <p:nvPr/>
        </p:nvSpPr>
        <p:spPr>
          <a:xfrm>
            <a:off x="493776" y="444398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Ensembled experiments returned similar results; CNN solo is already good enough for this task</a:t>
            </a: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a:solidFill>
                  <a:srgbClr val="FFFFFF"/>
                </a:solidFill>
                <a:latin typeface="Trebuchet MS"/>
                <a:ea typeface="Trebuchet MS" pitchFamily="34" charset="-122"/>
                <a:cs typeface="Trebuchet MS" pitchFamily="34" charset="-120"/>
              </a:rPr>
              <a:t>Next: Task 3</a:t>
            </a:r>
            <a:endParaRPr lang="en-US" sz="1500" dirty="0"/>
          </a:p>
        </p:txBody>
      </p:sp>
      <p:sp>
        <p:nvSpPr>
          <p:cNvPr id="28" name="Text 26"/>
          <p:cNvSpPr/>
          <p:nvPr/>
        </p:nvSpPr>
        <p:spPr>
          <a:xfrm>
            <a:off x="6565392" y="1298448"/>
            <a:ext cx="2331720" cy="914400"/>
          </a:xfrm>
          <a:prstGeom prst="rect">
            <a:avLst/>
          </a:prstGeom>
          <a:noFill/>
          <a:ln/>
        </p:spPr>
        <p:txBody>
          <a:bodyPr wrap="square" lIns="91440" tIns="45720" rIns="91440" bIns="45720" rtlCol="0" anchor="ctr"/>
          <a:lstStyle/>
          <a:p>
            <a:pPr algn="ctr"/>
            <a:r>
              <a:rPr lang="en-US" sz="2000" b="1">
                <a:latin typeface="Trebuchet MS"/>
              </a:rPr>
              <a:t>Transfer Learning and Fine-Tuning</a:t>
            </a:r>
            <a:endParaRPr lang="en-US" sz="2000" b="1" dirty="0">
              <a:latin typeface="Trebuchet MS"/>
            </a:endParaRPr>
          </a:p>
          <a:p>
            <a:pPr marL="0" indent="0" algn="ctr">
              <a:buNone/>
            </a:pPr>
            <a:endParaRPr lang="en-US" sz="1200" dirty="0">
              <a:latin typeface="Trebuchet MS"/>
            </a:endParaRPr>
          </a:p>
        </p:txBody>
      </p:sp>
      <p:sp>
        <p:nvSpPr>
          <p:cNvPr id="29" name="Text 27"/>
          <p:cNvSpPr/>
          <p:nvPr/>
        </p:nvSpPr>
        <p:spPr>
          <a:xfrm>
            <a:off x="6629400" y="2304288"/>
            <a:ext cx="2212848" cy="2286000"/>
          </a:xfrm>
          <a:prstGeom prst="rect">
            <a:avLst/>
          </a:prstGeom>
          <a:noFill/>
          <a:ln/>
        </p:spPr>
        <p:txBody>
          <a:bodyPr wrap="square" lIns="91440" tIns="45720" rIns="91440" bIns="45720" rtlCol="0" anchor="ctr"/>
          <a:lstStyle/>
          <a:p>
            <a:pPr marL="342900" indent="-342900">
              <a:buSzPct val="100000"/>
              <a:buChar char="•"/>
            </a:pPr>
            <a:r>
              <a:rPr lang="en-US" sz="1000">
                <a:solidFill>
                  <a:srgbClr val="FFFFFF"/>
                </a:solidFill>
                <a:latin typeface="Calibri"/>
                <a:ea typeface="Calibri"/>
                <a:cs typeface="Calibri"/>
              </a:rPr>
              <a:t>Can we use a pre-trained model to our task?</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How deep will we need to go to replace the weights? Classifier head only, or further (with minimal learning rates)</a:t>
            </a:r>
            <a:r>
              <a:rPr lang="en-US" sz="1000" dirty="0">
                <a:solidFill>
                  <a:srgbClr val="FFFFFF"/>
                </a:solidFill>
                <a:latin typeface="Calibri"/>
                <a:ea typeface="Calibri"/>
                <a:cs typeface="Calibri"/>
              </a:rPr>
              <a: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Will augmentation still hurt the models in this new dataset?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Target F1: 0.60 to 0.70</a:t>
            </a:r>
            <a:endParaRPr lang="en-US" sz="1000">
              <a:latin typeface="Calibri"/>
              <a:ea typeface="Calibri"/>
              <a:cs typeface="Calibri"/>
            </a:endParaRPr>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algn="ctr"/>
            <a:r>
              <a:rPr lang="en-US" sz="1000">
                <a:solidFill>
                  <a:srgbClr val="FFFFFF"/>
                </a:solidFill>
                <a:latin typeface="Calibri"/>
                <a:ea typeface="Calibri"/>
                <a:cs typeface="Calibri"/>
              </a:rPr>
              <a:t>Task 2 complete  ·  Kaggle score: 0.99752 · 17 experiments  ·  ~37 min on T4</a:t>
            </a:r>
            <a:endParaRPr lang="en-US" sz="1000">
              <a:latin typeface="Calibri"/>
              <a:ea typeface="Calibri"/>
              <a:cs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70555-57EC-4E35-5048-823A2DEFE64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FB102AD-A2D7-3936-D7A6-04426D3643AD}"/>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BB423936-36F1-D113-3DE6-5ABBB1D2EE5C}"/>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97924F36-4650-876C-64EC-5FD675153D5D}"/>
              </a:ext>
            </a:extLst>
          </p:cNvPr>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a:solidFill>
                  <a:srgbClr val="02C39A"/>
                </a:solidFill>
                <a:latin typeface="Calibri"/>
                <a:ea typeface="Calibri"/>
                <a:cs typeface="Calibri"/>
              </a:rPr>
              <a:t>DEEP LEARNING  ·  ASSIGNMENT 1</a:t>
            </a:r>
            <a:endParaRPr lang="en-US" sz="1000" dirty="0"/>
          </a:p>
        </p:txBody>
      </p:sp>
      <p:sp>
        <p:nvSpPr>
          <p:cNvPr id="6" name="Text 4">
            <a:extLst>
              <a:ext uri="{FF2B5EF4-FFF2-40B4-BE49-F238E27FC236}">
                <a16:creationId xmlns:a16="http://schemas.microsoft.com/office/drawing/2014/main" id="{E29C7CFC-1327-6781-BDBC-2455C958B608}"/>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947BC29D-0119-742E-B479-E6D99C580F5E}"/>
              </a:ext>
            </a:extLst>
          </p:cNvPr>
          <p:cNvSpPr/>
          <p:nvPr/>
        </p:nvSpPr>
        <p:spPr>
          <a:xfrm>
            <a:off x="347472" y="1719072"/>
            <a:ext cx="6583680" cy="438912"/>
          </a:xfrm>
          <a:prstGeom prst="rect">
            <a:avLst/>
          </a:prstGeom>
          <a:noFill/>
          <a:ln/>
        </p:spPr>
        <p:txBody>
          <a:bodyPr wrap="square" lIns="0" tIns="0" rIns="0" bIns="0" rtlCol="0" anchor="ctr"/>
          <a:lstStyle/>
          <a:p>
            <a:r>
              <a:rPr lang="en-US" sz="1600">
                <a:solidFill>
                  <a:srgbClr val="7AADCC"/>
                </a:solidFill>
                <a:latin typeface="Calibri"/>
                <a:ea typeface="Calibri"/>
                <a:cs typeface="Calibri"/>
              </a:rPr>
              <a:t>TASK 1 - Multi-Layer Perceptron</a:t>
            </a:r>
            <a:endParaRPr lang="en-US" sz="1600" dirty="0">
              <a:solidFill>
                <a:srgbClr val="7AADCC"/>
              </a:solidFill>
              <a:latin typeface="Calibri"/>
              <a:ea typeface="Calibri"/>
              <a:cs typeface="Calibri"/>
            </a:endParaRPr>
          </a:p>
          <a:p>
            <a:r>
              <a:rPr lang="en-US" sz="1600">
                <a:solidFill>
                  <a:srgbClr val="7AADCC"/>
                </a:solidFill>
                <a:latin typeface="Calibri"/>
                <a:ea typeface="Calibri"/>
                <a:cs typeface="Calibri"/>
              </a:rPr>
              <a:t>TASK 2 - Convolutional Neural Network</a:t>
            </a:r>
            <a:endParaRPr lang="en-US" sz="1600">
              <a:latin typeface="Calibri"/>
              <a:ea typeface="Calibri"/>
              <a:cs typeface="Calibri"/>
            </a:endParaRPr>
          </a:p>
        </p:txBody>
      </p:sp>
      <p:sp>
        <p:nvSpPr>
          <p:cNvPr id="8" name="Shape 6">
            <a:extLst>
              <a:ext uri="{FF2B5EF4-FFF2-40B4-BE49-F238E27FC236}">
                <a16:creationId xmlns:a16="http://schemas.microsoft.com/office/drawing/2014/main" id="{AC89F985-F493-5CA9-B6A5-08BA6D32CAA8}"/>
              </a:ext>
            </a:extLst>
          </p:cNvPr>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a:extLst>
              <a:ext uri="{FF2B5EF4-FFF2-40B4-BE49-F238E27FC236}">
                <a16:creationId xmlns:a16="http://schemas.microsoft.com/office/drawing/2014/main" id="{F5F674C6-1E3F-AC7B-2B6A-E96DFE19657C}"/>
              </a:ext>
            </a:extLst>
          </p:cNvPr>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0676964B-354F-668D-B660-CAD8B1F02F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823F5CCF-ED72-A15A-EF86-1D993A0B121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6549E42C-BAD7-D06C-8CBF-7F1BA5902D18}"/>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Brick Wall Speech Bubble Thank You Design Presentation Template">
            <a:extLst>
              <a:ext uri="{FF2B5EF4-FFF2-40B4-BE49-F238E27FC236}">
                <a16:creationId xmlns:a16="http://schemas.microsoft.com/office/drawing/2014/main" id="{96078CA1-7000-0C4A-46C3-970B1FE9EFE5}"/>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foregroundMark x1="21979" y1="30417" x2="29896" y2="35139"/>
                        <a14:foregroundMark x1="29896" y1="35139" x2="41146" y2="33056"/>
                        <a14:foregroundMark x1="41146" y1="33056" x2="56458" y2="33750"/>
                        <a14:foregroundMark x1="48125" y1="63194" x2="77500" y2="66667"/>
                        <a14:foregroundMark x1="77500" y1="66667" x2="79063" y2="66667"/>
                        <a14:foregroundMark x1="78229" y1="58472" x2="76979" y2="64861"/>
                      </a14:backgroundRemoval>
                    </a14:imgEffect>
                  </a14:imgLayer>
                </a14:imgProps>
              </a:ext>
              <a:ext uri="{28A0092B-C50C-407E-A947-70E740481C1C}">
                <a14:useLocalDpi xmlns:a14="http://schemas.microsoft.com/office/drawing/2010/main" val="0"/>
              </a:ext>
            </a:extLst>
          </a:blip>
          <a:srcRect/>
          <a:stretch>
            <a:fillRect/>
          </a:stretch>
        </p:blipFill>
        <p:spPr bwMode="auto">
          <a:xfrm>
            <a:off x="3923792" y="1164859"/>
            <a:ext cx="3460537" cy="25954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527038"/>
      </p:ext>
    </p:extLst>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TM04033925[[fn=Droplet]]</Template>
  <TotalTime>522</TotalTime>
  <Words>3877</Words>
  <Application>Microsoft Office PowerPoint</Application>
  <PresentationFormat>On-screen Show (16:9)</PresentationFormat>
  <Paragraphs>680</Paragraphs>
  <Slides>27</Slides>
  <Notes>12</Notes>
  <HiddenSlides>0</HiddenSlides>
  <MMClips>0</MMClips>
  <ScaleCrop>false</ScaleCrop>
  <HeadingPairs>
    <vt:vector size="4" baseType="variant">
      <vt:variant>
        <vt:lpstr>Theme</vt:lpstr>
      </vt:variant>
      <vt:variant>
        <vt:i4>2</vt:i4>
      </vt:variant>
      <vt:variant>
        <vt:lpstr>Slide Titles</vt:lpstr>
      </vt:variant>
      <vt:variant>
        <vt:i4>27</vt:i4>
      </vt:variant>
    </vt:vector>
  </HeadingPairs>
  <TitlesOfParts>
    <vt:vector size="29" baseType="lpstr">
      <vt:lpstr>Depth</vt:lpstr>
      <vt:lpstr>Droplet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Rúben Silva</cp:lastModifiedBy>
  <cp:revision>2026</cp:revision>
  <dcterms:created xsi:type="dcterms:W3CDTF">2026-03-07T01:48:48Z</dcterms:created>
  <dcterms:modified xsi:type="dcterms:W3CDTF">2026-03-31T13:17:40Z</dcterms:modified>
</cp:coreProperties>
</file>