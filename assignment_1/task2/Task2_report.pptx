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21" r:id="rId1"/>
    <p:sldMasterId id="2147483840" r:id="rId2"/>
  </p:sldMasterIdLst>
  <p:notesMasterIdLst>
    <p:notesMasterId r:id="rId30"/>
  </p:notesMasterIdLst>
  <p:sldIdLst>
    <p:sldId id="256" r:id="rId3"/>
    <p:sldId id="257" r:id="rId4"/>
    <p:sldId id="281" r:id="rId5"/>
    <p:sldId id="288" r:id="rId6"/>
    <p:sldId id="285" r:id="rId7"/>
    <p:sldId id="302" r:id="rId8"/>
    <p:sldId id="286" r:id="rId9"/>
    <p:sldId id="287" r:id="rId10"/>
    <p:sldId id="295" r:id="rId11"/>
    <p:sldId id="303" r:id="rId12"/>
    <p:sldId id="304" r:id="rId13"/>
    <p:sldId id="296" r:id="rId14"/>
    <p:sldId id="289" r:id="rId15"/>
    <p:sldId id="290" r:id="rId16"/>
    <p:sldId id="283" r:id="rId17"/>
    <p:sldId id="271" r:id="rId18"/>
    <p:sldId id="273" r:id="rId19"/>
    <p:sldId id="305" r:id="rId20"/>
    <p:sldId id="293" r:id="rId21"/>
    <p:sldId id="284" r:id="rId22"/>
    <p:sldId id="275" r:id="rId23"/>
    <p:sldId id="297" r:id="rId24"/>
    <p:sldId id="298" r:id="rId25"/>
    <p:sldId id="299" r:id="rId26"/>
    <p:sldId id="278" r:id="rId27"/>
    <p:sldId id="279" r:id="rId28"/>
    <p:sldId id="300" r:id="rId29"/>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896"/>
    <a:srgbClr val="0D1B2A"/>
    <a:srgbClr val="61B2E9"/>
    <a:srgbClr val="EF4F0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6968B7-DA67-72A4-3DF0-AEB616358612}" v="7061" dt="2026-03-24T23:16:45.1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3" d="100"/>
          <a:sy n="143" d="100"/>
        </p:scale>
        <p:origin x="606"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38599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7D86-4E7E-69D6-10DE-EB52DA17C3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76FE4-68DF-C1F9-27AB-2B718C5C5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A7C7FC-08E4-5C4F-DACB-BBCA477470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E08CF-3F97-5E03-EF73-A38F691D4826}"/>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505062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367F7-8E15-C927-6398-C8EAAFA7B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F5B05F-A2D1-5297-20C6-93EA1D23CA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06E45-EECD-6837-C95A-6C5C4C8162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24DA2-A2D5-360F-B5D7-92B814684E06}"/>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4281708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7AF81-1813-59E3-9904-71A4972CD0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61D61B-7CAA-3224-FD38-A3F7CCAAF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1629DE-A130-EB43-93FC-9C0F3BEF2A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E4ADDA-FC97-F300-01FD-08F9FE2FBAB1}"/>
              </a:ext>
            </a:extLst>
          </p:cNvPr>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3838198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CAAF6-D4DD-1AE9-BDA9-565C1F13B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68680-5EF1-0C56-DBE8-6E02EB589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CF2B4-6456-837C-FDF2-44EE498F3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3A4805-850F-EF40-9841-AFAA42965184}"/>
              </a:ext>
            </a:extLst>
          </p:cNvPr>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5166366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98400-0C3E-F44B-0F7F-FB447416E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F94077-DC70-7860-D88D-2E012B863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6C7627-08B3-EB64-5D9A-90C4A6AE72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10D99B-F0B4-C7DA-5A9B-D974AA8E4D9B}"/>
              </a:ext>
            </a:extLst>
          </p:cNvPr>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33398344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57350" y="3348021"/>
            <a:ext cx="6858000" cy="1231118"/>
          </a:xfrm>
        </p:spPr>
        <p:txBody>
          <a:bodyPr wrap="none" anchor="t">
            <a:normAutofit/>
          </a:bodyPr>
          <a:lstStyle>
            <a:lvl1pPr algn="r">
              <a:defRPr sz="7200" b="0" spc="-225">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1657349" y="2770782"/>
            <a:ext cx="6858000" cy="565519"/>
          </a:xfrm>
        </p:spPr>
        <p:txBody>
          <a:bodyPr anchor="b">
            <a:normAutofit/>
          </a:bodyPr>
          <a:lstStyle>
            <a:lvl1pPr marL="0" indent="0" algn="r">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3/24/2026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490279829"/>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689774209"/>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640899" y="3348021"/>
            <a:ext cx="6858000" cy="1231118"/>
          </a:xfrm>
        </p:spPr>
        <p:txBody>
          <a:bodyPr wrap="none" anchor="t">
            <a:normAutofit/>
          </a:bodyPr>
          <a:lstStyle>
            <a:lvl1pPr algn="l">
              <a:defRPr sz="7200" b="0" spc="-225">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8" name="Subtitle 2"/>
          <p:cNvSpPr>
            <a:spLocks noGrp="1"/>
          </p:cNvSpPr>
          <p:nvPr>
            <p:ph type="subTitle" idx="1"/>
          </p:nvPr>
        </p:nvSpPr>
        <p:spPr>
          <a:xfrm>
            <a:off x="640899" y="2770256"/>
            <a:ext cx="6858000" cy="565519"/>
          </a:xfrm>
        </p:spPr>
        <p:txBody>
          <a:bodyPr anchor="b">
            <a:normAutofit/>
          </a:bodyPr>
          <a:lstStyle>
            <a:lvl1pPr marL="0" indent="0" algn="l">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796027F-7875-4030-9381-8BD8C4F21935}" type="datetimeFigureOut">
              <a:rPr lang="en-US" smtClean="0"/>
              <a:t>3/24/2026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00002304"/>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40000" y="1369219"/>
            <a:ext cx="3768912"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739880" y="1369219"/>
            <a:ext cx="377547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796027F-7875-4030-9381-8BD8C4F21935}" type="datetimeFigureOut">
              <a:rPr lang="en-US" smtClean="0"/>
              <a:t>3/24/2026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27212649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40000" y="1260872"/>
            <a:ext cx="3768912" cy="617934"/>
          </a:xfrm>
        </p:spPr>
        <p:txBody>
          <a:bodyPr anchor="b"/>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40000" y="1878806"/>
            <a:ext cx="3768912"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39880" y="1260872"/>
            <a:ext cx="3776661" cy="617934"/>
          </a:xfrm>
        </p:spPr>
        <p:txBody>
          <a:bodyPr vert="horz" lIns="91440" tIns="45720" rIns="91440" bIns="45720" rtlCol="0" anchor="b">
            <a:norm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6" name="Content Placeholder 5"/>
          <p:cNvSpPr>
            <a:spLocks noGrp="1"/>
          </p:cNvSpPr>
          <p:nvPr>
            <p:ph sz="quarter" idx="4"/>
          </p:nvPr>
        </p:nvSpPr>
        <p:spPr>
          <a:xfrm>
            <a:off x="4739880" y="1878806"/>
            <a:ext cx="377666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96027F-7875-4030-9381-8BD8C4F21935}" type="datetimeFigureOut">
              <a:rPr lang="en-US" smtClean="0"/>
              <a:t>3/24/2026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50232500"/>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3/24/2026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73020505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09A250-FF31-4206-8172-F9D3106AACB1}" type="datetimeFigureOut">
              <a:rPr lang="en-US" smtClean="0"/>
              <a:t>3/24/2026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10707079"/>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564106014"/>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48271288"/>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275370"/>
            <a:ext cx="7886700" cy="614516"/>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29841" y="740569"/>
            <a:ext cx="7886700" cy="253480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3889887"/>
            <a:ext cx="7885509" cy="511854"/>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014763516"/>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2650758"/>
          </a:xfrm>
        </p:spPr>
        <p:txBody>
          <a:bodyPr anchor="ctr"/>
          <a:lstStyle>
            <a:lvl1pP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29841" y="3367049"/>
            <a:ext cx="7885509" cy="1126370"/>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190648732"/>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273844"/>
            <a:ext cx="6977064" cy="2244678"/>
          </a:xfrm>
        </p:spPr>
        <p:txBody>
          <a:bodyPr anchor="ctr"/>
          <a:lstStyle>
            <a:lvl1pPr>
              <a:defRPr sz="33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524168"/>
            <a:ext cx="6564224" cy="411726"/>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28650" y="3376297"/>
            <a:ext cx="7884318" cy="1117122"/>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
        <p:nvSpPr>
          <p:cNvPr id="9" name="TextBox 8"/>
          <p:cNvSpPr txBox="1"/>
          <p:nvPr/>
        </p:nvSpPr>
        <p:spPr>
          <a:xfrm>
            <a:off x="833283" y="590118"/>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0" name="TextBox 9"/>
          <p:cNvSpPr txBox="1"/>
          <p:nvPr/>
        </p:nvSpPr>
        <p:spPr>
          <a:xfrm>
            <a:off x="7828359" y="2057400"/>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292476660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29841" y="1745226"/>
            <a:ext cx="7886700" cy="1883876"/>
          </a:xfrm>
        </p:spPr>
        <p:txBody>
          <a:bodyPr anchor="b">
            <a:normAutofit/>
          </a:bodyPr>
          <a:lstStyle>
            <a:lvl1pPr>
              <a:defRPr sz="4050"/>
            </a:lvl1pPr>
          </a:lstStyle>
          <a:p>
            <a:r>
              <a:rPr lang="en-US"/>
              <a:t>Click to edit Master title style</a:t>
            </a:r>
            <a:endParaRPr lang="en-US" dirty="0"/>
          </a:p>
        </p:txBody>
      </p:sp>
      <p:sp>
        <p:nvSpPr>
          <p:cNvPr id="4" name="Text Placeholder 3"/>
          <p:cNvSpPr>
            <a:spLocks noGrp="1"/>
          </p:cNvSpPr>
          <p:nvPr>
            <p:ph type="body" sz="half" idx="2"/>
          </p:nvPr>
        </p:nvSpPr>
        <p:spPr>
          <a:xfrm>
            <a:off x="629841" y="3637936"/>
            <a:ext cx="7885509" cy="855483"/>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20857124"/>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7" name="Text Placeholder 2"/>
          <p:cNvSpPr>
            <a:spLocks noGrp="1"/>
          </p:cNvSpPr>
          <p:nvPr>
            <p:ph type="body" idx="1"/>
          </p:nvPr>
        </p:nvSpPr>
        <p:spPr>
          <a:xfrm>
            <a:off x="1002961" y="1414462"/>
            <a:ext cx="2210150" cy="432197"/>
          </a:xfrm>
        </p:spPr>
        <p:txBody>
          <a:bodyPr anchor="b">
            <a:noAutofit/>
          </a:bodyPr>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1017598" y="1928812"/>
            <a:ext cx="2195513"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440996" y="1414462"/>
            <a:ext cx="2202181" cy="432197"/>
          </a:xfrm>
        </p:spPr>
        <p:txBody>
          <a:bodyPr vert="horz" lIns="91440" tIns="45720" rIns="91440" bIns="45720" rtlCol="0" anchor="b">
            <a:no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0" name="Text Placeholder 3"/>
          <p:cNvSpPr>
            <a:spLocks noGrp="1"/>
          </p:cNvSpPr>
          <p:nvPr>
            <p:ph type="body" sz="half" idx="16"/>
          </p:nvPr>
        </p:nvSpPr>
        <p:spPr>
          <a:xfrm>
            <a:off x="3433081" y="1928812"/>
            <a:ext cx="2210096"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871777" y="1414462"/>
            <a:ext cx="2199085" cy="432197"/>
          </a:xfrm>
        </p:spPr>
        <p:txBody>
          <a:bodyPr vert="horz" lIns="91440" tIns="45720" rIns="91440" bIns="45720" rtlCol="0" anchor="b">
            <a:noAutofit/>
          </a:bodyPr>
          <a:lstStyle>
            <a:lvl1pPr>
              <a:buNone/>
              <a:defRPr lang="en-US" sz="18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2" name="Text Placeholder 3"/>
          <p:cNvSpPr>
            <a:spLocks noGrp="1"/>
          </p:cNvSpPr>
          <p:nvPr>
            <p:ph type="body" sz="half" idx="17"/>
          </p:nvPr>
        </p:nvSpPr>
        <p:spPr>
          <a:xfrm>
            <a:off x="5871777" y="1928812"/>
            <a:ext cx="2199085"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3/24/2026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492792762"/>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99064" y="3223127"/>
            <a:ext cx="2205038"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999064" y="1692266"/>
            <a:ext cx="2205038"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999064" y="3655324"/>
            <a:ext cx="220503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426748" y="3223127"/>
            <a:ext cx="2197894"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426747" y="1692266"/>
            <a:ext cx="2197894"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425733" y="3655323"/>
            <a:ext cx="2200805"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853242" y="3223127"/>
            <a:ext cx="2199085"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853241" y="1692266"/>
            <a:ext cx="2199085"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853148" y="3655322"/>
            <a:ext cx="220199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3/24/2026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81940211"/>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05574217"/>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3/24/2026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5472819"/>
      </p:ext>
    </p:extLst>
  </p:cSld>
  <p:clrMapOvr>
    <a:masterClrMapping/>
  </p:clrMapOvr>
  <p:hf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42508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ctrTitle"/>
          </p:nvPr>
        </p:nvSpPr>
        <p:spPr>
          <a:xfrm>
            <a:off x="1313259" y="975589"/>
            <a:ext cx="6517482" cy="1881910"/>
          </a:xfrm>
        </p:spPr>
        <p:txBody>
          <a:bodyPr anchor="b">
            <a:normAutofit/>
          </a:bodyPr>
          <a:lstStyle>
            <a:lvl1pPr algn="ctr">
              <a:defRPr sz="3600"/>
            </a:lvl1pPr>
          </a:lstStyle>
          <a:p>
            <a:r>
              <a:rPr lang="en-US"/>
              <a:t>Click to edit Master title style</a:t>
            </a:r>
            <a:endParaRPr lang="en-US" dirty="0"/>
          </a:p>
        </p:txBody>
      </p:sp>
      <p:sp>
        <p:nvSpPr>
          <p:cNvPr id="3" name="Subtitle 2"/>
          <p:cNvSpPr>
            <a:spLocks noGrp="1"/>
          </p:cNvSpPr>
          <p:nvPr>
            <p:ph type="subTitle" idx="1"/>
          </p:nvPr>
        </p:nvSpPr>
        <p:spPr>
          <a:xfrm>
            <a:off x="1313259" y="2914651"/>
            <a:ext cx="6517482" cy="1028699"/>
          </a:xfrm>
        </p:spPr>
        <p:txBody>
          <a:bodyPr>
            <a:normAutofit/>
          </a:bodyPr>
          <a:lstStyle>
            <a:lvl1pPr marL="0" indent="0" algn="ctr">
              <a:buNone/>
              <a:defRPr sz="1650">
                <a:solidFill>
                  <a:schemeClr val="bg1">
                    <a:lumMod val="50000"/>
                  </a:schemeClr>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839203006"/>
      </p:ext>
    </p:extLst>
  </p:cSld>
  <p:clrMapOvr>
    <a:masterClrMapping/>
  </p:clrMapOvr>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777287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760113442"/>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621423"/>
            <a:ext cx="7763814" cy="2052614"/>
          </a:xfrm>
        </p:spPr>
        <p:txBody>
          <a:bodyPr anchor="b">
            <a:normAutofit/>
          </a:bodyPr>
          <a:lstStyle>
            <a:lvl1pPr>
              <a:defRPr sz="3000"/>
            </a:lvl1pPr>
          </a:lstStyle>
          <a:p>
            <a:r>
              <a:rPr lang="en-US"/>
              <a:t>Click to edit Master title style</a:t>
            </a:r>
            <a:endParaRPr lang="en-US" dirty="0"/>
          </a:p>
        </p:txBody>
      </p:sp>
      <p:sp>
        <p:nvSpPr>
          <p:cNvPr id="3" name="Text Placeholder 2"/>
          <p:cNvSpPr>
            <a:spLocks noGrp="1"/>
          </p:cNvSpPr>
          <p:nvPr>
            <p:ph type="body" idx="1"/>
          </p:nvPr>
        </p:nvSpPr>
        <p:spPr>
          <a:xfrm>
            <a:off x="685331" y="2743093"/>
            <a:ext cx="7763814" cy="1026137"/>
          </a:xfrm>
        </p:spPr>
        <p:txBody>
          <a:bodyPr>
            <a:normAutofit/>
          </a:bodyPr>
          <a:lstStyle>
            <a:lvl1pPr marL="0" indent="0" algn="ctr">
              <a:buNone/>
              <a:defRPr sz="1500">
                <a:solidFill>
                  <a:schemeClr val="bg1">
                    <a:lumMod val="50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796027F-7875-4030-9381-8BD8C4F21935}" type="datetimeFigureOut">
              <a:rPr lang="en-US" smtClean="0"/>
              <a:t>3/24/2026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4652945"/>
      </p:ext>
    </p:extLst>
  </p:cSld>
  <p:clrMapOvr>
    <a:masterClrMapping/>
  </p:clrMapOvr>
  <p:hf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12" name="Content Placeholder 2"/>
          <p:cNvSpPr>
            <a:spLocks noGrp="1"/>
          </p:cNvSpPr>
          <p:nvPr>
            <p:ph sz="quarter" idx="13"/>
          </p:nvPr>
        </p:nvSpPr>
        <p:spPr>
          <a:xfrm>
            <a:off x="685330" y="1775320"/>
            <a:ext cx="382952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p:cNvSpPr>
            <a:spLocks noGrp="1"/>
          </p:cNvSpPr>
          <p:nvPr>
            <p:ph sz="quarter" idx="14"/>
          </p:nvPr>
        </p:nvSpPr>
        <p:spPr>
          <a:xfrm>
            <a:off x="4629150" y="1775320"/>
            <a:ext cx="3829050" cy="25680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AAD347D-5ACD-4C99-B74B-A9C85AD731AF}" type="datetimeFigureOut">
              <a:rPr lang="en-US" smtClean="0"/>
              <a:t>3/24/2026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699694362"/>
      </p:ext>
    </p:extLst>
  </p:cSld>
  <p:clrMapOvr>
    <a:masterClrMapping/>
  </p:clrMapOvr>
  <p:hf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4" name="Title 1"/>
          <p:cNvSpPr>
            <a:spLocks noGrp="1"/>
          </p:cNvSpPr>
          <p:nvPr>
            <p:ph type="title"/>
          </p:nvPr>
        </p:nvSpPr>
        <p:spPr>
          <a:xfrm>
            <a:off x="685332" y="463888"/>
            <a:ext cx="7773338" cy="119713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59746" y="1778263"/>
            <a:ext cx="3655106"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3"/>
          <p:cNvSpPr>
            <a:spLocks noGrp="1"/>
          </p:cNvSpPr>
          <p:nvPr>
            <p:ph sz="quarter" idx="13"/>
          </p:nvPr>
        </p:nvSpPr>
        <p:spPr>
          <a:xfrm>
            <a:off x="685331" y="2288260"/>
            <a:ext cx="3829520"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97317" y="1778263"/>
            <a:ext cx="3661353" cy="509996"/>
          </a:xfrm>
        </p:spPr>
        <p:txBody>
          <a:bodyPr anchor="b">
            <a:noAutofit/>
          </a:bodyPr>
          <a:lstStyle>
            <a:lvl1pPr marL="0" indent="0">
              <a:lnSpc>
                <a:spcPct val="85000"/>
              </a:lnSpc>
              <a:buNone/>
              <a:defRPr sz="19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3" name="Content Placeholder 5"/>
          <p:cNvSpPr>
            <a:spLocks noGrp="1"/>
          </p:cNvSpPr>
          <p:nvPr>
            <p:ph sz="quarter" idx="14"/>
          </p:nvPr>
        </p:nvSpPr>
        <p:spPr>
          <a:xfrm>
            <a:off x="4629150" y="2288260"/>
            <a:ext cx="3829051" cy="20551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3/24/2026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036937495"/>
      </p:ext>
    </p:extLst>
  </p:cSld>
  <p:clrMapOvr>
    <a:masterClrMapping/>
  </p:clrMapOvr>
  <p:hf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3/24/2026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854484401"/>
      </p:ext>
    </p:extLst>
  </p:cSld>
  <p:clrMapOvr>
    <a:masterClrMapping/>
  </p:clrMapOvr>
  <p:hf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Date Placeholder 1"/>
          <p:cNvSpPr>
            <a:spLocks noGrp="1"/>
          </p:cNvSpPr>
          <p:nvPr>
            <p:ph type="dt" sz="half" idx="10"/>
          </p:nvPr>
        </p:nvSpPr>
        <p:spPr/>
        <p:txBody>
          <a:bodyPr/>
          <a:lstStyle/>
          <a:p>
            <a:fld id="{4509A250-FF31-4206-8172-F9D3106AACB1}" type="datetimeFigureOut">
              <a:rPr lang="en-US" smtClean="0"/>
              <a:t>3/24/2026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507790090"/>
      </p:ext>
    </p:extLst>
  </p:cSld>
  <p:clrMapOvr>
    <a:masterClrMapping/>
  </p:clrMapOvr>
  <p:hf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2951766" cy="1517439"/>
          </a:xfrm>
        </p:spPr>
        <p:txBody>
          <a:bodyPr anchor="b"/>
          <a:lstStyle>
            <a:lvl1pPr algn="ctr">
              <a:defRPr sz="2400"/>
            </a:lvl1pPr>
          </a:lstStyle>
          <a:p>
            <a:r>
              <a:rPr lang="en-US"/>
              <a:t>Click to edit Master title style</a:t>
            </a:r>
            <a:endParaRPr lang="en-US" dirty="0"/>
          </a:p>
        </p:txBody>
      </p:sp>
      <p:sp>
        <p:nvSpPr>
          <p:cNvPr id="10" name="Content Placeholder 2"/>
          <p:cNvSpPr>
            <a:spLocks noGrp="1"/>
          </p:cNvSpPr>
          <p:nvPr>
            <p:ph sz="quarter" idx="13"/>
          </p:nvPr>
        </p:nvSpPr>
        <p:spPr>
          <a:xfrm>
            <a:off x="3808547" y="457201"/>
            <a:ext cx="4650122" cy="38861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5331" y="1974639"/>
            <a:ext cx="2951767" cy="2368761"/>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10464754"/>
      </p:ext>
    </p:extLst>
  </p:cSld>
  <p:clrMapOvr>
    <a:masterClrMapping/>
  </p:clrMapOvr>
  <p:hf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4451227" cy="1517441"/>
          </a:xfrm>
        </p:spPr>
        <p:txBody>
          <a:bodyPr anchor="b"/>
          <a:lstStyle>
            <a:lvl1pPr algn="ct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568602" y="457201"/>
            <a:ext cx="2441519" cy="38862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46" y="1974639"/>
            <a:ext cx="4451212" cy="2368760"/>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55906301"/>
      </p:ext>
    </p:extLst>
  </p:cSld>
  <p:clrMapOvr>
    <a:masterClrMapping/>
  </p:clrMapOvr>
  <p:hf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46" y="3217030"/>
            <a:ext cx="7773324" cy="608708"/>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88558" y="523696"/>
            <a:ext cx="7366899" cy="2410602"/>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85331" y="3831546"/>
            <a:ext cx="7773339" cy="511854"/>
          </a:xfrm>
        </p:spPr>
        <p:txBody>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78210890"/>
      </p:ext>
    </p:extLst>
  </p:cSld>
  <p:clrMapOvr>
    <a:masterClrMapping/>
  </p:clrMapOvr>
  <p:hf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457200"/>
            <a:ext cx="7773339" cy="2570434"/>
          </a:xfrm>
        </p:spPr>
        <p:txBody>
          <a:bodyPr anchor="ctr"/>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153616"/>
            <a:ext cx="7773339" cy="1189785"/>
          </a:xfrm>
        </p:spPr>
        <p:txBody>
          <a:bodyPr anchor="ct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3/24/2026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982293182"/>
      </p:ext>
    </p:extLst>
  </p:cSld>
  <p:clrMapOvr>
    <a:masterClrMapping/>
  </p:clrMapOvr>
  <p:hf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1084659" y="457200"/>
            <a:ext cx="6977064" cy="2244678"/>
          </a:xfrm>
        </p:spPr>
        <p:txBody>
          <a:bodyPr anchor="ctr"/>
          <a:lstStyle>
            <a:lvl1pPr>
              <a:defRPr sz="24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707524"/>
            <a:ext cx="6564224" cy="446091"/>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85331" y="3279597"/>
            <a:ext cx="7773339" cy="1065790"/>
          </a:xfrm>
        </p:spPr>
        <p:txBody>
          <a:bodyPr anchor="ctr">
            <a:normAutofit/>
          </a:bodyPr>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
        <p:nvSpPr>
          <p:cNvPr id="13" name="TextBox 12"/>
          <p:cNvSpPr txBox="1"/>
          <p:nvPr/>
        </p:nvSpPr>
        <p:spPr>
          <a:xfrm>
            <a:off x="751116" y="565625"/>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4" name="TextBox 13"/>
          <p:cNvSpPr txBox="1"/>
          <p:nvPr/>
        </p:nvSpPr>
        <p:spPr>
          <a:xfrm>
            <a:off x="7918169" y="2245184"/>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1883424276"/>
      </p:ext>
    </p:extLst>
  </p:cSld>
  <p:clrMapOvr>
    <a:masterClrMapping/>
  </p:clrMapOvr>
  <p:hf hdr="0" ftr="0" dt="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a:xfrm>
            <a:off x="685331" y="1604041"/>
            <a:ext cx="7773339" cy="1883876"/>
          </a:xfrm>
        </p:spPr>
        <p:txBody>
          <a:bodyPr anchor="b"/>
          <a:lstStyle>
            <a:lvl1pPr algn="ct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85331" y="3496751"/>
            <a:ext cx="7773339" cy="855483"/>
          </a:xfrm>
        </p:spPr>
        <p:txBody>
          <a:bodyPr anchor="t"/>
          <a:lstStyle>
            <a:lvl1pPr marL="0" indent="0" algn="ctr">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3/24/2026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754657086"/>
      </p:ext>
    </p:extLst>
  </p:cSld>
  <p:clrMapOvr>
    <a:masterClrMapping/>
  </p:clrMapOvr>
  <p:hf hdr="0" ftr="0" dt="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15" name="Title 1"/>
          <p:cNvSpPr>
            <a:spLocks noGrp="1"/>
          </p:cNvSpPr>
          <p:nvPr>
            <p:ph type="title"/>
          </p:nvPr>
        </p:nvSpPr>
        <p:spPr>
          <a:xfrm>
            <a:off x="685331" y="457200"/>
            <a:ext cx="7773339" cy="1203821"/>
          </a:xfrm>
        </p:spPr>
        <p:txBody>
          <a:bodyPr/>
          <a:lstStyle/>
          <a:p>
            <a:r>
              <a:rPr lang="en-US"/>
              <a:t>Click to edit Master title style</a:t>
            </a:r>
            <a:endParaRPr lang="en-US" dirty="0"/>
          </a:p>
        </p:txBody>
      </p:sp>
      <p:sp>
        <p:nvSpPr>
          <p:cNvPr id="7" name="Text Placeholder 2"/>
          <p:cNvSpPr>
            <a:spLocks noGrp="1"/>
          </p:cNvSpPr>
          <p:nvPr>
            <p:ph type="body" idx="1"/>
          </p:nvPr>
        </p:nvSpPr>
        <p:spPr>
          <a:xfrm>
            <a:off x="685331" y="1775320"/>
            <a:ext cx="2474232"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685331" y="2207517"/>
            <a:ext cx="2474232"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339292" y="1775320"/>
            <a:ext cx="2468641"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3"/>
          <p:cNvSpPr>
            <a:spLocks noGrp="1"/>
          </p:cNvSpPr>
          <p:nvPr>
            <p:ph type="body" sz="half" idx="16"/>
          </p:nvPr>
        </p:nvSpPr>
        <p:spPr>
          <a:xfrm>
            <a:off x="3331012" y="2207517"/>
            <a:ext cx="2477513"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979974" y="1775320"/>
            <a:ext cx="2478696" cy="432197"/>
          </a:xfrm>
        </p:spPr>
        <p:txBody>
          <a:bodyPr anchor="b">
            <a:noAutofit/>
          </a:bodyPr>
          <a:lstStyle>
            <a:lvl1pPr marL="0" indent="0" algn="ctr">
              <a:lnSpc>
                <a:spcPct val="85000"/>
              </a:lnSpc>
              <a:buNone/>
              <a:defRPr sz="180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Text Placeholder 3"/>
          <p:cNvSpPr>
            <a:spLocks noGrp="1"/>
          </p:cNvSpPr>
          <p:nvPr>
            <p:ph type="body" sz="half" idx="17"/>
          </p:nvPr>
        </p:nvSpPr>
        <p:spPr>
          <a:xfrm>
            <a:off x="5979974" y="2207517"/>
            <a:ext cx="2478696" cy="2135884"/>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3/24/2026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244322476"/>
      </p:ext>
    </p:extLst>
  </p:cSld>
  <p:clrMapOvr>
    <a:masterClrMapping/>
  </p:clrMapOvr>
  <p:hf hdr="0" ftr="0" dt="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30" name="Title 1"/>
          <p:cNvSpPr>
            <a:spLocks noGrp="1"/>
          </p:cNvSpPr>
          <p:nvPr>
            <p:ph type="title"/>
          </p:nvPr>
        </p:nvSpPr>
        <p:spPr>
          <a:xfrm>
            <a:off x="685331" y="458079"/>
            <a:ext cx="7773339" cy="120294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5331" y="3153615"/>
            <a:ext cx="2472307"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685331" y="1775320"/>
            <a:ext cx="2472307" cy="1143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685331" y="3585811"/>
            <a:ext cx="2472307"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332069" y="3153615"/>
            <a:ext cx="247637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331011" y="1775320"/>
            <a:ext cx="2477514"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331011" y="3585811"/>
            <a:ext cx="2477514" cy="757589"/>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979974" y="3153615"/>
            <a:ext cx="2475511" cy="432197"/>
          </a:xfrm>
        </p:spPr>
        <p:txBody>
          <a:bodyPr anchor="b">
            <a:noAutofit/>
          </a:bodyPr>
          <a:lstStyle>
            <a:lvl1pPr marL="0" indent="0" algn="ctr">
              <a:lnSpc>
                <a:spcPct val="85000"/>
              </a:lnSpc>
              <a:buNone/>
              <a:defRPr sz="1650" b="0">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979974" y="1775320"/>
            <a:ext cx="2478696" cy="1143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979880" y="3585809"/>
            <a:ext cx="2478790" cy="757591"/>
          </a:xfrm>
        </p:spPr>
        <p:txBody>
          <a:bodyPr anchor="t">
            <a:normAutofit/>
          </a:bodyPr>
          <a:lstStyle>
            <a:lvl1pPr marL="0" indent="0" algn="ctr">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3/24/2026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534475446"/>
      </p:ext>
    </p:extLst>
  </p:cSld>
  <p:clrMapOvr>
    <a:masterClrMapping/>
  </p:clrMapOvr>
  <p:hf hdr="0" ftr="0" dt="0"/>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Title 1"/>
          <p:cNvSpPr>
            <a:spLocks noGrp="1"/>
          </p:cNvSpPr>
          <p:nvPr>
            <p:ph type="title"/>
          </p:nvPr>
        </p:nvSpPr>
        <p:spPr/>
        <p:txBody>
          <a:bodyPr/>
          <a:lstStyle/>
          <a:p>
            <a:r>
              <a:rPr lang="en-US"/>
              <a:t>Click to edit Master title style</a:t>
            </a:r>
            <a:endParaRPr lang="en-US" dirty="0"/>
          </a:p>
        </p:txBody>
      </p:sp>
      <p:sp>
        <p:nvSpPr>
          <p:cNvPr id="11" name="Vertical Text Placeholder 2"/>
          <p:cNvSpPr>
            <a:spLocks noGrp="1"/>
          </p:cNvSpPr>
          <p:nvPr>
            <p:ph type="body" orient="vert" sz="quarter" idx="13"/>
          </p:nvPr>
        </p:nvSpPr>
        <p:spPr>
          <a:xfrm>
            <a:off x="685331" y="1775320"/>
            <a:ext cx="7773339" cy="25680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785221913"/>
      </p:ext>
    </p:extLst>
  </p:cSld>
  <p:clrMapOvr>
    <a:masterClrMapping/>
  </p:clrMapOvr>
  <p:hf hdr="0" ftr="0" dt="0"/>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2" name="Vertical Title 1"/>
          <p:cNvSpPr>
            <a:spLocks noGrp="1"/>
          </p:cNvSpPr>
          <p:nvPr>
            <p:ph type="title" orient="vert"/>
          </p:nvPr>
        </p:nvSpPr>
        <p:spPr>
          <a:xfrm>
            <a:off x="6543675" y="457201"/>
            <a:ext cx="1914995" cy="3886199"/>
          </a:xfrm>
        </p:spPr>
        <p:txBody>
          <a:bodyPr vert="eaVert"/>
          <a:lstStyle>
            <a:lvl1pPr algn="l">
              <a:defRPr/>
            </a:lvl1pPr>
          </a:lstStyle>
          <a:p>
            <a:r>
              <a:rPr lang="en-US"/>
              <a:t>Click to edit Master title style</a:t>
            </a:r>
            <a:endParaRPr lang="en-US" dirty="0"/>
          </a:p>
        </p:txBody>
      </p:sp>
      <p:sp>
        <p:nvSpPr>
          <p:cNvPr id="8" name="Vertical Text Placeholder 2"/>
          <p:cNvSpPr>
            <a:spLocks noGrp="1"/>
          </p:cNvSpPr>
          <p:nvPr>
            <p:ph type="body" orient="vert" sz="quarter" idx="13"/>
          </p:nvPr>
        </p:nvSpPr>
        <p:spPr>
          <a:xfrm>
            <a:off x="685331" y="457201"/>
            <a:ext cx="5744043" cy="388619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smtClean="0"/>
              <a:t>3/24/2026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82307999"/>
      </p:ext>
    </p:extLst>
  </p:cSld>
  <p:clrMapOvr>
    <a:masterClrMapping/>
  </p:clrMapOvr>
  <p:hf hdr="0" ftr="0" dt="0"/>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85825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18" Type="http://schemas.openxmlformats.org/officeDocument/2006/relationships/slideLayout" Target="../slideLayouts/slideLayout3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17" Type="http://schemas.openxmlformats.org/officeDocument/2006/relationships/slideLayout" Target="../slideLayouts/slideLayout35.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20" Type="http://schemas.openxmlformats.org/officeDocument/2006/relationships/image" Target="../media/image2.png"/><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5" Type="http://schemas.openxmlformats.org/officeDocument/2006/relationships/slideLayout" Target="../slideLayouts/slideLayout33.xml"/><Relationship Id="rId10" Type="http://schemas.openxmlformats.org/officeDocument/2006/relationships/slideLayout" Target="../slideLayouts/slideLayout28.xml"/><Relationship Id="rId19" Type="http://schemas.openxmlformats.org/officeDocument/2006/relationships/theme" Target="../theme/theme2.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40000" y="1369219"/>
            <a:ext cx="767535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4AAD347D-5ACD-4C99-B74B-A9C85AD731AF}" type="datetimeFigureOut">
              <a:rPr lang="en-US" smtClean="0"/>
              <a:t>3/24/2026</a:t>
            </a:fld>
            <a:endParaRPr lang="en-US" dirty="0"/>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dirty="0"/>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842644415"/>
      </p:ext>
    </p:extLst>
  </p:cSld>
  <p:clrMap bg1="dk1" tx1="lt1" bg2="dk2" tx2="lt2" accent1="accent1" accent2="accent2" accent3="accent3" accent4="accent4" accent5="accent5" accent6="accent6" hlink="hlink" folHlink="folHlink"/>
  <p:sldLayoutIdLst>
    <p:sldLayoutId id="2147483822" r:id="rId1"/>
    <p:sldLayoutId id="2147483823" r:id="rId2"/>
    <p:sldLayoutId id="2147483824" r:id="rId3"/>
    <p:sldLayoutId id="2147483825" r:id="rId4"/>
    <p:sldLayoutId id="2147483826" r:id="rId5"/>
    <p:sldLayoutId id="2147483827" r:id="rId6"/>
    <p:sldLayoutId id="2147483828" r:id="rId7"/>
    <p:sldLayoutId id="2147483829" r:id="rId8"/>
    <p:sldLayoutId id="2147483830" r:id="rId9"/>
    <p:sldLayoutId id="2147483831" r:id="rId10"/>
    <p:sldLayoutId id="2147483832" r:id="rId11"/>
    <p:sldLayoutId id="2147483833" r:id="rId12"/>
    <p:sldLayoutId id="2147483834" r:id="rId13"/>
    <p:sldLayoutId id="2147483835" r:id="rId14"/>
    <p:sldLayoutId id="2147483836" r:id="rId15"/>
    <p:sldLayoutId id="2147483837" r:id="rId16"/>
    <p:sldLayoutId id="2147483838" r:id="rId17"/>
    <p:sldLayoutId id="2147483839" r:id="rId18"/>
  </p:sldLayoutIdLst>
  <p:hf hdr="0" ftr="0" dt="0"/>
  <p:txStyles>
    <p:titleStyle>
      <a:lvl1pPr algn="l" defTabSz="685800" rtl="0" eaLnBrk="1" latinLnBrk="0" hangingPunct="1">
        <a:lnSpc>
          <a:spcPct val="90000"/>
        </a:lnSpc>
        <a:spcBef>
          <a:spcPct val="0"/>
        </a:spcBef>
        <a:buNone/>
        <a:defRPr sz="405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20">
            <a:alphaModFix/>
            <a:extLst>
              <a:ext uri="{28A0092B-C50C-407E-A947-70E740481C1C}">
                <a14:useLocalDpi xmlns:a14="http://schemas.microsoft.com/office/drawing/2010/main" val="0"/>
              </a:ext>
            </a:extLst>
          </a:blip>
          <a:srcRect/>
          <a:stretch>
            <a:fillRect/>
          </a:stretch>
        </p:blipFill>
        <p:spPr bwMode="auto">
          <a:xfrm>
            <a:off x="1" y="-1"/>
            <a:ext cx="9144002" cy="51435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685332" y="463888"/>
            <a:ext cx="7773338" cy="119713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331" y="1775320"/>
            <a:ext cx="7773339" cy="256808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759053" y="4412457"/>
            <a:ext cx="2057400" cy="273844"/>
          </a:xfrm>
          <a:prstGeom prst="rect">
            <a:avLst/>
          </a:prstGeom>
        </p:spPr>
        <p:txBody>
          <a:bodyPr vert="horz" lIns="91440" tIns="45720" rIns="91440" bIns="45720" rtlCol="0" anchor="ctr"/>
          <a:lstStyle>
            <a:lvl1pPr algn="r">
              <a:defRPr sz="750">
                <a:solidFill>
                  <a:schemeClr val="tx1"/>
                </a:solidFill>
              </a:defRPr>
            </a:lvl1pPr>
          </a:lstStyle>
          <a:p>
            <a:fld id="{4AAD347D-5ACD-4C99-B74B-A9C85AD731AF}" type="datetimeFigureOut">
              <a:rPr lang="en-US" smtClean="0"/>
              <a:t>3/24/2026</a:t>
            </a:fld>
            <a:endParaRPr lang="en-US" dirty="0"/>
          </a:p>
        </p:txBody>
      </p:sp>
      <p:sp>
        <p:nvSpPr>
          <p:cNvPr id="5" name="Footer Placeholder 4"/>
          <p:cNvSpPr>
            <a:spLocks noGrp="1"/>
          </p:cNvSpPr>
          <p:nvPr>
            <p:ph type="ftr" sz="quarter" idx="3"/>
          </p:nvPr>
        </p:nvSpPr>
        <p:spPr>
          <a:xfrm>
            <a:off x="685331" y="4412457"/>
            <a:ext cx="5004665" cy="273844"/>
          </a:xfrm>
          <a:prstGeom prst="rect">
            <a:avLst/>
          </a:prstGeom>
        </p:spPr>
        <p:txBody>
          <a:bodyPr vert="horz" lIns="91440" tIns="45720" rIns="91440" bIns="45720" rtlCol="0" anchor="ctr"/>
          <a:lstStyle>
            <a:lvl1pPr algn="l">
              <a:defRPr sz="750">
                <a:solidFill>
                  <a:schemeClr val="tx1"/>
                </a:solidFill>
              </a:defRPr>
            </a:lvl1pPr>
          </a:lstStyle>
          <a:p>
            <a:endParaRPr lang="en-US" dirty="0"/>
          </a:p>
        </p:txBody>
      </p:sp>
      <p:sp>
        <p:nvSpPr>
          <p:cNvPr id="6" name="Slide Number Placeholder 5"/>
          <p:cNvSpPr>
            <a:spLocks noGrp="1"/>
          </p:cNvSpPr>
          <p:nvPr>
            <p:ph type="sldNum" sz="quarter" idx="4"/>
          </p:nvPr>
        </p:nvSpPr>
        <p:spPr>
          <a:xfrm>
            <a:off x="7885509" y="4412457"/>
            <a:ext cx="573161" cy="273844"/>
          </a:xfrm>
          <a:prstGeom prst="rect">
            <a:avLst/>
          </a:prstGeom>
        </p:spPr>
        <p:txBody>
          <a:bodyPr vert="horz" lIns="91440" tIns="45720" rIns="91440" bIns="45720" rtlCol="0" anchor="ctr"/>
          <a:lstStyle>
            <a:lvl1pPr algn="r">
              <a:defRPr sz="750">
                <a:solidFill>
                  <a:schemeClr val="tx1"/>
                </a:soli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4106938611"/>
      </p:ext>
    </p:extLst>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 id="2147483853" r:id="rId13"/>
    <p:sldLayoutId id="2147483854" r:id="rId14"/>
    <p:sldLayoutId id="2147483855" r:id="rId15"/>
    <p:sldLayoutId id="2147483856" r:id="rId16"/>
    <p:sldLayoutId id="2147483857" r:id="rId17"/>
    <p:sldLayoutId id="2147483858" r:id="rId18"/>
  </p:sldLayoutIdLst>
  <p:hf hdr="0" ftr="0" dt="0"/>
  <p:txStyles>
    <p:titleStyle>
      <a:lvl1pPr algn="ctr" defTabSz="685800" rtl="0" eaLnBrk="1" latinLnBrk="0" hangingPunct="1">
        <a:lnSpc>
          <a:spcPct val="90000"/>
        </a:lnSpc>
        <a:spcBef>
          <a:spcPct val="0"/>
        </a:spcBef>
        <a:buNone/>
        <a:defRPr sz="2700" kern="1200" cap="all" baseline="0">
          <a:solidFill>
            <a:schemeClr val="tx1"/>
          </a:solidFill>
          <a:effectLst/>
          <a:latin typeface="+mj-lt"/>
          <a:ea typeface="+mj-ea"/>
          <a:cs typeface="+mj-cs"/>
        </a:defRPr>
      </a:lvl1pPr>
    </p:titleStyle>
    <p:bodyStyle>
      <a:lvl1pPr marL="171450" indent="-171450" algn="l" defTabSz="685800" rtl="0" eaLnBrk="1" latinLnBrk="0" hangingPunct="1">
        <a:lnSpc>
          <a:spcPct val="120000"/>
        </a:lnSpc>
        <a:spcBef>
          <a:spcPts val="750"/>
        </a:spcBef>
        <a:buClr>
          <a:schemeClr val="tx1"/>
        </a:buClr>
        <a:buFont typeface="Arial" panose="020B0604020202020204" pitchFamily="34" charset="0"/>
        <a:buChar char="•"/>
        <a:defRPr sz="1500" kern="1200" cap="all" baseline="0">
          <a:solidFill>
            <a:schemeClr val="tx1"/>
          </a:solidFill>
          <a:effectLst/>
          <a:latin typeface="+mn-lt"/>
          <a:ea typeface="+mn-ea"/>
          <a:cs typeface="+mn-cs"/>
        </a:defRPr>
      </a:lvl1pPr>
      <a:lvl2pPr marL="514350" indent="-171450" algn="l" defTabSz="685800" rtl="0" eaLnBrk="1" latinLnBrk="0" hangingPunct="1">
        <a:lnSpc>
          <a:spcPct val="120000"/>
        </a:lnSpc>
        <a:spcBef>
          <a:spcPts val="375"/>
        </a:spcBef>
        <a:buClr>
          <a:schemeClr val="tx1"/>
        </a:buClr>
        <a:buFont typeface="Arial" panose="020B0604020202020204" pitchFamily="34" charset="0"/>
        <a:buChar char="•"/>
        <a:defRPr sz="1350" kern="1200" cap="all" baseline="0">
          <a:solidFill>
            <a:schemeClr val="tx1"/>
          </a:solidFill>
          <a:effectLst/>
          <a:latin typeface="+mn-lt"/>
          <a:ea typeface="+mn-ea"/>
          <a:cs typeface="+mn-cs"/>
        </a:defRPr>
      </a:lvl2pPr>
      <a:lvl3pPr marL="857250" indent="-171450" algn="l" defTabSz="685800" rtl="0" eaLnBrk="1" latinLnBrk="0" hangingPunct="1">
        <a:lnSpc>
          <a:spcPct val="120000"/>
        </a:lnSpc>
        <a:spcBef>
          <a:spcPts val="375"/>
        </a:spcBef>
        <a:buClr>
          <a:schemeClr val="tx1"/>
        </a:buClr>
        <a:buFont typeface="Arial" panose="020B0604020202020204" pitchFamily="34" charset="0"/>
        <a:buChar char="•"/>
        <a:defRPr sz="1200" kern="1200" cap="all" baseline="0">
          <a:solidFill>
            <a:schemeClr val="tx1"/>
          </a:solidFill>
          <a:effectLst/>
          <a:latin typeface="+mn-lt"/>
          <a:ea typeface="+mn-ea"/>
          <a:cs typeface="+mn-cs"/>
        </a:defRPr>
      </a:lvl3pPr>
      <a:lvl4pPr marL="12001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4pPr>
      <a:lvl5pPr marL="15430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5pPr>
      <a:lvl6pPr marL="18859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6pPr>
      <a:lvl7pPr marL="22288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7pPr>
      <a:lvl8pPr marL="25717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8pPr>
      <a:lvl9pPr marL="2914650" indent="-171450" algn="l" defTabSz="685800" rtl="0" eaLnBrk="1" latinLnBrk="0" hangingPunct="1">
        <a:lnSpc>
          <a:spcPct val="120000"/>
        </a:lnSpc>
        <a:spcBef>
          <a:spcPts val="375"/>
        </a:spcBef>
        <a:buClr>
          <a:schemeClr val="tx1"/>
        </a:buClr>
        <a:buFont typeface="Arial" panose="020B0604020202020204" pitchFamily="34" charset="0"/>
        <a:buChar char="•"/>
        <a:defRPr sz="1050" kern="1200" cap="all" baseline="0">
          <a:solidFill>
            <a:schemeClr val="tx1"/>
          </a:solidFill>
          <a:effectLst/>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8.xml"/><Relationship Id="rId4" Type="http://schemas.microsoft.com/office/2007/relationships/hdphoto" Target="../media/hdphoto2.wdp"/></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3.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5.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Layout" Target="../slideLayouts/slideLayout3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36.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36.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6.xml"/></Relationships>
</file>

<file path=ppt/slides/_rels/slide1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36.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4.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6.xml"/></Relationships>
</file>

<file path=ppt/slides/_rels/slide1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6.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8.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6.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6.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5.png"/><Relationship Id="rId7" Type="http://schemas.microsoft.com/office/2007/relationships/hdphoto" Target="../media/hdphoto2.wdp"/><Relationship Id="rId2" Type="http://schemas.openxmlformats.org/officeDocument/2006/relationships/notesSlide" Target="../notesSlides/notesSlide12.xml"/><Relationship Id="rId1" Type="http://schemas.openxmlformats.org/officeDocument/2006/relationships/slideLayout" Target="../slideLayouts/slideLayout18.xml"/><Relationship Id="rId6" Type="http://schemas.openxmlformats.org/officeDocument/2006/relationships/image" Target="../media/image7.png"/><Relationship Id="rId5" Type="http://schemas.microsoft.com/office/2007/relationships/hdphoto" Target="../media/hdphoto1.wdp"/><Relationship Id="rId4" Type="http://schemas.openxmlformats.org/officeDocument/2006/relationships/image" Target="../media/image6.png"/><Relationship Id="rId9" Type="http://schemas.microsoft.com/office/2007/relationships/hdphoto" Target="../media/hdphoto3.wdp"/></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a:effectLst/>
      </p:bgPr>
    </p:bg>
    <p:spTree>
      <p:nvGrpSpPr>
        <p:cNvPr id="1" name=""/>
        <p:cNvGrpSpPr/>
        <p:nvPr/>
      </p:nvGrpSpPr>
      <p:grpSpPr>
        <a:xfrm>
          <a:off x="0" y="0"/>
          <a:ext cx="0" cy="0"/>
          <a:chOff x="0" y="0"/>
          <a:chExt cx="0" cy="0"/>
        </a:xfrm>
      </p:grpSpPr>
      <p:sp>
        <p:nvSpPr>
          <p:cNvPr id="2" name="Shape 0"/>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dirty="0">
                <a:solidFill>
                  <a:srgbClr val="02C39A"/>
                </a:solidFill>
                <a:latin typeface="Calibri" pitchFamily="34" charset="0"/>
                <a:ea typeface="Calibri" pitchFamily="34" charset="-122"/>
                <a:cs typeface="Calibri" pitchFamily="34" charset="-120"/>
              </a:rPr>
              <a:t>DEEP LEARNING  ·  ASSIGNMENT 1  ·  TASK 2</a:t>
            </a:r>
            <a:endParaRPr lang="en-US" sz="1000" dirty="0"/>
          </a:p>
        </p:txBody>
      </p:sp>
      <p:sp>
        <p:nvSpPr>
          <p:cNvPr id="6" name="Text 4"/>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p:cNvSpPr/>
          <p:nvPr/>
        </p:nvSpPr>
        <p:spPr>
          <a:xfrm>
            <a:off x="347472" y="1719072"/>
            <a:ext cx="6583680" cy="438912"/>
          </a:xfrm>
          <a:prstGeom prst="rect">
            <a:avLst/>
          </a:prstGeom>
          <a:noFill/>
          <a:ln/>
        </p:spPr>
        <p:txBody>
          <a:bodyPr wrap="square" lIns="0" tIns="0" rIns="0" bIns="0" rtlCol="0" anchor="ctr"/>
          <a:lstStyle/>
          <a:p>
            <a:r>
              <a:rPr lang="en-US" sz="1600">
                <a:solidFill>
                  <a:srgbClr val="7AADCC"/>
                </a:solidFill>
                <a:latin typeface="Calibri"/>
                <a:ea typeface="Calibri"/>
                <a:cs typeface="Calibri"/>
              </a:rPr>
              <a:t>TASK 2 - Convolutional Neural Network</a:t>
            </a:r>
            <a:endParaRPr lang="en-US" sz="1600">
              <a:latin typeface="Calibri"/>
              <a:ea typeface="Calibri"/>
              <a:cs typeface="Calibri"/>
            </a:endParaRPr>
          </a:p>
        </p:txBody>
      </p:sp>
      <p:sp>
        <p:nvSpPr>
          <p:cNvPr id="8" name="Shape 6"/>
          <p:cNvSpPr/>
          <p:nvPr/>
        </p:nvSpPr>
        <p:spPr>
          <a:xfrm>
            <a:off x="347472" y="2267712"/>
            <a:ext cx="3474720" cy="36576"/>
          </a:xfrm>
          <a:prstGeom prst="rect">
            <a:avLst/>
          </a:prstGeom>
          <a:solidFill>
            <a:srgbClr val="00A896"/>
          </a:solidFill>
          <a:ln w="12700">
            <a:solidFill>
              <a:srgbClr val="00A896"/>
            </a:solidFill>
            <a:prstDash val="solid"/>
          </a:ln>
        </p:spPr>
        <p:txBody>
          <a:bodyPr/>
          <a:lstStyle/>
          <a:p>
            <a:endParaRPr lang="pt-PT"/>
          </a:p>
        </p:txBody>
      </p:sp>
      <p:sp>
        <p:nvSpPr>
          <p:cNvPr id="9" name="Text 7"/>
          <p:cNvSpPr/>
          <p:nvPr/>
        </p:nvSpPr>
        <p:spPr>
          <a:xfrm>
            <a:off x="347472" y="2377440"/>
            <a:ext cx="6858000" cy="914400"/>
          </a:xfrm>
          <a:prstGeom prst="rect">
            <a:avLst/>
          </a:prstGeom>
          <a:noFill/>
          <a:ln/>
        </p:spPr>
        <p:txBody>
          <a:bodyPr wrap="square" rtlCol="0" anchor="ctr"/>
          <a:lstStyle/>
          <a:p>
            <a:pPr marL="0" indent="0">
              <a:buNone/>
            </a:pPr>
            <a:r>
              <a:rPr lang="en-US" sz="1300" dirty="0">
                <a:solidFill>
                  <a:srgbClr val="AACDE0"/>
                </a:solidFill>
                <a:latin typeface="Calibri" pitchFamily="34" charset="0"/>
                <a:ea typeface="Calibri" pitchFamily="34" charset="-122"/>
                <a:cs typeface="Calibri" pitchFamily="34" charset="-120"/>
              </a:rPr>
              <a:t>70698 – Francisco Silva</a:t>
            </a:r>
          </a:p>
          <a:p>
            <a:r>
              <a:rPr lang="en-US" sz="1300" dirty="0">
                <a:solidFill>
                  <a:srgbClr val="AACDE0"/>
                </a:solidFill>
                <a:latin typeface="Calibri" pitchFamily="34" charset="0"/>
                <a:cs typeface="Calibri" pitchFamily="34" charset="-120"/>
              </a:rPr>
              <a:t>73208 </a:t>
            </a:r>
            <a:r>
              <a:rPr lang="en-US" sz="1300" dirty="0">
                <a:solidFill>
                  <a:srgbClr val="AACDE0"/>
                </a:solidFill>
                <a:latin typeface="Calibri" pitchFamily="34" charset="0"/>
                <a:ea typeface="Calibri" pitchFamily="34" charset="-122"/>
                <a:cs typeface="Calibri" pitchFamily="34" charset="-120"/>
              </a:rPr>
              <a:t>– Rúben Silva</a:t>
            </a:r>
            <a:endParaRPr lang="en-US" sz="1300" dirty="0"/>
          </a:p>
          <a:p>
            <a:pPr marL="0" indent="0">
              <a:buNone/>
            </a:pPr>
            <a:r>
              <a:rPr lang="en-US" sz="1300" dirty="0">
                <a:solidFill>
                  <a:srgbClr val="AACDE0"/>
                </a:solidFill>
                <a:latin typeface="Calibri" pitchFamily="34" charset="0"/>
                <a:ea typeface="Calibri" pitchFamily="34" charset="-122"/>
                <a:cs typeface="Calibri" pitchFamily="34" charset="-120"/>
              </a:rPr>
              <a:t>73554 – Miguel </a:t>
            </a:r>
            <a:r>
              <a:rPr lang="en-US" sz="1300" dirty="0" err="1">
                <a:solidFill>
                  <a:srgbClr val="AACDE0"/>
                </a:solidFill>
                <a:latin typeface="Calibri" pitchFamily="34" charset="0"/>
                <a:ea typeface="Calibri" pitchFamily="34" charset="-122"/>
                <a:cs typeface="Calibri" pitchFamily="34" charset="-120"/>
              </a:rPr>
              <a:t>Cangalhas</a:t>
            </a:r>
            <a:endParaRPr lang="en-US" sz="1300" dirty="0">
              <a:solidFill>
                <a:srgbClr val="AACDE0"/>
              </a:solidFill>
              <a:latin typeface="Calibri" pitchFamily="34" charset="0"/>
              <a:ea typeface="Calibri" pitchFamily="34" charset="-122"/>
              <a:cs typeface="Calibri" pitchFamily="34" charset="-120"/>
            </a:endParaRPr>
          </a:p>
        </p:txBody>
      </p:sp>
      <p:pic>
        <p:nvPicPr>
          <p:cNvPr id="1028" name="Picture 4" descr="NOVA FCT">
            <a:extLst>
              <a:ext uri="{FF2B5EF4-FFF2-40B4-BE49-F238E27FC236}">
                <a16:creationId xmlns:a16="http://schemas.microsoft.com/office/drawing/2014/main" id="{5ED66EE5-003F-1ED4-2274-3871AE979C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BDDC356B-1E1B-DE14-ECB6-15D03218B5C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5430560-568D-49E1-F0CD-C48B87341529}"/>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B2A"/>
        </a:solidFill>
        <a:effectLst/>
      </p:bgPr>
    </p:bg>
    <p:spTree>
      <p:nvGrpSpPr>
        <p:cNvPr id="1" name=""/>
        <p:cNvGrpSpPr/>
        <p:nvPr/>
      </p:nvGrpSpPr>
      <p:grpSpPr>
        <a:xfrm>
          <a:off x="0" y="0"/>
          <a:ext cx="0" cy="0"/>
          <a:chOff x="0" y="0"/>
          <a:chExt cx="0" cy="0"/>
        </a:xfrm>
      </p:grpSpPr>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What We Cover</a:t>
            </a:r>
            <a:endParaRPr lang="en-US" sz="2200" dirty="0"/>
          </a:p>
        </p:txBody>
      </p:sp>
      <p:sp>
        <p:nvSpPr>
          <p:cNvPr id="4" name="Shape 2"/>
          <p:cNvSpPr/>
          <p:nvPr/>
        </p:nvSpPr>
        <p:spPr>
          <a:xfrm>
            <a:off x="36576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5" name="Shape 3"/>
          <p:cNvSpPr/>
          <p:nvPr/>
        </p:nvSpPr>
        <p:spPr>
          <a:xfrm>
            <a:off x="36576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6" name="Text 4"/>
          <p:cNvSpPr/>
          <p:nvPr/>
        </p:nvSpPr>
        <p:spPr>
          <a:xfrm>
            <a:off x="521208" y="932688"/>
            <a:ext cx="475488" cy="475488"/>
          </a:xfrm>
          <a:prstGeom prst="rect">
            <a:avLst/>
          </a:prstGeom>
          <a:noFill/>
          <a:ln/>
        </p:spPr>
        <p:txBody>
          <a:bodyPr wrap="square" lIns="0" tIns="0" rIns="0" bIns="0" rtlCol="0" anchor="ctr"/>
          <a:lstStyle/>
          <a:p>
            <a:pPr marL="0" indent="0">
              <a:buNone/>
            </a:pPr>
            <a:r>
              <a:rPr lang="en-US" sz="2200" b="1" dirty="0">
                <a:solidFill>
                  <a:srgbClr val="00A896"/>
                </a:solidFill>
                <a:latin typeface="Trebuchet MS" pitchFamily="34" charset="0"/>
                <a:ea typeface="Trebuchet MS" pitchFamily="34" charset="-122"/>
                <a:cs typeface="Trebuchet MS" pitchFamily="34" charset="-120"/>
              </a:rPr>
              <a:t>1</a:t>
            </a:r>
            <a:endParaRPr lang="en-US" sz="2200" dirty="0"/>
          </a:p>
        </p:txBody>
      </p:sp>
      <p:sp>
        <p:nvSpPr>
          <p:cNvPr id="9" name="Text 7"/>
          <p:cNvSpPr/>
          <p:nvPr/>
        </p:nvSpPr>
        <p:spPr>
          <a:xfrm>
            <a:off x="1051560" y="932688"/>
            <a:ext cx="3200400" cy="411480"/>
          </a:xfrm>
          <a:prstGeom prst="rect">
            <a:avLst/>
          </a:prstGeom>
          <a:noFill/>
          <a:ln/>
        </p:spPr>
        <p:txBody>
          <a:bodyPr wrap="square" lIns="0" tIns="0" rIns="0" bIns="0"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Model Development</a:t>
            </a:r>
            <a:endParaRPr lang="en-US" sz="1400" dirty="0"/>
          </a:p>
        </p:txBody>
      </p:sp>
      <p:sp>
        <p:nvSpPr>
          <p:cNvPr id="10" name="Text 8"/>
          <p:cNvSpPr/>
          <p:nvPr/>
        </p:nvSpPr>
        <p:spPr>
          <a:xfrm>
            <a:off x="1027176" y="1389888"/>
            <a:ext cx="3480816" cy="822960"/>
          </a:xfrm>
          <a:prstGeom prst="rect">
            <a:avLst/>
          </a:prstGeom>
          <a:noFill/>
          <a:ln/>
        </p:spPr>
        <p:txBody>
          <a:bodyPr wrap="square" lIns="0" tIns="0" rIns="0" bIns="0" rtlCol="0" anchor="ctr"/>
          <a:lstStyle/>
          <a:p>
            <a:r>
              <a:rPr lang="en-US" sz="1400">
                <a:solidFill>
                  <a:srgbClr val="7AADCC"/>
                </a:solidFill>
                <a:latin typeface="Calibri"/>
                <a:ea typeface="Calibri"/>
                <a:cs typeface="Calibri"/>
              </a:rPr>
              <a:t>Architectures  · Experiments · Augmentation · Regularization · Ensembles · Results</a:t>
            </a:r>
          </a:p>
        </p:txBody>
      </p:sp>
      <p:sp>
        <p:nvSpPr>
          <p:cNvPr id="11" name="Shape 9"/>
          <p:cNvSpPr/>
          <p:nvPr/>
        </p:nvSpPr>
        <p:spPr>
          <a:xfrm>
            <a:off x="475488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10"/>
          <p:cNvSpPr/>
          <p:nvPr/>
        </p:nvSpPr>
        <p:spPr>
          <a:xfrm>
            <a:off x="475488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13" name="Text 11"/>
          <p:cNvSpPr/>
          <p:nvPr/>
        </p:nvSpPr>
        <p:spPr>
          <a:xfrm>
            <a:off x="4910328" y="932688"/>
            <a:ext cx="475488" cy="475488"/>
          </a:xfrm>
          <a:prstGeom prst="rect">
            <a:avLst/>
          </a:prstGeom>
          <a:noFill/>
          <a:ln/>
        </p:spPr>
        <p:txBody>
          <a:bodyPr wrap="square" lIns="0" tIns="0" rIns="0" bIns="0" rtlCol="0" anchor="ctr"/>
          <a:lstStyle/>
          <a:p>
            <a:pPr marL="0" indent="0">
              <a:buNone/>
            </a:pPr>
            <a:r>
              <a:rPr lang="en-US" sz="2200" b="1" dirty="0">
                <a:solidFill>
                  <a:srgbClr val="00A896"/>
                </a:solidFill>
                <a:latin typeface="Trebuchet MS" pitchFamily="34" charset="0"/>
                <a:ea typeface="Trebuchet MS" pitchFamily="34" charset="-122"/>
                <a:cs typeface="Trebuchet MS" pitchFamily="34" charset="-120"/>
              </a:rPr>
              <a:t>2</a:t>
            </a:r>
            <a:endParaRPr lang="en-US" sz="2200" dirty="0"/>
          </a:p>
        </p:txBody>
      </p:sp>
      <p:sp>
        <p:nvSpPr>
          <p:cNvPr id="16" name="Text 14"/>
          <p:cNvSpPr/>
          <p:nvPr/>
        </p:nvSpPr>
        <p:spPr>
          <a:xfrm>
            <a:off x="5440680" y="932688"/>
            <a:ext cx="3200400" cy="411480"/>
          </a:xfrm>
          <a:prstGeom prst="rect">
            <a:avLst/>
          </a:prstGeom>
          <a:noFill/>
          <a:ln/>
        </p:spPr>
        <p:txBody>
          <a:bodyPr wrap="square" lIns="0" tIns="0" rIns="0" bIns="0" rtlCol="0" anchor="ctr"/>
          <a:lstStyle/>
          <a:p>
            <a:r>
              <a:rPr lang="en-US" sz="1400" b="1">
                <a:solidFill>
                  <a:srgbClr val="FFFFFF"/>
                </a:solidFill>
                <a:latin typeface="Trebuchet MS"/>
              </a:rPr>
              <a:t>Training Efficiency</a:t>
            </a:r>
            <a:endParaRPr lang="en-US"/>
          </a:p>
        </p:txBody>
      </p:sp>
      <p:sp>
        <p:nvSpPr>
          <p:cNvPr id="17" name="Text 15"/>
          <p:cNvSpPr/>
          <p:nvPr/>
        </p:nvSpPr>
        <p:spPr>
          <a:xfrm>
            <a:off x="5416296" y="1389888"/>
            <a:ext cx="3480816" cy="822960"/>
          </a:xfrm>
          <a:prstGeom prst="rect">
            <a:avLst/>
          </a:prstGeom>
          <a:noFill/>
          <a:ln/>
        </p:spPr>
        <p:txBody>
          <a:bodyPr wrap="square" lIns="0" tIns="0" rIns="0" bIns="0" rtlCol="0" anchor="ctr"/>
          <a:lstStyle/>
          <a:p>
            <a:r>
              <a:rPr lang="en-US" sz="1400">
                <a:solidFill>
                  <a:srgbClr val="7AADCC"/>
                </a:solidFill>
                <a:latin typeface="Calibri"/>
                <a:ea typeface="Calibri"/>
                <a:cs typeface="Calibri"/>
              </a:rPr>
              <a:t>Early Stopping · GPU budget · Checkpointing</a:t>
            </a:r>
          </a:p>
          <a:p>
            <a:pPr marL="0" indent="0">
              <a:buNone/>
            </a:pPr>
            <a:endParaRPr lang="en-US" sz="1400" dirty="0">
              <a:solidFill>
                <a:srgbClr val="7AADCC"/>
              </a:solidFill>
              <a:latin typeface="Calibri"/>
              <a:ea typeface="Calibri"/>
              <a:cs typeface="Calibri"/>
            </a:endParaRPr>
          </a:p>
        </p:txBody>
      </p:sp>
      <p:sp>
        <p:nvSpPr>
          <p:cNvPr id="18" name="Shape 16"/>
          <p:cNvSpPr/>
          <p:nvPr/>
        </p:nvSpPr>
        <p:spPr>
          <a:xfrm>
            <a:off x="36576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6576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0" name="Text 18"/>
          <p:cNvSpPr/>
          <p:nvPr/>
        </p:nvSpPr>
        <p:spPr>
          <a:xfrm>
            <a:off x="521208" y="2898648"/>
            <a:ext cx="475488" cy="475488"/>
          </a:xfrm>
          <a:prstGeom prst="rect">
            <a:avLst/>
          </a:prstGeom>
          <a:noFill/>
          <a:ln/>
        </p:spPr>
        <p:txBody>
          <a:bodyPr wrap="square" lIns="0" tIns="0" rIns="0" bIns="0" rtlCol="0" anchor="ctr"/>
          <a:lstStyle/>
          <a:p>
            <a:pPr marL="0" indent="0">
              <a:buNone/>
            </a:pPr>
            <a:r>
              <a:rPr lang="en-US" sz="2200" b="1" dirty="0">
                <a:solidFill>
                  <a:srgbClr val="00A896"/>
                </a:solidFill>
                <a:latin typeface="Trebuchet MS" pitchFamily="34" charset="0"/>
                <a:ea typeface="Trebuchet MS" pitchFamily="34" charset="-122"/>
                <a:cs typeface="Trebuchet MS" pitchFamily="34" charset="-120"/>
              </a:rPr>
              <a:t>3</a:t>
            </a:r>
            <a:endParaRPr lang="en-US" sz="2200" dirty="0"/>
          </a:p>
        </p:txBody>
      </p:sp>
      <p:sp>
        <p:nvSpPr>
          <p:cNvPr id="23" name="Text 21"/>
          <p:cNvSpPr/>
          <p:nvPr/>
        </p:nvSpPr>
        <p:spPr>
          <a:xfrm>
            <a:off x="1051560" y="2898648"/>
            <a:ext cx="3200400" cy="411480"/>
          </a:xfrm>
          <a:prstGeom prst="rect">
            <a:avLst/>
          </a:prstGeom>
          <a:noFill/>
          <a:ln/>
        </p:spPr>
        <p:txBody>
          <a:bodyPr wrap="square" lIns="0" tIns="0" rIns="0" bIns="0" rtlCol="0" anchor="ctr"/>
          <a:lstStyle/>
          <a:p>
            <a:r>
              <a:rPr lang="en-US" sz="1400" b="1">
                <a:solidFill>
                  <a:srgbClr val="FFFFFF"/>
                </a:solidFill>
                <a:latin typeface="Trebuchet MS"/>
              </a:rPr>
              <a:t>Performance Evaluation</a:t>
            </a:r>
            <a:endParaRPr lang="en-US" sz="1400" b="1">
              <a:latin typeface="Trebuchet MS"/>
            </a:endParaRPr>
          </a:p>
        </p:txBody>
      </p:sp>
      <p:sp>
        <p:nvSpPr>
          <p:cNvPr id="24" name="Text 22"/>
          <p:cNvSpPr/>
          <p:nvPr/>
        </p:nvSpPr>
        <p:spPr>
          <a:xfrm>
            <a:off x="1027176" y="3355848"/>
            <a:ext cx="3480816" cy="822960"/>
          </a:xfrm>
          <a:prstGeom prst="rect">
            <a:avLst/>
          </a:prstGeom>
          <a:noFill/>
          <a:ln/>
        </p:spPr>
        <p:txBody>
          <a:bodyPr wrap="square" lIns="0" tIns="0" rIns="0" bIns="0" rtlCol="0" anchor="ctr"/>
          <a:lstStyle/>
          <a:p>
            <a:r>
              <a:rPr lang="en-US" sz="1400">
                <a:solidFill>
                  <a:srgbClr val="7AADCC"/>
                </a:solidFill>
                <a:latin typeface="Calibri"/>
                <a:ea typeface="Calibri"/>
                <a:cs typeface="Calibri"/>
              </a:rPr>
              <a:t>Macro-F1 · Per-class · Confusion Matrix</a:t>
            </a:r>
          </a:p>
          <a:p>
            <a:pPr marL="0" indent="0">
              <a:buNone/>
            </a:pPr>
            <a:endParaRPr lang="en-US" sz="1400" dirty="0">
              <a:solidFill>
                <a:srgbClr val="7AADCC"/>
              </a:solidFill>
              <a:latin typeface="Calibri"/>
              <a:ea typeface="Calibri"/>
              <a:cs typeface="Calibri"/>
            </a:endParaRPr>
          </a:p>
        </p:txBody>
      </p:sp>
      <p:sp>
        <p:nvSpPr>
          <p:cNvPr id="25" name="Shape 23"/>
          <p:cNvSpPr/>
          <p:nvPr/>
        </p:nvSpPr>
        <p:spPr>
          <a:xfrm>
            <a:off x="475488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6" name="Shape 24"/>
          <p:cNvSpPr/>
          <p:nvPr/>
        </p:nvSpPr>
        <p:spPr>
          <a:xfrm>
            <a:off x="475488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7" name="Text 25"/>
          <p:cNvSpPr/>
          <p:nvPr/>
        </p:nvSpPr>
        <p:spPr>
          <a:xfrm>
            <a:off x="4910328" y="2898648"/>
            <a:ext cx="475488" cy="475488"/>
          </a:xfrm>
          <a:prstGeom prst="rect">
            <a:avLst/>
          </a:prstGeom>
          <a:noFill/>
          <a:ln/>
        </p:spPr>
        <p:txBody>
          <a:bodyPr wrap="square" lIns="0" tIns="0" rIns="0" bIns="0" rtlCol="0" anchor="ctr"/>
          <a:lstStyle/>
          <a:p>
            <a:pPr marL="0" indent="0">
              <a:buNone/>
            </a:pPr>
            <a:r>
              <a:rPr lang="en-US" sz="2200" b="1" dirty="0">
                <a:solidFill>
                  <a:srgbClr val="00A896"/>
                </a:solidFill>
                <a:latin typeface="Trebuchet MS" pitchFamily="34" charset="0"/>
                <a:ea typeface="Trebuchet MS" pitchFamily="34" charset="-122"/>
                <a:cs typeface="Trebuchet MS" pitchFamily="34" charset="-120"/>
              </a:rPr>
              <a:t>4</a:t>
            </a:r>
            <a:endParaRPr lang="en-US" sz="2200" dirty="0"/>
          </a:p>
        </p:txBody>
      </p:sp>
      <p:sp>
        <p:nvSpPr>
          <p:cNvPr id="30" name="Text 28"/>
          <p:cNvSpPr/>
          <p:nvPr/>
        </p:nvSpPr>
        <p:spPr>
          <a:xfrm>
            <a:off x="5440680" y="2898648"/>
            <a:ext cx="3200400" cy="411480"/>
          </a:xfrm>
          <a:prstGeom prst="rect">
            <a:avLst/>
          </a:prstGeom>
          <a:noFill/>
          <a:ln/>
        </p:spPr>
        <p:txBody>
          <a:bodyPr wrap="square" lIns="0" tIns="0" rIns="0" bIns="0"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Performance Evaluation</a:t>
            </a:r>
            <a:endParaRPr lang="en-US" sz="1400" dirty="0"/>
          </a:p>
        </p:txBody>
      </p:sp>
      <p:sp>
        <p:nvSpPr>
          <p:cNvPr id="31" name="Text 29"/>
          <p:cNvSpPr/>
          <p:nvPr/>
        </p:nvSpPr>
        <p:spPr>
          <a:xfrm>
            <a:off x="5416295" y="3355848"/>
            <a:ext cx="3674195" cy="822960"/>
          </a:xfrm>
          <a:prstGeom prst="rect">
            <a:avLst/>
          </a:prstGeom>
          <a:noFill/>
          <a:ln/>
        </p:spPr>
        <p:txBody>
          <a:bodyPr wrap="square" lIns="0" tIns="0" rIns="0" bIns="0" rtlCol="0" anchor="ctr"/>
          <a:lstStyle/>
          <a:p>
            <a:pPr marL="0" indent="0">
              <a:buNone/>
            </a:pPr>
            <a:r>
              <a:rPr lang="en-US" sz="1400" dirty="0">
                <a:solidFill>
                  <a:srgbClr val="7AADCC"/>
                </a:solidFill>
                <a:latin typeface="Calibri" pitchFamily="34" charset="0"/>
                <a:ea typeface="Calibri" pitchFamily="34" charset="-122"/>
                <a:cs typeface="Calibri" pitchFamily="34" charset="-120"/>
              </a:rPr>
              <a:t>Macro-F1  ·  Per-class  ·  Confusion Matrix</a:t>
            </a:r>
            <a:endParaRPr lang="en-US" sz="1400" dirty="0"/>
          </a:p>
        </p:txBody>
      </p:sp>
      <p:pic>
        <p:nvPicPr>
          <p:cNvPr id="7" name="Picture 8" descr="NOSSA™ | NOVA School of Science &amp; Technology">
            <a:extLst>
              <a:ext uri="{FF2B5EF4-FFF2-40B4-BE49-F238E27FC236}">
                <a16:creationId xmlns:a16="http://schemas.microsoft.com/office/drawing/2014/main" id="{468AEAC2-1FE2-5767-8EC3-4A82ADED1E0D}"/>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F93C-6E0A-CA71-E33C-F276EAFECB8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9B429E-9543-9656-705B-B803BA1310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63CAD504-519F-DC95-8B70-70BC476FCD2A}"/>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76079A80-E769-2EC2-F0D0-19126503B99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434559A-786D-D1DD-16DF-DF333FBAF593}"/>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28CD9547-9756-F2C6-1D40-B1706E1C56A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126CB09D-0BFD-09CC-0B52-045D8A1DF192}"/>
              </a:ext>
            </a:extLst>
          </p:cNvPr>
          <p:cNvSpPr/>
          <p:nvPr/>
        </p:nvSpPr>
        <p:spPr>
          <a:xfrm>
            <a:off x="1274249" y="1161287"/>
            <a:ext cx="6400800" cy="82296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Model Development</a:t>
            </a:r>
          </a:p>
        </p:txBody>
      </p:sp>
      <p:sp>
        <p:nvSpPr>
          <p:cNvPr id="14" name="Rectangle: Rounded Corners 13">
            <a:extLst>
              <a:ext uri="{FF2B5EF4-FFF2-40B4-BE49-F238E27FC236}">
                <a16:creationId xmlns:a16="http://schemas.microsoft.com/office/drawing/2014/main" id="{F1208A27-ACDC-2F0D-389D-D639A2AE77BA}"/>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3200" b="1" dirty="0"/>
              <a:t>1</a:t>
            </a:r>
            <a:endParaRPr lang="pt-PT" b="1" dirty="0"/>
          </a:p>
        </p:txBody>
      </p:sp>
      <p:cxnSp>
        <p:nvCxnSpPr>
          <p:cNvPr id="16" name="Straight Connector 15">
            <a:extLst>
              <a:ext uri="{FF2B5EF4-FFF2-40B4-BE49-F238E27FC236}">
                <a16:creationId xmlns:a16="http://schemas.microsoft.com/office/drawing/2014/main" id="{87E16401-53BD-06FB-8BD7-0FAEF5EF5329}"/>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0494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78998"/>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sp>
        <p:nvSpPr>
          <p:cNvPr id="8" name="Text 1">
            <a:extLst>
              <a:ext uri="{FF2B5EF4-FFF2-40B4-BE49-F238E27FC236}">
                <a16:creationId xmlns:a16="http://schemas.microsoft.com/office/drawing/2014/main" id="{75BA037F-3069-8227-DF31-F9CC626E7659}"/>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Exploration strategy</a:t>
            </a:r>
            <a:endParaRPr lang="en-US" sz="2200" dirty="0"/>
          </a:p>
        </p:txBody>
      </p:sp>
      <p:graphicFrame>
        <p:nvGraphicFramePr>
          <p:cNvPr id="9" name="Table 8">
            <a:extLst>
              <a:ext uri="{FF2B5EF4-FFF2-40B4-BE49-F238E27FC236}">
                <a16:creationId xmlns:a16="http://schemas.microsoft.com/office/drawing/2014/main" id="{5FB4740F-FEEC-A8FC-50D0-5E5FB64FBA6D}"/>
              </a:ext>
            </a:extLst>
          </p:cNvPr>
          <p:cNvGraphicFramePr>
            <a:graphicFrameLocks noGrp="1"/>
          </p:cNvGraphicFramePr>
          <p:nvPr>
            <p:extLst>
              <p:ext uri="{D42A27DB-BD31-4B8C-83A1-F6EECF244321}">
                <p14:modId xmlns:p14="http://schemas.microsoft.com/office/powerpoint/2010/main" val="3288011220"/>
              </p:ext>
            </p:extLst>
          </p:nvPr>
        </p:nvGraphicFramePr>
        <p:xfrm>
          <a:off x="174433" y="1255677"/>
          <a:ext cx="8653017" cy="3887823"/>
        </p:xfrm>
        <a:graphic>
          <a:graphicData uri="http://schemas.openxmlformats.org/drawingml/2006/table">
            <a:tbl>
              <a:tblPr>
                <a:tableStyleId>{B301B821-A1FF-4177-AEE7-76D212191A09}</a:tableStyleId>
              </a:tblPr>
              <a:tblGrid>
                <a:gridCol w="151505">
                  <a:extLst>
                    <a:ext uri="{9D8B030D-6E8A-4147-A177-3AD203B41FA5}">
                      <a16:colId xmlns:a16="http://schemas.microsoft.com/office/drawing/2014/main" val="3452336729"/>
                    </a:ext>
                  </a:extLst>
                </a:gridCol>
                <a:gridCol w="808024">
                  <a:extLst>
                    <a:ext uri="{9D8B030D-6E8A-4147-A177-3AD203B41FA5}">
                      <a16:colId xmlns:a16="http://schemas.microsoft.com/office/drawing/2014/main" val="3394786443"/>
                    </a:ext>
                  </a:extLst>
                </a:gridCol>
                <a:gridCol w="2570359">
                  <a:extLst>
                    <a:ext uri="{9D8B030D-6E8A-4147-A177-3AD203B41FA5}">
                      <a16:colId xmlns:a16="http://schemas.microsoft.com/office/drawing/2014/main" val="2858452526"/>
                    </a:ext>
                  </a:extLst>
                </a:gridCol>
                <a:gridCol w="964747">
                  <a:extLst>
                    <a:ext uri="{9D8B030D-6E8A-4147-A177-3AD203B41FA5}">
                      <a16:colId xmlns:a16="http://schemas.microsoft.com/office/drawing/2014/main" val="2404321311"/>
                    </a:ext>
                  </a:extLst>
                </a:gridCol>
                <a:gridCol w="1616049">
                  <a:extLst>
                    <a:ext uri="{9D8B030D-6E8A-4147-A177-3AD203B41FA5}">
                      <a16:colId xmlns:a16="http://schemas.microsoft.com/office/drawing/2014/main" val="4148939698"/>
                    </a:ext>
                  </a:extLst>
                </a:gridCol>
                <a:gridCol w="2542333">
                  <a:extLst>
                    <a:ext uri="{9D8B030D-6E8A-4147-A177-3AD203B41FA5}">
                      <a16:colId xmlns:a16="http://schemas.microsoft.com/office/drawing/2014/main" val="3476846084"/>
                    </a:ext>
                  </a:extLst>
                </a:gridCol>
              </a:tblGrid>
              <a:tr h="216000">
                <a:tc>
                  <a:txBody>
                    <a:bodyPr/>
                    <a:lstStyle/>
                    <a:p>
                      <a:pPr algn="l" fontAlgn="ctr">
                        <a:buNone/>
                      </a:pPr>
                      <a:r>
                        <a:rPr lang="pt-PT" sz="1050" b="1" u="none" strike="noStrike" dirty="0">
                          <a:effectLst/>
                          <a:latin typeface="Calibri" panose="020F0502020204030204" pitchFamily="34" charset="0"/>
                          <a:ea typeface="Calibri" panose="020F0502020204030204" pitchFamily="34" charset="0"/>
                          <a:cs typeface="Calibri" panose="020F0502020204030204" pitchFamily="34" charset="0"/>
                        </a:rPr>
                        <a:t>ID</a:t>
                      </a:r>
                      <a:endParaRPr lang="pt-PT" sz="105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Name</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Model</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Criterion</a:t>
                      </a:r>
                      <a:r>
                        <a:rPr lang="pt-PT" sz="1100" b="1" u="none" strike="noStrike" dirty="0">
                          <a:effectLst/>
                          <a:latin typeface="Calibri"/>
                          <a:ea typeface="Calibri"/>
                          <a:cs typeface="Calibri"/>
                        </a:rPr>
                        <a:t> (~</a:t>
                      </a:r>
                      <a:r>
                        <a:rPr lang="pt-PT" sz="1100" b="1" u="none" strike="noStrike" err="1">
                          <a:effectLst/>
                          <a:latin typeface="Calibri"/>
                          <a:ea typeface="Calibri"/>
                          <a:cs typeface="Calibri"/>
                        </a:rPr>
                        <a:t>loss</a:t>
                      </a:r>
                      <a:r>
                        <a:rPr lang="pt-PT" sz="1100" b="1" u="none" strike="noStrike" dirty="0">
                          <a:effectLst/>
                          <a:latin typeface="Calibri"/>
                          <a:ea typeface="Calibri"/>
                          <a:cs typeface="Calibri"/>
                        </a:rPr>
                        <a:t> </a:t>
                      </a:r>
                      <a:r>
                        <a:rPr lang="pt-PT" sz="1100" b="1" u="none" strike="noStrike" err="1">
                          <a:effectLst/>
                          <a:latin typeface="Calibri"/>
                          <a:ea typeface="Calibri"/>
                          <a:cs typeface="Calibri"/>
                        </a:rPr>
                        <a:t>function</a:t>
                      </a:r>
                      <a:r>
                        <a:rPr lang="pt-PT" sz="1100" b="1" u="none" strike="noStrike" dirty="0">
                          <a:effectLst/>
                          <a:latin typeface="Calibri"/>
                          <a:ea typeface="Calibri"/>
                          <a:cs typeface="Calibri"/>
                        </a:rPr>
                        <a:t>)</a:t>
                      </a:r>
                      <a:endParaRPr lang="pt-PT" sz="1100" b="1" i="0" u="none" strike="noStrike"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Optimizer</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Purpose</a:t>
                      </a:r>
                      <a:endParaRPr lang="pt-PT" sz="1100" b="1" i="0" u="none" strike="noStrike">
                        <a:solidFill>
                          <a:srgbClr val="000000"/>
                        </a:solidFill>
                        <a:effectLst/>
                        <a:latin typeface="Calibri"/>
                        <a:ea typeface="Calibri"/>
                        <a:cs typeface="Calibri"/>
                      </a:endParaRPr>
                    </a:p>
                  </a:txBody>
                  <a:tcPr marL="3567" marR="3567" marT="3567" marB="0" anchor="ctr">
                    <a:lnL>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75402942"/>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LeNet5_base</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LeNet5(conv=[6,16], fc=[120,84], pool=AvgPool2x2)</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CrossEntropy</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Baseline</a:t>
                      </a:r>
                      <a:r>
                        <a:rPr lang="pt-PT" sz="1050" b="0" u="none" strike="noStrike" dirty="0">
                          <a:effectLst/>
                          <a:latin typeface="Calibri"/>
                          <a:ea typeface="Calibri"/>
                          <a:cs typeface="Calibri"/>
                        </a:rPr>
                        <a:t> - no </a:t>
                      </a:r>
                      <a:r>
                        <a:rPr lang="pt-PT" sz="1050" b="0" u="none" strike="noStrike">
                          <a:effectLst/>
                          <a:latin typeface="Calibri"/>
                          <a:ea typeface="Calibri"/>
                          <a:cs typeface="Calibri"/>
                        </a:rPr>
                        <a:t>regularization</a:t>
                      </a:r>
                      <a:r>
                        <a:rPr lang="pt-PT" sz="1050" b="0" u="none" strike="noStrike" dirty="0">
                          <a:effectLst/>
                          <a:latin typeface="Calibri"/>
                          <a:ea typeface="Calibri"/>
                          <a:cs typeface="Calibri"/>
                        </a:rPr>
                        <a:t>; compare performance </a:t>
                      </a:r>
                      <a:r>
                        <a:rPr lang="pt-PT" sz="1050" b="0" u="none" strike="noStrike" err="1">
                          <a:effectLst/>
                          <a:latin typeface="Calibri"/>
                          <a:ea typeface="Calibri"/>
                          <a:cs typeface="Calibri"/>
                        </a:rPr>
                        <a:t>with</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existing</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architecture</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2010846"/>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C</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i="0" u="none" strike="noStrike" err="1">
                          <a:solidFill>
                            <a:srgbClr val="000000"/>
                          </a:solidFill>
                          <a:effectLst/>
                          <a:latin typeface="Calibri"/>
                          <a:ea typeface="Calibri"/>
                          <a:cs typeface="Calibri"/>
                        </a:rPr>
                        <a:t>Simple_cw</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CNN(</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=[32,64],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CE + </a:t>
                      </a:r>
                      <a:r>
                        <a:rPr lang="pt-PT" sz="1050" b="0" u="none" strike="noStrike" err="1">
                          <a:effectLst/>
                          <a:latin typeface="Calibri"/>
                          <a:ea typeface="Calibri"/>
                          <a:cs typeface="Calibri"/>
                        </a:rPr>
                        <a:t>class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weights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Evaluate the performance of a simple 20k params CNN</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3313586488"/>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G</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Medium_dcw</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MediumCNN</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(conv=[32,64,128], fc=[9],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Exploration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of</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the</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effects</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of</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multiple</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convolution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and</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pooling</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layers</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regularization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with</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inverse-frequency class weights in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CrossEntropyLoss</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and dropout</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94616625"/>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H</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Medium_dwrs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MediumCNN</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(conv=[32,64,128], fc=[9],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(replaces class weights)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WeightedRandomSampler</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replaces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class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weights</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8484673"/>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I</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i="0" u="none" strike="noStrike" err="1">
                          <a:solidFill>
                            <a:srgbClr val="000000"/>
                          </a:solidFill>
                          <a:effectLst/>
                          <a:latin typeface="Calibri"/>
                          <a:ea typeface="Calibri"/>
                          <a:cs typeface="Calibri"/>
                        </a:rPr>
                        <a:t>Deep_dwrs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DeepCNN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=[32x2,64x2,128],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=[128,9],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Deepen network with more conv + pool + non-linearity layers</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2030224068"/>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K</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Wide_dwrs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WideCNN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=[32,64,128,256],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ctr" latinLnBrk="0" hangingPunct="1">
                        <a:lnSpc>
                          <a:spcPct val="100000"/>
                        </a:lnSpc>
                        <a:spcBef>
                          <a:spcPts val="0"/>
                        </a:spcBef>
                        <a:spcAft>
                          <a:spcPts val="0"/>
                        </a:spcAft>
                        <a:buClrTx/>
                        <a:buSzTx/>
                        <a:buFontTx/>
                        <a:buNone/>
                        <a:tabLst/>
                        <a:defRPr/>
                      </a:pPr>
                      <a:r>
                        <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Compare Deep vs Wide CNN; regularization with </a:t>
                      </a:r>
                      <a:r>
                        <a:rPr lang="en-US" sz="1050" b="0" i="0" u="none" strike="noStrike" dirty="0" err="1">
                          <a:solidFill>
                            <a:srgbClr val="000000"/>
                          </a:solidFill>
                          <a:effectLst/>
                          <a:latin typeface="Calibri" panose="020F0502020204030204" pitchFamily="34" charset="0"/>
                          <a:ea typeface="Calibri" panose="020F0502020204030204" pitchFamily="34" charset="0"/>
                          <a:cs typeface="Calibri" panose="020F0502020204030204" pitchFamily="34" charset="0"/>
                        </a:rPr>
                        <a:t>WeightedRandomSampler</a:t>
                      </a:r>
                      <a:r>
                        <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and dropout</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8310860"/>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L</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MultiScale_dwrs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MultiScaleCNN</a:t>
                      </a:r>
                      <a:r>
                        <a:rPr lang="pt-PT" sz="1050" b="0" u="none" strike="noStrike" dirty="0">
                          <a:effectLst/>
                          <a:latin typeface="Calibri"/>
                          <a:ea typeface="Calibri"/>
                          <a:cs typeface="Calibri"/>
                        </a:rPr>
                        <a:t>(</a:t>
                      </a:r>
                      <a:r>
                        <a:rPr lang="pt-PT" sz="1050" b="0" u="none" strike="noStrike" err="1">
                          <a:effectLst/>
                          <a:latin typeface="Calibri"/>
                          <a:ea typeface="Calibri"/>
                          <a:cs typeface="Calibri"/>
                        </a:rPr>
                        <a:t>conv</a:t>
                      </a:r>
                      <a:r>
                        <a:rPr lang="pt-PT" sz="1050" b="0" u="none" strike="noStrike" dirty="0">
                          <a:effectLst/>
                          <a:latin typeface="Calibri"/>
                          <a:ea typeface="Calibri"/>
                          <a:cs typeface="Calibri"/>
                        </a:rPr>
                        <a:t>=[(3x3+5x5)-&gt;32, (3x3+5x5)-&gt;64, (3x3+5x5)-&gt;128], </a:t>
                      </a:r>
                      <a:r>
                        <a:rPr lang="pt-PT" sz="1050" b="0" u="none" strike="noStrike" err="1">
                          <a:effectLst/>
                          <a:latin typeface="Calibri"/>
                          <a:ea typeface="Calibri"/>
                          <a:cs typeface="Calibri"/>
                        </a:rPr>
                        <a:t>fc</a:t>
                      </a:r>
                      <a:r>
                        <a:rPr lang="pt-PT" sz="1050" b="0" u="none" strike="noStrike" dirty="0">
                          <a:effectLst/>
                          <a:latin typeface="Calibri"/>
                          <a:ea typeface="Calibri"/>
                          <a:cs typeface="Calibri"/>
                        </a:rPr>
                        <a:t>=[9], pool=MaxPool2x2+MaxPool2x2, </a:t>
                      </a:r>
                      <a:r>
                        <a:rPr lang="pt-PT" sz="1050" b="0" u="none" strike="noStrike" err="1">
                          <a:effectLst/>
                          <a:latin typeface="Calibri"/>
                          <a:ea typeface="Calibri"/>
                          <a:cs typeface="Calibri"/>
                        </a:rPr>
                        <a:t>drop</a:t>
                      </a:r>
                      <a:r>
                        <a:rPr lang="pt-PT" sz="1050" b="0" u="none" strike="noStrike" dirty="0">
                          <a:effectLst/>
                          <a:latin typeface="Calibri"/>
                          <a:ea typeface="Calibri"/>
                          <a:cs typeface="Calibri"/>
                        </a:rPr>
                        <a:t>=0.3, BN)</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dirty="0">
                          <a:solidFill>
                            <a:srgbClr val="000000"/>
                          </a:solidFill>
                          <a:effectLst/>
                          <a:latin typeface="Calibri"/>
                          <a:ea typeface="Calibri"/>
                          <a:cs typeface="Calibri"/>
                        </a:rPr>
                        <a:t>Capture </a:t>
                      </a:r>
                      <a:r>
                        <a:rPr lang="pt-PT" sz="1050" b="0" i="0" u="none" strike="noStrike" err="1">
                          <a:solidFill>
                            <a:srgbClr val="000000"/>
                          </a:solidFill>
                          <a:effectLst/>
                          <a:latin typeface="Calibri"/>
                          <a:ea typeface="Calibri"/>
                          <a:cs typeface="Calibri"/>
                        </a:rPr>
                        <a:t>multiple</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granularities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simultaneously</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9689108"/>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M</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Residual_dwrs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ResidualCNN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=[64x2, 128x2, 256x2],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 drop=0.4, BN, skip)</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Test</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the</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effects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of</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skipping</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layers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with</a:t>
                      </a:r>
                      <a:r>
                        <a:rPr lang="pt-PT" sz="1050" b="0" i="0" u="none" strike="noStrike" dirty="0">
                          <a:solidFill>
                            <a:srgbClr val="000000"/>
                          </a:solidFill>
                          <a:effectLst/>
                          <a:latin typeface="Calibri"/>
                          <a:ea typeface="Calibri"/>
                          <a:cs typeface="Calibri"/>
                        </a:rPr>
                        <a:t> a </a:t>
                      </a:r>
                      <a:r>
                        <a:rPr lang="pt-PT" sz="1050" b="0" i="0" u="none" strike="noStrike" err="1">
                          <a:solidFill>
                            <a:srgbClr val="000000"/>
                          </a:solidFill>
                          <a:effectLst/>
                          <a:latin typeface="Calibri"/>
                          <a:ea typeface="Calibri"/>
                          <a:cs typeface="Calibri"/>
                        </a:rPr>
                        <a:t>ResNet</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architecture</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5491112"/>
                  </a:ext>
                </a:extLst>
              </a:tr>
            </a:tbl>
          </a:graphicData>
        </a:graphic>
      </p:graphicFrame>
      <p:sp>
        <p:nvSpPr>
          <p:cNvPr id="12" name="StratBG">
            <a:extLst>
              <a:ext uri="{FF2B5EF4-FFF2-40B4-BE49-F238E27FC236}">
                <a16:creationId xmlns:a16="http://schemas.microsoft.com/office/drawing/2014/main" id="{1D0521EB-4118-23B0-A619-434ED712E39B}"/>
              </a:ext>
            </a:extLst>
          </p:cNvPr>
          <p:cNvSpPr/>
          <p:nvPr/>
        </p:nvSpPr>
        <p:spPr>
          <a:xfrm>
            <a:off x="174433" y="564024"/>
            <a:ext cx="8653017" cy="703080"/>
          </a:xfrm>
          <a:prstGeom prst="rect">
            <a:avLst/>
          </a:prstGeom>
          <a:solidFill>
            <a:srgbClr val="1C3A52"/>
          </a:solidFill>
          <a:ln w="0">
            <a:noFill/>
          </a:ln>
        </p:spPr>
        <p:txBody>
          <a:bodyPr/>
          <a:lstStyle/>
          <a:p>
            <a:endParaRPr lang="en-US"/>
          </a:p>
        </p:txBody>
      </p:sp>
      <p:sp>
        <p:nvSpPr>
          <p:cNvPr id="13" name="StratText">
            <a:extLst>
              <a:ext uri="{FF2B5EF4-FFF2-40B4-BE49-F238E27FC236}">
                <a16:creationId xmlns:a16="http://schemas.microsoft.com/office/drawing/2014/main" id="{03927F11-639E-B07C-7558-A10BD608AB21}"/>
              </a:ext>
            </a:extLst>
          </p:cNvPr>
          <p:cNvSpPr/>
          <p:nvPr/>
        </p:nvSpPr>
        <p:spPr>
          <a:xfrm>
            <a:off x="239303" y="549486"/>
            <a:ext cx="8523276" cy="70308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We explored different several different CNN architectures (number and size of Conv + Pool + FC layers, batch normalization, dropout, regularization, label smoothing, </a:t>
            </a:r>
            <a:r>
              <a:rPr lang="en-US" sz="1200" dirty="0" err="1">
                <a:solidFill>
                  <a:schemeClr val="bg1"/>
                </a:solidFill>
                <a:latin typeface="Calibri" pitchFamily="34" charset="0"/>
              </a:rPr>
              <a:t>WeightedRandomSampler</a:t>
            </a:r>
            <a:r>
              <a:rPr lang="en-US" sz="1200" dirty="0">
                <a:solidFill>
                  <a:schemeClr val="bg1"/>
                </a:solidFill>
                <a:latin typeface="Calibri" pitchFamily="34" charset="0"/>
              </a:rPr>
              <a:t>, and others). After getting a sense of the best ones, we explored different variations of them. This is a small sample of the numerous models we explored:</a:t>
            </a:r>
          </a:p>
        </p:txBody>
      </p:sp>
      <p:sp>
        <p:nvSpPr>
          <p:cNvPr id="5" name="TextBox 4">
            <a:extLst>
              <a:ext uri="{FF2B5EF4-FFF2-40B4-BE49-F238E27FC236}">
                <a16:creationId xmlns:a16="http://schemas.microsoft.com/office/drawing/2014/main" id="{75788B43-9B8C-C864-5483-9A7730A48D5D}"/>
              </a:ext>
            </a:extLst>
          </p:cNvPr>
          <p:cNvSpPr txBox="1"/>
          <p:nvPr/>
        </p:nvSpPr>
        <p:spPr>
          <a:xfrm>
            <a:off x="852406" y="3501648"/>
            <a:ext cx="32934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p>
        </p:txBody>
      </p:sp>
      <p:sp>
        <p:nvSpPr>
          <p:cNvPr id="6" name="Title">
            <a:extLst>
              <a:ext uri="{FF2B5EF4-FFF2-40B4-BE49-F238E27FC236}">
                <a16:creationId xmlns:a16="http://schemas.microsoft.com/office/drawing/2014/main" id="{A1FE6103-BAEE-145A-186D-8B430306D66D}"/>
              </a:ext>
            </a:extLst>
          </p:cNvPr>
          <p:cNvSpPr/>
          <p:nvPr/>
        </p:nvSpPr>
        <p:spPr>
          <a:xfrm>
            <a:off x="274320" y="720115"/>
            <a:ext cx="1549110" cy="382640"/>
          </a:xfrm>
          <a:prstGeom prst="rect">
            <a:avLst/>
          </a:prstGeom>
          <a:noFill/>
          <a:ln>
            <a:noFill/>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Architecture:</a:t>
            </a:r>
          </a:p>
        </p:txBody>
      </p:sp>
      <p:pic>
        <p:nvPicPr>
          <p:cNvPr id="8" name="Graphic 7">
            <a:extLst>
              <a:ext uri="{FF2B5EF4-FFF2-40B4-BE49-F238E27FC236}">
                <a16:creationId xmlns:a16="http://schemas.microsoft.com/office/drawing/2014/main" id="{3B6DEE50-D237-157E-C9AF-8E5BED9A166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55261" y="475021"/>
            <a:ext cx="3626191" cy="4669983"/>
          </a:xfrm>
          <a:prstGeom prst="rect">
            <a:avLst/>
          </a:prstGeom>
        </p:spPr>
      </p:pic>
      <p:sp>
        <p:nvSpPr>
          <p:cNvPr id="9" name="NumCircle">
            <a:extLst>
              <a:ext uri="{FF2B5EF4-FFF2-40B4-BE49-F238E27FC236}">
                <a16:creationId xmlns:a16="http://schemas.microsoft.com/office/drawing/2014/main" id="{60965A97-3CF0-C770-CB0B-D8988B404F6D}"/>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FA41F-4614-5B57-9F0A-61C1B19D928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9DA82D07-9DFC-17AF-BC82-7670C208C84D}"/>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a:extLst>
              <a:ext uri="{FF2B5EF4-FFF2-40B4-BE49-F238E27FC236}">
                <a16:creationId xmlns:a16="http://schemas.microsoft.com/office/drawing/2014/main" id="{F1D40FED-81BC-FB83-7C8D-D35BC772905B}"/>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a:extLst>
              <a:ext uri="{FF2B5EF4-FFF2-40B4-BE49-F238E27FC236}">
                <a16:creationId xmlns:a16="http://schemas.microsoft.com/office/drawing/2014/main" id="{82E70981-1341-76D1-34AD-3ED054DB3F11}"/>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p>
        </p:txBody>
      </p:sp>
      <p:sp>
        <p:nvSpPr>
          <p:cNvPr id="40" name="LeftCard">
            <a:extLst>
              <a:ext uri="{FF2B5EF4-FFF2-40B4-BE49-F238E27FC236}">
                <a16:creationId xmlns:a16="http://schemas.microsoft.com/office/drawing/2014/main" id="{A16806B3-3ECD-14A0-88AD-5B3A97096C13}"/>
              </a:ext>
            </a:extLst>
          </p:cNvPr>
          <p:cNvSpPr/>
          <p:nvPr/>
        </p:nvSpPr>
        <p:spPr>
          <a:xfrm>
            <a:off x="274799" y="1510001"/>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eftText">
            <a:extLst>
              <a:ext uri="{FF2B5EF4-FFF2-40B4-BE49-F238E27FC236}">
                <a16:creationId xmlns:a16="http://schemas.microsoft.com/office/drawing/2014/main" id="{9BDAF3A1-2951-AD7C-59CD-A826476E9619}"/>
              </a:ext>
            </a:extLst>
          </p:cNvPr>
          <p:cNvSpPr/>
          <p:nvPr/>
        </p:nvSpPr>
        <p:spPr>
          <a:xfrm>
            <a:off x="457679" y="1590281"/>
            <a:ext cx="3840480" cy="2816640"/>
          </a:xfrm>
          <a:prstGeom prst="rect">
            <a:avLst/>
          </a:prstGeom>
          <a:noFill/>
          <a:ln/>
        </p:spPr>
        <p:txBody>
          <a:bodyPr wrap="square" lIns="91440" tIns="45720" rIns="91440" bIns="45720" rtlCol="0" anchor="t"/>
          <a:lstStyle/>
          <a:p>
            <a:r>
              <a:rPr lang="en-US" sz="1300" b="1">
                <a:solidFill>
                  <a:srgbClr val="028090"/>
                </a:solidFill>
                <a:latin typeface="Trebuchet MS"/>
              </a:rPr>
              <a:t>Feature Extraction + </a:t>
            </a:r>
            <a:endParaRPr lang="en-US" sz="1300" b="1" dirty="0">
              <a:solidFill>
                <a:srgbClr val="028090"/>
              </a:solidFill>
              <a:latin typeface="Trebuchet MS" pitchFamily="34" charset="0"/>
            </a:endParaRPr>
          </a:p>
          <a:p>
            <a:pPr marL="228600" indent="-228600">
              <a:buChar char="•"/>
            </a:pPr>
            <a:r>
              <a:rPr lang="en-US" sz="1100" dirty="0">
                <a:solidFill>
                  <a:srgbClr val="1A2B3C"/>
                </a:solidFill>
                <a:latin typeface="Calibri"/>
                <a:ea typeface="Calibri"/>
                <a:cs typeface="Calibri"/>
              </a:rPr>
              <a:t>Progressive channel expansion forces the model to </a:t>
            </a:r>
            <a:r>
              <a:rPr lang="en-US" sz="1100">
                <a:solidFill>
                  <a:srgbClr val="1A2B3C"/>
                </a:solidFill>
                <a:latin typeface="Calibri"/>
                <a:ea typeface="Calibri"/>
                <a:cs typeface="Calibri"/>
              </a:rPr>
              <a:t>increasingly learn broader representations of the features</a:t>
            </a:r>
            <a:endParaRPr lang="en-US" sz="1100" err="1">
              <a:solidFill>
                <a:srgbClr val="1A2B3C"/>
              </a:solidFill>
              <a:latin typeface="Calibri"/>
              <a:ea typeface="Calibri"/>
              <a:cs typeface="Calibri"/>
            </a:endParaRPr>
          </a:p>
          <a:p>
            <a:pPr marL="228600" indent="-228600">
              <a:buChar char="•"/>
            </a:pPr>
            <a:r>
              <a:rPr lang="en-US" sz="1100">
                <a:solidFill>
                  <a:srgbClr val="1A2B3C"/>
                </a:solidFill>
                <a:latin typeface="Calibri"/>
                <a:ea typeface="Calibri"/>
                <a:cs typeface="Calibri"/>
              </a:rPr>
              <a:t>Coupled with a moderate number of convolution layers (3x3) allows us our model to learn both low, and higher-level features</a:t>
            </a:r>
            <a:endParaRPr lang="en-US" sz="1100" err="1">
              <a:solidFill>
                <a:srgbClr val="1A2B3C"/>
              </a:solidFill>
              <a:latin typeface="Calibri"/>
              <a:ea typeface="Calibri"/>
              <a:cs typeface="Calibri"/>
            </a:endParaRPr>
          </a:p>
          <a:p>
            <a:pPr marL="228600" indent="-228600">
              <a:buChar char="•"/>
            </a:pPr>
            <a:r>
              <a:rPr lang="en-US" sz="1100" dirty="0">
                <a:solidFill>
                  <a:srgbClr val="1A2B3C"/>
                </a:solidFill>
                <a:latin typeface="Calibri"/>
                <a:ea typeface="Calibri"/>
                <a:cs typeface="Calibri"/>
              </a:rPr>
              <a:t>Pooling to provide robustness (e.g. translation invariance and help with small rotations)</a:t>
            </a:r>
          </a:p>
          <a:p>
            <a:pPr marL="228600" indent="-228600">
              <a:buChar char="•"/>
            </a:pPr>
            <a:r>
              <a:rPr lang="en-US" sz="1100" dirty="0">
                <a:solidFill>
                  <a:srgbClr val="1A2B3C"/>
                </a:solidFill>
                <a:latin typeface="Calibri" pitchFamily="34" charset="0"/>
              </a:rPr>
              <a:t>Better than: </a:t>
            </a:r>
          </a:p>
          <a:p>
            <a:pPr marL="685800" lvl="1" indent="-228600">
              <a:buChar char="•"/>
            </a:pPr>
            <a:r>
              <a:rPr lang="en-US" sz="1100" dirty="0">
                <a:solidFill>
                  <a:srgbClr val="1A2B3C"/>
                </a:solidFill>
                <a:latin typeface="Calibri"/>
                <a:ea typeface="Calibri"/>
                <a:cs typeface="Calibri"/>
              </a:rPr>
              <a:t>Narrow (e.g. 32-32-32): lower abstraction</a:t>
            </a:r>
          </a:p>
          <a:p>
            <a:pPr marL="685800" lvl="1" indent="-228600">
              <a:buChar char="•"/>
            </a:pPr>
            <a:r>
              <a:rPr lang="en-US" sz="1100" dirty="0">
                <a:solidFill>
                  <a:srgbClr val="1A2B3C"/>
                </a:solidFill>
                <a:latin typeface="Calibri"/>
                <a:ea typeface="Calibri"/>
                <a:cs typeface="Calibri"/>
              </a:rPr>
              <a:t>No convolution: as it was evident by comparing the results with MLP, having convolution layers helps the model generalize better</a:t>
            </a:r>
          </a:p>
          <a:p>
            <a:pPr marL="685800" lvl="1" indent="-228600">
              <a:buChar char="•"/>
            </a:pPr>
            <a:r>
              <a:rPr lang="en-US" sz="1100">
                <a:solidFill>
                  <a:srgbClr val="1A2B3C"/>
                </a:solidFill>
                <a:latin typeface="Calibri"/>
                <a:ea typeface="Calibri"/>
                <a:cs typeface="Calibri"/>
              </a:rPr>
              <a:t>Too deep: risk of overfitting; increased training time</a:t>
            </a:r>
          </a:p>
          <a:p>
            <a:pPr marL="685800" lvl="1" indent="-228600">
              <a:buChar char="•"/>
            </a:pPr>
            <a:r>
              <a:rPr lang="en-US" sz="1100">
                <a:solidFill>
                  <a:srgbClr val="1A2B3C"/>
                </a:solidFill>
                <a:latin typeface="Calibri"/>
                <a:ea typeface="Calibri"/>
                <a:cs typeface="Calibri"/>
              </a:rPr>
              <a:t>No pooling</a:t>
            </a:r>
          </a:p>
          <a:p>
            <a:pPr lvl="1"/>
            <a:endParaRPr lang="en-US" sz="1100" dirty="0">
              <a:solidFill>
                <a:srgbClr val="1A2B3C"/>
              </a:solidFill>
              <a:latin typeface="Calibri" pitchFamily="34" charset="0"/>
            </a:endParaRPr>
          </a:p>
        </p:txBody>
      </p:sp>
      <p:sp>
        <p:nvSpPr>
          <p:cNvPr id="42" name="RightCard">
            <a:extLst>
              <a:ext uri="{FF2B5EF4-FFF2-40B4-BE49-F238E27FC236}">
                <a16:creationId xmlns:a16="http://schemas.microsoft.com/office/drawing/2014/main" id="{4171A54E-3F95-E26C-C33E-4FE7468D5857}"/>
              </a:ext>
            </a:extLst>
          </p:cNvPr>
          <p:cNvSpPr/>
          <p:nvPr/>
        </p:nvSpPr>
        <p:spPr>
          <a:xfrm>
            <a:off x="4664399" y="1510001"/>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3" name="RightText">
            <a:extLst>
              <a:ext uri="{FF2B5EF4-FFF2-40B4-BE49-F238E27FC236}">
                <a16:creationId xmlns:a16="http://schemas.microsoft.com/office/drawing/2014/main" id="{D58336A2-B898-41F8-1D2D-703775955E9C}"/>
              </a:ext>
            </a:extLst>
          </p:cNvPr>
          <p:cNvSpPr/>
          <p:nvPr/>
        </p:nvSpPr>
        <p:spPr>
          <a:xfrm>
            <a:off x="4847279" y="1590281"/>
            <a:ext cx="3840480" cy="2816640"/>
          </a:xfrm>
          <a:prstGeom prst="rect">
            <a:avLst/>
          </a:prstGeom>
          <a:noFill/>
          <a:ln/>
        </p:spPr>
        <p:txBody>
          <a:bodyPr wrap="square" lIns="91440" tIns="45720" rIns="91440" bIns="45720" rtlCol="0" anchor="t"/>
          <a:lstStyle/>
          <a:p>
            <a:pPr>
              <a:buNone/>
            </a:pPr>
            <a:r>
              <a:rPr lang="en-US" sz="1300" b="1" dirty="0" err="1">
                <a:solidFill>
                  <a:srgbClr val="028090"/>
                </a:solidFill>
                <a:latin typeface="Trebuchet MS"/>
              </a:rPr>
              <a:t>BatchNorm</a:t>
            </a:r>
            <a:r>
              <a:rPr lang="en-US" sz="1300" b="1" dirty="0">
                <a:solidFill>
                  <a:srgbClr val="028090"/>
                </a:solidFill>
                <a:latin typeface="Trebuchet MS"/>
              </a:rPr>
              <a:t> + </a:t>
            </a:r>
            <a:r>
              <a:rPr lang="en-US" sz="1300" b="1" dirty="0" err="1">
                <a:solidFill>
                  <a:srgbClr val="028090"/>
                </a:solidFill>
                <a:latin typeface="Trebuchet MS"/>
              </a:rPr>
              <a:t>ReLU</a:t>
            </a:r>
            <a:endParaRPr lang="en-US" dirty="0" err="1"/>
          </a:p>
          <a:p>
            <a:pPr marL="228600" indent="-228600">
              <a:buChar char="•"/>
            </a:pPr>
            <a:r>
              <a:rPr lang="en-US" sz="1100" b="1">
                <a:solidFill>
                  <a:srgbClr val="1A2B3C"/>
                </a:solidFill>
                <a:latin typeface="Calibri"/>
                <a:ea typeface="Calibri"/>
                <a:cs typeface="Calibri"/>
              </a:rPr>
              <a:t>BatchNorm2d after every Conv layer</a:t>
            </a:r>
          </a:p>
          <a:p>
            <a:pPr lvl="1"/>
            <a:r>
              <a:rPr lang="en-US" sz="1100">
                <a:solidFill>
                  <a:srgbClr val="1A2B3C"/>
                </a:solidFill>
                <a:latin typeface="Calibri"/>
                <a:ea typeface="Calibri"/>
                <a:cs typeface="Calibri"/>
              </a:rPr>
              <a:t>Normalization step which speeds up training and increases stability</a:t>
            </a:r>
            <a:endParaRPr lang="en-US" sz="1100" dirty="0">
              <a:solidFill>
                <a:srgbClr val="1A2B3C"/>
              </a:solidFill>
              <a:latin typeface="Calibri" pitchFamily="34" charset="0"/>
              <a:ea typeface="Calibri"/>
              <a:cs typeface="Calibri"/>
            </a:endParaRPr>
          </a:p>
          <a:p>
            <a:pPr marL="228600" indent="-228600">
              <a:buChar char="•"/>
            </a:pPr>
            <a:r>
              <a:rPr lang="en-US" sz="1100" b="1" dirty="0" err="1">
                <a:solidFill>
                  <a:srgbClr val="1A2B3C"/>
                </a:solidFill>
                <a:latin typeface="Calibri" pitchFamily="34" charset="0"/>
              </a:rPr>
              <a:t>ReLU</a:t>
            </a:r>
            <a:r>
              <a:rPr lang="en-US" sz="1100" b="1" dirty="0">
                <a:solidFill>
                  <a:srgbClr val="1A2B3C"/>
                </a:solidFill>
                <a:latin typeface="Calibri" pitchFamily="34" charset="0"/>
              </a:rPr>
              <a:t> </a:t>
            </a:r>
          </a:p>
          <a:p>
            <a:pPr lvl="1"/>
            <a:r>
              <a:rPr lang="en-US" sz="1100" dirty="0">
                <a:solidFill>
                  <a:srgbClr val="1A2B3C"/>
                </a:solidFill>
                <a:latin typeface="Calibri"/>
                <a:ea typeface="Calibri"/>
                <a:cs typeface="Calibri"/>
              </a:rPr>
              <a:t>No vanishing gradient for positive activations in small </a:t>
            </a:r>
            <a:r>
              <a:rPr lang="en-US" sz="1100">
                <a:solidFill>
                  <a:srgbClr val="1A2B3C"/>
                </a:solidFill>
                <a:latin typeface="Calibri"/>
                <a:ea typeface="Calibri"/>
                <a:cs typeface="Calibri"/>
              </a:rPr>
              <a:t>networks like the ones developed; simple and efficient</a:t>
            </a:r>
          </a:p>
        </p:txBody>
      </p:sp>
      <p:sp>
        <p:nvSpPr>
          <p:cNvPr id="11" name="Title">
            <a:extLst>
              <a:ext uri="{FF2B5EF4-FFF2-40B4-BE49-F238E27FC236}">
                <a16:creationId xmlns:a16="http://schemas.microsoft.com/office/drawing/2014/main" id="{D85A0A53-1B5F-8891-7A97-497305264F07}"/>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a:solidFill>
                  <a:srgbClr val="0D1B2A"/>
                </a:solidFill>
                <a:latin typeface="Trebuchet MS"/>
              </a:rPr>
              <a:t>Architecture:</a:t>
            </a:r>
            <a:endParaRPr lang="en-US"/>
          </a:p>
        </p:txBody>
      </p:sp>
      <p:sp>
        <p:nvSpPr>
          <p:cNvPr id="7" name="NumCircle">
            <a:extLst>
              <a:ext uri="{FF2B5EF4-FFF2-40B4-BE49-F238E27FC236}">
                <a16:creationId xmlns:a16="http://schemas.microsoft.com/office/drawing/2014/main" id="{62AE0E9A-E324-33CD-BE2D-4032AEA07E40}"/>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spTree>
    <p:extLst>
      <p:ext uri="{BB962C8B-B14F-4D97-AF65-F5344CB8AC3E}">
        <p14:creationId xmlns:p14="http://schemas.microsoft.com/office/powerpoint/2010/main" val="16613047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Regularization Strategy:</a:t>
            </a:r>
          </a:p>
        </p:txBody>
      </p:sp>
      <p:sp>
        <p:nvSpPr>
          <p:cNvPr id="10" name="C1bg"/>
          <p:cNvSpPr/>
          <p:nvPr/>
        </p:nvSpPr>
        <p:spPr>
          <a:xfrm>
            <a:off x="27432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C1bar"/>
          <p:cNvSpPr/>
          <p:nvPr/>
        </p:nvSpPr>
        <p:spPr>
          <a:xfrm>
            <a:off x="274320" y="1258907"/>
            <a:ext cx="2742840" cy="128016"/>
          </a:xfrm>
          <a:prstGeom prst="rect">
            <a:avLst/>
          </a:prstGeom>
          <a:solidFill>
            <a:srgbClr val="028090"/>
          </a:solidFill>
          <a:ln w="0">
            <a:noFill/>
          </a:ln>
        </p:spPr>
        <p:txBody>
          <a:bodyPr/>
          <a:lstStyle/>
          <a:p>
            <a:endParaRPr lang="en-US"/>
          </a:p>
        </p:txBody>
      </p:sp>
      <p:sp>
        <p:nvSpPr>
          <p:cNvPr id="12" name="C1text"/>
          <p:cNvSpPr/>
          <p:nvPr/>
        </p:nvSpPr>
        <p:spPr>
          <a:xfrm>
            <a:off x="457200" y="1423787"/>
            <a:ext cx="2377440" cy="3612240"/>
          </a:xfrm>
          <a:prstGeom prst="rect">
            <a:avLst/>
          </a:prstGeom>
          <a:noFill/>
          <a:ln/>
        </p:spPr>
        <p:txBody>
          <a:bodyPr wrap="square" lIns="91440" tIns="45720" rIns="91440" bIns="45720" rtlCol="0" anchor="t"/>
          <a:lstStyle/>
          <a:p>
            <a:pPr>
              <a:buNone/>
            </a:pPr>
            <a:r>
              <a:rPr lang="en-US" sz="1400" b="1" dirty="0">
                <a:solidFill>
                  <a:srgbClr val="028090"/>
                </a:solidFill>
                <a:latin typeface="Trebuchet MS" pitchFamily="34" charset="0"/>
              </a:rPr>
              <a:t>Dropout (0.3)</a:t>
            </a:r>
          </a:p>
          <a:p>
            <a:r>
              <a:rPr lang="en-US" sz="1100" b="1">
                <a:solidFill>
                  <a:srgbClr val="1C3A52"/>
                </a:solidFill>
                <a:latin typeface="Calibri"/>
                <a:ea typeface="Calibri"/>
                <a:cs typeface="Calibri"/>
              </a:rPr>
              <a:t>Applied after Pooling (before FC layers)</a:t>
            </a:r>
          </a:p>
          <a:p>
            <a:pPr marL="228600" indent="-228600">
              <a:buChar char="•"/>
            </a:pPr>
            <a:r>
              <a:rPr lang="en-US" sz="1100">
                <a:solidFill>
                  <a:srgbClr val="1A2B3C"/>
                </a:solidFill>
                <a:latin typeface="Calibri"/>
                <a:ea typeface="Calibri"/>
                <a:cs typeface="Calibri"/>
              </a:rPr>
              <a:t>Randomly zeroes p% of neurons </a:t>
            </a:r>
            <a:r>
              <a:rPr lang="en-US" sz="1100" dirty="0">
                <a:solidFill>
                  <a:srgbClr val="1A2B3C"/>
                </a:solidFill>
                <a:latin typeface="Calibri"/>
                <a:ea typeface="Calibri"/>
                <a:cs typeface="Calibri"/>
              </a:rPr>
              <a:t>each forward pass</a:t>
            </a:r>
          </a:p>
          <a:p>
            <a:pPr marL="228600" indent="-228600">
              <a:buChar char="•"/>
            </a:pPr>
            <a:r>
              <a:rPr lang="en-US" sz="1100" dirty="0">
                <a:solidFill>
                  <a:srgbClr val="1A2B3C"/>
                </a:solidFill>
                <a:latin typeface="Calibri" pitchFamily="34" charset="0"/>
              </a:rPr>
              <a:t>Prevents co-adaptation, forces redundant representations</a:t>
            </a:r>
          </a:p>
          <a:p>
            <a:r>
              <a:rPr lang="en-US" sz="1100" b="1">
                <a:solidFill>
                  <a:srgbClr val="1C3A52"/>
                </a:solidFill>
                <a:latin typeface="Calibri"/>
                <a:ea typeface="Calibri"/>
                <a:cs typeface="Calibri"/>
              </a:rPr>
              <a:t>Why 0.3?:</a:t>
            </a:r>
          </a:p>
          <a:p>
            <a:pPr marL="228600" indent="-228600">
              <a:buFont typeface="Arial"/>
              <a:buChar char="•"/>
            </a:pPr>
            <a:r>
              <a:rPr lang="en-US" sz="1100" dirty="0">
                <a:solidFill>
                  <a:srgbClr val="1A2B3C"/>
                </a:solidFill>
                <a:latin typeface="Calibri"/>
                <a:ea typeface="Calibri"/>
                <a:cs typeface="Calibri"/>
              </a:rPr>
              <a:t>Multiple values were tested (0.1, 0.15, 0.2, 0.3, 0.4, 0.5); 0.3 is the sweet spot - not too much regularization, not too </a:t>
            </a:r>
            <a:r>
              <a:rPr lang="en-US" sz="1100">
                <a:solidFill>
                  <a:srgbClr val="1A2B3C"/>
                </a:solidFill>
                <a:latin typeface="Calibri"/>
                <a:ea typeface="Calibri"/>
                <a:cs typeface="Calibri"/>
              </a:rPr>
              <a:t>little</a:t>
            </a:r>
            <a:endParaRPr lang="en-US" sz="1100">
              <a:solidFill>
                <a:srgbClr val="1A2B3C"/>
              </a:solidFill>
              <a:latin typeface="Calibri" pitchFamily="34" charset="0"/>
              <a:ea typeface="Calibri"/>
              <a:cs typeface="Calibri"/>
            </a:endParaRPr>
          </a:p>
        </p:txBody>
      </p:sp>
      <p:sp>
        <p:nvSpPr>
          <p:cNvPr id="20" name="C2bg"/>
          <p:cNvSpPr/>
          <p:nvPr/>
        </p:nvSpPr>
        <p:spPr>
          <a:xfrm>
            <a:off x="320040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C2bar"/>
          <p:cNvSpPr/>
          <p:nvPr/>
        </p:nvSpPr>
        <p:spPr>
          <a:xfrm>
            <a:off x="3200400" y="1258907"/>
            <a:ext cx="2742840" cy="128016"/>
          </a:xfrm>
          <a:prstGeom prst="rect">
            <a:avLst/>
          </a:prstGeom>
          <a:solidFill>
            <a:srgbClr val="00A896"/>
          </a:solidFill>
          <a:ln w="0">
            <a:noFill/>
          </a:ln>
        </p:spPr>
        <p:txBody>
          <a:bodyPr/>
          <a:lstStyle/>
          <a:p>
            <a:endParaRPr lang="en-US"/>
          </a:p>
        </p:txBody>
      </p:sp>
      <p:sp>
        <p:nvSpPr>
          <p:cNvPr id="22" name="C2text"/>
          <p:cNvSpPr/>
          <p:nvPr/>
        </p:nvSpPr>
        <p:spPr>
          <a:xfrm>
            <a:off x="3383280" y="1423787"/>
            <a:ext cx="2377440" cy="3612240"/>
          </a:xfrm>
          <a:prstGeom prst="rect">
            <a:avLst/>
          </a:prstGeom>
          <a:noFill/>
          <a:ln/>
        </p:spPr>
        <p:txBody>
          <a:bodyPr wrap="square" lIns="91440" tIns="45720" rIns="91440" bIns="45720" rtlCol="0" anchor="t"/>
          <a:lstStyle/>
          <a:p>
            <a:pPr>
              <a:buNone/>
            </a:pPr>
            <a:r>
              <a:rPr lang="en-US" sz="1400" b="1">
                <a:solidFill>
                  <a:srgbClr val="00A896"/>
                </a:solidFill>
                <a:latin typeface="Trebuchet MS"/>
              </a:rPr>
              <a:t>Label Smoothing (0.1)</a:t>
            </a:r>
          </a:p>
          <a:p>
            <a:r>
              <a:rPr lang="en-US" sz="1100" b="1">
                <a:solidFill>
                  <a:srgbClr val="1C3A52"/>
                </a:solidFill>
                <a:latin typeface="Calibri"/>
                <a:ea typeface="Calibri"/>
                <a:cs typeface="Calibri"/>
              </a:rPr>
              <a:t>Decreased effectiveness when compared to MLPs:</a:t>
            </a:r>
            <a:endParaRPr lang="en-US" sz="1100" b="1">
              <a:solidFill>
                <a:srgbClr val="1C3A52"/>
              </a:solidFill>
              <a:latin typeface="Calibri" pitchFamily="34" charset="0"/>
              <a:ea typeface="Calibri"/>
              <a:cs typeface="Calibri"/>
            </a:endParaRPr>
          </a:p>
          <a:p>
            <a:pPr marL="228600" indent="-228600">
              <a:buChar char="•"/>
            </a:pPr>
            <a:r>
              <a:rPr lang="en-US" sz="1100" dirty="0">
                <a:solidFill>
                  <a:srgbClr val="1A2B3C"/>
                </a:solidFill>
                <a:latin typeface="Calibri" pitchFamily="34" charset="0"/>
              </a:rPr>
              <a:t>Softens hard one-hot targets (0.85/0.15 blend vs 1.0 hard)</a:t>
            </a:r>
          </a:p>
          <a:p>
            <a:pPr marL="228600" indent="-228600">
              <a:buChar char="•"/>
            </a:pPr>
            <a:r>
              <a:rPr lang="en-US" sz="1100" dirty="0">
                <a:solidFill>
                  <a:srgbClr val="1A2B3C"/>
                </a:solidFill>
                <a:latin typeface="Calibri" pitchFamily="34" charset="0"/>
              </a:rPr>
              <a:t>Prevents overconfident predictions on visually ambiguous classes</a:t>
            </a:r>
          </a:p>
          <a:p>
            <a:pPr marL="228600" indent="-228600">
              <a:buChar char="•"/>
            </a:pPr>
            <a:r>
              <a:rPr lang="en-US" sz="1100" dirty="0">
                <a:solidFill>
                  <a:srgbClr val="1A2B3C"/>
                </a:solidFill>
                <a:latin typeface="Calibri" pitchFamily="34" charset="0"/>
              </a:rPr>
              <a:t>Key on noisy boundaries — Bug/Grass and Rock/Ground share colour palettes</a:t>
            </a:r>
          </a:p>
          <a:p>
            <a:pPr>
              <a:buNone/>
            </a:pPr>
            <a:r>
              <a:rPr lang="en-US" sz="1100" b="1">
                <a:solidFill>
                  <a:srgbClr val="1C3A52"/>
                </a:solidFill>
                <a:latin typeface="Calibri"/>
                <a:ea typeface="Calibri"/>
                <a:cs typeface="Calibri"/>
              </a:rPr>
              <a:t>BUT:</a:t>
            </a:r>
          </a:p>
          <a:p>
            <a:pPr marL="228600" indent="-228600">
              <a:buChar char="•"/>
            </a:pPr>
            <a:r>
              <a:rPr lang="en-US" sz="1100">
                <a:solidFill>
                  <a:srgbClr val="1A2B3C"/>
                </a:solidFill>
                <a:latin typeface="Calibri"/>
                <a:ea typeface="Calibri"/>
                <a:cs typeface="Calibri"/>
              </a:rPr>
              <a:t>LS=0.1 (F) = 0.9750 vs LS=0.0 </a:t>
            </a:r>
            <a:r>
              <a:rPr lang="en-US" sz="1100" dirty="0">
                <a:solidFill>
                  <a:srgbClr val="1A2B3C"/>
                </a:solidFill>
                <a:latin typeface="Calibri"/>
                <a:ea typeface="Calibri"/>
                <a:cs typeface="Calibri"/>
              </a:rPr>
              <a:t>(C) = </a:t>
            </a:r>
            <a:r>
              <a:rPr lang="en-US" sz="1100">
                <a:solidFill>
                  <a:srgbClr val="1A2B3C"/>
                </a:solidFill>
                <a:latin typeface="Calibri"/>
                <a:ea typeface="Calibri"/>
                <a:cs typeface="Calibri"/>
              </a:rPr>
              <a:t>0.9880 — tiny decrease</a:t>
            </a:r>
          </a:p>
          <a:p>
            <a:endParaRPr lang="en-US" sz="1100" dirty="0">
              <a:solidFill>
                <a:srgbClr val="1A2B3C"/>
              </a:solidFill>
              <a:latin typeface="Calibri"/>
              <a:ea typeface="Calibri"/>
              <a:cs typeface="Calibri"/>
            </a:endParaRPr>
          </a:p>
          <a:p>
            <a:r>
              <a:rPr lang="en-US" sz="1100" dirty="0">
                <a:solidFill>
                  <a:srgbClr val="1A2B3C"/>
                </a:solidFill>
                <a:latin typeface="Calibri"/>
                <a:ea typeface="Calibri"/>
                <a:cs typeface="Calibri"/>
              </a:rPr>
              <a:t>A lot of models can effectively </a:t>
            </a:r>
            <a:r>
              <a:rPr lang="en-US" sz="1100">
                <a:solidFill>
                  <a:srgbClr val="1A2B3C"/>
                </a:solidFill>
                <a:latin typeface="Calibri"/>
                <a:ea typeface="Calibri"/>
                <a:cs typeface="Calibri"/>
              </a:rPr>
              <a:t>converge to a near-perfect validation score, adding label smoothing adds unnecessary </a:t>
            </a:r>
            <a:r>
              <a:rPr lang="en-US" sz="1100" dirty="0">
                <a:solidFill>
                  <a:srgbClr val="1A2B3C"/>
                </a:solidFill>
                <a:latin typeface="Calibri"/>
                <a:ea typeface="Calibri"/>
                <a:cs typeface="Calibri"/>
              </a:rPr>
              <a:t>noise</a:t>
            </a:r>
          </a:p>
        </p:txBody>
      </p:sp>
      <p:sp>
        <p:nvSpPr>
          <p:cNvPr id="30" name="C3bg"/>
          <p:cNvSpPr/>
          <p:nvPr/>
        </p:nvSpPr>
        <p:spPr>
          <a:xfrm>
            <a:off x="612648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1" name="C3bar"/>
          <p:cNvSpPr/>
          <p:nvPr/>
        </p:nvSpPr>
        <p:spPr>
          <a:xfrm>
            <a:off x="6126480" y="1258907"/>
            <a:ext cx="2742840" cy="128016"/>
          </a:xfrm>
          <a:prstGeom prst="rect">
            <a:avLst/>
          </a:prstGeom>
          <a:solidFill>
            <a:srgbClr val="1C3A52"/>
          </a:solidFill>
          <a:ln w="0">
            <a:noFill/>
          </a:ln>
        </p:spPr>
        <p:txBody>
          <a:bodyPr/>
          <a:lstStyle/>
          <a:p>
            <a:endParaRPr lang="en-US"/>
          </a:p>
        </p:txBody>
      </p:sp>
      <p:sp>
        <p:nvSpPr>
          <p:cNvPr id="32" name="C3text"/>
          <p:cNvSpPr/>
          <p:nvPr/>
        </p:nvSpPr>
        <p:spPr>
          <a:xfrm>
            <a:off x="6309360" y="1423787"/>
            <a:ext cx="2377440" cy="3612240"/>
          </a:xfrm>
          <a:prstGeom prst="rect">
            <a:avLst/>
          </a:prstGeom>
          <a:noFill/>
          <a:ln/>
        </p:spPr>
        <p:txBody>
          <a:bodyPr wrap="square" lIns="91440" tIns="45720" rIns="91440" bIns="45720" rtlCol="0" anchor="t"/>
          <a:lstStyle/>
          <a:p>
            <a:pPr>
              <a:buNone/>
            </a:pPr>
            <a:r>
              <a:rPr lang="en-US" sz="1400" b="1" dirty="0">
                <a:solidFill>
                  <a:srgbClr val="1C3A52"/>
                </a:solidFill>
                <a:latin typeface="Trebuchet MS" pitchFamily="34" charset="0"/>
              </a:rPr>
              <a:t>Imbalance Handling</a:t>
            </a:r>
          </a:p>
          <a:p>
            <a:r>
              <a:rPr lang="en-US" sz="1100" b="1" dirty="0">
                <a:solidFill>
                  <a:srgbClr val="1C3A52"/>
                </a:solidFill>
                <a:latin typeface="Calibri"/>
                <a:ea typeface="Calibri"/>
                <a:cs typeface="Calibri"/>
              </a:rPr>
              <a:t>Weighted </a:t>
            </a:r>
            <a:r>
              <a:rPr lang="en-US" sz="1100" b="1" err="1">
                <a:solidFill>
                  <a:srgbClr val="1C3A52"/>
                </a:solidFill>
                <a:latin typeface="Calibri"/>
                <a:ea typeface="Calibri"/>
                <a:cs typeface="Calibri"/>
              </a:rPr>
              <a:t>CrossEntropyLoss</a:t>
            </a:r>
            <a:r>
              <a:rPr lang="en-US" sz="1100" b="1" dirty="0">
                <a:solidFill>
                  <a:srgbClr val="1C3A52"/>
                </a:solidFill>
                <a:latin typeface="Calibri"/>
                <a:ea typeface="Calibri"/>
                <a:cs typeface="Calibri"/>
              </a:rPr>
              <a:t> (primary)</a:t>
            </a:r>
          </a:p>
          <a:p>
            <a:pPr marL="228600" indent="-228600">
              <a:buChar char="•"/>
            </a:pPr>
            <a:r>
              <a:rPr lang="en-US" sz="1100" dirty="0">
                <a:solidFill>
                  <a:srgbClr val="1A2B3C"/>
                </a:solidFill>
                <a:latin typeface="Calibri" pitchFamily="34" charset="0"/>
              </a:rPr>
              <a:t>Inverse-frequency weights per class (Ground=1.64x, Rock=1.52x, Water=0.59x)</a:t>
            </a:r>
          </a:p>
          <a:p>
            <a:pPr marL="228600" indent="-228600">
              <a:buChar char="•"/>
            </a:pPr>
            <a:r>
              <a:rPr lang="en-US" sz="1100" dirty="0">
                <a:solidFill>
                  <a:srgbClr val="1A2B3C"/>
                </a:solidFill>
                <a:latin typeface="Calibri" pitchFamily="34" charset="0"/>
              </a:rPr>
              <a:t>Addresses 2.76x Water/Ground imbalance at gradient level</a:t>
            </a:r>
          </a:p>
          <a:p>
            <a:r>
              <a:rPr lang="en-US" sz="1100" b="1" dirty="0" err="1">
                <a:solidFill>
                  <a:srgbClr val="1C3A52"/>
                </a:solidFill>
                <a:latin typeface="Calibri"/>
                <a:ea typeface="Calibri"/>
                <a:cs typeface="Calibri"/>
              </a:rPr>
              <a:t>WeightedRandomSampler</a:t>
            </a:r>
            <a:r>
              <a:rPr lang="en-US" sz="1100" b="1" dirty="0">
                <a:solidFill>
                  <a:srgbClr val="1C3A52"/>
                </a:solidFill>
                <a:latin typeface="Calibri"/>
                <a:ea typeface="Calibri"/>
                <a:cs typeface="Calibri"/>
              </a:rPr>
              <a:t> (tested separately) - most impactful single change</a:t>
            </a:r>
          </a:p>
          <a:p>
            <a:pPr marL="228600" indent="-228600">
              <a:buChar char="•"/>
            </a:pPr>
            <a:r>
              <a:rPr lang="en-US" sz="1100" dirty="0">
                <a:solidFill>
                  <a:srgbClr val="1A2B3C"/>
                </a:solidFill>
                <a:latin typeface="Calibri" pitchFamily="34" charset="0"/>
              </a:rPr>
              <a:t>Oversamples minority classes at the data level</a:t>
            </a:r>
          </a:p>
          <a:p>
            <a:pPr marL="228600" indent="-228600">
              <a:buChar char="•"/>
            </a:pPr>
            <a:r>
              <a:rPr lang="en-US" sz="1100" dirty="0">
                <a:solidFill>
                  <a:srgbClr val="1A2B3C"/>
                </a:solidFill>
                <a:latin typeface="Calibri" pitchFamily="34" charset="0"/>
              </a:rPr>
              <a:t>Useful as ensemble diversity: different error patterns vs CW</a:t>
            </a:r>
          </a:p>
          <a:p>
            <a:r>
              <a:rPr lang="en-US" sz="1100" b="1">
                <a:solidFill>
                  <a:srgbClr val="C0392B"/>
                </a:solidFill>
                <a:latin typeface="Calibri"/>
                <a:ea typeface="Calibri"/>
                <a:cs typeface="Calibri"/>
              </a:rPr>
              <a:t>Pitfall: CW + Sampler together can pose a problem</a:t>
            </a:r>
            <a:endParaRPr lang="en-US" sz="1100" b="1">
              <a:solidFill>
                <a:srgbClr val="C0392B"/>
              </a:solidFill>
              <a:latin typeface="Calibri" pitchFamily="34" charset="0"/>
              <a:ea typeface="Calibri"/>
              <a:cs typeface="Calibri"/>
            </a:endParaRPr>
          </a:p>
          <a:p>
            <a:pPr marL="228600" indent="-228600">
              <a:buFont typeface="Arial"/>
              <a:buChar char="•"/>
            </a:pPr>
            <a:r>
              <a:rPr lang="en-US" sz="1100" dirty="0">
                <a:solidFill>
                  <a:srgbClr val="1A2B3C"/>
                </a:solidFill>
                <a:latin typeface="Calibri"/>
                <a:ea typeface="Calibri"/>
                <a:cs typeface="Calibri"/>
              </a:rPr>
              <a:t>As seen in the previous task</a:t>
            </a:r>
            <a:endParaRPr lang="en-US" dirty="0"/>
          </a:p>
        </p:txBody>
      </p:sp>
      <p:sp>
        <p:nvSpPr>
          <p:cNvPr id="6" name="Title">
            <a:extLst>
              <a:ext uri="{FF2B5EF4-FFF2-40B4-BE49-F238E27FC236}">
                <a16:creationId xmlns:a16="http://schemas.microsoft.com/office/drawing/2014/main" id="{E371B132-0C33-4CCB-7BFD-19EA8BA68122}"/>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endParaRPr lang="en-US" sz="2200">
              <a:solidFill>
                <a:srgbClr val="0D1B2A"/>
              </a:solidFill>
              <a:latin typeface="Trebuchet MS"/>
            </a:endParaRPr>
          </a:p>
        </p:txBody>
      </p:sp>
      <p:sp>
        <p:nvSpPr>
          <p:cNvPr id="8" name="NumCircle">
            <a:extLst>
              <a:ext uri="{FF2B5EF4-FFF2-40B4-BE49-F238E27FC236}">
                <a16:creationId xmlns:a16="http://schemas.microsoft.com/office/drawing/2014/main" id="{E5E4B655-0C2C-EE7E-736B-22A386EA0052}"/>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p:cNvSpPr/>
          <p:nvPr/>
        </p:nvSpPr>
        <p:spPr>
          <a:xfrm>
            <a:off x="274320" y="968835"/>
            <a:ext cx="6400800" cy="530352"/>
          </a:xfrm>
          <a:prstGeom prst="rect">
            <a:avLst/>
          </a:prstGeom>
          <a:noFill/>
          <a:ln/>
        </p:spPr>
        <p:txBody>
          <a:bodyPr wrap="square" lIns="0" tIns="0" rIns="0" bIns="0" rtlCol="0" anchor="ctr"/>
          <a:lstStyle/>
          <a:p>
            <a:pPr marL="0" indent="0">
              <a:buNone/>
            </a:pPr>
            <a:endParaRPr lang="en-US" sz="2200" b="1" dirty="0">
              <a:solidFill>
                <a:srgbClr val="0D1B2A"/>
              </a:solidFill>
              <a:latin typeface="Trebuchet MS" pitchFamily="34" charset="0"/>
            </a:endParaRPr>
          </a:p>
        </p:txBody>
      </p:sp>
      <p:sp>
        <p:nvSpPr>
          <p:cNvPr id="10" name="L1bg"/>
          <p:cNvSpPr/>
          <p:nvPr/>
        </p:nvSpPr>
        <p:spPr>
          <a:xfrm>
            <a:off x="251356" y="1411390"/>
            <a:ext cx="6400800" cy="1445597"/>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L1text"/>
          <p:cNvSpPr/>
          <p:nvPr/>
        </p:nvSpPr>
        <p:spPr>
          <a:xfrm>
            <a:off x="434237" y="1485550"/>
            <a:ext cx="3657600" cy="1645920"/>
          </a:xfrm>
          <a:prstGeom prst="rect">
            <a:avLst/>
          </a:prstGeom>
          <a:noFill/>
          <a:ln/>
        </p:spPr>
        <p:txBody>
          <a:bodyPr wrap="square" lIns="91440" tIns="45720" rIns="91440" bIns="45720" rtlCol="0" anchor="t"/>
          <a:lstStyle/>
          <a:p>
            <a:pPr>
              <a:buNone/>
            </a:pPr>
            <a:r>
              <a:rPr lang="en-US" sz="1400" b="1" dirty="0" err="1">
                <a:solidFill>
                  <a:srgbClr val="028090"/>
                </a:solidFill>
                <a:latin typeface="Trebuchet MS"/>
              </a:rPr>
              <a:t>Optimiser</a:t>
            </a:r>
            <a:r>
              <a:rPr lang="en-US" sz="1400" b="1" dirty="0">
                <a:solidFill>
                  <a:srgbClr val="028090"/>
                </a:solidFill>
                <a:latin typeface="Trebuchet MS"/>
              </a:rPr>
              <a:t> + Scheduler</a:t>
            </a:r>
          </a:p>
          <a:p>
            <a:pPr marL="228600" indent="-228600">
              <a:buChar char="•"/>
            </a:pPr>
            <a:r>
              <a:rPr lang="en-US" sz="1200" b="1" dirty="0">
                <a:solidFill>
                  <a:srgbClr val="1C3A52"/>
                </a:solidFill>
                <a:latin typeface="Calibri"/>
                <a:ea typeface="Calibri"/>
                <a:cs typeface="Calibri"/>
              </a:rPr>
              <a:t>Adam </a:t>
            </a:r>
            <a:r>
              <a:rPr lang="en-US" sz="1200" b="1" dirty="0" err="1">
                <a:solidFill>
                  <a:srgbClr val="1C3A52"/>
                </a:solidFill>
                <a:latin typeface="Calibri"/>
                <a:ea typeface="Calibri"/>
                <a:cs typeface="Calibri"/>
              </a:rPr>
              <a:t>lr</a:t>
            </a:r>
            <a:r>
              <a:rPr lang="en-US" sz="1200" b="1" dirty="0">
                <a:solidFill>
                  <a:srgbClr val="1C3A52"/>
                </a:solidFill>
                <a:latin typeface="Calibri"/>
                <a:ea typeface="Calibri"/>
                <a:cs typeface="Calibri"/>
              </a:rPr>
              <a:t>=1e-3 </a:t>
            </a:r>
            <a:r>
              <a:rPr lang="en-US" sz="1200" dirty="0">
                <a:solidFill>
                  <a:srgbClr val="1A2B3C"/>
                </a:solidFill>
                <a:latin typeface="Calibri"/>
                <a:ea typeface="Calibri"/>
                <a:cs typeface="Calibri"/>
              </a:rPr>
              <a:t>— robust adaptive LR, standard for CNNs (Kingma &amp; Ba, 2015)</a:t>
            </a:r>
          </a:p>
          <a:p>
            <a:pPr marL="228600" indent="-228600">
              <a:buChar char="•"/>
            </a:pPr>
            <a:r>
              <a:rPr lang="en-US" sz="1200" b="1" dirty="0" err="1">
                <a:solidFill>
                  <a:srgbClr val="1C3A52"/>
                </a:solidFill>
                <a:latin typeface="Calibri"/>
                <a:ea typeface="Calibri"/>
                <a:cs typeface="Calibri"/>
              </a:rPr>
              <a:t>StepLR</a:t>
            </a:r>
            <a:r>
              <a:rPr lang="en-US" sz="1200" b="1" dirty="0">
                <a:solidFill>
                  <a:srgbClr val="1C3A52"/>
                </a:solidFill>
                <a:latin typeface="Calibri"/>
                <a:ea typeface="Calibri"/>
                <a:cs typeface="Calibri"/>
              </a:rPr>
              <a:t>(step=5, gamma=0.5) </a:t>
            </a:r>
            <a:r>
              <a:rPr lang="en-US" sz="1200" dirty="0">
                <a:solidFill>
                  <a:srgbClr val="1A2B3C"/>
                </a:solidFill>
                <a:latin typeface="Calibri"/>
                <a:ea typeface="Calibri"/>
                <a:cs typeface="Calibri"/>
              </a:rPr>
              <a:t>— halves LR every 5 epochs; </a:t>
            </a:r>
            <a:r>
              <a:rPr lang="en-US" sz="1200" dirty="0" err="1">
                <a:solidFill>
                  <a:srgbClr val="1A2B3C"/>
                </a:solidFill>
                <a:latin typeface="Calibri"/>
                <a:ea typeface="Calibri"/>
                <a:cs typeface="Calibri"/>
              </a:rPr>
              <a:t>CosineAnnealingLR</a:t>
            </a:r>
            <a:r>
              <a:rPr lang="en-US" sz="1200" dirty="0">
                <a:solidFill>
                  <a:srgbClr val="1A2B3C"/>
                </a:solidFill>
                <a:latin typeface="Calibri"/>
                <a:ea typeface="Calibri"/>
                <a:cs typeface="Calibri"/>
              </a:rPr>
              <a:t> also tested but similar results</a:t>
            </a:r>
          </a:p>
        </p:txBody>
      </p:sp>
      <p:sp>
        <p:nvSpPr>
          <p:cNvPr id="12" name="R1bg"/>
          <p:cNvSpPr/>
          <p:nvPr/>
        </p:nvSpPr>
        <p:spPr>
          <a:xfrm>
            <a:off x="251717" y="3179744"/>
            <a:ext cx="6400800" cy="124364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3" name="R1text"/>
          <p:cNvSpPr/>
          <p:nvPr/>
        </p:nvSpPr>
        <p:spPr>
          <a:xfrm>
            <a:off x="484063" y="3253904"/>
            <a:ext cx="4141533" cy="1645920"/>
          </a:xfrm>
          <a:prstGeom prst="rect">
            <a:avLst/>
          </a:prstGeom>
          <a:noFill/>
          <a:ln/>
        </p:spPr>
        <p:txBody>
          <a:bodyPr wrap="square" rtlCol="0" anchor="t"/>
          <a:lstStyle/>
          <a:p>
            <a:pPr>
              <a:buNone/>
            </a:pPr>
            <a:r>
              <a:rPr lang="en-US" sz="1400" b="1" dirty="0">
                <a:solidFill>
                  <a:srgbClr val="028090"/>
                </a:solidFill>
                <a:latin typeface="Trebuchet MS" pitchFamily="34" charset="0"/>
              </a:rPr>
              <a:t>Early Stopping (patience=7)</a:t>
            </a:r>
          </a:p>
          <a:p>
            <a:pPr marL="228600" indent="-228600">
              <a:buChar char="•"/>
            </a:pPr>
            <a:r>
              <a:rPr lang="en-US" sz="1200" dirty="0">
                <a:solidFill>
                  <a:srgbClr val="1A2B3C"/>
                </a:solidFill>
                <a:latin typeface="Calibri" pitchFamily="34" charset="0"/>
              </a:rPr>
              <a:t>Monitors -val_macro_f1 (competition metric, not val_loss)</a:t>
            </a:r>
          </a:p>
          <a:p>
            <a:pPr marL="228600" indent="-228600">
              <a:buChar char="•"/>
            </a:pPr>
            <a:r>
              <a:rPr lang="en-US" sz="1200" dirty="0">
                <a:solidFill>
                  <a:srgbClr val="1A2B3C"/>
                </a:solidFill>
                <a:latin typeface="Calibri" pitchFamily="34" charset="0"/>
              </a:rPr>
              <a:t>Patience=7 — val_f1 is noisy (720 val samples, ~80/class: 1 error = +-1.2% swing); 3 would fire prematurely</a:t>
            </a:r>
          </a:p>
          <a:p>
            <a:pPr marL="228600" indent="-228600">
              <a:buChar char="•"/>
            </a:pPr>
            <a:r>
              <a:rPr lang="en-US" sz="1200" dirty="0">
                <a:solidFill>
                  <a:srgbClr val="1A2B3C"/>
                </a:solidFill>
                <a:latin typeface="Calibri" pitchFamily="34" charset="0"/>
              </a:rPr>
              <a:t>Saves best checkpoint automatically; restores at inference</a:t>
            </a:r>
          </a:p>
        </p:txBody>
      </p:sp>
      <p:sp>
        <p:nvSpPr>
          <p:cNvPr id="6" name="Title">
            <a:extLst>
              <a:ext uri="{FF2B5EF4-FFF2-40B4-BE49-F238E27FC236}">
                <a16:creationId xmlns:a16="http://schemas.microsoft.com/office/drawing/2014/main" id="{56DBFB5A-DABA-15C4-632F-293CD9CF4816}"/>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Training Setup — Optimizer, Scheduler &amp; Early Stopping:</a:t>
            </a:r>
          </a:p>
        </p:txBody>
      </p:sp>
      <p:sp>
        <p:nvSpPr>
          <p:cNvPr id="7" name="Title">
            <a:extLst>
              <a:ext uri="{FF2B5EF4-FFF2-40B4-BE49-F238E27FC236}">
                <a16:creationId xmlns:a16="http://schemas.microsoft.com/office/drawing/2014/main" id="{DA63C9B6-29D8-225A-53C9-C12AD88519A3}"/>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endParaRPr lang="en-US" sz="2200">
              <a:solidFill>
                <a:srgbClr val="0D1B2A"/>
              </a:solidFill>
              <a:latin typeface="Trebuchet MS"/>
            </a:endParaRPr>
          </a:p>
        </p:txBody>
      </p:sp>
      <p:sp>
        <p:nvSpPr>
          <p:cNvPr id="9" name="NumCircle">
            <a:extLst>
              <a:ext uri="{FF2B5EF4-FFF2-40B4-BE49-F238E27FC236}">
                <a16:creationId xmlns:a16="http://schemas.microsoft.com/office/drawing/2014/main" id="{19B1823F-C1D0-A206-9152-51BE99AB140B}"/>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7ED9-A426-3450-D495-434B6B20E4E1}"/>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F3FD7346-425B-0DA4-9F91-64DDAE84D2F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a:extLst>
              <a:ext uri="{FF2B5EF4-FFF2-40B4-BE49-F238E27FC236}">
                <a16:creationId xmlns:a16="http://schemas.microsoft.com/office/drawing/2014/main" id="{205B505A-FD03-FCEE-E6D5-0BDD47BBB1A7}"/>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a:extLst>
              <a:ext uri="{FF2B5EF4-FFF2-40B4-BE49-F238E27FC236}">
                <a16:creationId xmlns:a16="http://schemas.microsoft.com/office/drawing/2014/main" id="{F61BE097-4247-6F29-15AF-E38FF510E28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5D0F02B0-96BF-9818-64F0-AB0284BE9B8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0D065BE8-4691-B7C4-01CF-7C54E57D2F08}"/>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There were multiple models that reached a validation Macro-Averaged F1-Score of 1.0, we chose the one that balanced fastest converging with fewest parameters, which was model M - Deep CNN. We then applied different pipelines of pre-</a:t>
            </a:r>
            <a:r>
              <a:rPr lang="en-US" sz="1200">
                <a:solidFill>
                  <a:schemeClr val="bg1"/>
                </a:solidFill>
                <a:latin typeface="Calibri"/>
                <a:ea typeface="Calibri"/>
                <a:cs typeface="Calibri"/>
              </a:rPr>
              <a:t>processing and data augmentation.</a:t>
            </a:r>
            <a:endParaRPr lang="en-US" sz="1200" dirty="0">
              <a:solidFill>
                <a:schemeClr val="bg1"/>
              </a:solidFill>
              <a:latin typeface="Calibri"/>
              <a:ea typeface="Calibri"/>
              <a:cs typeface="Calibri"/>
            </a:endParaRPr>
          </a:p>
        </p:txBody>
      </p:sp>
      <p:sp>
        <p:nvSpPr>
          <p:cNvPr id="20" name="H1">
            <a:extLst>
              <a:ext uri="{FF2B5EF4-FFF2-40B4-BE49-F238E27FC236}">
                <a16:creationId xmlns:a16="http://schemas.microsoft.com/office/drawing/2014/main" id="{45D9E347-F80E-02D4-24C1-8DEF17AE44B9}"/>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dirty="0">
                <a:solidFill>
                  <a:srgbClr val="FFFFFF"/>
                </a:solidFill>
                <a:latin typeface="Calibri"/>
              </a:rPr>
              <a:t>Pre-Processing</a:t>
            </a:r>
          </a:p>
        </p:txBody>
      </p:sp>
      <p:sp>
        <p:nvSpPr>
          <p:cNvPr id="21" name="H2">
            <a:extLst>
              <a:ext uri="{FF2B5EF4-FFF2-40B4-BE49-F238E27FC236}">
                <a16:creationId xmlns:a16="http://schemas.microsoft.com/office/drawing/2014/main" id="{FC6F9DFC-F6C8-8D69-4F59-75130BDCC2D8}"/>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dirty="0">
                <a:solidFill>
                  <a:srgbClr val="FFFFFF"/>
                </a:solidFill>
                <a:latin typeface="Calibri"/>
              </a:rPr>
              <a:t>Data Augmentation</a:t>
            </a:r>
          </a:p>
        </p:txBody>
      </p:sp>
      <p:sp>
        <p:nvSpPr>
          <p:cNvPr id="30" name="R1C1">
            <a:extLst>
              <a:ext uri="{FF2B5EF4-FFF2-40B4-BE49-F238E27FC236}">
                <a16:creationId xmlns:a16="http://schemas.microsoft.com/office/drawing/2014/main" id="{29864FFE-7BA3-6FD0-0C3A-0DB22F553FD5}"/>
              </a:ext>
            </a:extLst>
          </p:cNvPr>
          <p:cNvSpPr/>
          <p:nvPr/>
        </p:nvSpPr>
        <p:spPr>
          <a:xfrm>
            <a:off x="274319" y="1897612"/>
            <a:ext cx="3844333" cy="1817821"/>
          </a:xfrm>
          <a:prstGeom prst="rect">
            <a:avLst/>
          </a:prstGeom>
          <a:solidFill>
            <a:srgbClr val="E8F8F6"/>
          </a:solidFill>
          <a:ln w="6350">
            <a:noFill/>
          </a:ln>
        </p:spPr>
        <p:txBody>
          <a:bodyPr lIns="91440" tIns="45720" rIns="91440" bIns="45720" rtlCol="0" anchor="ctr"/>
          <a:lstStyle/>
          <a:p>
            <a:pPr algn="ctr">
              <a:buNone/>
            </a:pPr>
            <a:r>
              <a:rPr lang="en-US" sz="1300" b="1" dirty="0">
                <a:solidFill>
                  <a:srgbClr val="028090"/>
                </a:solidFill>
                <a:latin typeface="Calibri"/>
              </a:rPr>
              <a:t>Grayscale </a:t>
            </a:r>
          </a:p>
          <a:p>
            <a:pPr algn="ctr"/>
            <a:r>
              <a:rPr lang="en-US" sz="1300" dirty="0">
                <a:solidFill>
                  <a:srgbClr val="1A2B3C"/>
                </a:solidFill>
                <a:latin typeface="Calibri"/>
              </a:rPr>
              <a:t>A 64x64 RGB image results in an initial vector of length = 12.288. If we convert to grayscale the size is reduced by 3, to 4096. Are we able to achieve similar results with this smaller input?  Turns out no. </a:t>
            </a:r>
            <a:r>
              <a:rPr lang="en-US" sz="1300" err="1">
                <a:solidFill>
                  <a:srgbClr val="1A2B3C"/>
                </a:solidFill>
                <a:latin typeface="Calibri"/>
              </a:rPr>
              <a:t>Pokemon</a:t>
            </a:r>
            <a:r>
              <a:rPr lang="en-US" sz="1300" dirty="0">
                <a:solidFill>
                  <a:srgbClr val="1A2B3C"/>
                </a:solidFill>
                <a:latin typeface="Calibri"/>
              </a:rPr>
              <a:t> classi</a:t>
            </a:r>
            <a:r>
              <a:rPr lang="en-US" sz="1300" err="1">
                <a:solidFill>
                  <a:srgbClr val="1A2B3C"/>
                </a:solidFill>
                <a:latin typeface="Calibri"/>
              </a:rPr>
              <a:t>ficatio</a:t>
            </a:r>
            <a:r>
              <a:rPr lang="en-US" sz="1300" dirty="0">
                <a:solidFill>
                  <a:srgbClr val="1A2B3C"/>
                </a:solidFill>
                <a:latin typeface="Calibri"/>
              </a:rPr>
              <a:t>n is strongly color-dependent (Fire=orange, water=blue, poison=purple, </a:t>
            </a:r>
            <a:r>
              <a:rPr lang="en-US" sz="1300">
                <a:solidFill>
                  <a:srgbClr val="1A2B3C"/>
                </a:solidFill>
                <a:latin typeface="Calibri"/>
              </a:rPr>
              <a:t>grass=green, ...)</a:t>
            </a:r>
            <a:endParaRPr lang="en-US" sz="1300">
              <a:solidFill>
                <a:srgbClr val="1A2B3C"/>
              </a:solidFill>
              <a:latin typeface="Calibri"/>
              <a:ea typeface="Calibri"/>
              <a:cs typeface="Calibri"/>
            </a:endParaRPr>
          </a:p>
          <a:p>
            <a:pPr algn="ctr"/>
            <a:endParaRPr lang="en-US" sz="1300" dirty="0">
              <a:solidFill>
                <a:srgbClr val="1A2B3C"/>
              </a:solidFill>
              <a:latin typeface="Calibri"/>
              <a:ea typeface="Calibri"/>
              <a:cs typeface="Calibri"/>
            </a:endParaRPr>
          </a:p>
        </p:txBody>
      </p:sp>
      <p:sp>
        <p:nvSpPr>
          <p:cNvPr id="31" name="R1C2">
            <a:extLst>
              <a:ext uri="{FF2B5EF4-FFF2-40B4-BE49-F238E27FC236}">
                <a16:creationId xmlns:a16="http://schemas.microsoft.com/office/drawing/2014/main" id="{AE5BA09A-6048-2F02-B16F-5FC7C3B50F06}"/>
              </a:ext>
            </a:extLst>
          </p:cNvPr>
          <p:cNvSpPr/>
          <p:nvPr/>
        </p:nvSpPr>
        <p:spPr>
          <a:xfrm>
            <a:off x="4342062" y="1936080"/>
            <a:ext cx="4527617" cy="1767891"/>
          </a:xfrm>
          <a:prstGeom prst="rect">
            <a:avLst/>
          </a:prstGeom>
          <a:solidFill>
            <a:schemeClr val="accent1">
              <a:lumMod val="20000"/>
              <a:lumOff val="80000"/>
            </a:schemeClr>
          </a:solidFill>
          <a:ln w="6350">
            <a:noFill/>
          </a:ln>
        </p:spPr>
        <p:txBody>
          <a:bodyPr lIns="91440" tIns="45720" rIns="91440" bIns="45720" rtlCol="0" anchor="ctr"/>
          <a:lstStyle/>
          <a:p>
            <a:pPr algn="ctr">
              <a:buNone/>
            </a:pPr>
            <a:r>
              <a:rPr lang="en-US" sz="1400" b="1" dirty="0" err="1">
                <a:solidFill>
                  <a:srgbClr val="1C3A52"/>
                </a:solidFill>
                <a:latin typeface="Calibri"/>
              </a:rPr>
              <a:t>RandomHorizontalFlip</a:t>
            </a:r>
            <a:r>
              <a:rPr lang="en-US" sz="1400" b="1" dirty="0">
                <a:solidFill>
                  <a:srgbClr val="1C3A52"/>
                </a:solidFill>
                <a:latin typeface="Calibri"/>
              </a:rPr>
              <a:t>, </a:t>
            </a:r>
            <a:r>
              <a:rPr lang="en-US" sz="1400" b="1" dirty="0" err="1">
                <a:solidFill>
                  <a:srgbClr val="1C3A52"/>
                </a:solidFill>
                <a:latin typeface="Calibri"/>
              </a:rPr>
              <a:t>ColorJitter</a:t>
            </a:r>
            <a:r>
              <a:rPr lang="en-US" sz="1400" b="1" dirty="0">
                <a:solidFill>
                  <a:srgbClr val="1C3A52"/>
                </a:solidFill>
                <a:latin typeface="Calibri"/>
              </a:rPr>
              <a:t>, </a:t>
            </a:r>
            <a:r>
              <a:rPr lang="en-US" sz="1400" b="1" dirty="0" err="1">
                <a:solidFill>
                  <a:srgbClr val="1C3A52"/>
                </a:solidFill>
                <a:latin typeface="Calibri"/>
              </a:rPr>
              <a:t>RandomRotation</a:t>
            </a:r>
            <a:r>
              <a:rPr lang="en-US" sz="1400" b="1" dirty="0">
                <a:solidFill>
                  <a:srgbClr val="1C3A52"/>
                </a:solidFill>
                <a:latin typeface="Calibri"/>
              </a:rPr>
              <a:t>...</a:t>
            </a:r>
          </a:p>
          <a:p>
            <a:pPr algn="ctr"/>
            <a:r>
              <a:rPr lang="en-US" sz="1400" dirty="0">
                <a:solidFill>
                  <a:srgbClr val="1C3A52"/>
                </a:solidFill>
                <a:latin typeface="Calibri"/>
              </a:rPr>
              <a:t>In the previous task we mentioned that CNNs could benefit from this type of data augmentation, however, doing it gave us WORSE results. Why did this happen? Isn't training with slightly different variants of our images helpful for generalization? This is explored in the next slide.</a:t>
            </a:r>
            <a:endParaRPr lang="en-US" sz="1400" dirty="0">
              <a:solidFill>
                <a:srgbClr val="1C3A52"/>
              </a:solidFill>
              <a:latin typeface="Calibri"/>
              <a:ea typeface="Calibri"/>
              <a:cs typeface="Calibri"/>
            </a:endParaRPr>
          </a:p>
        </p:txBody>
      </p:sp>
      <p:pic>
        <p:nvPicPr>
          <p:cNvPr id="7" name="Picture 6" descr="A green and blue rectangle with black text&#10;&#10;AI-generated content may be incorrect.">
            <a:extLst>
              <a:ext uri="{FF2B5EF4-FFF2-40B4-BE49-F238E27FC236}">
                <a16:creationId xmlns:a16="http://schemas.microsoft.com/office/drawing/2014/main" id="{BA7A2BDF-A57A-9369-8AEF-BA118B76C6D5}"/>
              </a:ext>
            </a:extLst>
          </p:cNvPr>
          <p:cNvPicPr>
            <a:picLocks noChangeAspect="1"/>
          </p:cNvPicPr>
          <p:nvPr/>
        </p:nvPicPr>
        <p:blipFill>
          <a:blip r:embed="rId2"/>
          <a:srcRect r="45073" b="1075"/>
          <a:stretch>
            <a:fillRect/>
          </a:stretch>
        </p:blipFill>
        <p:spPr>
          <a:xfrm>
            <a:off x="410198" y="3719794"/>
            <a:ext cx="2107104" cy="739085"/>
          </a:xfrm>
          <a:prstGeom prst="rect">
            <a:avLst/>
          </a:prstGeom>
        </p:spPr>
      </p:pic>
      <p:sp>
        <p:nvSpPr>
          <p:cNvPr id="16" name="TextBox 15">
            <a:extLst>
              <a:ext uri="{FF2B5EF4-FFF2-40B4-BE49-F238E27FC236}">
                <a16:creationId xmlns:a16="http://schemas.microsoft.com/office/drawing/2014/main" id="{FD0D12E7-38EE-4D59-7537-F5A5AC20B2DA}"/>
              </a:ext>
            </a:extLst>
          </p:cNvPr>
          <p:cNvSpPr txBox="1"/>
          <p:nvPr/>
        </p:nvSpPr>
        <p:spPr>
          <a:xfrm>
            <a:off x="2810705" y="4228745"/>
            <a:ext cx="126442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a:solidFill>
                  <a:srgbClr val="FF0000"/>
                </a:solidFill>
              </a:rPr>
              <a:t>-4.81%!</a:t>
            </a:r>
          </a:p>
        </p:txBody>
      </p:sp>
      <p:pic>
        <p:nvPicPr>
          <p:cNvPr id="17" name="Picture 16" descr="A green and blue rectangle with black text&#10;&#10;AI-generated content may be incorrect.">
            <a:extLst>
              <a:ext uri="{FF2B5EF4-FFF2-40B4-BE49-F238E27FC236}">
                <a16:creationId xmlns:a16="http://schemas.microsoft.com/office/drawing/2014/main" id="{4913A525-002F-C934-62F6-5FB4F69C5410}"/>
              </a:ext>
            </a:extLst>
          </p:cNvPr>
          <p:cNvPicPr>
            <a:picLocks noChangeAspect="1"/>
          </p:cNvPicPr>
          <p:nvPr/>
        </p:nvPicPr>
        <p:blipFill>
          <a:blip r:embed="rId2"/>
          <a:srcRect r="45073" b="1075"/>
          <a:stretch>
            <a:fillRect/>
          </a:stretch>
        </p:blipFill>
        <p:spPr>
          <a:xfrm>
            <a:off x="4775372" y="3710108"/>
            <a:ext cx="2107104" cy="739085"/>
          </a:xfrm>
          <a:prstGeom prst="rect">
            <a:avLst/>
          </a:prstGeom>
        </p:spPr>
      </p:pic>
      <p:sp>
        <p:nvSpPr>
          <p:cNvPr id="23" name="TextBox 22">
            <a:extLst>
              <a:ext uri="{FF2B5EF4-FFF2-40B4-BE49-F238E27FC236}">
                <a16:creationId xmlns:a16="http://schemas.microsoft.com/office/drawing/2014/main" id="{77FDADCB-1C13-BF33-8976-E9729F56FD9C}"/>
              </a:ext>
            </a:extLst>
          </p:cNvPr>
          <p:cNvSpPr txBox="1"/>
          <p:nvPr/>
        </p:nvSpPr>
        <p:spPr>
          <a:xfrm>
            <a:off x="7280793" y="4228744"/>
            <a:ext cx="1419403"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a:solidFill>
                  <a:srgbClr val="FF0000"/>
                </a:solidFill>
              </a:rPr>
              <a:t>-1.5%!</a:t>
            </a:r>
          </a:p>
        </p:txBody>
      </p:sp>
      <p:sp>
        <p:nvSpPr>
          <p:cNvPr id="25" name="NumCircle">
            <a:extLst>
              <a:ext uri="{FF2B5EF4-FFF2-40B4-BE49-F238E27FC236}">
                <a16:creationId xmlns:a16="http://schemas.microsoft.com/office/drawing/2014/main" id="{AE338B7C-11CB-5629-826A-7F987F11EF25}"/>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pic>
        <p:nvPicPr>
          <p:cNvPr id="6" name="Picture 5">
            <a:extLst>
              <a:ext uri="{FF2B5EF4-FFF2-40B4-BE49-F238E27FC236}">
                <a16:creationId xmlns:a16="http://schemas.microsoft.com/office/drawing/2014/main" id="{5263C5E9-40E0-D9BE-563C-92D3111D2F54}"/>
              </a:ext>
            </a:extLst>
          </p:cNvPr>
          <p:cNvPicPr>
            <a:picLocks noChangeAspect="1"/>
          </p:cNvPicPr>
          <p:nvPr/>
        </p:nvPicPr>
        <p:blipFill>
          <a:blip r:embed="rId3"/>
          <a:srcRect l="-127" t="-1004" r="583" b="-6007"/>
          <a:stretch>
            <a:fillRect/>
          </a:stretch>
        </p:blipFill>
        <p:spPr>
          <a:xfrm>
            <a:off x="410198" y="4455964"/>
            <a:ext cx="2109236" cy="233399"/>
          </a:xfrm>
          <a:prstGeom prst="rect">
            <a:avLst/>
          </a:prstGeom>
        </p:spPr>
      </p:pic>
      <p:pic>
        <p:nvPicPr>
          <p:cNvPr id="9" name="Picture 8">
            <a:extLst>
              <a:ext uri="{FF2B5EF4-FFF2-40B4-BE49-F238E27FC236}">
                <a16:creationId xmlns:a16="http://schemas.microsoft.com/office/drawing/2014/main" id="{B01B9F67-192D-5CF2-09BE-E5E8A5B61B33}"/>
              </a:ext>
            </a:extLst>
          </p:cNvPr>
          <p:cNvPicPr>
            <a:picLocks noChangeAspect="1"/>
          </p:cNvPicPr>
          <p:nvPr/>
        </p:nvPicPr>
        <p:blipFill>
          <a:blip r:embed="rId4"/>
          <a:stretch>
            <a:fillRect/>
          </a:stretch>
        </p:blipFill>
        <p:spPr>
          <a:xfrm>
            <a:off x="4785586" y="4458264"/>
            <a:ext cx="2110676" cy="227471"/>
          </a:xfrm>
          <a:prstGeom prst="rect">
            <a:avLst/>
          </a:prstGeom>
        </p:spPr>
      </p:pic>
      <p:sp>
        <p:nvSpPr>
          <p:cNvPr id="8" name="Text 8">
            <a:extLst>
              <a:ext uri="{FF2B5EF4-FFF2-40B4-BE49-F238E27FC236}">
                <a16:creationId xmlns:a16="http://schemas.microsoft.com/office/drawing/2014/main" id="{11F270A3-E9C8-93A2-E2A3-54B392C4C4F0}"/>
              </a:ext>
            </a:extLst>
          </p:cNvPr>
          <p:cNvSpPr/>
          <p:nvPr/>
        </p:nvSpPr>
        <p:spPr>
          <a:xfrm>
            <a:off x="4339292" y="4761855"/>
            <a:ext cx="4535193" cy="371181"/>
          </a:xfrm>
          <a:prstGeom prst="rect">
            <a:avLst/>
          </a:prstGeom>
          <a:noFill/>
          <a:ln/>
        </p:spPr>
        <p:txBody>
          <a:bodyPr wrap="square" lIns="0" tIns="0" rIns="0" bIns="0" rtlCol="0" anchor="ctr"/>
          <a:lstStyle/>
          <a:p>
            <a:pPr algn="ctr"/>
            <a:r>
              <a:rPr lang="en-US" sz="1200" dirty="0">
                <a:solidFill>
                  <a:srgbClr val="0D1B2A"/>
                </a:solidFill>
                <a:latin typeface="Calibri"/>
                <a:ea typeface="Calibri"/>
                <a:cs typeface="Calibri"/>
              </a:rPr>
              <a:t>Note that we tried very simple augmentation processes for this analysis; stronger augmentation gave us even worse results</a:t>
            </a:r>
            <a:endParaRPr lang="en-US" dirty="0"/>
          </a:p>
        </p:txBody>
      </p:sp>
    </p:spTree>
    <p:extLst>
      <p:ext uri="{BB962C8B-B14F-4D97-AF65-F5344CB8AC3E}">
        <p14:creationId xmlns:p14="http://schemas.microsoft.com/office/powerpoint/2010/main" val="37728897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06715-A7FE-4E92-BA06-245AE16C644B}"/>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AC0700B5-8646-C417-7708-C0A58E177D9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a:extLst>
              <a:ext uri="{FF2B5EF4-FFF2-40B4-BE49-F238E27FC236}">
                <a16:creationId xmlns:a16="http://schemas.microsoft.com/office/drawing/2014/main" id="{B9A7BBBA-FDA0-89BB-E46F-248D7D3FD1C0}"/>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a:extLst>
              <a:ext uri="{FF2B5EF4-FFF2-40B4-BE49-F238E27FC236}">
                <a16:creationId xmlns:a16="http://schemas.microsoft.com/office/drawing/2014/main" id="{C3B8B2B8-3907-FB74-5190-F69F26A783FA}"/>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F6F73DA6-2263-CC29-0726-7603CA0F21A6}"/>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a:p>
        </p:txBody>
      </p:sp>
      <p:sp>
        <p:nvSpPr>
          <p:cNvPr id="11" name="StratText">
            <a:extLst>
              <a:ext uri="{FF2B5EF4-FFF2-40B4-BE49-F238E27FC236}">
                <a16:creationId xmlns:a16="http://schemas.microsoft.com/office/drawing/2014/main" id="{7C87F186-9138-2B36-41E9-7F2BB7460B65}"/>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ea typeface="Calibri"/>
                <a:cs typeface="Calibri"/>
              </a:rPr>
              <a:t>Why does data augmentation hurt the models? </a:t>
            </a:r>
            <a:r>
              <a:rPr lang="en-US" sz="1200" dirty="0">
                <a:solidFill>
                  <a:schemeClr val="bg1"/>
                </a:solidFill>
                <a:latin typeface="Calibri"/>
                <a:ea typeface="Calibri"/>
                <a:cs typeface="Calibri"/>
              </a:rPr>
              <a:t>Let's take a look at some samples from the dataset which feature the same </a:t>
            </a:r>
            <a:r>
              <a:rPr lang="en-US" sz="1200" dirty="0" err="1">
                <a:solidFill>
                  <a:schemeClr val="bg1"/>
                </a:solidFill>
                <a:latin typeface="Calibri"/>
                <a:ea typeface="Calibri"/>
                <a:cs typeface="Calibri"/>
              </a:rPr>
              <a:t>pokemon</a:t>
            </a:r>
            <a:r>
              <a:rPr lang="en-US" sz="1200" dirty="0">
                <a:solidFill>
                  <a:schemeClr val="bg1"/>
                </a:solidFill>
                <a:latin typeface="Calibri"/>
                <a:ea typeface="Calibri"/>
                <a:cs typeface="Calibri"/>
              </a:rPr>
              <a:t> </a:t>
            </a:r>
            <a:r>
              <a:rPr lang="en-US" sz="1200" b="1" dirty="0">
                <a:solidFill>
                  <a:schemeClr val="accent2">
                    <a:lumMod val="40000"/>
                    <a:lumOff val="60000"/>
                  </a:schemeClr>
                </a:solidFill>
                <a:latin typeface="Trebuchet MS"/>
                <a:ea typeface="Calibri"/>
                <a:cs typeface="Calibri"/>
              </a:rPr>
              <a:t> </a:t>
            </a:r>
            <a:endParaRPr lang="en-US" sz="120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5D4D01B2-87C7-6427-9C67-AAC1A5617321}"/>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pic>
        <p:nvPicPr>
          <p:cNvPr id="4" name="Picture 3" descr="A cartoon of a blue bird&#10;&#10;AI-generated content may be incorrect.">
            <a:extLst>
              <a:ext uri="{FF2B5EF4-FFF2-40B4-BE49-F238E27FC236}">
                <a16:creationId xmlns:a16="http://schemas.microsoft.com/office/drawing/2014/main" id="{2F5F8CF7-4031-BCBF-7782-91A802000151}"/>
              </a:ext>
            </a:extLst>
          </p:cNvPr>
          <p:cNvPicPr>
            <a:picLocks noChangeAspect="1"/>
          </p:cNvPicPr>
          <p:nvPr/>
        </p:nvPicPr>
        <p:blipFill>
          <a:blip r:embed="rId2"/>
          <a:stretch>
            <a:fillRect/>
          </a:stretch>
        </p:blipFill>
        <p:spPr>
          <a:xfrm>
            <a:off x="925378" y="1433916"/>
            <a:ext cx="1355455" cy="1365142"/>
          </a:xfrm>
          <a:prstGeom prst="rect">
            <a:avLst/>
          </a:prstGeom>
        </p:spPr>
      </p:pic>
      <p:pic>
        <p:nvPicPr>
          <p:cNvPr id="8" name="Picture 7" descr="A cartoon bird flying in the air&#10;&#10;AI-generated content may be incorrect.">
            <a:extLst>
              <a:ext uri="{FF2B5EF4-FFF2-40B4-BE49-F238E27FC236}">
                <a16:creationId xmlns:a16="http://schemas.microsoft.com/office/drawing/2014/main" id="{3C50916E-E0FC-9A85-49D1-52E3002C76C8}"/>
              </a:ext>
            </a:extLst>
          </p:cNvPr>
          <p:cNvPicPr>
            <a:picLocks noChangeAspect="1"/>
          </p:cNvPicPr>
          <p:nvPr/>
        </p:nvPicPr>
        <p:blipFill>
          <a:blip r:embed="rId3"/>
          <a:stretch>
            <a:fillRect/>
          </a:stretch>
        </p:blipFill>
        <p:spPr>
          <a:xfrm>
            <a:off x="2388030" y="1433916"/>
            <a:ext cx="1355455" cy="1365142"/>
          </a:xfrm>
          <a:prstGeom prst="rect">
            <a:avLst/>
          </a:prstGeom>
        </p:spPr>
      </p:pic>
      <p:pic>
        <p:nvPicPr>
          <p:cNvPr id="9" name="Picture 8" descr="A cartoon bird in the air&#10;&#10;AI-generated content may be incorrect.">
            <a:extLst>
              <a:ext uri="{FF2B5EF4-FFF2-40B4-BE49-F238E27FC236}">
                <a16:creationId xmlns:a16="http://schemas.microsoft.com/office/drawing/2014/main" id="{782EA57B-27C7-685F-0D5F-653D661BDF7F}"/>
              </a:ext>
            </a:extLst>
          </p:cNvPr>
          <p:cNvPicPr>
            <a:picLocks noChangeAspect="1"/>
          </p:cNvPicPr>
          <p:nvPr/>
        </p:nvPicPr>
        <p:blipFill>
          <a:blip r:embed="rId4"/>
          <a:stretch>
            <a:fillRect/>
          </a:stretch>
        </p:blipFill>
        <p:spPr>
          <a:xfrm>
            <a:off x="3840996" y="1433916"/>
            <a:ext cx="1355455" cy="1365142"/>
          </a:xfrm>
          <a:prstGeom prst="rect">
            <a:avLst/>
          </a:prstGeom>
        </p:spPr>
      </p:pic>
      <p:pic>
        <p:nvPicPr>
          <p:cNvPr id="13" name="Picture 12" descr="A cartoon of a blue dragon&#10;&#10;AI-generated content may be incorrect.">
            <a:extLst>
              <a:ext uri="{FF2B5EF4-FFF2-40B4-BE49-F238E27FC236}">
                <a16:creationId xmlns:a16="http://schemas.microsoft.com/office/drawing/2014/main" id="{8B8F9A2F-DFE0-A568-5915-A25786918F62}"/>
              </a:ext>
            </a:extLst>
          </p:cNvPr>
          <p:cNvPicPr>
            <a:picLocks noChangeAspect="1"/>
          </p:cNvPicPr>
          <p:nvPr/>
        </p:nvPicPr>
        <p:blipFill>
          <a:blip r:embed="rId5"/>
          <a:stretch>
            <a:fillRect/>
          </a:stretch>
        </p:blipFill>
        <p:spPr>
          <a:xfrm>
            <a:off x="5293962" y="1433916"/>
            <a:ext cx="1355455" cy="1365142"/>
          </a:xfrm>
          <a:prstGeom prst="rect">
            <a:avLst/>
          </a:prstGeom>
        </p:spPr>
      </p:pic>
      <p:pic>
        <p:nvPicPr>
          <p:cNvPr id="14" name="Picture 13" descr="A cartoon of a blue dragon&#10;&#10;AI-generated content may be incorrect.">
            <a:extLst>
              <a:ext uri="{FF2B5EF4-FFF2-40B4-BE49-F238E27FC236}">
                <a16:creationId xmlns:a16="http://schemas.microsoft.com/office/drawing/2014/main" id="{EA7CA163-5ECA-096D-252C-8A24B79B6A5F}"/>
              </a:ext>
            </a:extLst>
          </p:cNvPr>
          <p:cNvPicPr>
            <a:picLocks noChangeAspect="1"/>
          </p:cNvPicPr>
          <p:nvPr/>
        </p:nvPicPr>
        <p:blipFill>
          <a:blip r:embed="rId6"/>
          <a:stretch>
            <a:fillRect/>
          </a:stretch>
        </p:blipFill>
        <p:spPr>
          <a:xfrm>
            <a:off x="6746928" y="1433916"/>
            <a:ext cx="1355455" cy="1365142"/>
          </a:xfrm>
          <a:prstGeom prst="rect">
            <a:avLst/>
          </a:prstGeom>
        </p:spPr>
      </p:pic>
      <p:sp>
        <p:nvSpPr>
          <p:cNvPr id="18" name="L1bg">
            <a:extLst>
              <a:ext uri="{FF2B5EF4-FFF2-40B4-BE49-F238E27FC236}">
                <a16:creationId xmlns:a16="http://schemas.microsoft.com/office/drawing/2014/main" id="{7585FA0F-D284-CE19-CD47-E448C0EE2DDF}"/>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6" name="Text 8">
            <a:extLst>
              <a:ext uri="{FF2B5EF4-FFF2-40B4-BE49-F238E27FC236}">
                <a16:creationId xmlns:a16="http://schemas.microsoft.com/office/drawing/2014/main" id="{EF16EA7A-8BF6-C90D-A5B0-C71DE4180631}"/>
              </a:ext>
            </a:extLst>
          </p:cNvPr>
          <p:cNvSpPr/>
          <p:nvPr/>
        </p:nvSpPr>
        <p:spPr>
          <a:xfrm>
            <a:off x="871548" y="2940804"/>
            <a:ext cx="7247395" cy="1795088"/>
          </a:xfrm>
          <a:prstGeom prst="rect">
            <a:avLst/>
          </a:prstGeom>
          <a:noFill/>
          <a:ln/>
        </p:spPr>
        <p:txBody>
          <a:bodyPr wrap="square" lIns="0" tIns="0" rIns="0" bIns="0" rtlCol="0" anchor="ctr"/>
          <a:lstStyle/>
          <a:p>
            <a:pPr algn="ctr"/>
            <a:r>
              <a:rPr lang="en-US" sz="1200" dirty="0">
                <a:solidFill>
                  <a:srgbClr val="0D1B2A"/>
                </a:solidFill>
                <a:latin typeface="Calibri"/>
                <a:ea typeface="Calibri"/>
                <a:cs typeface="Calibri"/>
              </a:rPr>
              <a:t>From this small set of examples we can see that the </a:t>
            </a:r>
            <a:r>
              <a:rPr lang="en-US" sz="1200" dirty="0" err="1">
                <a:solidFill>
                  <a:srgbClr val="0D1B2A"/>
                </a:solidFill>
                <a:latin typeface="Calibri"/>
                <a:ea typeface="Calibri"/>
                <a:cs typeface="Calibri"/>
              </a:rPr>
              <a:t>pokemon</a:t>
            </a:r>
            <a:r>
              <a:rPr lang="en-US" sz="1200" dirty="0">
                <a:solidFill>
                  <a:srgbClr val="0D1B2A"/>
                </a:solidFill>
                <a:latin typeface="Calibri"/>
                <a:ea typeface="Calibri"/>
                <a:cs typeface="Calibri"/>
              </a:rPr>
              <a:t> always remains in the same upright position, facing the same direction, with the same </a:t>
            </a:r>
            <a:r>
              <a:rPr lang="en-US" sz="1200" dirty="0" err="1">
                <a:solidFill>
                  <a:srgbClr val="0D1B2A"/>
                </a:solidFill>
                <a:latin typeface="Calibri"/>
                <a:ea typeface="Calibri"/>
                <a:cs typeface="Calibri"/>
              </a:rPr>
              <a:t>colours</a:t>
            </a:r>
            <a:r>
              <a:rPr lang="en-US" sz="1200" dirty="0">
                <a:solidFill>
                  <a:srgbClr val="0D1B2A"/>
                </a:solidFill>
                <a:latin typeface="Calibri"/>
                <a:ea typeface="Calibri"/>
                <a:cs typeface="Calibri"/>
              </a:rPr>
              <a:t>, … and the only thing that changes are: its position in the picture, and the background. Since CNNs are invariant to the object's position in the picture, in reality, the only thing that really changes is the background. So, if we replace a training example that has all these characteristics with a flipped image of </a:t>
            </a:r>
            <a:r>
              <a:rPr lang="en-US" sz="1200" dirty="0" err="1">
                <a:solidFill>
                  <a:srgbClr val="0D1B2A"/>
                </a:solidFill>
                <a:latin typeface="Calibri"/>
                <a:ea typeface="Calibri"/>
                <a:cs typeface="Calibri"/>
              </a:rPr>
              <a:t>Golduck</a:t>
            </a:r>
            <a:r>
              <a:rPr lang="en-US" sz="1200" dirty="0">
                <a:solidFill>
                  <a:srgbClr val="0D1B2A"/>
                </a:solidFill>
                <a:latin typeface="Calibri"/>
                <a:ea typeface="Calibri"/>
                <a:cs typeface="Calibri"/>
              </a:rPr>
              <a:t> (for example), we're making the model learn something it will never "see" in </a:t>
            </a:r>
            <a:r>
              <a:rPr lang="en-US" sz="1200" dirty="0" err="1">
                <a:solidFill>
                  <a:srgbClr val="0D1B2A"/>
                </a:solidFill>
                <a:latin typeface="Calibri"/>
                <a:ea typeface="Calibri"/>
                <a:cs typeface="Calibri"/>
              </a:rPr>
              <a:t>val</a:t>
            </a:r>
            <a:r>
              <a:rPr lang="en-US" sz="1200" dirty="0">
                <a:solidFill>
                  <a:srgbClr val="0D1B2A"/>
                </a:solidFill>
                <a:latin typeface="Calibri"/>
                <a:ea typeface="Calibri"/>
                <a:cs typeface="Calibri"/>
              </a:rPr>
              <a:t>/test time by adding unnecessary noise, which hurts our model's performance (specially in the case of </a:t>
            </a:r>
            <a:r>
              <a:rPr lang="en-US" sz="1200" dirty="0" err="1">
                <a:solidFill>
                  <a:srgbClr val="0D1B2A"/>
                </a:solidFill>
                <a:latin typeface="Calibri"/>
                <a:ea typeface="Calibri"/>
                <a:cs typeface="Calibri"/>
              </a:rPr>
              <a:t>colour</a:t>
            </a:r>
            <a:r>
              <a:rPr lang="en-US" sz="1200" dirty="0">
                <a:solidFill>
                  <a:srgbClr val="0D1B2A"/>
                </a:solidFill>
                <a:latin typeface="Calibri"/>
                <a:ea typeface="Calibri"/>
                <a:cs typeface="Calibri"/>
              </a:rPr>
              <a:t> changes and grayscale since, as explored in task 1, the </a:t>
            </a:r>
            <a:r>
              <a:rPr lang="en-US" sz="1200" dirty="0" err="1">
                <a:solidFill>
                  <a:srgbClr val="0D1B2A"/>
                </a:solidFill>
                <a:latin typeface="Calibri"/>
                <a:ea typeface="Calibri"/>
                <a:cs typeface="Calibri"/>
              </a:rPr>
              <a:t>colour</a:t>
            </a:r>
            <a:r>
              <a:rPr lang="en-US" sz="1200" dirty="0">
                <a:solidFill>
                  <a:srgbClr val="0D1B2A"/>
                </a:solidFill>
                <a:latin typeface="Calibri"/>
                <a:ea typeface="Calibri"/>
                <a:cs typeface="Calibri"/>
              </a:rPr>
              <a:t> is one of the dominant factors in identifying a </a:t>
            </a:r>
            <a:r>
              <a:rPr lang="en-US" sz="1200" dirty="0" err="1">
                <a:solidFill>
                  <a:srgbClr val="0D1B2A"/>
                </a:solidFill>
                <a:latin typeface="Calibri"/>
                <a:ea typeface="Calibri"/>
                <a:cs typeface="Calibri"/>
              </a:rPr>
              <a:t>pokemon's</a:t>
            </a:r>
            <a:r>
              <a:rPr lang="en-US" sz="1200" dirty="0">
                <a:solidFill>
                  <a:srgbClr val="0D1B2A"/>
                </a:solidFill>
                <a:latin typeface="Calibri"/>
                <a:ea typeface="Calibri"/>
                <a:cs typeface="Calibri"/>
              </a:rPr>
              <a:t> type).</a:t>
            </a:r>
          </a:p>
          <a:p>
            <a:pPr algn="ctr"/>
            <a:r>
              <a:rPr lang="en-US" sz="1200" dirty="0">
                <a:solidFill>
                  <a:srgbClr val="0D1B2A"/>
                </a:solidFill>
                <a:latin typeface="Calibri"/>
                <a:ea typeface="Calibri"/>
                <a:cs typeface="Calibri"/>
              </a:rPr>
              <a:t>Even though we're not trying to identify the </a:t>
            </a:r>
            <a:r>
              <a:rPr lang="en-US" sz="1200" dirty="0" err="1">
                <a:solidFill>
                  <a:srgbClr val="0D1B2A"/>
                </a:solidFill>
                <a:latin typeface="Calibri"/>
                <a:ea typeface="Calibri"/>
                <a:cs typeface="Calibri"/>
              </a:rPr>
              <a:t>pokemon</a:t>
            </a:r>
            <a:r>
              <a:rPr lang="en-US" sz="1200" dirty="0">
                <a:solidFill>
                  <a:srgbClr val="0D1B2A"/>
                </a:solidFill>
                <a:latin typeface="Calibri"/>
                <a:ea typeface="Calibri"/>
                <a:cs typeface="Calibri"/>
              </a:rPr>
              <a:t> itself, but its type, this reasoning can be applied.</a:t>
            </a:r>
          </a:p>
        </p:txBody>
      </p:sp>
    </p:spTree>
    <p:extLst>
      <p:ext uri="{BB962C8B-B14F-4D97-AF65-F5344CB8AC3E}">
        <p14:creationId xmlns:p14="http://schemas.microsoft.com/office/powerpoint/2010/main" val="28787202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20DBA-C0C8-B936-B404-531B75B11BDD}"/>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78A4461B-9052-84D0-F80D-C209FDDE5A8B}"/>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a:extLst>
              <a:ext uri="{FF2B5EF4-FFF2-40B4-BE49-F238E27FC236}">
                <a16:creationId xmlns:a16="http://schemas.microsoft.com/office/drawing/2014/main" id="{67E573CD-D168-C91A-2665-4C531A2E637F}"/>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a:extLst>
              <a:ext uri="{FF2B5EF4-FFF2-40B4-BE49-F238E27FC236}">
                <a16:creationId xmlns:a16="http://schemas.microsoft.com/office/drawing/2014/main" id="{7D693948-50AF-9A47-67E4-BFE886F2A5D4}"/>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2A07AAD4-8B3E-34F1-4CFE-91180D8ECDE6}"/>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DF70A316-BC22-B5CA-52C0-184DD0665105}"/>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Even though some of our models achieve a perfect score, we still decided to combine other to see if the results </a:t>
            </a:r>
            <a:r>
              <a:rPr lang="en-US" sz="1200">
                <a:solidFill>
                  <a:schemeClr val="bg1"/>
                </a:solidFill>
                <a:latin typeface="Calibri"/>
                <a:ea typeface="Calibri"/>
                <a:cs typeface="Calibri"/>
              </a:rPr>
              <a:t>changed significantly by combining</a:t>
            </a:r>
            <a:r>
              <a:rPr lang="en-US" sz="1200" dirty="0">
                <a:solidFill>
                  <a:schemeClr val="bg1"/>
                </a:solidFill>
                <a:latin typeface="Calibri"/>
                <a:ea typeface="Calibri"/>
                <a:cs typeface="Calibri"/>
              </a:rPr>
              <a:t> models. </a:t>
            </a:r>
          </a:p>
          <a:p>
            <a:pPr>
              <a:buNone/>
            </a:pPr>
            <a:r>
              <a:rPr lang="en-US" sz="1200">
                <a:solidFill>
                  <a:schemeClr val="bg1"/>
                </a:solidFill>
                <a:latin typeface="Calibri"/>
                <a:ea typeface="Calibri"/>
                <a:cs typeface="Calibri"/>
              </a:rPr>
              <a:t>To help analyze possible good combinations we drew a heat map so we can  see the results of each model for each class. </a:t>
            </a:r>
          </a:p>
        </p:txBody>
      </p:sp>
      <p:sp>
        <p:nvSpPr>
          <p:cNvPr id="15" name="Shape 5">
            <a:extLst>
              <a:ext uri="{FF2B5EF4-FFF2-40B4-BE49-F238E27FC236}">
                <a16:creationId xmlns:a16="http://schemas.microsoft.com/office/drawing/2014/main" id="{E0663452-87F6-D497-728F-C9322AD6EC4A}"/>
              </a:ext>
            </a:extLst>
          </p:cNvPr>
          <p:cNvSpPr/>
          <p:nvPr/>
        </p:nvSpPr>
        <p:spPr>
          <a:xfrm>
            <a:off x="5482304" y="2182507"/>
            <a:ext cx="3391508" cy="1925755"/>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Text 7">
            <a:extLst>
              <a:ext uri="{FF2B5EF4-FFF2-40B4-BE49-F238E27FC236}">
                <a16:creationId xmlns:a16="http://schemas.microsoft.com/office/drawing/2014/main" id="{AD56327E-0491-8598-A5AA-01C1F736B423}"/>
              </a:ext>
            </a:extLst>
          </p:cNvPr>
          <p:cNvSpPr/>
          <p:nvPr/>
        </p:nvSpPr>
        <p:spPr>
          <a:xfrm>
            <a:off x="6065039" y="2180339"/>
            <a:ext cx="2221523" cy="457200"/>
          </a:xfrm>
          <a:prstGeom prst="rect">
            <a:avLst/>
          </a:prstGeom>
          <a:noFill/>
          <a:ln/>
        </p:spPr>
        <p:txBody>
          <a:bodyPr wrap="square" lIns="0" tIns="0" rIns="0" bIns="0" rtlCol="0" anchor="ctr"/>
          <a:lstStyle/>
          <a:p>
            <a:r>
              <a:rPr lang="en-US" sz="2000" b="1">
                <a:solidFill>
                  <a:srgbClr val="E97C35"/>
                </a:solidFill>
                <a:latin typeface="Trebuchet MS"/>
                <a:ea typeface="Trebuchet MS" pitchFamily="34" charset="-122"/>
                <a:cs typeface="Trebuchet MS" pitchFamily="34" charset="-120"/>
              </a:rPr>
              <a:t>Ensemble ~ Solo </a:t>
            </a:r>
            <a:r>
              <a:rPr lang="en-US" sz="2000" b="1" dirty="0">
                <a:solidFill>
                  <a:srgbClr val="E97C35"/>
                </a:solidFill>
                <a:latin typeface="Trebuchet MS"/>
                <a:ea typeface="Trebuchet MS" pitchFamily="34" charset="-122"/>
                <a:cs typeface="Trebuchet MS" pitchFamily="34" charset="-120"/>
              </a:rPr>
              <a:t>?</a:t>
            </a:r>
            <a:endParaRPr lang="en-US" sz="2000" dirty="0"/>
          </a:p>
        </p:txBody>
      </p:sp>
      <p:sp>
        <p:nvSpPr>
          <p:cNvPr id="18" name="Text 8">
            <a:extLst>
              <a:ext uri="{FF2B5EF4-FFF2-40B4-BE49-F238E27FC236}">
                <a16:creationId xmlns:a16="http://schemas.microsoft.com/office/drawing/2014/main" id="{CA3265F7-68AB-AC6B-0F78-7A1746516426}"/>
              </a:ext>
            </a:extLst>
          </p:cNvPr>
          <p:cNvSpPr/>
          <p:nvPr/>
        </p:nvSpPr>
        <p:spPr>
          <a:xfrm>
            <a:off x="5600090" y="2636454"/>
            <a:ext cx="3089680" cy="1338743"/>
          </a:xfrm>
          <a:prstGeom prst="rect">
            <a:avLst/>
          </a:prstGeom>
          <a:noFill/>
          <a:ln/>
        </p:spPr>
        <p:txBody>
          <a:bodyPr wrap="square" lIns="0" tIns="0" rIns="0" bIns="0" rtlCol="0" anchor="ctr"/>
          <a:lstStyle/>
          <a:p>
            <a:r>
              <a:rPr lang="en-US" sz="1100">
                <a:solidFill>
                  <a:srgbClr val="3D5A73"/>
                </a:solidFill>
                <a:latin typeface="Calibri"/>
                <a:ea typeface="Calibri"/>
                <a:cs typeface="Calibri"/>
              </a:rPr>
              <a:t>We tried 2 different combinations:</a:t>
            </a:r>
          </a:p>
          <a:p>
            <a:pPr marL="171450" indent="-171450">
              <a:buFont typeface="Arial"/>
              <a:buChar char="•"/>
            </a:pPr>
            <a:r>
              <a:rPr lang="en-US" sz="1100">
                <a:solidFill>
                  <a:srgbClr val="3D5A73"/>
                </a:solidFill>
                <a:latin typeface="Calibri"/>
                <a:ea typeface="Calibri"/>
                <a:cs typeface="Calibri"/>
              </a:rPr>
              <a:t>C + H: could a bad model like C affect the performance in an ensemble with H?</a:t>
            </a:r>
          </a:p>
          <a:p>
            <a:pPr marL="171450" indent="-171450">
              <a:buFont typeface="Arial"/>
              <a:buChar char="•"/>
            </a:pPr>
            <a:r>
              <a:rPr lang="en-US" sz="1100" dirty="0">
                <a:solidFill>
                  <a:srgbClr val="3D5A73"/>
                </a:solidFill>
                <a:latin typeface="Calibri"/>
                <a:ea typeface="Calibri"/>
                <a:cs typeface="Calibri"/>
              </a:rPr>
              <a:t>I + K: could two models with </a:t>
            </a:r>
            <a:r>
              <a:rPr lang="en-US" sz="1100" dirty="0" err="1">
                <a:solidFill>
                  <a:srgbClr val="3D5A73"/>
                </a:solidFill>
                <a:latin typeface="Calibri"/>
                <a:ea typeface="Calibri"/>
                <a:cs typeface="Calibri"/>
              </a:rPr>
              <a:t>val</a:t>
            </a:r>
            <a:r>
              <a:rPr lang="en-US" sz="1100" dirty="0">
                <a:solidFill>
                  <a:srgbClr val="3D5A73"/>
                </a:solidFill>
                <a:latin typeface="Calibri"/>
                <a:ea typeface="Calibri"/>
                <a:cs typeface="Calibri"/>
              </a:rPr>
              <a:t> score 1.0 be combined together to get a worse performance? (much likely not... but let's test it anyway)</a:t>
            </a:r>
          </a:p>
        </p:txBody>
      </p:sp>
      <p:sp>
        <p:nvSpPr>
          <p:cNvPr id="9" name="NumCircle">
            <a:extLst>
              <a:ext uri="{FF2B5EF4-FFF2-40B4-BE49-F238E27FC236}">
                <a16:creationId xmlns:a16="http://schemas.microsoft.com/office/drawing/2014/main" id="{3FC19CEC-77FF-F306-BE08-9D032A075334}"/>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pic>
        <p:nvPicPr>
          <p:cNvPr id="4" name="Picture 3" descr="A red and yellow chart&#10;&#10;AI-generated content may be incorrect.">
            <a:extLst>
              <a:ext uri="{FF2B5EF4-FFF2-40B4-BE49-F238E27FC236}">
                <a16:creationId xmlns:a16="http://schemas.microsoft.com/office/drawing/2014/main" id="{F4969307-FC84-7CB8-B9B5-F395526D20A7}"/>
              </a:ext>
            </a:extLst>
          </p:cNvPr>
          <p:cNvPicPr>
            <a:picLocks noChangeAspect="1"/>
          </p:cNvPicPr>
          <p:nvPr/>
        </p:nvPicPr>
        <p:blipFill>
          <a:blip r:embed="rId2"/>
          <a:srcRect l="2135" t="2808" r="384" b="19870"/>
          <a:stretch>
            <a:fillRect/>
          </a:stretch>
        </p:blipFill>
        <p:spPr>
          <a:xfrm>
            <a:off x="289266" y="1592567"/>
            <a:ext cx="4916359" cy="3465387"/>
          </a:xfrm>
          <a:prstGeom prst="rect">
            <a:avLst/>
          </a:prstGeom>
        </p:spPr>
      </p:pic>
      <p:sp>
        <p:nvSpPr>
          <p:cNvPr id="6" name="Text 7">
            <a:extLst>
              <a:ext uri="{FF2B5EF4-FFF2-40B4-BE49-F238E27FC236}">
                <a16:creationId xmlns:a16="http://schemas.microsoft.com/office/drawing/2014/main" id="{2A16F330-39AD-2554-5B80-0925945D4A7A}"/>
              </a:ext>
            </a:extLst>
          </p:cNvPr>
          <p:cNvSpPr/>
          <p:nvPr/>
        </p:nvSpPr>
        <p:spPr>
          <a:xfrm>
            <a:off x="7275844" y="2122219"/>
            <a:ext cx="2221523" cy="457200"/>
          </a:xfrm>
          <a:prstGeom prst="rect">
            <a:avLst/>
          </a:prstGeom>
          <a:noFill/>
          <a:ln/>
        </p:spPr>
        <p:txBody>
          <a:bodyPr wrap="square" lIns="0" tIns="0" rIns="0" bIns="0" rtlCol="0" anchor="ctr"/>
          <a:lstStyle/>
          <a:p>
            <a:r>
              <a:rPr lang="en-US" sz="2000" b="1">
                <a:solidFill>
                  <a:srgbClr val="E97C35"/>
                </a:solidFill>
                <a:latin typeface="Trebuchet MS"/>
                <a:ea typeface="Trebuchet MS" pitchFamily="34" charset="-122"/>
                <a:cs typeface="Trebuchet MS" pitchFamily="34" charset="-120"/>
              </a:rPr>
              <a:t>~</a:t>
            </a:r>
            <a:endParaRPr lang="en-US" sz="2000" b="1">
              <a:solidFill>
                <a:srgbClr val="E97C35"/>
              </a:solidFill>
              <a:latin typeface="Trebuchet MS"/>
            </a:endParaRPr>
          </a:p>
        </p:txBody>
      </p:sp>
    </p:spTree>
    <p:extLst>
      <p:ext uri="{BB962C8B-B14F-4D97-AF65-F5344CB8AC3E}">
        <p14:creationId xmlns:p14="http://schemas.microsoft.com/office/powerpoint/2010/main" val="13772094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4605B-F91C-8BED-A99C-00973EA5BF5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0433D6D9-B431-49A0-73F8-32CD6A043E3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a:extLst>
              <a:ext uri="{FF2B5EF4-FFF2-40B4-BE49-F238E27FC236}">
                <a16:creationId xmlns:a16="http://schemas.microsoft.com/office/drawing/2014/main" id="{39AA655E-DFCA-46F8-1411-C263A94E8474}"/>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a:extLst>
              <a:ext uri="{FF2B5EF4-FFF2-40B4-BE49-F238E27FC236}">
                <a16:creationId xmlns:a16="http://schemas.microsoft.com/office/drawing/2014/main" id="{82A82709-0143-C331-BD57-F8B66A35CDE5}"/>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9497CC0E-4D3A-DEA6-62AE-2F146282352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80A605B7-BDF3-4C82-B145-232665F7E2ED}"/>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As it turns out, [I + K] still gets a validation score of 1.0 as we expected, but [C + H]'s performance stays relatively similar to just using H (with some variance), even though C got a weight of 0.4 and H 0.6. C's bad performance is not enough to drag the ensemble's performance down</a:t>
            </a:r>
          </a:p>
        </p:txBody>
      </p:sp>
      <p:sp>
        <p:nvSpPr>
          <p:cNvPr id="9" name="NumCircle">
            <a:extLst>
              <a:ext uri="{FF2B5EF4-FFF2-40B4-BE49-F238E27FC236}">
                <a16:creationId xmlns:a16="http://schemas.microsoft.com/office/drawing/2014/main" id="{D14A1906-5B7B-814C-FBC6-9376987DB7A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pic>
        <p:nvPicPr>
          <p:cNvPr id="13" name="Picture 12" descr="A graph of a number of blue and orange bars&#10;&#10;AI-generated content may be incorrect.">
            <a:extLst>
              <a:ext uri="{FF2B5EF4-FFF2-40B4-BE49-F238E27FC236}">
                <a16:creationId xmlns:a16="http://schemas.microsoft.com/office/drawing/2014/main" id="{75E61C24-6BA4-F317-6A7B-8AC21A3B72ED}"/>
              </a:ext>
            </a:extLst>
          </p:cNvPr>
          <p:cNvPicPr>
            <a:picLocks noChangeAspect="1"/>
          </p:cNvPicPr>
          <p:nvPr/>
        </p:nvPicPr>
        <p:blipFill>
          <a:blip r:embed="rId2"/>
          <a:srcRect t="83" r="-135" b="49906"/>
          <a:stretch>
            <a:fillRect/>
          </a:stretch>
        </p:blipFill>
        <p:spPr>
          <a:xfrm>
            <a:off x="573218" y="1776872"/>
            <a:ext cx="7997579" cy="2872626"/>
          </a:xfrm>
          <a:prstGeom prst="rect">
            <a:avLst/>
          </a:prstGeom>
        </p:spPr>
      </p:pic>
    </p:spTree>
    <p:extLst>
      <p:ext uri="{BB962C8B-B14F-4D97-AF65-F5344CB8AC3E}">
        <p14:creationId xmlns:p14="http://schemas.microsoft.com/office/powerpoint/2010/main" val="23890972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What Worked vs. What Did Not</a:t>
            </a:r>
          </a:p>
        </p:txBody>
      </p:sp>
      <p:sp>
        <p:nvSpPr>
          <p:cNvPr id="10" name="WW_BG"/>
          <p:cNvSpPr/>
          <p:nvPr/>
        </p:nvSpPr>
        <p:spPr>
          <a:xfrm>
            <a:off x="2743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WW_bar"/>
          <p:cNvSpPr/>
          <p:nvPr/>
        </p:nvSpPr>
        <p:spPr>
          <a:xfrm>
            <a:off x="274320" y="740160"/>
            <a:ext cx="4205520" cy="128016"/>
          </a:xfrm>
          <a:prstGeom prst="rect">
            <a:avLst/>
          </a:prstGeom>
          <a:solidFill>
            <a:srgbClr val="00A896"/>
          </a:solidFill>
          <a:ln w="0">
            <a:noFill/>
          </a:ln>
        </p:spPr>
        <p:txBody>
          <a:bodyPr/>
          <a:lstStyle/>
          <a:p>
            <a:endParaRPr lang="en-US"/>
          </a:p>
        </p:txBody>
      </p:sp>
      <p:sp>
        <p:nvSpPr>
          <p:cNvPr id="12" name="WW_text"/>
          <p:cNvSpPr/>
          <p:nvPr/>
        </p:nvSpPr>
        <p:spPr>
          <a:xfrm>
            <a:off x="457200" y="905040"/>
            <a:ext cx="3840480" cy="3612240"/>
          </a:xfrm>
          <a:prstGeom prst="rect">
            <a:avLst/>
          </a:prstGeom>
          <a:noFill/>
          <a:ln/>
        </p:spPr>
        <p:txBody>
          <a:bodyPr wrap="square" lIns="91440" tIns="45720" rIns="91440" bIns="45720" rtlCol="0" anchor="t"/>
          <a:lstStyle/>
          <a:p>
            <a:pPr>
              <a:buNone/>
            </a:pPr>
            <a:r>
              <a:rPr lang="en-US" sz="1400" b="1">
                <a:solidFill>
                  <a:srgbClr val="00A896"/>
                </a:solidFill>
                <a:latin typeface="Trebuchet MS"/>
              </a:rPr>
              <a:t>What Worked</a:t>
            </a:r>
          </a:p>
          <a:p>
            <a:pPr marL="228600" indent="-228600">
              <a:buChar char="✓"/>
            </a:pPr>
            <a:r>
              <a:rPr lang="en-US" sz="1100" b="1" dirty="0">
                <a:solidFill>
                  <a:srgbClr val="028090"/>
                </a:solidFill>
                <a:latin typeface="Calibri" pitchFamily="34" charset="0"/>
              </a:rPr>
              <a:t>Dropout 0.3</a:t>
            </a:r>
          </a:p>
          <a:p>
            <a:r>
              <a:rPr lang="en-US" sz="1100" b="1" dirty="0">
                <a:solidFill>
                  <a:srgbClr val="028090"/>
                </a:solidFill>
                <a:latin typeface="Calibri" pitchFamily="34" charset="0"/>
              </a:rPr>
              <a:t>	</a:t>
            </a:r>
            <a:r>
              <a:rPr lang="en-US" sz="1000" dirty="0">
                <a:solidFill>
                  <a:srgbClr val="1A2B3C"/>
                </a:solidFill>
                <a:latin typeface="Calibri" pitchFamily="34" charset="0"/>
              </a:rPr>
              <a:t>- 0.4 was too heavy, 0.15 too light</a:t>
            </a:r>
          </a:p>
          <a:p>
            <a:pPr marL="228600" indent="-228600">
              <a:buChar char="✓"/>
            </a:pPr>
            <a:r>
              <a:rPr lang="en-US" sz="1100" b="1" dirty="0">
                <a:solidFill>
                  <a:srgbClr val="028090"/>
                </a:solidFill>
                <a:latin typeface="Calibri" pitchFamily="34" charset="0"/>
              </a:rPr>
              <a:t>Weighted </a:t>
            </a:r>
            <a:r>
              <a:rPr lang="en-US" sz="1100" b="1" dirty="0" err="1">
                <a:solidFill>
                  <a:srgbClr val="028090"/>
                </a:solidFill>
                <a:latin typeface="Calibri" pitchFamily="34" charset="0"/>
              </a:rPr>
              <a:t>CrossEntropyLoss</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prevents collapse on minority classes (Ground, Rock)</a:t>
            </a:r>
          </a:p>
          <a:p>
            <a:pPr marL="228600" indent="-228600">
              <a:buChar char="✓"/>
            </a:pPr>
            <a:r>
              <a:rPr lang="en-US" sz="1100" b="1" dirty="0" err="1">
                <a:solidFill>
                  <a:srgbClr val="028090"/>
                </a:solidFill>
                <a:latin typeface="Calibri" pitchFamily="34" charset="0"/>
              </a:rPr>
              <a:t>WeightedRandomSampler</a:t>
            </a:r>
            <a:r>
              <a:rPr lang="en-US" sz="1100" b="1" dirty="0">
                <a:solidFill>
                  <a:srgbClr val="028090"/>
                </a:solidFill>
                <a:latin typeface="Calibri" pitchFamily="34" charset="0"/>
              </a:rPr>
              <a:t> </a:t>
            </a:r>
          </a:p>
          <a:p>
            <a:pPr lvl="1"/>
            <a:r>
              <a:rPr lang="en-US" sz="1000">
                <a:solidFill>
                  <a:srgbClr val="1A2B3C"/>
                </a:solidFill>
                <a:latin typeface="Calibri"/>
                <a:ea typeface="Calibri"/>
                <a:cs typeface="Calibri"/>
              </a:rPr>
              <a:t>- all top models use it</a:t>
            </a:r>
          </a:p>
          <a:p>
            <a:pPr marL="228600" indent="-228600">
              <a:buChar char="✓"/>
            </a:pPr>
            <a:r>
              <a:rPr lang="en-US" sz="1100" b="1" dirty="0" err="1">
                <a:solidFill>
                  <a:srgbClr val="028090"/>
                </a:solidFill>
                <a:latin typeface="Calibri"/>
                <a:ea typeface="Calibri"/>
                <a:cs typeface="Calibri"/>
              </a:rPr>
              <a:t>BatchNorm</a:t>
            </a:r>
            <a:endParaRPr lang="en-US" sz="1100" b="1" dirty="0" err="1">
              <a:solidFill>
                <a:srgbClr val="028090"/>
              </a:solidFill>
              <a:latin typeface="Calibri" pitchFamily="34" charset="0"/>
              <a:ea typeface="Calibri"/>
              <a:cs typeface="Calibri"/>
            </a:endParaRPr>
          </a:p>
          <a:p>
            <a:pPr lvl="1"/>
            <a:r>
              <a:rPr lang="en-US" sz="1000">
                <a:solidFill>
                  <a:srgbClr val="1A2B3C"/>
                </a:solidFill>
                <a:latin typeface="Calibri"/>
                <a:ea typeface="Calibri"/>
                <a:cs typeface="Calibri"/>
              </a:rPr>
              <a:t>- stabilizes gradients; increases training speed effectively</a:t>
            </a:r>
          </a:p>
          <a:p>
            <a:pPr marL="228600" indent="-228600">
              <a:buChar char="✓"/>
            </a:pPr>
            <a:r>
              <a:rPr lang="en-US" sz="1100" b="1">
                <a:solidFill>
                  <a:srgbClr val="028090"/>
                </a:solidFill>
                <a:latin typeface="Calibri"/>
                <a:ea typeface="Calibri"/>
                <a:cs typeface="Calibri"/>
              </a:rPr>
              <a:t>Deeper/Wider networks</a:t>
            </a:r>
            <a:endParaRPr lang="en-US" dirty="0"/>
          </a:p>
          <a:p>
            <a:pPr lvl="1"/>
            <a:r>
              <a:rPr lang="en-US" sz="1000">
                <a:solidFill>
                  <a:srgbClr val="1A2B3C"/>
                </a:solidFill>
                <a:latin typeface="Calibri"/>
                <a:ea typeface="Calibri"/>
                <a:cs typeface="Calibri"/>
              </a:rPr>
              <a:t>- increases the amount of information/detail passed to the classifier </a:t>
            </a:r>
            <a:r>
              <a:rPr lang="en-US" sz="1000" dirty="0">
                <a:solidFill>
                  <a:srgbClr val="1A2B3C"/>
                </a:solidFill>
                <a:latin typeface="Calibri"/>
                <a:ea typeface="Calibri"/>
                <a:cs typeface="Calibri"/>
              </a:rPr>
              <a:t>head</a:t>
            </a:r>
          </a:p>
        </p:txBody>
      </p:sp>
      <p:sp>
        <p:nvSpPr>
          <p:cNvPr id="20" name="WND_BG"/>
          <p:cNvSpPr/>
          <p:nvPr/>
        </p:nvSpPr>
        <p:spPr>
          <a:xfrm>
            <a:off x="46639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WND_bar"/>
          <p:cNvSpPr/>
          <p:nvPr/>
        </p:nvSpPr>
        <p:spPr>
          <a:xfrm>
            <a:off x="4663920" y="740160"/>
            <a:ext cx="4205520" cy="128016"/>
          </a:xfrm>
          <a:prstGeom prst="rect">
            <a:avLst/>
          </a:prstGeom>
          <a:solidFill>
            <a:srgbClr val="C0392B"/>
          </a:solidFill>
          <a:ln w="0">
            <a:noFill/>
          </a:ln>
        </p:spPr>
        <p:txBody>
          <a:bodyPr/>
          <a:lstStyle/>
          <a:p>
            <a:endParaRPr lang="en-US"/>
          </a:p>
        </p:txBody>
      </p:sp>
      <p:sp>
        <p:nvSpPr>
          <p:cNvPr id="22" name="WND_text"/>
          <p:cNvSpPr/>
          <p:nvPr/>
        </p:nvSpPr>
        <p:spPr>
          <a:xfrm>
            <a:off x="4846800" y="905040"/>
            <a:ext cx="3840480" cy="3612240"/>
          </a:xfrm>
          <a:prstGeom prst="rect">
            <a:avLst/>
          </a:prstGeom>
          <a:noFill/>
          <a:ln/>
        </p:spPr>
        <p:txBody>
          <a:bodyPr wrap="square" lIns="91440" tIns="45720" rIns="91440" bIns="45720" rtlCol="0" anchor="t"/>
          <a:lstStyle/>
          <a:p>
            <a:pPr>
              <a:buNone/>
            </a:pPr>
            <a:r>
              <a:rPr lang="en-US" sz="1400" b="1">
                <a:solidFill>
                  <a:srgbClr val="C0392B"/>
                </a:solidFill>
                <a:latin typeface="Trebuchet MS"/>
              </a:rPr>
              <a:t>What Did Not Work</a:t>
            </a:r>
          </a:p>
          <a:p>
            <a:pPr marL="228600" indent="-228600">
              <a:buChar char="✗"/>
            </a:pPr>
            <a:r>
              <a:rPr lang="en-US" sz="1100" b="1">
                <a:solidFill>
                  <a:srgbClr val="C0392B"/>
                </a:solidFill>
                <a:latin typeface="Calibri"/>
                <a:ea typeface="Calibri"/>
                <a:cs typeface="Calibri"/>
              </a:rPr>
              <a:t>Augmentation (flip/jitter/rotate/...) </a:t>
            </a:r>
          </a:p>
          <a:p>
            <a:pPr lvl="1"/>
            <a:r>
              <a:rPr lang="en-US" sz="1000" b="1" dirty="0">
                <a:solidFill>
                  <a:srgbClr val="C0392B"/>
                </a:solidFill>
                <a:latin typeface="Calibri"/>
                <a:ea typeface="Calibri"/>
                <a:cs typeface="Calibri"/>
              </a:rPr>
              <a:t>- </a:t>
            </a:r>
            <a:r>
              <a:rPr lang="en-US" sz="1000" dirty="0">
                <a:solidFill>
                  <a:srgbClr val="1A2B3C"/>
                </a:solidFill>
                <a:latin typeface="Calibri"/>
                <a:ea typeface="Calibri"/>
                <a:cs typeface="Calibri"/>
              </a:rPr>
              <a:t>0.0149 F1; the </a:t>
            </a:r>
            <a:r>
              <a:rPr lang="en-US" sz="1000" dirty="0" err="1">
                <a:solidFill>
                  <a:srgbClr val="1A2B3C"/>
                </a:solidFill>
                <a:latin typeface="Calibri"/>
                <a:ea typeface="Calibri"/>
                <a:cs typeface="Calibri"/>
              </a:rPr>
              <a:t>pokemons</a:t>
            </a:r>
            <a:r>
              <a:rPr lang="en-US" sz="1000" dirty="0">
                <a:solidFill>
                  <a:srgbClr val="1A2B3C"/>
                </a:solidFill>
                <a:latin typeface="Calibri"/>
                <a:ea typeface="Calibri"/>
                <a:cs typeface="Calibri"/>
              </a:rPr>
              <a:t> are always the same way, the only thing that changes are the background at the position; CNNs are translation invariant so the only real thing that changes for our network is the background. The more aggressive the augmentation is the bigger the decay in performance</a:t>
            </a:r>
          </a:p>
          <a:p>
            <a:pPr marL="228600" indent="-228600">
              <a:buChar char="✗"/>
            </a:pPr>
            <a:r>
              <a:rPr lang="en-US" sz="1100" b="1">
                <a:solidFill>
                  <a:srgbClr val="C0392B"/>
                </a:solidFill>
                <a:latin typeface="Calibri"/>
                <a:ea typeface="Calibri"/>
                <a:cs typeface="Calibri"/>
              </a:rPr>
              <a:t>Many FC layers</a:t>
            </a:r>
            <a:endParaRPr lang="en-US" sz="1100" b="1" dirty="0">
              <a:solidFill>
                <a:srgbClr val="C0392B"/>
              </a:solidFill>
              <a:latin typeface="Calibri"/>
              <a:ea typeface="Calibri"/>
              <a:cs typeface="Calibri"/>
            </a:endParaRPr>
          </a:p>
          <a:p>
            <a:pPr lvl="1"/>
            <a:r>
              <a:rPr lang="en-US" sz="1000">
                <a:solidFill>
                  <a:srgbClr val="1A2B3C"/>
                </a:solidFill>
                <a:latin typeface="Calibri"/>
                <a:ea typeface="Calibri"/>
                <a:cs typeface="Calibri"/>
              </a:rPr>
              <a:t>- 3 or more FC layers starts giving us a slower training and worse </a:t>
            </a:r>
            <a:r>
              <a:rPr lang="en-US" sz="1000" dirty="0">
                <a:solidFill>
                  <a:srgbClr val="1A2B3C"/>
                </a:solidFill>
                <a:latin typeface="Calibri"/>
                <a:ea typeface="Calibri"/>
                <a:cs typeface="Calibri"/>
              </a:rPr>
              <a:t>results; keep it simple and let convolutional layers learn the information, then pass them to minimal FC layers</a:t>
            </a:r>
          </a:p>
          <a:p>
            <a:pPr marL="228600" indent="-228600">
              <a:buChar char="✗"/>
            </a:pPr>
            <a:r>
              <a:rPr lang="en-US" sz="1100" b="1" dirty="0">
                <a:solidFill>
                  <a:srgbClr val="C0392B"/>
                </a:solidFill>
                <a:latin typeface="Calibri" pitchFamily="34" charset="0"/>
              </a:rPr>
              <a:t>Grayscale input </a:t>
            </a:r>
          </a:p>
          <a:p>
            <a:pPr lvl="1"/>
            <a:r>
              <a:rPr lang="en-US" sz="1000" b="1" dirty="0">
                <a:solidFill>
                  <a:srgbClr val="C0392B"/>
                </a:solidFill>
                <a:latin typeface="Calibri"/>
                <a:ea typeface="Calibri"/>
                <a:cs typeface="Calibri"/>
              </a:rPr>
              <a:t>-  </a:t>
            </a:r>
            <a:r>
              <a:rPr lang="en-US" sz="1000" dirty="0">
                <a:solidFill>
                  <a:srgbClr val="1A2B3C"/>
                </a:solidFill>
                <a:latin typeface="Calibri"/>
                <a:ea typeface="Calibri"/>
                <a:cs typeface="Calibri"/>
              </a:rPr>
              <a:t>0.0481; </a:t>
            </a:r>
            <a:r>
              <a:rPr lang="en-US" sz="1000" dirty="0" err="1">
                <a:solidFill>
                  <a:srgbClr val="1A2B3C"/>
                </a:solidFill>
                <a:latin typeface="Calibri"/>
                <a:ea typeface="Calibri"/>
                <a:cs typeface="Calibri"/>
              </a:rPr>
              <a:t>colour</a:t>
            </a:r>
            <a:r>
              <a:rPr lang="en-US" sz="1000" dirty="0">
                <a:solidFill>
                  <a:srgbClr val="1A2B3C"/>
                </a:solidFill>
                <a:latin typeface="Calibri"/>
                <a:ea typeface="Calibri"/>
                <a:cs typeface="Calibri"/>
              </a:rPr>
              <a:t> is a key discriminative signal, removing it degrades performance</a:t>
            </a:r>
          </a:p>
          <a:p>
            <a:pPr marL="228600" indent="-228600">
              <a:buChar char="✗"/>
            </a:pPr>
            <a:r>
              <a:rPr lang="en-US" sz="1100" b="1">
                <a:solidFill>
                  <a:srgbClr val="C0392B"/>
                </a:solidFill>
                <a:latin typeface="Calibri"/>
                <a:ea typeface="Calibri"/>
                <a:cs typeface="Calibri"/>
              </a:rPr>
              <a:t>Ensembles</a:t>
            </a:r>
            <a:endParaRPr lang="en-US" sz="1100" b="1">
              <a:solidFill>
                <a:srgbClr val="C0392B"/>
              </a:solidFill>
              <a:latin typeface="Calibri" pitchFamily="34" charset="0"/>
              <a:ea typeface="Calibri"/>
              <a:cs typeface="Calibri"/>
            </a:endParaRPr>
          </a:p>
          <a:p>
            <a:pPr lvl="1"/>
            <a:r>
              <a:rPr lang="en-US" sz="1100" b="1" dirty="0">
                <a:solidFill>
                  <a:srgbClr val="C0392B"/>
                </a:solidFill>
                <a:latin typeface="Calibri"/>
                <a:ea typeface="Calibri"/>
                <a:cs typeface="Calibri"/>
              </a:rPr>
              <a:t>-  </a:t>
            </a:r>
            <a:r>
              <a:rPr lang="en-US" sz="1000" dirty="0">
                <a:solidFill>
                  <a:srgbClr val="1A2B3C"/>
                </a:solidFill>
                <a:latin typeface="Calibri"/>
                <a:ea typeface="Calibri"/>
                <a:cs typeface="Calibri"/>
              </a:rPr>
              <a:t>Ensembled models </a:t>
            </a:r>
            <a:r>
              <a:rPr lang="en-US" sz="1000">
                <a:solidFill>
                  <a:srgbClr val="1A2B3C"/>
                </a:solidFill>
                <a:latin typeface="Calibri"/>
                <a:ea typeface="Calibri"/>
                <a:cs typeface="Calibri"/>
              </a:rPr>
              <a:t>could not</a:t>
            </a:r>
            <a:r>
              <a:rPr lang="en-US" sz="1000" dirty="0">
                <a:solidFill>
                  <a:srgbClr val="1A2B3C"/>
                </a:solidFill>
                <a:latin typeface="Calibri"/>
                <a:ea typeface="Calibri"/>
                <a:cs typeface="Calibri"/>
              </a:rPr>
              <a:t> achieve a better performance</a:t>
            </a:r>
          </a:p>
          <a:p>
            <a:pPr marL="228600" indent="-228600">
              <a:buChar char="✗"/>
            </a:pPr>
            <a:r>
              <a:rPr lang="en-US" sz="1100" b="1">
                <a:solidFill>
                  <a:srgbClr val="C0392B"/>
                </a:solidFill>
                <a:latin typeface="Calibri"/>
                <a:ea typeface="Calibri"/>
                <a:cs typeface="Calibri"/>
              </a:rPr>
              <a:t>Label Smoothing</a:t>
            </a:r>
            <a:endParaRPr lang="en-US" sz="1100" b="1" dirty="0">
              <a:solidFill>
                <a:srgbClr val="C0392B"/>
              </a:solidFill>
              <a:latin typeface="Calibri"/>
              <a:ea typeface="Calibri"/>
              <a:cs typeface="Calibri"/>
            </a:endParaRPr>
          </a:p>
          <a:p>
            <a:pPr lvl="1"/>
            <a:r>
              <a:rPr lang="en-US" sz="1100" b="1" dirty="0">
                <a:solidFill>
                  <a:srgbClr val="C0392B"/>
                </a:solidFill>
                <a:latin typeface="Calibri"/>
                <a:ea typeface="Calibri"/>
                <a:cs typeface="Calibri"/>
              </a:rPr>
              <a:t>- </a:t>
            </a:r>
            <a:r>
              <a:rPr lang="en-US" sz="1000">
                <a:solidFill>
                  <a:srgbClr val="1A2B3C"/>
                </a:solidFill>
                <a:latin typeface="Calibri"/>
                <a:ea typeface="Calibri"/>
                <a:cs typeface="Calibri"/>
              </a:rPr>
              <a:t>CNNs can already achieve top performance, introducing noise can hurt our models</a:t>
            </a:r>
          </a:p>
          <a:p>
            <a:pPr lvl="1"/>
            <a:endParaRPr lang="en-US" sz="1000" dirty="0">
              <a:solidFill>
                <a:srgbClr val="1A2B3C"/>
              </a:solidFill>
              <a:latin typeface="Calibri" pitchFamily="34" charset="0"/>
              <a:ea typeface="Calibri"/>
              <a:cs typeface="Calibri"/>
            </a:endParaRPr>
          </a:p>
        </p:txBody>
      </p:sp>
      <p:sp>
        <p:nvSpPr>
          <p:cNvPr id="7" name="NumCircle">
            <a:extLst>
              <a:ext uri="{FF2B5EF4-FFF2-40B4-BE49-F238E27FC236}">
                <a16:creationId xmlns:a16="http://schemas.microsoft.com/office/drawing/2014/main" id="{7A802B6A-95BB-C879-9108-BFFAB428459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MODEL DEV</a:t>
            </a:r>
            <a:endParaRPr lang="en-US" b="1" dirty="0"/>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strike="sngStrike" dirty="0">
                <a:solidFill>
                  <a:srgbClr val="0D1B2A"/>
                </a:solidFill>
                <a:latin typeface="Trebuchet MS"/>
              </a:rPr>
              <a:t>MLP Ceiling ~0.24</a:t>
            </a:r>
            <a:r>
              <a:rPr lang="en-US" sz="2200" b="1">
                <a:solidFill>
                  <a:srgbClr val="0D1B2A"/>
                </a:solidFill>
                <a:latin typeface="Trebuchet MS"/>
              </a:rPr>
              <a:t> CNN can achieve a 1.0 score!</a:t>
            </a:r>
          </a:p>
        </p:txBody>
      </p:sp>
      <p:sp>
        <p:nvSpPr>
          <p:cNvPr id="20" name="R_BG"/>
          <p:cNvSpPr/>
          <p:nvPr/>
        </p:nvSpPr>
        <p:spPr>
          <a:xfrm>
            <a:off x="104989" y="2983957"/>
            <a:ext cx="3932640" cy="2030640"/>
          </a:xfrm>
          <a:prstGeom prst="rect">
            <a:avLst/>
          </a:prstGeom>
          <a:solidFill>
            <a:srgbClr val="0D1B2A"/>
          </a:solidFill>
          <a:ln w="0">
            <a:noFill/>
          </a:ln>
        </p:spPr>
        <p:txBody>
          <a:bodyPr/>
          <a:lstStyle/>
          <a:p>
            <a:endParaRPr lang="en-US"/>
          </a:p>
        </p:txBody>
      </p:sp>
      <p:sp>
        <p:nvSpPr>
          <p:cNvPr id="21" name="R_text"/>
          <p:cNvSpPr/>
          <p:nvPr/>
        </p:nvSpPr>
        <p:spPr>
          <a:xfrm>
            <a:off x="288589" y="3058117"/>
            <a:ext cx="3566640" cy="1875106"/>
          </a:xfrm>
          <a:prstGeom prst="rect">
            <a:avLst/>
          </a:prstGeom>
          <a:noFill/>
          <a:ln/>
        </p:spPr>
        <p:txBody>
          <a:bodyPr wrap="square" lIns="91440" tIns="45720" rIns="91440" bIns="45720" rtlCol="0" anchor="t"/>
          <a:lstStyle/>
          <a:p>
            <a:pPr>
              <a:buNone/>
            </a:pPr>
            <a:r>
              <a:rPr lang="en-US" sz="1300" b="1" dirty="0">
                <a:solidFill>
                  <a:srgbClr val="00A896"/>
                </a:solidFill>
                <a:latin typeface="Trebuchet MS" pitchFamily="34" charset="0"/>
              </a:rPr>
              <a:t>Confirmed ceiling metrics</a:t>
            </a:r>
          </a:p>
          <a:p>
            <a:pPr>
              <a:buNone/>
            </a:pPr>
            <a:endParaRPr lang="en-US" sz="1000" dirty="0">
              <a:solidFill>
                <a:srgbClr val="AACCD8"/>
              </a:solidFill>
              <a:latin typeface="Calibri" pitchFamily="34" charset="0"/>
            </a:endParaRPr>
          </a:p>
          <a:p>
            <a:r>
              <a:rPr lang="en-US" sz="1000" dirty="0">
                <a:solidFill>
                  <a:srgbClr val="AACCD8"/>
                </a:solidFill>
                <a:latin typeface="Calibri"/>
                <a:ea typeface="Calibri"/>
                <a:cs typeface="Calibri"/>
              </a:rPr>
              <a:t>best </a:t>
            </a:r>
            <a:r>
              <a:rPr lang="en-US" sz="1000" dirty="0" err="1">
                <a:solidFill>
                  <a:srgbClr val="AACCD8"/>
                </a:solidFill>
                <a:latin typeface="Calibri"/>
                <a:ea typeface="Calibri"/>
                <a:cs typeface="Calibri"/>
              </a:rPr>
              <a:t>val</a:t>
            </a:r>
            <a:r>
              <a:rPr lang="en-US" sz="1000" dirty="0">
                <a:solidFill>
                  <a:srgbClr val="AACCD8"/>
                </a:solidFill>
                <a:latin typeface="Calibri"/>
                <a:ea typeface="Calibri"/>
                <a:cs typeface="Calibri"/>
              </a:rPr>
              <a:t> macro-F1 (I, J, K, L, M, [I+K])</a:t>
            </a:r>
            <a:endParaRPr lang="en-US" sz="1000" dirty="0">
              <a:solidFill>
                <a:srgbClr val="AACCD8"/>
              </a:solidFill>
              <a:latin typeface="Calibri" pitchFamily="34" charset="0"/>
              <a:ea typeface="Calibri"/>
              <a:cs typeface="Calibri"/>
            </a:endParaRPr>
          </a:p>
          <a:p>
            <a:r>
              <a:rPr lang="en-US" sz="2800" b="1">
                <a:solidFill>
                  <a:srgbClr val="FFFFFF"/>
                </a:solidFill>
                <a:latin typeface="Trebuchet MS"/>
              </a:rPr>
              <a:t>1.0</a:t>
            </a:r>
            <a:endParaRPr lang="en-US" sz="2800" b="1">
              <a:solidFill>
                <a:srgbClr val="FFFFFF"/>
              </a:solidFill>
              <a:latin typeface="Trebuchet MS" pitchFamily="34" charset="0"/>
            </a:endParaRP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Kaggle public score</a:t>
            </a:r>
          </a:p>
          <a:p>
            <a:r>
              <a:rPr lang="en-US" sz="2800" b="1">
                <a:solidFill>
                  <a:srgbClr val="FFFFFF"/>
                </a:solidFill>
                <a:latin typeface="Trebuchet MS"/>
              </a:rPr>
              <a:t>0.99720</a:t>
            </a:r>
          </a:p>
          <a:p>
            <a:pPr>
              <a:buNone/>
            </a:pPr>
            <a:endParaRPr lang="en-US" sz="1000" dirty="0">
              <a:solidFill>
                <a:srgbClr val="AACCD8"/>
              </a:solidFill>
              <a:latin typeface="Calibri" pitchFamily="34" charset="0"/>
            </a:endParaRPr>
          </a:p>
        </p:txBody>
      </p:sp>
      <p:sp>
        <p:nvSpPr>
          <p:cNvPr id="8" name="R_BG">
            <a:extLst>
              <a:ext uri="{FF2B5EF4-FFF2-40B4-BE49-F238E27FC236}">
                <a16:creationId xmlns:a16="http://schemas.microsoft.com/office/drawing/2014/main" id="{7D5E87DB-8C64-CE72-5E54-E8C7DD26EE11}"/>
              </a:ext>
            </a:extLst>
          </p:cNvPr>
          <p:cNvSpPr/>
          <p:nvPr/>
        </p:nvSpPr>
        <p:spPr>
          <a:xfrm>
            <a:off x="4389599" y="3003132"/>
            <a:ext cx="4649411" cy="2030640"/>
          </a:xfrm>
          <a:prstGeom prst="rect">
            <a:avLst/>
          </a:prstGeom>
          <a:solidFill>
            <a:srgbClr val="0D1B2A"/>
          </a:solidFill>
          <a:ln w="0">
            <a:noFill/>
          </a:ln>
        </p:spPr>
        <p:txBody>
          <a:bodyPr/>
          <a:lstStyle/>
          <a:p>
            <a:endParaRPr lang="en-US"/>
          </a:p>
        </p:txBody>
      </p:sp>
      <p:sp>
        <p:nvSpPr>
          <p:cNvPr id="9" name="R_text">
            <a:extLst>
              <a:ext uri="{FF2B5EF4-FFF2-40B4-BE49-F238E27FC236}">
                <a16:creationId xmlns:a16="http://schemas.microsoft.com/office/drawing/2014/main" id="{2D75AC84-A178-5D20-2E55-18EDC3E113AE}"/>
              </a:ext>
            </a:extLst>
          </p:cNvPr>
          <p:cNvSpPr/>
          <p:nvPr/>
        </p:nvSpPr>
        <p:spPr>
          <a:xfrm>
            <a:off x="4573200" y="3077292"/>
            <a:ext cx="4465810" cy="1956480"/>
          </a:xfrm>
          <a:prstGeom prst="rect">
            <a:avLst/>
          </a:prstGeom>
          <a:noFill/>
          <a:ln/>
        </p:spPr>
        <p:txBody>
          <a:bodyPr wrap="square" lIns="91440" tIns="45720" rIns="91440" bIns="45720" rtlCol="0" anchor="t"/>
          <a:lstStyle/>
          <a:p>
            <a:r>
              <a:rPr lang="en-US" sz="1300" b="1">
                <a:solidFill>
                  <a:srgbClr val="00A896"/>
                </a:solidFill>
                <a:latin typeface="Trebuchet MS"/>
              </a:rPr>
              <a:t>Why are CNNs so much better than MLP for this task?</a:t>
            </a:r>
            <a:endParaRPr lang="en-US" sz="1300" b="1" dirty="0">
              <a:solidFill>
                <a:srgbClr val="00A896"/>
              </a:solidFill>
              <a:latin typeface="Trebuchet MS" pitchFamily="34" charset="0"/>
            </a:endParaRPr>
          </a:p>
          <a:p>
            <a:pPr marL="228600" indent="-228600">
              <a:buChar char="•"/>
            </a:pPr>
            <a:r>
              <a:rPr lang="en-US" sz="1100" dirty="0">
                <a:solidFill>
                  <a:schemeClr val="bg1"/>
                </a:solidFill>
                <a:latin typeface="Calibri"/>
                <a:ea typeface="Calibri"/>
                <a:cs typeface="Calibri"/>
              </a:rPr>
              <a:t>The amount of parameters that an MLP generates is too much, we would need a huge dataset to get good results (note that MLPs are more powerful than CNNs - not the contrary)</a:t>
            </a:r>
            <a:endParaRPr lang="en-US" sz="1100" dirty="0">
              <a:solidFill>
                <a:schemeClr val="bg1"/>
              </a:solidFill>
              <a:latin typeface="Calibri" pitchFamily="34" charset="0"/>
              <a:ea typeface="Calibri"/>
              <a:cs typeface="Calibri"/>
            </a:endParaRPr>
          </a:p>
          <a:p>
            <a:pPr marL="228600" indent="-228600">
              <a:buFont typeface="Arial"/>
              <a:buChar char="•"/>
            </a:pPr>
            <a:r>
              <a:rPr lang="en-US" sz="1100" dirty="0">
                <a:solidFill>
                  <a:schemeClr val="bg1"/>
                </a:solidFill>
                <a:latin typeface="Calibri"/>
                <a:ea typeface="Calibri"/>
                <a:cs typeface="Calibri"/>
              </a:rPr>
              <a:t>This problem screams CNN! The dataset has images, In which the </a:t>
            </a:r>
            <a:r>
              <a:rPr lang="en-US" sz="1100" dirty="0" err="1">
                <a:solidFill>
                  <a:schemeClr val="bg1"/>
                </a:solidFill>
                <a:latin typeface="Calibri"/>
                <a:ea typeface="Calibri"/>
                <a:cs typeface="Calibri"/>
              </a:rPr>
              <a:t>pokemons</a:t>
            </a:r>
            <a:r>
              <a:rPr lang="en-US" sz="1100" dirty="0">
                <a:solidFill>
                  <a:schemeClr val="bg1"/>
                </a:solidFill>
                <a:latin typeface="Calibri"/>
                <a:ea typeface="Calibri"/>
                <a:cs typeface="Calibri"/>
              </a:rPr>
              <a:t> always appear in the same way, only changing their position and the background: CNNs are invariant to translations! MLPs lose all sense of spatial structure</a:t>
            </a:r>
          </a:p>
          <a:p>
            <a:r>
              <a:rPr lang="en-US" sz="1100" b="1" dirty="0">
                <a:solidFill>
                  <a:schemeClr val="accent2">
                    <a:lumMod val="40000"/>
                    <a:lumOff val="60000"/>
                  </a:schemeClr>
                </a:solidFill>
                <a:latin typeface="Calibri"/>
                <a:ea typeface="Calibri"/>
                <a:cs typeface="Calibri"/>
              </a:rPr>
              <a:t>Next: Transfer Learning and Fine-Tuning (Task 3) - can we achieve the </a:t>
            </a:r>
            <a:r>
              <a:rPr lang="en-US" sz="1100" b="1">
                <a:solidFill>
                  <a:schemeClr val="accent2">
                    <a:lumMod val="40000"/>
                    <a:lumOff val="60000"/>
                  </a:schemeClr>
                </a:solidFill>
                <a:latin typeface="Calibri"/>
                <a:ea typeface="Calibri"/>
                <a:cs typeface="Calibri"/>
              </a:rPr>
              <a:t>same performance by replacing the classifier head of a pretrained model?</a:t>
            </a:r>
          </a:p>
        </p:txBody>
      </p:sp>
      <p:sp>
        <p:nvSpPr>
          <p:cNvPr id="10" name="NumCircle">
            <a:extLst>
              <a:ext uri="{FF2B5EF4-FFF2-40B4-BE49-F238E27FC236}">
                <a16:creationId xmlns:a16="http://schemas.microsoft.com/office/drawing/2014/main" id="{95FB885E-C505-9EB3-195B-57A20793EF10}"/>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a:t>
            </a:r>
          </a:p>
        </p:txBody>
      </p:sp>
      <p:pic>
        <p:nvPicPr>
          <p:cNvPr id="6" name="Picture 5" descr="A graph of a number of blue and orange bars&#10;&#10;AI-generated content may be incorrect.">
            <a:extLst>
              <a:ext uri="{FF2B5EF4-FFF2-40B4-BE49-F238E27FC236}">
                <a16:creationId xmlns:a16="http://schemas.microsoft.com/office/drawing/2014/main" id="{D64762DA-D57E-BC1B-30A5-4CC05B384AF5}"/>
              </a:ext>
            </a:extLst>
          </p:cNvPr>
          <p:cNvPicPr>
            <a:picLocks noChangeAspect="1"/>
          </p:cNvPicPr>
          <p:nvPr/>
        </p:nvPicPr>
        <p:blipFill>
          <a:blip r:embed="rId2"/>
          <a:srcRect t="83" r="-135" b="49906"/>
          <a:stretch>
            <a:fillRect/>
          </a:stretch>
        </p:blipFill>
        <p:spPr>
          <a:xfrm>
            <a:off x="941303" y="604812"/>
            <a:ext cx="6612418" cy="235924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3EE28-55CF-2A0C-B599-838CF5304E7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BFEFC70-E410-DBB4-206D-96C6ACBFA2F2}"/>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4407192D-0EFF-E9E6-10E4-81A15ED0457D}"/>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21B1B3AB-5E55-E888-0241-EB18105E4A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FD4A7F51-A87E-B10A-D5DF-6C25D8469868}"/>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2942649-A305-A3D2-17F1-23E1356F94E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86A7FFC-A886-35D2-7A56-D6C122CD8814}"/>
              </a:ext>
            </a:extLst>
          </p:cNvPr>
          <p:cNvSpPr/>
          <p:nvPr/>
        </p:nvSpPr>
        <p:spPr>
          <a:xfrm>
            <a:off x="1298741" y="1161287"/>
            <a:ext cx="6400800" cy="82296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Training Efficiency</a:t>
            </a:r>
          </a:p>
        </p:txBody>
      </p:sp>
      <p:sp>
        <p:nvSpPr>
          <p:cNvPr id="14" name="Rectangle: Rounded Corners 13">
            <a:extLst>
              <a:ext uri="{FF2B5EF4-FFF2-40B4-BE49-F238E27FC236}">
                <a16:creationId xmlns:a16="http://schemas.microsoft.com/office/drawing/2014/main" id="{7E90CD51-2298-5ED9-5E21-B71BDE7A1FC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2</a:t>
            </a:r>
            <a:endParaRPr lang="pt-PT" b="1" dirty="0"/>
          </a:p>
        </p:txBody>
      </p:sp>
      <p:cxnSp>
        <p:nvCxnSpPr>
          <p:cNvPr id="16" name="Straight Connector 15">
            <a:extLst>
              <a:ext uri="{FF2B5EF4-FFF2-40B4-BE49-F238E27FC236}">
                <a16:creationId xmlns:a16="http://schemas.microsoft.com/office/drawing/2014/main" id="{1E24B3DA-F191-6340-AD8B-455082D9E991}"/>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252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Compute Strategy &amp; Resource Usage</a:t>
            </a:r>
            <a:endParaRPr lang="en-US" sz="2200" dirty="0"/>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sp>
        <p:nvSpPr>
          <p:cNvPr id="6" name="Shape 4"/>
          <p:cNvSpPr/>
          <p:nvPr/>
        </p:nvSpPr>
        <p:spPr>
          <a:xfrm>
            <a:off x="347472"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T4 GPU</a:t>
            </a:r>
            <a:endParaRPr lang="en-US" sz="2200" dirty="0"/>
          </a:p>
        </p:txBody>
      </p:sp>
      <p:sp>
        <p:nvSpPr>
          <p:cNvPr id="9" name="Text 7"/>
          <p:cNvSpPr/>
          <p:nvPr/>
        </p:nvSpPr>
        <p:spPr>
          <a:xfrm>
            <a:off x="347472"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Colab free tier / 15 GB VRAM</a:t>
            </a:r>
            <a:endParaRPr lang="en-US" sz="1000" dirty="0"/>
          </a:p>
        </p:txBody>
      </p:sp>
      <p:sp>
        <p:nvSpPr>
          <p:cNvPr id="10" name="Shape 8"/>
          <p:cNvSpPr/>
          <p:nvPr/>
        </p:nvSpPr>
        <p:spPr>
          <a:xfrm>
            <a:off x="2523744"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587"/>
            <a:ext cx="1993392" cy="438912"/>
          </a:xfrm>
          <a:prstGeom prst="rect">
            <a:avLst/>
          </a:prstGeom>
          <a:noFill/>
          <a:ln/>
        </p:spPr>
        <p:txBody>
          <a:bodyPr wrap="square" lIns="0" tIns="0" rIns="0" bIns="0" rtlCol="0" anchor="ctr"/>
          <a:lstStyle/>
          <a:p>
            <a:pPr algn="ctr"/>
            <a:r>
              <a:rPr lang="en-US" sz="2200" b="1">
                <a:solidFill>
                  <a:srgbClr val="00A896"/>
                </a:solidFill>
                <a:latin typeface="Trebuchet MS"/>
                <a:ea typeface="Trebuchet MS" pitchFamily="34" charset="-122"/>
                <a:cs typeface="Trebuchet MS" pitchFamily="34" charset="-120"/>
              </a:rPr>
              <a:t>37 min</a:t>
            </a:r>
            <a:endParaRPr lang="en-US" sz="2200">
              <a:latin typeface="Trebuchet MS"/>
            </a:endParaRPr>
          </a:p>
        </p:txBody>
      </p:sp>
      <p:sp>
        <p:nvSpPr>
          <p:cNvPr id="13" name="Text 11"/>
          <p:cNvSpPr/>
          <p:nvPr/>
        </p:nvSpPr>
        <p:spPr>
          <a:xfrm>
            <a:off x="2523744" y="1362075"/>
            <a:ext cx="1993392" cy="347472"/>
          </a:xfrm>
          <a:prstGeom prst="rect">
            <a:avLst/>
          </a:prstGeom>
          <a:noFill/>
          <a:ln/>
        </p:spPr>
        <p:txBody>
          <a:bodyPr wrap="square" lIns="0" tIns="0" rIns="0" bIns="0" rtlCol="0" anchor="ctr"/>
          <a:lstStyle/>
          <a:p>
            <a:pPr algn="ctr"/>
            <a:r>
              <a:rPr lang="en-US" sz="1000">
                <a:solidFill>
                  <a:srgbClr val="3D5A73"/>
                </a:solidFill>
                <a:latin typeface="Calibri"/>
                <a:ea typeface="Calibri"/>
                <a:cs typeface="Calibri"/>
              </a:rPr>
              <a:t>total wall-clock (13 solo runs + data pre-processing/augmentation and ensembles</a:t>
            </a:r>
            <a:r>
              <a:rPr lang="en-US" sz="1000" dirty="0">
                <a:solidFill>
                  <a:srgbClr val="3D5A73"/>
                </a:solidFill>
                <a:latin typeface="Calibri"/>
                <a:ea typeface="Calibri"/>
                <a:cs typeface="Calibri"/>
              </a:rPr>
              <a:t>)</a:t>
            </a:r>
            <a:endParaRPr lang="en-US" sz="1000" dirty="0">
              <a:latin typeface="Calibri"/>
              <a:ea typeface="Calibri"/>
              <a:cs typeface="Calibri"/>
            </a:endParaRPr>
          </a:p>
        </p:txBody>
      </p:sp>
      <p:sp>
        <p:nvSpPr>
          <p:cNvPr id="14" name="Shape 12"/>
          <p:cNvSpPr/>
          <p:nvPr/>
        </p:nvSpPr>
        <p:spPr>
          <a:xfrm>
            <a:off x="4700016"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795147"/>
            <a:ext cx="1993392" cy="73152"/>
          </a:xfrm>
          <a:prstGeom prst="rect">
            <a:avLst/>
          </a:prstGeom>
          <a:solidFill>
            <a:srgbClr val="27AE60"/>
          </a:solidFill>
          <a:ln w="12700">
            <a:solidFill>
              <a:srgbClr val="27AE60"/>
            </a:solidFill>
            <a:prstDash val="solid"/>
          </a:ln>
        </p:spPr>
        <p:txBody>
          <a:bodyPr/>
          <a:lstStyle/>
          <a:p>
            <a:endParaRPr lang="pt-PT"/>
          </a:p>
        </p:txBody>
      </p:sp>
      <p:sp>
        <p:nvSpPr>
          <p:cNvPr id="16" name="Text 14"/>
          <p:cNvSpPr/>
          <p:nvPr/>
        </p:nvSpPr>
        <p:spPr>
          <a:xfrm>
            <a:off x="4700016" y="886587"/>
            <a:ext cx="1993392" cy="438912"/>
          </a:xfrm>
          <a:prstGeom prst="rect">
            <a:avLst/>
          </a:prstGeom>
          <a:noFill/>
          <a:ln/>
        </p:spPr>
        <p:txBody>
          <a:bodyPr wrap="square" lIns="0" tIns="0" rIns="0" bIns="0" rtlCol="0" anchor="ctr"/>
          <a:lstStyle/>
          <a:p>
            <a:pPr algn="ctr"/>
            <a:r>
              <a:rPr lang="en-US" sz="2200" b="1">
                <a:solidFill>
                  <a:srgbClr val="27AE60"/>
                </a:solidFill>
                <a:latin typeface="Trebuchet MS"/>
                <a:ea typeface="Trebuchet MS" pitchFamily="34" charset="-122"/>
                <a:cs typeface="Trebuchet MS" pitchFamily="34" charset="-120"/>
              </a:rPr>
              <a:t>&lt; 1500 MB</a:t>
            </a:r>
            <a:endParaRPr lang="en-US" sz="2200" dirty="0"/>
          </a:p>
        </p:txBody>
      </p:sp>
      <p:sp>
        <p:nvSpPr>
          <p:cNvPr id="17" name="Text 15"/>
          <p:cNvSpPr/>
          <p:nvPr/>
        </p:nvSpPr>
        <p:spPr>
          <a:xfrm>
            <a:off x="4700016" y="1362075"/>
            <a:ext cx="1993392" cy="347472"/>
          </a:xfrm>
          <a:prstGeom prst="rect">
            <a:avLst/>
          </a:prstGeom>
          <a:noFill/>
          <a:ln/>
        </p:spPr>
        <p:txBody>
          <a:bodyPr wrap="square" lIns="0" tIns="0" rIns="0" bIns="0" rtlCol="0" anchor="ctr"/>
          <a:lstStyle/>
          <a:p>
            <a:pPr algn="ctr"/>
            <a:r>
              <a:rPr lang="en-US" sz="1000" dirty="0">
                <a:solidFill>
                  <a:srgbClr val="3D5A73"/>
                </a:solidFill>
                <a:latin typeface="Calibri"/>
                <a:ea typeface="Calibri"/>
                <a:cs typeface="Calibri"/>
              </a:rPr>
              <a:t>GPU memory peak (</a:t>
            </a:r>
            <a:r>
              <a:rPr lang="en-US" sz="1000">
                <a:solidFill>
                  <a:srgbClr val="3D5A73"/>
                </a:solidFill>
                <a:latin typeface="Calibri"/>
                <a:ea typeface="Calibri"/>
                <a:cs typeface="Calibri"/>
              </a:rPr>
              <a:t>more than</a:t>
            </a:r>
            <a:r>
              <a:rPr lang="en-US" sz="1000" dirty="0">
                <a:solidFill>
                  <a:srgbClr val="3D5A73"/>
                </a:solidFill>
                <a:latin typeface="Calibri"/>
                <a:ea typeface="Calibri"/>
                <a:cs typeface="Calibri"/>
              </a:rPr>
              <a:t> MLP)</a:t>
            </a:r>
            <a:endParaRPr lang="en-US" sz="1000" dirty="0">
              <a:latin typeface="Tw Cen MT"/>
              <a:ea typeface="Calibri"/>
              <a:cs typeface="Calibri"/>
            </a:endParaRPr>
          </a:p>
        </p:txBody>
      </p:sp>
      <p:sp>
        <p:nvSpPr>
          <p:cNvPr id="18" name="Shape 16"/>
          <p:cNvSpPr/>
          <p:nvPr/>
        </p:nvSpPr>
        <p:spPr>
          <a:xfrm>
            <a:off x="6876288"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795147"/>
            <a:ext cx="1993392" cy="7315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6876288" y="886587"/>
            <a:ext cx="1993392" cy="438912"/>
          </a:xfrm>
          <a:prstGeom prst="rect">
            <a:avLst/>
          </a:prstGeom>
          <a:noFill/>
          <a:ln/>
        </p:spPr>
        <p:txBody>
          <a:bodyPr wrap="square" lIns="0" tIns="0" rIns="0" bIns="0" rtlCol="0" anchor="ctr"/>
          <a:lstStyle/>
          <a:p>
            <a:pPr marL="0" indent="0" algn="ctr">
              <a:buNone/>
            </a:pPr>
            <a:r>
              <a:rPr lang="en-US" sz="2200" b="1">
                <a:solidFill>
                  <a:srgbClr val="E97C35"/>
                </a:solidFill>
                <a:latin typeface="Trebuchet MS"/>
                <a:ea typeface="Trebuchet MS" pitchFamily="34" charset="-122"/>
                <a:cs typeface="Trebuchet MS" pitchFamily="34" charset="-120"/>
              </a:rPr>
              <a:t>62%</a:t>
            </a:r>
            <a:endParaRPr lang="en-US" sz="2200">
              <a:latin typeface="Trebuchet MS"/>
            </a:endParaRPr>
          </a:p>
        </p:txBody>
      </p:sp>
      <p:sp>
        <p:nvSpPr>
          <p:cNvPr id="21" name="Text 19"/>
          <p:cNvSpPr/>
          <p:nvPr/>
        </p:nvSpPr>
        <p:spPr>
          <a:xfrm>
            <a:off x="6876288"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of 1h budget used</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267002824"/>
              </p:ext>
            </p:extLst>
          </p:nvPr>
        </p:nvGraphicFramePr>
        <p:xfrm>
          <a:off x="347472" y="1910715"/>
          <a:ext cx="8449056" cy="2340864"/>
        </p:xfrm>
        <a:graphic>
          <a:graphicData uri="http://schemas.openxmlformats.org/drawingml/2006/table">
            <a:tbl>
              <a:tblPr/>
              <a:tblGrid>
                <a:gridCol w="20116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2"/>
                    </a:ext>
                  </a:extLst>
                </a:gridCol>
              </a:tblGrid>
              <a:tr h="35661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Note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A_CNN  -  87.2 s (excluding ensembles)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Stopped at epoch 19 (no reg -&gt; fast plateau; despite the massive overfit obtained)</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Slowest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err="1">
                          <a:solidFill>
                            <a:srgbClr val="000000"/>
                          </a:solidFill>
                          <a:latin typeface="Calibri"/>
                          <a:ea typeface="Calibri"/>
                          <a:cs typeface="Calibri"/>
                        </a:rPr>
                        <a:t>I_CNN_augmented</a:t>
                      </a:r>
                      <a:r>
                        <a:rPr lang="en-US" sz="1200" dirty="0">
                          <a:solidFill>
                            <a:srgbClr val="000000"/>
                          </a:solidFill>
                          <a:latin typeface="Calibri"/>
                          <a:ea typeface="Calibri"/>
                          <a:cs typeface="Calibri"/>
                        </a:rPr>
                        <a:t>  —  172 s</a:t>
                      </a:r>
                      <a:endParaRPr lang="en-US" sz="120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Full 30 epochs; data augmentation gives us more 53 seconds than base model I_CNN, and worse performance</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Avg per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l">
                        <a:buNone/>
                      </a:pPr>
                      <a:r>
                        <a:rPr lang="en-US" sz="1200">
                          <a:solidFill>
                            <a:srgbClr val="000000"/>
                          </a:solidFill>
                          <a:latin typeface="Calibri"/>
                          <a:ea typeface="Calibri"/>
                          <a:cs typeface="Calibri"/>
                        </a:rPr>
                        <a:t>~134 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Across 13 solo runs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Best solo (R)</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118.5 s  -  25 epochs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err="1">
                          <a:solidFill>
                            <a:srgbClr val="000000"/>
                          </a:solidFill>
                          <a:latin typeface="Calibri"/>
                          <a:ea typeface="Calibri"/>
                          <a:cs typeface="Calibri"/>
                        </a:rPr>
                        <a:t>EarlyStopping</a:t>
                      </a:r>
                      <a:r>
                        <a:rPr lang="en-US" sz="1200" dirty="0">
                          <a:solidFill>
                            <a:srgbClr val="000000"/>
                          </a:solidFill>
                          <a:latin typeface="Calibri"/>
                          <a:ea typeface="Calibri"/>
                          <a:cs typeface="Calibri"/>
                        </a:rPr>
                        <a:t> saved best at epoch 25</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FAST_RUN flag</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a:ea typeface="Calibri"/>
                          <a:cs typeface="Calibri"/>
                        </a:rPr>
                        <a:t>FAST_RUN=True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Smoke-test mode: 5 epochs, 100 samples - used for debugging</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hape 20"/>
          <p:cNvSpPr/>
          <p:nvPr/>
        </p:nvSpPr>
        <p:spPr>
          <a:xfrm>
            <a:off x="347472" y="4146423"/>
            <a:ext cx="8449056" cy="896112"/>
          </a:xfrm>
          <a:prstGeom prst="rect">
            <a:avLst/>
          </a:prstGeom>
          <a:solidFill>
            <a:srgbClr val="FFF8E1"/>
          </a:solidFill>
          <a:ln w="8890">
            <a:solidFill>
              <a:srgbClr val="FFD54F"/>
            </a:solidFill>
            <a:prstDash val="solid"/>
          </a:ln>
        </p:spPr>
        <p:txBody>
          <a:bodyPr/>
          <a:lstStyle/>
          <a:p>
            <a:endParaRPr lang="pt-PT"/>
          </a:p>
        </p:txBody>
      </p:sp>
      <p:sp>
        <p:nvSpPr>
          <p:cNvPr id="24" name="Shape 21"/>
          <p:cNvSpPr/>
          <p:nvPr/>
        </p:nvSpPr>
        <p:spPr>
          <a:xfrm>
            <a:off x="347472" y="4146423"/>
            <a:ext cx="73152" cy="896112"/>
          </a:xfrm>
          <a:prstGeom prst="rect">
            <a:avLst/>
          </a:prstGeom>
          <a:solidFill>
            <a:srgbClr val="E97C35"/>
          </a:solidFill>
          <a:ln w="12700">
            <a:solidFill>
              <a:srgbClr val="E97C35"/>
            </a:solidFill>
            <a:prstDash val="solid"/>
          </a:ln>
        </p:spPr>
        <p:txBody>
          <a:bodyPr/>
          <a:lstStyle/>
          <a:p>
            <a:endParaRPr lang="pt-PT"/>
          </a:p>
        </p:txBody>
      </p:sp>
      <p:sp>
        <p:nvSpPr>
          <p:cNvPr id="25" name="Text 22"/>
          <p:cNvSpPr/>
          <p:nvPr/>
        </p:nvSpPr>
        <p:spPr>
          <a:xfrm>
            <a:off x="493776" y="4192143"/>
            <a:ext cx="813816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Why 80/20 split instead of K-Fold CV?</a:t>
            </a:r>
            <a:endParaRPr lang="en-US" sz="1200" dirty="0"/>
          </a:p>
        </p:txBody>
      </p:sp>
      <p:sp>
        <p:nvSpPr>
          <p:cNvPr id="26" name="Text 23"/>
          <p:cNvSpPr/>
          <p:nvPr/>
        </p:nvSpPr>
        <p:spPr>
          <a:xfrm>
            <a:off x="493776" y="4493895"/>
            <a:ext cx="8138160" cy="512064"/>
          </a:xfrm>
          <a:prstGeom prst="rect">
            <a:avLst/>
          </a:prstGeom>
          <a:noFill/>
          <a:ln/>
        </p:spPr>
        <p:txBody>
          <a:bodyPr wrap="square" lIns="0" tIns="0" rIns="0" bIns="0" rtlCol="0" anchor="ctr"/>
          <a:lstStyle/>
          <a:p>
            <a:r>
              <a:rPr lang="en-US" sz="1200" dirty="0">
                <a:solidFill>
                  <a:srgbClr val="1A2B3C"/>
                </a:solidFill>
                <a:latin typeface="Calibri"/>
                <a:ea typeface="Calibri"/>
                <a:cs typeface="Calibri"/>
              </a:rPr>
              <a:t>5-fold CV × 13 experiments ≈ 65 training runs ≈ which will exceed the 1h </a:t>
            </a:r>
            <a:r>
              <a:rPr lang="en-US" sz="1200" dirty="0" err="1">
                <a:solidFill>
                  <a:srgbClr val="1A2B3C"/>
                </a:solidFill>
                <a:latin typeface="Calibri"/>
                <a:ea typeface="Calibri"/>
                <a:cs typeface="Calibri"/>
              </a:rPr>
              <a:t>Colab</a:t>
            </a:r>
            <a:r>
              <a:rPr lang="en-US" sz="1200" dirty="0">
                <a:solidFill>
                  <a:srgbClr val="1A2B3C"/>
                </a:solidFill>
                <a:latin typeface="Calibri"/>
                <a:ea typeface="Calibri"/>
                <a:cs typeface="Calibri"/>
              </a:rPr>
              <a:t> budget. Stratified 80/20 with fixed seed is the correct trade-off: relative experiment ranking is valid even if absolute F1 has ±0.02 noise from a single split.</a:t>
            </a:r>
            <a:endParaRPr lang="en-US" sz="1200" dirty="0">
              <a:latin typeface="Calibri"/>
              <a:ea typeface="Calibri"/>
              <a:cs typeface="Calibri"/>
            </a:endParaRPr>
          </a:p>
        </p:txBody>
      </p:sp>
      <p:sp>
        <p:nvSpPr>
          <p:cNvPr id="27" name="Shape 2">
            <a:extLst>
              <a:ext uri="{FF2B5EF4-FFF2-40B4-BE49-F238E27FC236}">
                <a16:creationId xmlns:a16="http://schemas.microsoft.com/office/drawing/2014/main" id="{E5890930-6B10-522D-CD98-AB58F7196552}"/>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Train Eff</a:t>
            </a:r>
            <a:endParaRPr lang="pt-PT" b="1" dirty="0">
              <a:solidFill>
                <a:schemeClr val="bg1"/>
              </a:solidFill>
            </a:endParaRPr>
          </a:p>
        </p:txBody>
      </p:sp>
      <p:sp>
        <p:nvSpPr>
          <p:cNvPr id="28" name="Rectangle: Rounded Corners 27">
            <a:extLst>
              <a:ext uri="{FF2B5EF4-FFF2-40B4-BE49-F238E27FC236}">
                <a16:creationId xmlns:a16="http://schemas.microsoft.com/office/drawing/2014/main" id="{F248EDA6-5E05-F981-E404-17752529D9B8}"/>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a:t>
            </a:r>
            <a:endParaRPr lang="en-US" sz="2800" b="1"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Early Stopping — Results Across All Experiments</a:t>
            </a:r>
            <a:endParaRPr lang="en-US" sz="2200" dirty="0"/>
          </a:p>
        </p:txBody>
      </p:sp>
      <p:sp>
        <p:nvSpPr>
          <p:cNvPr id="4" name="Shape 2"/>
          <p:cNvSpPr/>
          <p:nvPr/>
        </p:nvSpPr>
        <p:spPr>
          <a:xfrm>
            <a:off x="7635240" y="109728"/>
            <a:ext cx="137160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2571018"/>
              </p:ext>
            </p:extLst>
          </p:nvPr>
        </p:nvGraphicFramePr>
        <p:xfrm>
          <a:off x="347472" y="644652"/>
          <a:ext cx="8449056" cy="4398264"/>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00279">
                <a:tc>
                  <a:txBody>
                    <a:bodyPr/>
                    <a:lstStyle/>
                    <a:p>
                      <a:pPr marL="0" lvl="0" indent="0">
                        <a:buNone/>
                      </a:pPr>
                      <a:r>
                        <a:rPr lang="en-US" sz="1400" b="0" i="0" u="none" strike="noStrike" noProof="0">
                          <a:solidFill>
                            <a:srgbClr val="000000"/>
                          </a:solidFill>
                          <a:latin typeface="Tw Cen MT"/>
                        </a:rPr>
                        <a:t>A - LeNet5_base </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19/30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a:solidFill>
                            <a:srgbClr val="000000"/>
                          </a:solidFill>
                        </a:rPr>
                        <a:t>LeNet5 finds plateau quickly</a:t>
                      </a:r>
                      <a:endParaRPr lang="en-US" sz="140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79">
                <a:tc>
                  <a:txBody>
                    <a:bodyPr/>
                    <a:lstStyle/>
                    <a:p>
                      <a:pPr marL="0" lvl="0" indent="0">
                        <a:buNone/>
                      </a:pPr>
                      <a:r>
                        <a:rPr lang="en-US" sz="1400" b="0" i="0" u="none" strike="noStrike" noProof="0">
                          <a:solidFill>
                            <a:srgbClr val="000000"/>
                          </a:solidFill>
                          <a:latin typeface="Tw Cen MT"/>
                        </a:rPr>
                        <a:t>B - LeNet5_dwrs</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Moderate dropout and </a:t>
                      </a:r>
                      <a:r>
                        <a:rPr lang="en-US" sz="1400" dirty="0" err="1">
                          <a:solidFill>
                            <a:srgbClr val="000000"/>
                          </a:solidFill>
                        </a:rPr>
                        <a:t>WRSampler</a:t>
                      </a:r>
                      <a:r>
                        <a:rPr lang="en-US" sz="1400" dirty="0">
                          <a:solidFill>
                            <a:srgbClr val="000000"/>
                          </a:solidFill>
                        </a:rPr>
                        <a:t> delays convergence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79">
                <a:tc>
                  <a:txBody>
                    <a:bodyPr/>
                    <a:lstStyle/>
                    <a:p>
                      <a:pPr marL="0" lvl="0" indent="0">
                        <a:buNone/>
                      </a:pPr>
                      <a:r>
                        <a:rPr lang="en-US" sz="1400" b="0" i="0" u="none" strike="noStrike" noProof="0" dirty="0">
                          <a:solidFill>
                            <a:srgbClr val="000000"/>
                          </a:solidFill>
                          <a:latin typeface="Tw Cen MT"/>
                        </a:rPr>
                        <a:t>C - </a:t>
                      </a:r>
                      <a:r>
                        <a:rPr lang="en-US" sz="1400" b="0" i="0" u="none" strike="noStrike" noProof="0" dirty="0" err="1">
                          <a:solidFill>
                            <a:srgbClr val="000000"/>
                          </a:solidFill>
                          <a:latin typeface="Tw Cen MT"/>
                        </a:rPr>
                        <a:t>Simple_cw</a:t>
                      </a:r>
                      <a:endParaRPr lang="en-US"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Model fails to converge in 30 epochs (low number and small convolutions)</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79">
                <a:tc>
                  <a:txBody>
                    <a:bodyPr/>
                    <a:lstStyle/>
                    <a:p>
                      <a:pPr marL="0" lvl="0" indent="0">
                        <a:buNone/>
                      </a:pPr>
                      <a:r>
                        <a:rPr lang="en-US" sz="1400" b="0" i="0" u="none" strike="noStrike" noProof="0" dirty="0">
                          <a:solidFill>
                            <a:srgbClr val="000000"/>
                          </a:solidFill>
                        </a:rPr>
                        <a:t>D - </a:t>
                      </a:r>
                      <a:r>
                        <a:rPr lang="en-US" sz="1400" b="0" i="0" u="none" strike="noStrike" noProof="0" dirty="0" err="1">
                          <a:solidFill>
                            <a:srgbClr val="000000"/>
                          </a:solidFill>
                          <a:latin typeface="Tw Cen MT"/>
                        </a:rPr>
                        <a:t>Medium_base</a:t>
                      </a:r>
                      <a:endParaRPr lang="en-US"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Deeper model allows for more convergence (0.02 train loss); can't find optimum</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79">
                <a:tc>
                  <a:txBody>
                    <a:bodyPr/>
                    <a:lstStyle/>
                    <a:p>
                      <a:pPr marL="0" indent="0">
                        <a:buNone/>
                      </a:pPr>
                      <a:r>
                        <a:rPr lang="en-US" sz="1400" dirty="0">
                          <a:solidFill>
                            <a:srgbClr val="000000"/>
                          </a:solidFill>
                        </a:rPr>
                        <a:t>E - </a:t>
                      </a:r>
                      <a:r>
                        <a:rPr lang="en-US" sz="1400" b="0" i="0" u="none" strike="noStrike" noProof="0" dirty="0" err="1">
                          <a:solidFill>
                            <a:srgbClr val="000000"/>
                          </a:solidFill>
                          <a:latin typeface="Tw Cen MT"/>
                        </a:rPr>
                        <a:t>Medium_d</a:t>
                      </a:r>
                      <a:r>
                        <a:rPr lang="en-US" sz="1400" dirty="0">
                          <a:solidFill>
                            <a:srgbClr val="000000"/>
                          </a:solidFill>
                        </a:rPr>
                        <a:t> </a:t>
                      </a:r>
                      <a:endParaRPr lang="en-US" sz="1400" b="0" i="0" u="none" strike="noStrike" noProof="0" dirty="0">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in previous model doesn't improve convergence; can't find optimum</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0279">
                <a:tc>
                  <a:txBody>
                    <a:bodyPr/>
                    <a:lstStyle/>
                    <a:p>
                      <a:pPr marL="0" indent="0">
                        <a:buNone/>
                      </a:pPr>
                      <a:r>
                        <a:rPr lang="en-US" sz="1400" dirty="0">
                          <a:solidFill>
                            <a:srgbClr val="000000"/>
                          </a:solidFill>
                        </a:rPr>
                        <a:t>F - </a:t>
                      </a:r>
                      <a:r>
                        <a:rPr lang="en-US" sz="1400" b="0" i="0" u="none" strike="noStrike" noProof="0" dirty="0" err="1">
                          <a:solidFill>
                            <a:srgbClr val="000000"/>
                          </a:solidFill>
                          <a:latin typeface="Tw Cen MT"/>
                        </a:rPr>
                        <a:t>Medium_dls</a:t>
                      </a:r>
                      <a:r>
                        <a:rPr lang="en-US" sz="1400" dirty="0">
                          <a:solidFill>
                            <a:srgbClr val="000000"/>
                          </a:solidFill>
                        </a:rPr>
                        <a:t> </a:t>
                      </a:r>
                      <a:endParaRPr lang="en-US" sz="1400" b="0" i="0" u="none" strike="noStrike" noProof="0" dirty="0">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label smoothing hurt the convergence; the problem isn't regularization</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00279">
                <a:tc>
                  <a:txBody>
                    <a:bodyPr/>
                    <a:lstStyle/>
                    <a:p>
                      <a:pPr marL="0" indent="0">
                        <a:buNone/>
                      </a:pPr>
                      <a:r>
                        <a:rPr lang="en-US" sz="1400" dirty="0">
                          <a:solidFill>
                            <a:srgbClr val="000000"/>
                          </a:solidFill>
                        </a:rPr>
                        <a:t>G - </a:t>
                      </a:r>
                      <a:r>
                        <a:rPr lang="en-US" sz="1400" dirty="0" err="1">
                          <a:solidFill>
                            <a:srgbClr val="000000"/>
                          </a:solidFill>
                        </a:rPr>
                        <a:t>Medium_dcw</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class weights; confirms previous theory, we need a deeper/wider network</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0279">
                <a:tc>
                  <a:txBody>
                    <a:bodyPr/>
                    <a:lstStyle/>
                    <a:p>
                      <a:pPr marL="0" indent="0">
                        <a:buNone/>
                      </a:pPr>
                      <a:r>
                        <a:rPr lang="en-US" sz="1400" b="0" i="0" u="none" strike="noStrike" noProof="0" dirty="0">
                          <a:solidFill>
                            <a:srgbClr val="000000"/>
                          </a:solidFill>
                          <a:latin typeface="Tw Cen MT"/>
                        </a:rPr>
                        <a:t>H - </a:t>
                      </a:r>
                      <a:r>
                        <a:rPr lang="en-US" sz="1400" b="0" i="0" u="none" strike="noStrike" noProof="0" dirty="0" err="1">
                          <a:solidFill>
                            <a:srgbClr val="000000"/>
                          </a:solidFill>
                          <a:latin typeface="Tw Cen MT"/>
                        </a:rPr>
                        <a:t>Medium_dwrs</a:t>
                      </a:r>
                      <a:endParaRPr lang="en-US" sz="1400"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a:t>
                      </a:r>
                      <a:r>
                        <a:rPr lang="en-US" sz="1400" dirty="0" err="1">
                          <a:solidFill>
                            <a:srgbClr val="000000"/>
                          </a:solidFill>
                        </a:rPr>
                        <a:t>WeightedRandomSampler</a:t>
                      </a:r>
                      <a:r>
                        <a:rPr lang="en-US" sz="1400" dirty="0">
                          <a:solidFill>
                            <a:srgbClr val="000000"/>
                          </a:solidFill>
                        </a:rPr>
                        <a:t> also fails to improve</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00279">
                <a:tc>
                  <a:txBody>
                    <a:bodyPr/>
                    <a:lstStyle/>
                    <a:p>
                      <a:pPr marL="0" indent="0">
                        <a:buNone/>
                      </a:pPr>
                      <a:r>
                        <a:rPr lang="en-US" sz="1400" b="0" i="0" u="none" strike="noStrike" noProof="0" dirty="0">
                          <a:solidFill>
                            <a:srgbClr val="000000"/>
                          </a:solidFill>
                          <a:latin typeface="Tw Cen MT"/>
                        </a:rPr>
                        <a:t>I - </a:t>
                      </a:r>
                      <a:r>
                        <a:rPr lang="en-US" sz="1400" b="0" i="0" u="none" strike="noStrike" noProof="0" dirty="0" err="1">
                          <a:solidFill>
                            <a:srgbClr val="000000"/>
                          </a:solidFill>
                          <a:latin typeface="Tw Cen MT"/>
                        </a:rPr>
                        <a:t>Deep_dwrs</a:t>
                      </a:r>
                      <a:r>
                        <a:rPr lang="en-US" sz="1400" b="0" i="0" u="none" strike="noStrike" noProof="0" dirty="0">
                          <a:solidFill>
                            <a:srgbClr val="000000"/>
                          </a:solidFill>
                          <a:latin typeface="Tw Cen MT"/>
                        </a:rPr>
                        <a:t> ⭐</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25/30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Two more convolution channels makes finding optimum fast; confirmed theory where regularization was not the issue </a:t>
                      </a:r>
                      <a:r>
                        <a:rPr lang="en-US" sz="1100" b="1" i="0" u="none" strike="noStrike" noProof="0" dirty="0">
                          <a:solidFill>
                            <a:srgbClr val="27AE60"/>
                          </a:solidFill>
                          <a:latin typeface="Tw Cen MT"/>
                        </a:rPr>
                        <a:t>✓</a:t>
                      </a:r>
                      <a:endParaRPr lang="en-US" sz="1400" dirty="0">
                        <a:solidFill>
                          <a:srgbClr val="000000"/>
                        </a:solidFill>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Shape 2">
            <a:extLst>
              <a:ext uri="{FF2B5EF4-FFF2-40B4-BE49-F238E27FC236}">
                <a16:creationId xmlns:a16="http://schemas.microsoft.com/office/drawing/2014/main" id="{19C6034F-83B9-2393-B074-9BCEEDF2312B}"/>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Train Eff</a:t>
            </a:r>
            <a:endParaRPr lang="pt-PT" b="1" dirty="0">
              <a:solidFill>
                <a:schemeClr val="bg1"/>
              </a:solidFill>
            </a:endParaRPr>
          </a:p>
        </p:txBody>
      </p:sp>
      <p:sp>
        <p:nvSpPr>
          <p:cNvPr id="7" name="Rectangle: Rounded Corners 6">
            <a:extLst>
              <a:ext uri="{FF2B5EF4-FFF2-40B4-BE49-F238E27FC236}">
                <a16:creationId xmlns:a16="http://schemas.microsoft.com/office/drawing/2014/main" id="{A87C9746-02DE-E79B-7221-A06138DE959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23D362-864A-AB17-E83C-35DAA81F539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A271828-793F-1284-EE16-94BD6091F513}"/>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a:extLst>
              <a:ext uri="{FF2B5EF4-FFF2-40B4-BE49-F238E27FC236}">
                <a16:creationId xmlns:a16="http://schemas.microsoft.com/office/drawing/2014/main" id="{64E86317-556D-8180-9B73-F018E54B552E}"/>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Early Stopping — Results Across All Experiments</a:t>
            </a:r>
            <a:endParaRPr lang="en-US" sz="2200" dirty="0"/>
          </a:p>
        </p:txBody>
      </p:sp>
      <p:sp>
        <p:nvSpPr>
          <p:cNvPr id="4" name="Shape 2">
            <a:extLst>
              <a:ext uri="{FF2B5EF4-FFF2-40B4-BE49-F238E27FC236}">
                <a16:creationId xmlns:a16="http://schemas.microsoft.com/office/drawing/2014/main" id="{D216AB00-FD52-227D-A70F-9F876A54AF00}"/>
              </a:ext>
            </a:extLst>
          </p:cNvPr>
          <p:cNvSpPr/>
          <p:nvPr/>
        </p:nvSpPr>
        <p:spPr>
          <a:xfrm>
            <a:off x="7635240" y="109728"/>
            <a:ext cx="1371600" cy="301752"/>
          </a:xfrm>
          <a:prstGeom prst="rect">
            <a:avLst/>
          </a:prstGeom>
          <a:solidFill>
            <a:srgbClr val="1C3A52"/>
          </a:solidFill>
          <a:ln w="12700">
            <a:solidFill>
              <a:srgbClr val="1C3A52"/>
            </a:solidFill>
            <a:prstDash val="solid"/>
          </a:ln>
        </p:spPr>
        <p:txBody>
          <a:bodyPr/>
          <a:lstStyle/>
          <a:p>
            <a:endParaRPr lang="pt-PT"/>
          </a:p>
        </p:txBody>
      </p:sp>
      <p:sp>
        <p:nvSpPr>
          <p:cNvPr id="5" name="Text 3">
            <a:extLst>
              <a:ext uri="{FF2B5EF4-FFF2-40B4-BE49-F238E27FC236}">
                <a16:creationId xmlns:a16="http://schemas.microsoft.com/office/drawing/2014/main" id="{632C09BB-7A18-A75A-D099-409704408A7B}"/>
              </a:ext>
            </a:extLst>
          </p:cNvPr>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graphicFrame>
        <p:nvGraphicFramePr>
          <p:cNvPr id="11" name="Table 0">
            <a:extLst>
              <a:ext uri="{FF2B5EF4-FFF2-40B4-BE49-F238E27FC236}">
                <a16:creationId xmlns:a16="http://schemas.microsoft.com/office/drawing/2014/main" id="{CDB23056-8598-95A7-04F2-1FCC3F362398}"/>
              </a:ext>
            </a:extLst>
          </p:cNvPr>
          <p:cNvGraphicFramePr>
            <a:graphicFrameLocks noGrp="1"/>
          </p:cNvGraphicFramePr>
          <p:nvPr>
            <p:extLst>
              <p:ext uri="{D42A27DB-BD31-4B8C-83A1-F6EECF244321}">
                <p14:modId xmlns:p14="http://schemas.microsoft.com/office/powerpoint/2010/main" val="314816160"/>
              </p:ext>
            </p:extLst>
          </p:nvPr>
        </p:nvGraphicFramePr>
        <p:xfrm>
          <a:off x="347472" y="644652"/>
          <a:ext cx="8449056" cy="2239350"/>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00279">
                <a:tc>
                  <a:txBody>
                    <a:bodyPr/>
                    <a:lstStyle/>
                    <a:p>
                      <a:pPr marL="0" indent="0">
                        <a:buNone/>
                      </a:pPr>
                      <a:r>
                        <a:rPr lang="en-US" sz="1400" dirty="0">
                          <a:solidFill>
                            <a:srgbClr val="000000"/>
                          </a:solidFill>
                        </a:rPr>
                        <a:t>J - </a:t>
                      </a:r>
                      <a:r>
                        <a:rPr lang="en-US" sz="1400" dirty="0" err="1">
                          <a:solidFill>
                            <a:srgbClr val="000000"/>
                          </a:solidFill>
                        </a:rPr>
                        <a:t>Wide_d</a:t>
                      </a:r>
                      <a:endParaRPr lang="en-US" sz="1400" b="0" i="0" u="none" strike="noStrike" noProof="0" dirty="0" err="1">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22/30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a:solidFill>
                            <a:srgbClr val="000000"/>
                          </a:solidFill>
                        </a:rPr>
                        <a:t>Best checkpoint at epoch 25; patience runs out at 22. Widening channels is an alternative to deepening the network to achieve 1.0</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00279">
                <a:tc>
                  <a:txBody>
                    <a:bodyPr/>
                    <a:lstStyle/>
                    <a:p>
                      <a:pPr marL="0" lvl="0" indent="0">
                        <a:buNone/>
                      </a:pPr>
                      <a:r>
                        <a:rPr lang="en-US" sz="1400" dirty="0">
                          <a:solidFill>
                            <a:srgbClr val="000000"/>
                          </a:solidFill>
                        </a:rPr>
                        <a:t>K - </a:t>
                      </a:r>
                      <a:r>
                        <a:rPr lang="en-US" sz="1400" dirty="0" err="1">
                          <a:solidFill>
                            <a:srgbClr val="000000"/>
                          </a:solidFill>
                        </a:rPr>
                        <a:t>Wide_dwrs</a:t>
                      </a:r>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i="0" u="none" strike="noStrike" noProof="0">
                          <a:solidFill>
                            <a:srgbClr val="000000"/>
                          </a:solidFill>
                          <a:latin typeface="Tw Cen MT"/>
                        </a:rPr>
                        <a:t>25/30</a:t>
                      </a:r>
                      <a:endParaRPr lang="en-US"/>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buNone/>
                      </a:pPr>
                      <a:r>
                        <a:rPr lang="en-US" sz="1400" dirty="0">
                          <a:solidFill>
                            <a:srgbClr val="000000"/>
                          </a:solidFill>
                        </a:rPr>
                        <a:t>Apply dropout and </a:t>
                      </a:r>
                      <a:r>
                        <a:rPr lang="en-US" sz="1400" dirty="0" err="1">
                          <a:solidFill>
                            <a:srgbClr val="000000"/>
                          </a:solidFill>
                        </a:rPr>
                        <a:t>WeightedRandomSampler</a:t>
                      </a:r>
                      <a:r>
                        <a:rPr lang="en-US" sz="1400" dirty="0">
                          <a:solidFill>
                            <a:srgbClr val="000000"/>
                          </a:solidFill>
                        </a:rPr>
                        <a:t> in this wider network gives us a perfect convergence</a:t>
                      </a:r>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761210630"/>
                  </a:ext>
                </a:extLst>
              </a:tr>
              <a:tr h="309966">
                <a:tc>
                  <a:txBody>
                    <a:bodyPr/>
                    <a:lstStyle/>
                    <a:p>
                      <a:pPr marL="0" lvl="0" indent="0">
                        <a:buNone/>
                      </a:pPr>
                      <a:r>
                        <a:rPr lang="en-US" sz="1400" dirty="0">
                          <a:solidFill>
                            <a:srgbClr val="000000"/>
                          </a:solidFill>
                        </a:rPr>
                        <a:t>L - </a:t>
                      </a:r>
                      <a:r>
                        <a:rPr lang="en-US" sz="1400" b="0" i="0" u="none" strike="noStrike" noProof="0" dirty="0" err="1">
                          <a:solidFill>
                            <a:srgbClr val="000000"/>
                          </a:solidFill>
                          <a:latin typeface="Tw Cen MT"/>
                        </a:rPr>
                        <a:t>MultiScale_dwrs</a:t>
                      </a:r>
                      <a:endParaRPr lang="en-US" sz="1400" dirty="0" err="1">
                        <a:solidFill>
                          <a:srgbClr val="000000"/>
                        </a:solidFill>
                      </a:endParaRPr>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i="0" u="none" strike="noStrike" noProof="0">
                          <a:solidFill>
                            <a:srgbClr val="000000"/>
                          </a:solidFill>
                          <a:latin typeface="Tw Cen MT"/>
                        </a:rPr>
                        <a:t>29/30</a:t>
                      </a:r>
                      <a:endParaRPr lang="en-US"/>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buNone/>
                      </a:pPr>
                      <a:r>
                        <a:rPr lang="en-US" sz="1400">
                          <a:solidFill>
                            <a:srgbClr val="000000"/>
                          </a:solidFill>
                        </a:rPr>
                        <a:t>Early stops with way deep network and multiple scale kernels </a:t>
                      </a:r>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3248077057"/>
                  </a:ext>
                </a:extLst>
              </a:tr>
              <a:tr h="339025">
                <a:tc>
                  <a:txBody>
                    <a:bodyPr/>
                    <a:lstStyle/>
                    <a:p>
                      <a:pPr marL="0" lvl="0" indent="0">
                        <a:buNone/>
                      </a:pPr>
                      <a:r>
                        <a:rPr lang="en-US" sz="1400" dirty="0">
                          <a:solidFill>
                            <a:srgbClr val="000000"/>
                          </a:solidFill>
                        </a:rPr>
                        <a:t>M - </a:t>
                      </a:r>
                      <a:r>
                        <a:rPr lang="en-US" sz="1400" b="0" i="0" u="none" strike="noStrike" noProof="0" dirty="0" err="1">
                          <a:solidFill>
                            <a:srgbClr val="000000"/>
                          </a:solidFill>
                          <a:latin typeface="Tw Cen MT"/>
                        </a:rPr>
                        <a:t>Residual_dwrs</a:t>
                      </a:r>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lgn="ctr">
                        <a:buNone/>
                      </a:pPr>
                      <a:r>
                        <a:rPr lang="en-US" sz="1100" b="0" i="0" u="none" strike="noStrike" noProof="0">
                          <a:solidFill>
                            <a:srgbClr val="000000"/>
                          </a:solidFill>
                          <a:latin typeface="Tw Cen MT"/>
                        </a:rPr>
                        <a:t>19/30</a:t>
                      </a:r>
                      <a:endParaRPr lang="en-US"/>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buNone/>
                      </a:pPr>
                      <a:r>
                        <a:rPr lang="en-US" sz="1400" dirty="0">
                          <a:solidFill>
                            <a:srgbClr val="000000"/>
                          </a:solidFill>
                        </a:rPr>
                        <a:t>Residual Network converges the fastest; </a:t>
                      </a:r>
                      <a:r>
                        <a:rPr lang="en-US" sz="1400" dirty="0" err="1">
                          <a:solidFill>
                            <a:srgbClr val="000000"/>
                          </a:solidFill>
                        </a:rPr>
                        <a:t>EarlyStoping</a:t>
                      </a:r>
                      <a:r>
                        <a:rPr lang="en-US" sz="1400" dirty="0">
                          <a:solidFill>
                            <a:srgbClr val="000000"/>
                          </a:solidFill>
                        </a:rPr>
                        <a:t> occurs earliest</a:t>
                      </a:r>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extLst>
                  <a:ext uri="{0D108BD9-81ED-4DB2-BD59-A6C34878D82A}">
                    <a16:rowId xmlns:a16="http://schemas.microsoft.com/office/drawing/2014/main" val="274348874"/>
                  </a:ext>
                </a:extLst>
              </a:tr>
            </a:tbl>
          </a:graphicData>
        </a:graphic>
      </p:graphicFrame>
      <p:sp>
        <p:nvSpPr>
          <p:cNvPr id="6" name="Shape 2">
            <a:extLst>
              <a:ext uri="{FF2B5EF4-FFF2-40B4-BE49-F238E27FC236}">
                <a16:creationId xmlns:a16="http://schemas.microsoft.com/office/drawing/2014/main" id="{82704C14-F5D6-D083-24CA-0D130A2E709C}"/>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Train Eff</a:t>
            </a:r>
            <a:endParaRPr lang="pt-PT" b="1" dirty="0">
              <a:solidFill>
                <a:schemeClr val="bg1"/>
              </a:solidFill>
            </a:endParaRPr>
          </a:p>
        </p:txBody>
      </p:sp>
      <p:sp>
        <p:nvSpPr>
          <p:cNvPr id="7" name="Rectangle: Rounded Corners 6">
            <a:extLst>
              <a:ext uri="{FF2B5EF4-FFF2-40B4-BE49-F238E27FC236}">
                <a16:creationId xmlns:a16="http://schemas.microsoft.com/office/drawing/2014/main" id="{74C52EFB-1E20-25F8-57B1-32B1578DC6A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a:t>
            </a:r>
          </a:p>
        </p:txBody>
      </p:sp>
    </p:spTree>
    <p:extLst>
      <p:ext uri="{BB962C8B-B14F-4D97-AF65-F5344CB8AC3E}">
        <p14:creationId xmlns:p14="http://schemas.microsoft.com/office/powerpoint/2010/main" val="13746140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Train Eff</a:t>
            </a:r>
            <a:endParaRPr lang="en-US" b="1"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Training Curves — Best Solo R_ls015_drop03</a:t>
            </a:r>
          </a:p>
        </p:txBody>
      </p:sp>
      <p:sp>
        <p:nvSpPr>
          <p:cNvPr id="20" name="TableBG"/>
          <p:cNvSpPr/>
          <p:nvPr/>
        </p:nvSpPr>
        <p:spPr>
          <a:xfrm>
            <a:off x="4799880" y="809789"/>
            <a:ext cx="4116240" cy="170078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TH"/>
          <p:cNvSpPr/>
          <p:nvPr/>
        </p:nvSpPr>
        <p:spPr>
          <a:xfrm>
            <a:off x="4799880" y="809789"/>
            <a:ext cx="4116240" cy="21996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Ep   train_loss  val_loss  train_F1  val_F1</a:t>
            </a:r>
          </a:p>
        </p:txBody>
      </p:sp>
      <p:sp>
        <p:nvSpPr>
          <p:cNvPr id="22" name="TD"/>
          <p:cNvSpPr/>
          <p:nvPr/>
        </p:nvSpPr>
        <p:spPr>
          <a:xfrm>
            <a:off x="4799880" y="1029749"/>
            <a:ext cx="4116240" cy="1700280"/>
          </a:xfrm>
          <a:prstGeom prst="rect">
            <a:avLst/>
          </a:prstGeom>
          <a:noFill/>
          <a:ln/>
        </p:spPr>
        <p:txBody>
          <a:bodyPr wrap="square" lIns="91440" tIns="45720" rIns="0" bIns="0" rtlCol="0" anchor="t"/>
          <a:lstStyle/>
          <a:p>
            <a:pPr>
              <a:buNone/>
            </a:pPr>
            <a:r>
              <a:rPr lang="en-US" sz="1000">
                <a:solidFill>
                  <a:srgbClr val="1A2B3C"/>
                </a:solidFill>
                <a:latin typeface="Calibri"/>
              </a:rPr>
              <a:t>1      2.0604 1.9553 0.2342 0.2262</a:t>
            </a:r>
          </a:p>
          <a:p>
            <a:r>
              <a:rPr lang="en-US" sz="1000">
                <a:solidFill>
                  <a:srgbClr val="1A2B3C"/>
                </a:solidFill>
                <a:latin typeface="Calibri"/>
              </a:rPr>
              <a:t>5 0.6173  0.8140  0.6838 0.6717</a:t>
            </a:r>
            <a:endParaRPr lang="en-US" sz="1000">
              <a:solidFill>
                <a:srgbClr val="1A2B3C"/>
              </a:solidFill>
              <a:latin typeface="Calibri"/>
              <a:ea typeface="Calibri"/>
              <a:cs typeface="Calibri"/>
            </a:endParaRPr>
          </a:p>
          <a:p>
            <a:r>
              <a:rPr lang="en-US" sz="1000">
                <a:solidFill>
                  <a:srgbClr val="1A2B3C"/>
                </a:solidFill>
                <a:latin typeface="Calibri"/>
              </a:rPr>
              <a:t>10 0.0970  5.1619  0.2870 0.2652</a:t>
            </a:r>
            <a:endParaRPr lang="en-US" sz="1000">
              <a:solidFill>
                <a:srgbClr val="1A2B3C"/>
              </a:solidFill>
              <a:latin typeface="Calibri"/>
              <a:ea typeface="Calibri"/>
              <a:cs typeface="Calibri"/>
            </a:endParaRPr>
          </a:p>
          <a:p>
            <a:r>
              <a:rPr lang="en-US" sz="1000">
                <a:solidFill>
                  <a:srgbClr val="1A2B3C"/>
                </a:solidFill>
                <a:latin typeface="Calibri"/>
              </a:rPr>
              <a:t>15 0.0201  0.1798  0.9119 0.9294</a:t>
            </a:r>
            <a:endParaRPr lang="en-US" sz="1000">
              <a:solidFill>
                <a:srgbClr val="1A2B3C"/>
              </a:solidFill>
              <a:latin typeface="Calibri"/>
              <a:ea typeface="Calibri"/>
              <a:cs typeface="Calibri"/>
            </a:endParaRPr>
          </a:p>
          <a:p>
            <a:r>
              <a:rPr lang="en-US" sz="1000" b="1" dirty="0">
                <a:solidFill>
                  <a:schemeClr val="accent2">
                    <a:lumMod val="76000"/>
                  </a:schemeClr>
                </a:solidFill>
                <a:latin typeface="Calibri"/>
              </a:rPr>
              <a:t>18 0.0159  0.0083  1.0000 1.0000 </a:t>
            </a:r>
            <a:r>
              <a:rPr lang="en-US" sz="1000" b="1">
                <a:solidFill>
                  <a:schemeClr val="accent2">
                    <a:lumMod val="76000"/>
                  </a:schemeClr>
                </a:solidFill>
                <a:latin typeface="Calibri"/>
              </a:rPr>
              <a:t>←</a:t>
            </a:r>
            <a:r>
              <a:rPr lang="en-US" sz="1000" b="1" dirty="0">
                <a:solidFill>
                  <a:schemeClr val="accent2">
                    <a:lumMod val="76000"/>
                  </a:schemeClr>
                </a:solidFill>
                <a:latin typeface="Calibri"/>
              </a:rPr>
              <a:t> </a:t>
            </a:r>
            <a:r>
              <a:rPr lang="en-US" sz="1000" b="1">
                <a:solidFill>
                  <a:schemeClr val="accent2">
                    <a:lumMod val="76000"/>
                  </a:schemeClr>
                </a:solidFill>
                <a:latin typeface="Calibri"/>
              </a:rPr>
              <a:t>checkpoint</a:t>
            </a:r>
            <a:endParaRPr lang="en-US" b="1">
              <a:solidFill>
                <a:schemeClr val="accent2">
                  <a:lumMod val="76000"/>
                </a:schemeClr>
              </a:solidFill>
            </a:endParaRPr>
          </a:p>
          <a:p>
            <a:r>
              <a:rPr lang="en-US" sz="1000">
                <a:solidFill>
                  <a:srgbClr val="1A2B3C"/>
                </a:solidFill>
                <a:latin typeface="Calibri"/>
              </a:rPr>
              <a:t>20 0.0121  0.3623  0.5121 0.4657</a:t>
            </a:r>
            <a:endParaRPr lang="en-US" sz="1000">
              <a:solidFill>
                <a:srgbClr val="1A2B3C"/>
              </a:solidFill>
              <a:latin typeface="Calibri"/>
              <a:ea typeface="Calibri"/>
              <a:cs typeface="Calibri"/>
            </a:endParaRPr>
          </a:p>
          <a:p>
            <a:r>
              <a:rPr lang="en-US" sz="1000">
                <a:latin typeface="Calibri"/>
              </a:rPr>
              <a:t>25 0.0173  0.0150  0.9982 0.9964 ← early stopping</a:t>
            </a:r>
            <a:endParaRPr lang="en-US" sz="1000">
              <a:latin typeface="Calibri"/>
              <a:ea typeface="Calibri"/>
              <a:cs typeface="Calibri"/>
            </a:endParaRPr>
          </a:p>
        </p:txBody>
      </p:sp>
      <p:sp>
        <p:nvSpPr>
          <p:cNvPr id="14" name="Shape 17"/>
          <p:cNvSpPr/>
          <p:nvPr/>
        </p:nvSpPr>
        <p:spPr>
          <a:xfrm>
            <a:off x="227880" y="809790"/>
            <a:ext cx="4344120" cy="1700784"/>
          </a:xfrm>
          <a:prstGeom prst="rect">
            <a:avLst/>
          </a:prstGeom>
          <a:solidFill>
            <a:srgbClr val="E8F8F5"/>
          </a:solidFill>
          <a:ln w="8890">
            <a:solidFill>
              <a:srgbClr val="00A896"/>
            </a:solidFill>
            <a:prstDash val="solid"/>
          </a:ln>
        </p:spPr>
        <p:txBody>
          <a:bodyPr/>
          <a:lstStyle/>
          <a:p>
            <a:endParaRPr lang="pt-PT"/>
          </a:p>
        </p:txBody>
      </p:sp>
      <p:sp>
        <p:nvSpPr>
          <p:cNvPr id="15" name="Shape 18"/>
          <p:cNvSpPr/>
          <p:nvPr/>
        </p:nvSpPr>
        <p:spPr>
          <a:xfrm>
            <a:off x="227880" y="809790"/>
            <a:ext cx="73152" cy="1700784"/>
          </a:xfrm>
          <a:prstGeom prst="rect">
            <a:avLst/>
          </a:prstGeom>
          <a:solidFill>
            <a:srgbClr val="00A896"/>
          </a:solidFill>
          <a:ln w="12700">
            <a:solidFill>
              <a:srgbClr val="00A896"/>
            </a:solidFill>
            <a:prstDash val="solid"/>
          </a:ln>
        </p:spPr>
        <p:txBody>
          <a:bodyPr/>
          <a:lstStyle/>
          <a:p>
            <a:endParaRPr lang="pt-PT"/>
          </a:p>
        </p:txBody>
      </p:sp>
      <p:sp>
        <p:nvSpPr>
          <p:cNvPr id="24" name="Text 20"/>
          <p:cNvSpPr/>
          <p:nvPr/>
        </p:nvSpPr>
        <p:spPr>
          <a:xfrm>
            <a:off x="307717" y="809789"/>
            <a:ext cx="4256158" cy="1700783"/>
          </a:xfrm>
          <a:prstGeom prst="rect">
            <a:avLst/>
          </a:prstGeom>
          <a:noFill/>
          <a:ln/>
        </p:spPr>
        <p:txBody>
          <a:bodyPr wrap="square" lIns="91440" tIns="45720" rIns="91440" bIns="45720" rtlCol="0" anchor="ctr"/>
          <a:lstStyle/>
          <a:p>
            <a:pPr marL="342900" indent="-342900">
              <a:buSzPct val="100000"/>
              <a:buFontTx/>
              <a:buChar char="•"/>
            </a:pPr>
            <a:r>
              <a:rPr lang="en-US" sz="1600" b="1" dirty="0" err="1">
                <a:solidFill>
                  <a:srgbClr val="0D1B2A"/>
                </a:solidFill>
                <a:latin typeface="Trebuchet MS" pitchFamily="34" charset="0"/>
                <a:ea typeface="Trebuchet MS" pitchFamily="34" charset="-122"/>
                <a:cs typeface="Trebuchet MS" pitchFamily="34" charset="-120"/>
              </a:rPr>
              <a:t>EarlyStopping</a:t>
            </a:r>
            <a:r>
              <a:rPr lang="en-US" sz="1600" b="1" dirty="0">
                <a:solidFill>
                  <a:srgbClr val="0D1B2A"/>
                </a:solidFill>
                <a:latin typeface="Trebuchet MS" pitchFamily="34" charset="0"/>
                <a:ea typeface="Trebuchet MS" pitchFamily="34" charset="-122"/>
                <a:cs typeface="Trebuchet MS" pitchFamily="34" charset="-120"/>
              </a:rPr>
              <a:t> metric:</a:t>
            </a:r>
            <a:endParaRPr lang="en-US" sz="1600" b="1" dirty="0"/>
          </a:p>
          <a:p>
            <a:pPr marL="800100" lvl="1" indent="-342900">
              <a:buSzPct val="100000"/>
              <a:buFontTx/>
              <a:buChar char="•"/>
            </a:pPr>
            <a:r>
              <a:rPr lang="en-US" sz="1200" b="1" dirty="0" err="1">
                <a:solidFill>
                  <a:srgbClr val="0D1B2A"/>
                </a:solidFill>
                <a:latin typeface="Trebuchet MS" pitchFamily="34" charset="0"/>
                <a:ea typeface="Trebuchet MS" pitchFamily="34" charset="-122"/>
                <a:cs typeface="Trebuchet MS" pitchFamily="34" charset="-120"/>
              </a:rPr>
              <a:t>val_loss</a:t>
            </a:r>
            <a:r>
              <a:rPr lang="en-US" sz="1200" b="1" dirty="0">
                <a:solidFill>
                  <a:srgbClr val="0D1B2A"/>
                </a:solidFill>
                <a:latin typeface="Trebuchet MS" pitchFamily="34" charset="0"/>
                <a:ea typeface="Trebuchet MS" pitchFamily="34" charset="-122"/>
                <a:cs typeface="Trebuchet MS" pitchFamily="34" charset="-120"/>
              </a:rPr>
              <a:t> ≠ val_f1 </a:t>
            </a:r>
          </a:p>
          <a:p>
            <a:pPr marL="800100" lvl="1" indent="-342900">
              <a:buSzPct val="100000"/>
              <a:buFontTx/>
              <a:buChar char="•"/>
            </a:pPr>
            <a:r>
              <a:rPr lang="en-US" sz="1200" dirty="0">
                <a:solidFill>
                  <a:srgbClr val="1A2B3C"/>
                </a:solidFill>
                <a:latin typeface="Calibri" pitchFamily="34" charset="0"/>
                <a:ea typeface="Calibri" pitchFamily="34" charset="-122"/>
                <a:cs typeface="Calibri" pitchFamily="34" charset="-120"/>
              </a:rPr>
              <a:t>we use val_macro_f1 (lower = better)</a:t>
            </a:r>
            <a:endParaRPr lang="en-US" sz="1200" dirty="0"/>
          </a:p>
          <a:p>
            <a:pPr>
              <a:buSzPct val="100000"/>
            </a:pPr>
            <a:r>
              <a:rPr lang="en-US" sz="1200" dirty="0">
                <a:solidFill>
                  <a:srgbClr val="1A2B3C"/>
                </a:solidFill>
                <a:latin typeface="Calibri" pitchFamily="34" charset="0"/>
                <a:ea typeface="Calibri" pitchFamily="34" charset="-122"/>
                <a:cs typeface="Calibri" pitchFamily="34" charset="-120"/>
              </a:rPr>
              <a:t>	</a:t>
            </a:r>
          </a:p>
          <a:p>
            <a:pPr marL="342900" indent="-342900">
              <a:buSzPct val="100000"/>
              <a:buChar char="•"/>
            </a:pPr>
            <a:r>
              <a:rPr lang="en-US" sz="1600" b="1" dirty="0">
                <a:solidFill>
                  <a:srgbClr val="1A2B3C"/>
                </a:solidFill>
                <a:latin typeface="Calibri" pitchFamily="34" charset="0"/>
                <a:ea typeface="Calibri" pitchFamily="34" charset="-122"/>
                <a:cs typeface="Calibri" pitchFamily="34" charset="-120"/>
              </a:rPr>
              <a:t>Patience</a:t>
            </a:r>
            <a:r>
              <a:rPr lang="en-US" sz="1600" dirty="0">
                <a:solidFill>
                  <a:srgbClr val="1A2B3C"/>
                </a:solidFill>
                <a:latin typeface="Calibri" pitchFamily="34" charset="0"/>
                <a:ea typeface="Calibri" pitchFamily="34" charset="-122"/>
                <a:cs typeface="Calibri" pitchFamily="34" charset="-120"/>
              </a:rPr>
              <a:t>: </a:t>
            </a:r>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7 epochs</a:t>
            </a:r>
            <a:endParaRPr lang="en-US" sz="1200" dirty="0"/>
          </a:p>
          <a:p>
            <a:pPr marL="800100" lvl="1" indent="-342900">
              <a:buSzPct val="100000"/>
              <a:buChar char="•"/>
            </a:pPr>
            <a:r>
              <a:rPr lang="en-US" sz="1200" dirty="0">
                <a:solidFill>
                  <a:srgbClr val="1A2B3C"/>
                </a:solidFill>
                <a:latin typeface="Calibri"/>
                <a:ea typeface="Calibri"/>
                <a:cs typeface="Calibri"/>
              </a:rPr>
              <a:t>Saves best checkpoint .</a:t>
            </a:r>
            <a:r>
              <a:rPr lang="en-US" sz="1200" dirty="0" err="1">
                <a:solidFill>
                  <a:srgbClr val="1A2B3C"/>
                </a:solidFill>
                <a:latin typeface="Calibri"/>
                <a:ea typeface="Calibri"/>
                <a:cs typeface="Calibri"/>
              </a:rPr>
              <a:t>pth</a:t>
            </a:r>
            <a:r>
              <a:rPr lang="en-US" sz="1200" dirty="0">
                <a:solidFill>
                  <a:srgbClr val="1A2B3C"/>
                </a:solidFill>
                <a:latin typeface="Calibri"/>
                <a:ea typeface="Calibri"/>
                <a:cs typeface="Calibri"/>
              </a:rPr>
              <a:t> per run</a:t>
            </a:r>
            <a:endParaRPr lang="en-US" sz="1200" dirty="0">
              <a:latin typeface="Calibri"/>
              <a:ea typeface="Calibri"/>
              <a:cs typeface="Calibri"/>
            </a:endParaRPr>
          </a:p>
          <a:p>
            <a:pPr marL="800100" lvl="1" indent="-342900">
              <a:buSzPct val="100000"/>
              <a:buChar char="•"/>
            </a:pPr>
            <a:r>
              <a:rPr lang="en-US" sz="1200">
                <a:solidFill>
                  <a:srgbClr val="1A2B3C"/>
                </a:solidFill>
                <a:latin typeface="Calibri"/>
                <a:ea typeface="Calibri"/>
                <a:cs typeface="Calibri"/>
              </a:rPr>
              <a:t>Allows &gt;30 epochs when plateau is slow</a:t>
            </a:r>
            <a:endParaRPr lang="en-US" sz="1200">
              <a:latin typeface="Calibri"/>
              <a:ea typeface="Calibri"/>
              <a:cs typeface="Calibri"/>
            </a:endParaRPr>
          </a:p>
        </p:txBody>
      </p:sp>
      <p:pic>
        <p:nvPicPr>
          <p:cNvPr id="6" name="Picture 5" descr="A graph of a train loss and a train loss&#10;&#10;AI-generated content may be incorrect.">
            <a:extLst>
              <a:ext uri="{FF2B5EF4-FFF2-40B4-BE49-F238E27FC236}">
                <a16:creationId xmlns:a16="http://schemas.microsoft.com/office/drawing/2014/main" id="{FAFE54AD-59D3-0BE0-74AA-A928F778EF6B}"/>
              </a:ext>
            </a:extLst>
          </p:cNvPr>
          <p:cNvPicPr>
            <a:picLocks noChangeAspect="1"/>
          </p:cNvPicPr>
          <p:nvPr/>
        </p:nvPicPr>
        <p:blipFill>
          <a:blip r:embed="rId2"/>
          <a:stretch>
            <a:fillRect/>
          </a:stretch>
        </p:blipFill>
        <p:spPr>
          <a:xfrm>
            <a:off x="862094" y="2641307"/>
            <a:ext cx="7400441" cy="247622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4AD80-9E79-9D02-A4B8-41F72F97A65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D80CC70-7EA8-857C-BB80-A5E3A5268206}"/>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83C9E720-937C-B76F-65E9-841EAD69478E}"/>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A17E7458-7B32-04D2-C4A4-D1FBBAD6FF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5CD643D-B6F5-C045-84CF-7D770FE18F4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1DCCA6F-CCE4-7E35-9000-DC688F8841FC}"/>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C601B13D-B0FC-5590-8AC1-F4FED5C4117A}"/>
              </a:ext>
            </a:extLst>
          </p:cNvPr>
          <p:cNvSpPr/>
          <p:nvPr/>
        </p:nvSpPr>
        <p:spPr>
          <a:xfrm>
            <a:off x="1298741" y="1161287"/>
            <a:ext cx="6400800" cy="82296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Performance Evaluation</a:t>
            </a:r>
          </a:p>
        </p:txBody>
      </p:sp>
      <p:sp>
        <p:nvSpPr>
          <p:cNvPr id="14" name="Rectangle: Rounded Corners 13">
            <a:extLst>
              <a:ext uri="{FF2B5EF4-FFF2-40B4-BE49-F238E27FC236}">
                <a16:creationId xmlns:a16="http://schemas.microsoft.com/office/drawing/2014/main" id="{6C286057-B071-1602-9CEB-9A98C3BB810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3</a:t>
            </a:r>
            <a:endParaRPr lang="pt-PT" b="1" dirty="0"/>
          </a:p>
        </p:txBody>
      </p:sp>
      <p:cxnSp>
        <p:nvCxnSpPr>
          <p:cNvPr id="16" name="Straight Connector 15">
            <a:extLst>
              <a:ext uri="{FF2B5EF4-FFF2-40B4-BE49-F238E27FC236}">
                <a16:creationId xmlns:a16="http://schemas.microsoft.com/office/drawing/2014/main" id="{56CFFF7D-EB1B-E088-EF82-B93BE4E78750}"/>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23772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blBG">
            <a:extLst>
              <a:ext uri="{FF2B5EF4-FFF2-40B4-BE49-F238E27FC236}">
                <a16:creationId xmlns:a16="http://schemas.microsoft.com/office/drawing/2014/main" id="{C8EF2A7A-42E7-5693-69B3-4E54DC90C622}"/>
              </a:ext>
            </a:extLst>
          </p:cNvPr>
          <p:cNvSpPr/>
          <p:nvPr/>
        </p:nvSpPr>
        <p:spPr>
          <a:xfrm>
            <a:off x="274320" y="2436880"/>
            <a:ext cx="5151120" cy="245256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7" name="TH">
            <a:extLst>
              <a:ext uri="{FF2B5EF4-FFF2-40B4-BE49-F238E27FC236}">
                <a16:creationId xmlns:a16="http://schemas.microsoft.com/office/drawing/2014/main" id="{6499144A-9758-E893-77CF-969E5EF582CE}"/>
              </a:ext>
            </a:extLst>
          </p:cNvPr>
          <p:cNvSpPr/>
          <p:nvPr/>
        </p:nvSpPr>
        <p:spPr>
          <a:xfrm>
            <a:off x="274320" y="2436880"/>
            <a:ext cx="5151120" cy="237744"/>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Metric Comparison vs Baselines</a:t>
            </a:r>
          </a:p>
        </p:txBody>
      </p:sp>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Results at a Glance</a:t>
            </a:r>
            <a:endParaRPr lang="en-US" sz="2200" dirty="0"/>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9" name="Text 7"/>
          <p:cNvSpPr/>
          <p:nvPr/>
        </p:nvSpPr>
        <p:spPr>
          <a:xfrm>
            <a:off x="347472"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a:ea typeface="Calibri"/>
                <a:cs typeface="Calibri"/>
              </a:rPr>
              <a:t>Best </a:t>
            </a:r>
            <a:r>
              <a:rPr lang="en-US" sz="1100" dirty="0" err="1">
                <a:solidFill>
                  <a:srgbClr val="FFFFFF"/>
                </a:solidFill>
                <a:latin typeface="Calibri"/>
                <a:ea typeface="Calibri"/>
                <a:cs typeface="Calibri"/>
              </a:rPr>
              <a:t>val</a:t>
            </a:r>
            <a:r>
              <a:rPr lang="en-US" sz="1100" dirty="0">
                <a:solidFill>
                  <a:srgbClr val="FFFFFF"/>
                </a:solidFill>
                <a:latin typeface="Calibri"/>
                <a:ea typeface="Calibri"/>
                <a:cs typeface="Calibri"/>
              </a:rPr>
              <a:t> Macro-F1</a:t>
            </a:r>
            <a:endParaRPr lang="en-US" sz="1100" dirty="0">
              <a:latin typeface="Calibri"/>
              <a:ea typeface="Calibri"/>
              <a:cs typeface="Calibri"/>
            </a:endParaRPr>
          </a:p>
          <a:p>
            <a:pPr marL="0" indent="0" algn="ctr">
              <a:buNone/>
            </a:pPr>
            <a:r>
              <a:rPr lang="en-US" sz="1100">
                <a:solidFill>
                  <a:srgbClr val="FFFFFF"/>
                </a:solidFill>
                <a:latin typeface="Calibri"/>
                <a:ea typeface="Calibri"/>
                <a:cs typeface="Calibri"/>
              </a:rPr>
              <a:t>(I_CNN)</a:t>
            </a:r>
            <a:endParaRPr lang="en-US" sz="1100">
              <a:latin typeface="Calibri"/>
              <a:ea typeface="Calibri"/>
              <a:cs typeface="Calibri"/>
            </a:endParaRPr>
          </a:p>
        </p:txBody>
      </p:sp>
      <p:sp>
        <p:nvSpPr>
          <p:cNvPr id="10" name="Shape 8"/>
          <p:cNvSpPr/>
          <p:nvPr/>
        </p:nvSpPr>
        <p:spPr>
          <a:xfrm>
            <a:off x="2523744"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13" name="Text 11"/>
          <p:cNvSpPr/>
          <p:nvPr/>
        </p:nvSpPr>
        <p:spPr>
          <a:xfrm>
            <a:off x="2523744"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solo Macro-F1</a:t>
            </a:r>
            <a:endParaRPr lang="en-US" sz="1100" dirty="0"/>
          </a:p>
          <a:p>
            <a:pPr marL="0" indent="0" algn="ctr">
              <a:buNone/>
            </a:pPr>
            <a:r>
              <a:rPr lang="en-US" sz="1100">
                <a:solidFill>
                  <a:srgbClr val="FFFFFF"/>
                </a:solidFill>
                <a:latin typeface="Calibri"/>
                <a:ea typeface="Calibri"/>
                <a:cs typeface="Calibri"/>
              </a:rPr>
              <a:t>(I_CNN)</a:t>
            </a:r>
            <a:endParaRPr lang="en-US" sz="1100" dirty="0">
              <a:latin typeface="Tw Cen MT" panose="020B0602020104020603"/>
              <a:ea typeface="Calibri"/>
              <a:cs typeface="Calibri"/>
            </a:endParaRPr>
          </a:p>
        </p:txBody>
      </p:sp>
      <p:sp>
        <p:nvSpPr>
          <p:cNvPr id="14" name="Shape 12"/>
          <p:cNvSpPr/>
          <p:nvPr/>
        </p:nvSpPr>
        <p:spPr>
          <a:xfrm>
            <a:off x="4700016"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16" name="Text 14"/>
          <p:cNvSpPr/>
          <p:nvPr/>
        </p:nvSpPr>
        <p:spPr>
          <a:xfrm>
            <a:off x="4700016"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0.99720</a:t>
            </a:r>
            <a:endParaRPr lang="en-US" sz="3200">
              <a:solidFill>
                <a:srgbClr val="00A896"/>
              </a:solidFill>
            </a:endParaRPr>
          </a:p>
        </p:txBody>
      </p:sp>
      <p:sp>
        <p:nvSpPr>
          <p:cNvPr id="17" name="Text 15"/>
          <p:cNvSpPr/>
          <p:nvPr/>
        </p:nvSpPr>
        <p:spPr>
          <a:xfrm>
            <a:off x="4700016" y="1572768"/>
            <a:ext cx="1993392" cy="621792"/>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a:ea typeface="Calibri"/>
                <a:cs typeface="Calibri"/>
              </a:rPr>
              <a:t>Kaggle public score</a:t>
            </a:r>
            <a:endParaRPr lang="en-US" sz="1100" b="1">
              <a:solidFill>
                <a:schemeClr val="bg1"/>
              </a:solidFill>
              <a:latin typeface="Calibri"/>
              <a:ea typeface="Calibri"/>
              <a:cs typeface="Calibri"/>
            </a:endParaRPr>
          </a:p>
          <a:p>
            <a:pPr marL="0" indent="0" algn="ctr">
              <a:buNone/>
            </a:pPr>
            <a:r>
              <a:rPr lang="en-US" sz="1100" dirty="0">
                <a:solidFill>
                  <a:srgbClr val="FFFFFF"/>
                </a:solidFill>
                <a:latin typeface="Calibri"/>
                <a:ea typeface="Calibri"/>
                <a:cs typeface="Calibri"/>
              </a:rPr>
              <a:t>(submitted I_CNN)</a:t>
            </a:r>
            <a:endParaRPr lang="en-US" sz="1100" dirty="0">
              <a:latin typeface="Tw Cen MT" panose="020B0602020104020603"/>
              <a:ea typeface="Calibri"/>
              <a:cs typeface="Calibri"/>
            </a:endParaRPr>
          </a:p>
        </p:txBody>
      </p:sp>
      <p:sp>
        <p:nvSpPr>
          <p:cNvPr id="18" name="Shape 16"/>
          <p:cNvSpPr/>
          <p:nvPr/>
        </p:nvSpPr>
        <p:spPr>
          <a:xfrm>
            <a:off x="6876288"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24" name="Shape 2">
            <a:extLst>
              <a:ext uri="{FF2B5EF4-FFF2-40B4-BE49-F238E27FC236}">
                <a16:creationId xmlns:a16="http://schemas.microsoft.com/office/drawing/2014/main" id="{DBB4021F-FBEA-312C-E965-99EA0B129BFB}"/>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Perf Eval</a:t>
            </a:r>
            <a:endParaRPr lang="pt-PT" b="1" dirty="0">
              <a:solidFill>
                <a:schemeClr val="bg1"/>
              </a:solidFill>
            </a:endParaRPr>
          </a:p>
        </p:txBody>
      </p:sp>
      <p:sp>
        <p:nvSpPr>
          <p:cNvPr id="25" name="Rectangle: Rounded Corners 24">
            <a:extLst>
              <a:ext uri="{FF2B5EF4-FFF2-40B4-BE49-F238E27FC236}">
                <a16:creationId xmlns:a16="http://schemas.microsoft.com/office/drawing/2014/main" id="{2D9348A7-BB2F-46AA-6AE0-8CD5208844DA}"/>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3</a:t>
            </a:r>
          </a:p>
        </p:txBody>
      </p:sp>
      <p:sp>
        <p:nvSpPr>
          <p:cNvPr id="23" name="TData">
            <a:extLst>
              <a:ext uri="{FF2B5EF4-FFF2-40B4-BE49-F238E27FC236}">
                <a16:creationId xmlns:a16="http://schemas.microsoft.com/office/drawing/2014/main" id="{6A6165A4-672B-AF7A-ECDD-50015C018A27}"/>
              </a:ext>
            </a:extLst>
          </p:cNvPr>
          <p:cNvSpPr/>
          <p:nvPr/>
        </p:nvSpPr>
        <p:spPr>
          <a:xfrm>
            <a:off x="310896" y="2772088"/>
            <a:ext cx="5077968" cy="2420968"/>
          </a:xfrm>
          <a:prstGeom prst="rect">
            <a:avLst/>
          </a:prstGeom>
          <a:noFill/>
          <a:ln/>
        </p:spPr>
        <p:txBody>
          <a:bodyPr wrap="square" lIns="91440" tIns="45720" rIns="91440" bIns="45720" rtlCol="0" anchor="t"/>
          <a:lstStyle/>
          <a:p>
            <a:pPr>
              <a:buNone/>
            </a:pPr>
            <a:r>
              <a:rPr lang="en-US" b="1" dirty="0">
                <a:solidFill>
                  <a:srgbClr val="1C3A52"/>
                </a:solidFill>
                <a:latin typeface="Calibri"/>
              </a:rPr>
              <a:t>System                    			macro-F1   	acc    </a:t>
            </a:r>
          </a:p>
          <a:p>
            <a:pPr>
              <a:buNone/>
            </a:pPr>
            <a:r>
              <a:rPr lang="en-US" dirty="0">
                <a:solidFill>
                  <a:srgbClr val="888888"/>
                </a:solidFill>
                <a:latin typeface="Calibri"/>
              </a:rPr>
              <a:t>Random baseline           		0.111      		11.1%</a:t>
            </a:r>
          </a:p>
          <a:p>
            <a:pPr>
              <a:buNone/>
            </a:pPr>
            <a:r>
              <a:rPr lang="en-US">
                <a:solidFill>
                  <a:srgbClr val="888888"/>
                </a:solidFill>
                <a:latin typeface="Calibri"/>
              </a:rPr>
              <a:t>Always-Water              		0.021      		18.7%</a:t>
            </a:r>
            <a:endParaRPr lang="en-US">
              <a:solidFill>
                <a:srgbClr val="888888"/>
              </a:solidFill>
              <a:latin typeface="Calibri"/>
              <a:ea typeface="Calibri"/>
              <a:cs typeface="Calibri"/>
            </a:endParaRPr>
          </a:p>
          <a:p>
            <a:r>
              <a:rPr lang="en-US" b="1">
                <a:solidFill>
                  <a:srgbClr val="00A896"/>
                </a:solidFill>
                <a:latin typeface="Calibri"/>
                <a:ea typeface="Calibri"/>
                <a:cs typeface="Calibri"/>
              </a:rPr>
              <a:t>ENS_C+E (submitted) ★		1.0000              100%</a:t>
            </a:r>
            <a:endParaRPr lang="en-US" b="1" dirty="0">
              <a:solidFill>
                <a:srgbClr val="00A896"/>
              </a:solidFill>
              <a:latin typeface="Calibri"/>
              <a:ea typeface="Calibri"/>
              <a:cs typeface="Calibri"/>
            </a:endParaRPr>
          </a:p>
          <a:p>
            <a:r>
              <a:rPr lang="en-US">
                <a:solidFill>
                  <a:srgbClr val="1C3A52"/>
                </a:solidFill>
                <a:latin typeface="Calibri"/>
              </a:rPr>
              <a:t>Kaggle public test        		0.99720              —  </a:t>
            </a:r>
            <a:endParaRPr lang="en-US">
              <a:solidFill>
                <a:srgbClr val="1C3A52"/>
              </a:solidFill>
              <a:latin typeface="Calibri"/>
              <a:ea typeface="Calibri"/>
              <a:cs typeface="Calibri"/>
            </a:endParaRPr>
          </a:p>
        </p:txBody>
      </p:sp>
      <p:sp>
        <p:nvSpPr>
          <p:cNvPr id="28" name="MetricBG">
            <a:extLst>
              <a:ext uri="{FF2B5EF4-FFF2-40B4-BE49-F238E27FC236}">
                <a16:creationId xmlns:a16="http://schemas.microsoft.com/office/drawing/2014/main" id="{CC59F894-6BB4-3F3A-9F78-9236B7E8164D}"/>
              </a:ext>
            </a:extLst>
          </p:cNvPr>
          <p:cNvSpPr/>
          <p:nvPr/>
        </p:nvSpPr>
        <p:spPr>
          <a:xfrm>
            <a:off x="5546979" y="2436880"/>
            <a:ext cx="3414141" cy="2452560"/>
          </a:xfrm>
          <a:prstGeom prst="rect">
            <a:avLst/>
          </a:prstGeom>
          <a:solidFill>
            <a:srgbClr val="0D1B2A"/>
          </a:solidFill>
          <a:ln w="0">
            <a:noFill/>
          </a:ln>
        </p:spPr>
        <p:txBody>
          <a:bodyPr/>
          <a:lstStyle/>
          <a:p>
            <a:endParaRPr lang="en-US"/>
          </a:p>
        </p:txBody>
      </p:sp>
      <p:sp>
        <p:nvSpPr>
          <p:cNvPr id="29" name="MetricText">
            <a:extLst>
              <a:ext uri="{FF2B5EF4-FFF2-40B4-BE49-F238E27FC236}">
                <a16:creationId xmlns:a16="http://schemas.microsoft.com/office/drawing/2014/main" id="{8BC9AFA8-BE80-9441-0C07-2D003F12BB94}"/>
              </a:ext>
            </a:extLst>
          </p:cNvPr>
          <p:cNvSpPr/>
          <p:nvPr/>
        </p:nvSpPr>
        <p:spPr>
          <a:xfrm>
            <a:off x="5546979" y="2574040"/>
            <a:ext cx="3414141" cy="2315400"/>
          </a:xfrm>
          <a:prstGeom prst="rect">
            <a:avLst/>
          </a:prstGeom>
          <a:noFill/>
          <a:ln/>
        </p:spPr>
        <p:txBody>
          <a:bodyPr wrap="square" lIns="91440" tIns="45720" rIns="91440" bIns="45720" rtlCol="0" anchor="t"/>
          <a:lstStyle/>
          <a:p>
            <a:r>
              <a:rPr lang="en-US" b="1" dirty="0">
                <a:solidFill>
                  <a:srgbClr val="00A896"/>
                </a:solidFill>
                <a:latin typeface="Trebuchet MS"/>
              </a:rPr>
              <a:t>Our model achieved a good performance</a:t>
            </a:r>
            <a:endParaRPr lang="en-US" dirty="0">
              <a:solidFill>
                <a:srgbClr val="00A896"/>
              </a:solidFill>
            </a:endParaRPr>
          </a:p>
          <a:p>
            <a:endParaRPr lang="en-US" b="1" dirty="0">
              <a:solidFill>
                <a:srgbClr val="00A896"/>
              </a:solidFill>
              <a:latin typeface="Trebuchet MS"/>
            </a:endParaRPr>
          </a:p>
          <a:p>
            <a:pPr>
              <a:buNone/>
            </a:pPr>
            <a:r>
              <a:rPr lang="en-US" sz="1600" b="1">
                <a:solidFill>
                  <a:srgbClr val="00A896"/>
                </a:solidFill>
                <a:latin typeface="Calibri"/>
              </a:rPr>
              <a:t>Kaggle private score:</a:t>
            </a:r>
            <a:endParaRPr lang="en-US" sz="1600" b="1">
              <a:solidFill>
                <a:srgbClr val="00A896"/>
              </a:solidFill>
              <a:latin typeface="Calibri"/>
              <a:ea typeface="Calibri"/>
              <a:cs typeface="Calibri"/>
            </a:endParaRPr>
          </a:p>
          <a:p>
            <a:r>
              <a:rPr lang="en-US" sz="1600" b="1" dirty="0">
                <a:solidFill>
                  <a:srgbClr val="00A896"/>
                </a:solidFill>
                <a:latin typeface="Calibri"/>
              </a:rPr>
              <a:t>	</a:t>
            </a:r>
            <a:r>
              <a:rPr lang="en-US" sz="2400" b="1" dirty="0">
                <a:solidFill>
                  <a:srgbClr val="00A896"/>
                </a:solidFill>
                <a:latin typeface="Calibri"/>
              </a:rPr>
              <a:t>0.2431</a:t>
            </a:r>
            <a:endParaRPr lang="en-US" sz="2400" b="1" dirty="0">
              <a:solidFill>
                <a:srgbClr val="00A896"/>
              </a:solidFill>
              <a:latin typeface="Calibri"/>
              <a:ea typeface="Calibri"/>
              <a:cs typeface="Calibri"/>
            </a:endParaRPr>
          </a:p>
        </p:txBody>
      </p:sp>
      <p:sp>
        <p:nvSpPr>
          <p:cNvPr id="22" name="Text 14">
            <a:extLst>
              <a:ext uri="{FF2B5EF4-FFF2-40B4-BE49-F238E27FC236}">
                <a16:creationId xmlns:a16="http://schemas.microsoft.com/office/drawing/2014/main" id="{16BD9560-217A-B398-F89C-2FD2E89C8DE9}"/>
              </a:ext>
            </a:extLst>
          </p:cNvPr>
          <p:cNvSpPr/>
          <p:nvPr/>
        </p:nvSpPr>
        <p:spPr>
          <a:xfrm>
            <a:off x="6876288" y="864112"/>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0.</a:t>
            </a:r>
            <a:endParaRPr lang="en-US" sz="3200">
              <a:solidFill>
                <a:srgbClr val="00A896"/>
              </a:solidFill>
            </a:endParaRPr>
          </a:p>
        </p:txBody>
      </p:sp>
      <p:sp>
        <p:nvSpPr>
          <p:cNvPr id="30" name="Text 15">
            <a:extLst>
              <a:ext uri="{FF2B5EF4-FFF2-40B4-BE49-F238E27FC236}">
                <a16:creationId xmlns:a16="http://schemas.microsoft.com/office/drawing/2014/main" id="{5A29E501-55E5-F4F7-3B35-6649D8784CA8}"/>
              </a:ext>
            </a:extLst>
          </p:cNvPr>
          <p:cNvSpPr/>
          <p:nvPr/>
        </p:nvSpPr>
        <p:spPr>
          <a:xfrm>
            <a:off x="6876288" y="1549912"/>
            <a:ext cx="1993392" cy="621792"/>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a:ea typeface="Calibri"/>
                <a:cs typeface="Calibri"/>
              </a:rPr>
              <a:t>Kaggle private score</a:t>
            </a:r>
            <a:endParaRPr lang="en-US" sz="1100" b="1">
              <a:solidFill>
                <a:schemeClr val="bg1"/>
              </a:solidFill>
              <a:latin typeface="Calibri"/>
              <a:ea typeface="Calibri"/>
              <a:cs typeface="Calibri"/>
            </a:endParaRPr>
          </a:p>
          <a:p>
            <a:pPr marL="0" indent="0" algn="ctr">
              <a:buNone/>
            </a:pPr>
            <a:r>
              <a:rPr lang="en-US" sz="1100" dirty="0">
                <a:solidFill>
                  <a:srgbClr val="FFFFFF"/>
                </a:solidFill>
                <a:latin typeface="Calibri"/>
                <a:ea typeface="Calibri"/>
                <a:cs typeface="Calibri"/>
              </a:rPr>
              <a:t>(submitted I_CNN)</a:t>
            </a:r>
            <a:endParaRPr lang="en-US" sz="1100" dirty="0">
              <a:latin typeface="Calibri"/>
              <a:ea typeface="Calibri"/>
              <a:cs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3</a:t>
            </a:r>
          </a:p>
        </p:txBody>
      </p:sp>
      <p:sp>
        <p:nvSpPr>
          <p:cNvPr id="5" name="Title"/>
          <p:cNvSpPr/>
          <p:nvPr/>
        </p:nvSpPr>
        <p:spPr>
          <a:xfrm>
            <a:off x="457199" y="109728"/>
            <a:ext cx="6880671"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Per-Class F1</a:t>
            </a:r>
          </a:p>
        </p:txBody>
      </p:sp>
      <p:sp>
        <p:nvSpPr>
          <p:cNvPr id="20" name="ClassBG"/>
          <p:cNvSpPr/>
          <p:nvPr/>
        </p:nvSpPr>
        <p:spPr>
          <a:xfrm>
            <a:off x="4350994" y="740160"/>
            <a:ext cx="46639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0" name="Bar1fill"/>
          <p:cNvSpPr/>
          <p:nvPr/>
        </p:nvSpPr>
        <p:spPr>
          <a:xfrm>
            <a:off x="4443154" y="740160"/>
            <a:ext cx="2194560" cy="357120"/>
          </a:xfrm>
          <a:prstGeom prst="rect">
            <a:avLst/>
          </a:prstGeom>
          <a:solidFill>
            <a:srgbClr val="00A896"/>
          </a:solidFill>
          <a:ln w="0">
            <a:noFill/>
          </a:ln>
        </p:spPr>
        <p:txBody>
          <a:bodyPr/>
          <a:lstStyle/>
          <a:p>
            <a:endParaRPr lang="en-US"/>
          </a:p>
        </p:txBody>
      </p:sp>
      <p:sp>
        <p:nvSpPr>
          <p:cNvPr id="31" name="Bar1txt"/>
          <p:cNvSpPr/>
          <p:nvPr/>
        </p:nvSpPr>
        <p:spPr>
          <a:xfrm>
            <a:off x="4443154" y="740160"/>
            <a:ext cx="4480560" cy="357120"/>
          </a:xfrm>
          <a:prstGeom prst="rect">
            <a:avLst/>
          </a:prstGeom>
          <a:noFill/>
          <a:ln/>
        </p:spPr>
        <p:txBody>
          <a:bodyPr wrap="square" lIns="91440" tIns="0" rIns="0" bIns="0" rtlCol="0" anchor="ctr"/>
          <a:lstStyle/>
          <a:p>
            <a:pPr>
              <a:buNone/>
            </a:pPr>
            <a:r>
              <a:rPr lang="en-US" sz="1100" b="1" dirty="0">
                <a:solidFill>
                  <a:srgbClr val="FFFFFF"/>
                </a:solidFill>
                <a:latin typeface="Calibri"/>
              </a:rPr>
              <a:t>🔥 Fire    0.457  		           </a:t>
            </a:r>
            <a:r>
              <a:rPr lang="en-US" sz="900" dirty="0">
                <a:latin typeface="Calibri"/>
              </a:rPr>
              <a:t>distinctive orange palette</a:t>
            </a:r>
          </a:p>
        </p:txBody>
      </p:sp>
      <p:sp>
        <p:nvSpPr>
          <p:cNvPr id="32" name="Bar2fill"/>
          <p:cNvSpPr/>
          <p:nvPr/>
        </p:nvSpPr>
        <p:spPr>
          <a:xfrm>
            <a:off x="4443154" y="1133280"/>
            <a:ext cx="1737360" cy="329184"/>
          </a:xfrm>
          <a:prstGeom prst="rect">
            <a:avLst/>
          </a:prstGeom>
          <a:solidFill>
            <a:srgbClr val="028090"/>
          </a:solidFill>
          <a:ln w="0">
            <a:noFill/>
          </a:ln>
        </p:spPr>
        <p:txBody>
          <a:bodyPr/>
          <a:lstStyle/>
          <a:p>
            <a:endParaRPr lang="en-US"/>
          </a:p>
        </p:txBody>
      </p:sp>
      <p:sp>
        <p:nvSpPr>
          <p:cNvPr id="33" name="Bar2txt"/>
          <p:cNvSpPr/>
          <p:nvPr/>
        </p:nvSpPr>
        <p:spPr>
          <a:xfrm>
            <a:off x="4443154" y="1133280"/>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Poison  0.359                       </a:t>
            </a:r>
            <a:r>
              <a:rPr lang="en-US" sz="900" dirty="0">
                <a:solidFill>
                  <a:srgbClr val="1A2B3C"/>
                </a:solidFill>
                <a:latin typeface="Calibri"/>
              </a:rPr>
              <a:t>unique purple; LS prevents overconfidence</a:t>
            </a:r>
          </a:p>
        </p:txBody>
      </p:sp>
      <p:sp>
        <p:nvSpPr>
          <p:cNvPr id="34" name="Bar3fill"/>
          <p:cNvSpPr/>
          <p:nvPr/>
        </p:nvSpPr>
        <p:spPr>
          <a:xfrm>
            <a:off x="4443154" y="1517904"/>
            <a:ext cx="1600200" cy="329184"/>
          </a:xfrm>
          <a:prstGeom prst="rect">
            <a:avLst/>
          </a:prstGeom>
          <a:solidFill>
            <a:srgbClr val="028090"/>
          </a:solidFill>
          <a:ln w="0">
            <a:noFill/>
          </a:ln>
        </p:spPr>
        <p:txBody>
          <a:bodyPr/>
          <a:lstStyle/>
          <a:p>
            <a:endParaRPr lang="en-US"/>
          </a:p>
        </p:txBody>
      </p:sp>
      <p:sp>
        <p:nvSpPr>
          <p:cNvPr id="35" name="Bar3txt"/>
          <p:cNvSpPr/>
          <p:nvPr/>
        </p:nvSpPr>
        <p:spPr>
          <a:xfrm>
            <a:off x="4443154" y="1517904"/>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Water   0.332                  </a:t>
            </a:r>
            <a:r>
              <a:rPr lang="en-US" sz="900" dirty="0">
                <a:solidFill>
                  <a:srgbClr val="1A2B3C"/>
                </a:solidFill>
                <a:latin typeface="Calibri"/>
              </a:rPr>
              <a:t>blue palette helps; confused with Normal</a:t>
            </a:r>
          </a:p>
        </p:txBody>
      </p:sp>
      <p:sp>
        <p:nvSpPr>
          <p:cNvPr id="36" name="Bar4fill"/>
          <p:cNvSpPr/>
          <p:nvPr/>
        </p:nvSpPr>
        <p:spPr>
          <a:xfrm>
            <a:off x="4443154" y="1902528"/>
            <a:ext cx="1371600" cy="329184"/>
          </a:xfrm>
          <a:prstGeom prst="rect">
            <a:avLst/>
          </a:prstGeom>
          <a:solidFill>
            <a:srgbClr val="1C3A52"/>
          </a:solidFill>
          <a:ln w="0">
            <a:noFill/>
          </a:ln>
        </p:spPr>
        <p:txBody>
          <a:bodyPr/>
          <a:lstStyle/>
          <a:p>
            <a:endParaRPr lang="en-US"/>
          </a:p>
        </p:txBody>
      </p:sp>
      <p:sp>
        <p:nvSpPr>
          <p:cNvPr id="37" name="Bar4txt"/>
          <p:cNvSpPr/>
          <p:nvPr/>
        </p:nvSpPr>
        <p:spPr>
          <a:xfrm>
            <a:off x="4443154" y="1902528"/>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Grass   0.286            </a:t>
            </a:r>
            <a:r>
              <a:rPr lang="en-US" sz="900" dirty="0">
                <a:solidFill>
                  <a:srgbClr val="1A2B3C"/>
                </a:solidFill>
                <a:latin typeface="Calibri"/>
              </a:rPr>
              <a:t>green palette; confused with Bug</a:t>
            </a:r>
          </a:p>
        </p:txBody>
      </p:sp>
      <p:sp>
        <p:nvSpPr>
          <p:cNvPr id="38" name="Bar5fill"/>
          <p:cNvSpPr/>
          <p:nvPr/>
        </p:nvSpPr>
        <p:spPr>
          <a:xfrm>
            <a:off x="4443154" y="2287152"/>
            <a:ext cx="1028160" cy="329184"/>
          </a:xfrm>
          <a:prstGeom prst="rect">
            <a:avLst/>
          </a:prstGeom>
          <a:solidFill>
            <a:srgbClr val="1C3A52"/>
          </a:solidFill>
          <a:ln w="0">
            <a:noFill/>
          </a:ln>
        </p:spPr>
        <p:txBody>
          <a:bodyPr/>
          <a:lstStyle/>
          <a:p>
            <a:endParaRPr lang="en-US"/>
          </a:p>
        </p:txBody>
      </p:sp>
      <p:sp>
        <p:nvSpPr>
          <p:cNvPr id="39" name="Bar5txt"/>
          <p:cNvSpPr/>
          <p:nvPr/>
        </p:nvSpPr>
        <p:spPr>
          <a:xfrm>
            <a:off x="4443154" y="2287152"/>
            <a:ext cx="4480560" cy="329184"/>
          </a:xfrm>
          <a:prstGeom prst="rect">
            <a:avLst/>
          </a:prstGeom>
          <a:noFill/>
          <a:ln/>
        </p:spPr>
        <p:txBody>
          <a:bodyPr wrap="square" lIns="91440" tIns="0" rIns="0" bIns="0" rtlCol="0" anchor="ctr"/>
          <a:lstStyle/>
          <a:p>
            <a:pPr>
              <a:buNone/>
            </a:pPr>
            <a:r>
              <a:rPr lang="en-US" sz="1100" b="1" dirty="0">
                <a:solidFill>
                  <a:schemeClr val="bg1"/>
                </a:solidFill>
                <a:latin typeface="Calibri"/>
              </a:rPr>
              <a:t>😐 Normal  0.2</a:t>
            </a:r>
            <a:r>
              <a:rPr lang="en-US" sz="1100" b="1" dirty="0">
                <a:latin typeface="Calibri"/>
              </a:rPr>
              <a:t>15</a:t>
            </a:r>
            <a:r>
              <a:rPr lang="en-US" sz="1100" b="1" dirty="0">
                <a:solidFill>
                  <a:schemeClr val="bg1"/>
                </a:solidFill>
                <a:latin typeface="Calibri"/>
              </a:rPr>
              <a:t> </a:t>
            </a:r>
            <a:r>
              <a:rPr lang="en-US" sz="1100" b="1" dirty="0">
                <a:solidFill>
                  <a:srgbClr val="1C3A52"/>
                </a:solidFill>
                <a:latin typeface="Calibri"/>
              </a:rPr>
              <a:t> </a:t>
            </a:r>
            <a:r>
              <a:rPr lang="en-US" sz="900" dirty="0">
                <a:solidFill>
                  <a:srgbClr val="1A2B3C"/>
                </a:solidFill>
                <a:latin typeface="Calibri"/>
              </a:rPr>
              <a:t>most diverse; no distinctive colour</a:t>
            </a:r>
          </a:p>
        </p:txBody>
      </p:sp>
      <p:sp>
        <p:nvSpPr>
          <p:cNvPr id="40" name="Bar6fill"/>
          <p:cNvSpPr/>
          <p:nvPr/>
        </p:nvSpPr>
        <p:spPr>
          <a:xfrm>
            <a:off x="4443154" y="2671776"/>
            <a:ext cx="668880" cy="329184"/>
          </a:xfrm>
          <a:prstGeom prst="rect">
            <a:avLst/>
          </a:prstGeom>
          <a:solidFill>
            <a:srgbClr val="C0392B"/>
          </a:solidFill>
          <a:ln w="0">
            <a:noFill/>
          </a:ln>
        </p:spPr>
        <p:txBody>
          <a:bodyPr/>
          <a:lstStyle/>
          <a:p>
            <a:endParaRPr lang="en-US"/>
          </a:p>
        </p:txBody>
      </p:sp>
      <p:sp>
        <p:nvSpPr>
          <p:cNvPr id="41" name="Bar6txt"/>
          <p:cNvSpPr/>
          <p:nvPr/>
        </p:nvSpPr>
        <p:spPr>
          <a:xfrm>
            <a:off x="4443154" y="2671776"/>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Bug  </a:t>
            </a:r>
            <a:r>
              <a:rPr lang="en-US" sz="1100" b="1" dirty="0">
                <a:latin typeface="Calibri"/>
              </a:rPr>
              <a:t>   0.140  </a:t>
            </a:r>
            <a:r>
              <a:rPr lang="en-US" sz="900" dirty="0">
                <a:solidFill>
                  <a:srgbClr val="1A2B3C"/>
                </a:solidFill>
                <a:latin typeface="Calibri"/>
              </a:rPr>
              <a:t>green overlaps Grass; confused with Normal</a:t>
            </a:r>
          </a:p>
        </p:txBody>
      </p:sp>
      <p:sp>
        <p:nvSpPr>
          <p:cNvPr id="42" name="Bar7fill"/>
          <p:cNvSpPr/>
          <p:nvPr/>
        </p:nvSpPr>
        <p:spPr>
          <a:xfrm>
            <a:off x="4443154" y="3056400"/>
            <a:ext cx="640080" cy="329184"/>
          </a:xfrm>
          <a:prstGeom prst="rect">
            <a:avLst/>
          </a:prstGeom>
          <a:solidFill>
            <a:srgbClr val="C0392B"/>
          </a:solidFill>
          <a:ln w="0">
            <a:noFill/>
          </a:ln>
        </p:spPr>
        <p:txBody>
          <a:bodyPr/>
          <a:lstStyle/>
          <a:p>
            <a:endParaRPr lang="en-US"/>
          </a:p>
        </p:txBody>
      </p:sp>
      <p:sp>
        <p:nvSpPr>
          <p:cNvPr id="43" name="Bar7txt"/>
          <p:cNvSpPr/>
          <p:nvPr/>
        </p:nvSpPr>
        <p:spPr>
          <a:xfrm>
            <a:off x="4443154" y="3056400"/>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Rock</a:t>
            </a:r>
            <a:r>
              <a:rPr lang="en-US" sz="1100" b="1" dirty="0">
                <a:latin typeface="Calibri"/>
              </a:rPr>
              <a:t>    0.134  </a:t>
            </a:r>
            <a:r>
              <a:rPr lang="en-US" sz="900" dirty="0">
                <a:solidFill>
                  <a:srgbClr val="1A2B3C"/>
                </a:solidFill>
                <a:latin typeface="Calibri"/>
              </a:rPr>
              <a:t>grey/brown shared with Ground and Fighting</a:t>
            </a:r>
          </a:p>
        </p:txBody>
      </p:sp>
      <p:sp>
        <p:nvSpPr>
          <p:cNvPr id="44" name="Bar8fill"/>
          <p:cNvSpPr/>
          <p:nvPr/>
        </p:nvSpPr>
        <p:spPr>
          <a:xfrm>
            <a:off x="4443154" y="3441024"/>
            <a:ext cx="602640" cy="329184"/>
          </a:xfrm>
          <a:prstGeom prst="rect">
            <a:avLst/>
          </a:prstGeom>
          <a:solidFill>
            <a:srgbClr val="C0392B"/>
          </a:solidFill>
          <a:ln w="0">
            <a:noFill/>
          </a:ln>
        </p:spPr>
        <p:txBody>
          <a:bodyPr/>
          <a:lstStyle/>
          <a:p>
            <a:endParaRPr lang="en-US"/>
          </a:p>
        </p:txBody>
      </p:sp>
      <p:sp>
        <p:nvSpPr>
          <p:cNvPr id="45" name="Bar8txt"/>
          <p:cNvSpPr/>
          <p:nvPr/>
        </p:nvSpPr>
        <p:spPr>
          <a:xfrm>
            <a:off x="4443154" y="3441024"/>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Fight </a:t>
            </a:r>
            <a:r>
              <a:rPr lang="en-US" sz="1100" b="1" dirty="0">
                <a:latin typeface="Calibri"/>
              </a:rPr>
              <a:t> 0.126  </a:t>
            </a:r>
            <a:r>
              <a:rPr lang="en-US" sz="900" dirty="0">
                <a:solidFill>
                  <a:srgbClr val="1A2B3C"/>
                </a:solidFill>
                <a:latin typeface="Calibri"/>
              </a:rPr>
              <a:t>humanoid silhouette = same as Normal for MLP</a:t>
            </a:r>
          </a:p>
        </p:txBody>
      </p:sp>
      <p:sp>
        <p:nvSpPr>
          <p:cNvPr id="46" name="Bar9fill"/>
          <p:cNvSpPr/>
          <p:nvPr/>
        </p:nvSpPr>
        <p:spPr>
          <a:xfrm>
            <a:off x="4443154" y="3825648"/>
            <a:ext cx="511200" cy="329184"/>
          </a:xfrm>
          <a:prstGeom prst="rect">
            <a:avLst/>
          </a:prstGeom>
          <a:solidFill>
            <a:srgbClr val="C0392B"/>
          </a:solidFill>
          <a:ln w="0">
            <a:noFill/>
          </a:ln>
        </p:spPr>
        <p:txBody>
          <a:bodyPr/>
          <a:lstStyle/>
          <a:p>
            <a:endParaRPr lang="en-US"/>
          </a:p>
        </p:txBody>
      </p:sp>
      <p:sp>
        <p:nvSpPr>
          <p:cNvPr id="47" name="Bar9txt"/>
          <p:cNvSpPr/>
          <p:nvPr/>
        </p:nvSpPr>
        <p:spPr>
          <a:xfrm>
            <a:off x="4443154" y="3825648"/>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Gro</a:t>
            </a:r>
            <a:r>
              <a:rPr lang="en-US" sz="1100" b="1" dirty="0">
                <a:latin typeface="Calibri"/>
              </a:rPr>
              <a:t>und 0.107  </a:t>
            </a:r>
            <a:r>
              <a:rPr lang="en-US" sz="900" dirty="0">
                <a:solidFill>
                  <a:srgbClr val="1A2B3C"/>
                </a:solidFill>
                <a:latin typeface="Calibri"/>
              </a:rPr>
              <a:t>fewest samples (244) + brown/grey overlap</a:t>
            </a:r>
          </a:p>
        </p:txBody>
      </p:sp>
      <p:sp>
        <p:nvSpPr>
          <p:cNvPr id="50" name="InsightBG"/>
          <p:cNvSpPr/>
          <p:nvPr/>
        </p:nvSpPr>
        <p:spPr>
          <a:xfrm>
            <a:off x="274320" y="4628400"/>
            <a:ext cx="8595360" cy="457200"/>
          </a:xfrm>
          <a:prstGeom prst="rect">
            <a:avLst/>
          </a:prstGeom>
          <a:solidFill>
            <a:srgbClr val="1C3A52"/>
          </a:solidFill>
          <a:ln w="0">
            <a:noFill/>
          </a:ln>
        </p:spPr>
        <p:txBody>
          <a:bodyPr/>
          <a:lstStyle/>
          <a:p>
            <a:endParaRPr lang="en-US"/>
          </a:p>
        </p:txBody>
      </p:sp>
      <p:sp>
        <p:nvSpPr>
          <p:cNvPr id="51" name="InsightText"/>
          <p:cNvSpPr/>
          <p:nvPr/>
        </p:nvSpPr>
        <p:spPr>
          <a:xfrm>
            <a:off x="457200" y="4665480"/>
            <a:ext cx="8228160" cy="384840"/>
          </a:xfrm>
          <a:prstGeom prst="rect">
            <a:avLst/>
          </a:prstGeom>
          <a:noFill/>
          <a:ln/>
        </p:spPr>
        <p:txBody>
          <a:bodyPr wrap="square" rtlCol="0" anchor="ctr"/>
          <a:lstStyle/>
          <a:p>
            <a:pPr>
              <a:buNone/>
            </a:pPr>
            <a:r>
              <a:rPr lang="en-US" sz="1100" b="1" dirty="0">
                <a:solidFill>
                  <a:schemeClr val="accent2">
                    <a:lumMod val="40000"/>
                    <a:lumOff val="60000"/>
                  </a:schemeClr>
                </a:solidFill>
                <a:latin typeface="Trebuchet MS"/>
              </a:rPr>
              <a:t>Pattern: Color Palette Drives Performance - </a:t>
            </a:r>
            <a:r>
              <a:rPr lang="en-US" sz="1200" dirty="0">
                <a:solidFill>
                  <a:srgbClr val="AACCD8"/>
                </a:solidFill>
                <a:latin typeface="Calibri"/>
              </a:rPr>
              <a:t>distinctive colour = high F1 (Fire/Poison/Water); shared palette or humanoid shape = low F1 (Bug/Rock/Fighting/Ground). MLP on flat pixels is essentially a colour histogram classifier.</a:t>
            </a:r>
          </a:p>
        </p:txBody>
      </p:sp>
      <p:grpSp>
        <p:nvGrpSpPr>
          <p:cNvPr id="14" name="Group 13">
            <a:extLst>
              <a:ext uri="{FF2B5EF4-FFF2-40B4-BE49-F238E27FC236}">
                <a16:creationId xmlns:a16="http://schemas.microsoft.com/office/drawing/2014/main" id="{D7D7BD19-8433-4220-0326-4A5E6E9DD5F1}"/>
              </a:ext>
            </a:extLst>
          </p:cNvPr>
          <p:cNvGrpSpPr/>
          <p:nvPr/>
        </p:nvGrpSpPr>
        <p:grpSpPr>
          <a:xfrm>
            <a:off x="62346" y="704400"/>
            <a:ext cx="4159440" cy="3812241"/>
            <a:chOff x="328275" y="1078992"/>
            <a:chExt cx="5948798" cy="5452234"/>
          </a:xfrm>
        </p:grpSpPr>
        <p:pic>
          <p:nvPicPr>
            <p:cNvPr id="8" name="Picture 7">
              <a:extLst>
                <a:ext uri="{FF2B5EF4-FFF2-40B4-BE49-F238E27FC236}">
                  <a16:creationId xmlns:a16="http://schemas.microsoft.com/office/drawing/2014/main" id="{521649CF-B41C-41B2-9BCE-27EF28A8079C}"/>
                </a:ext>
              </a:extLst>
            </p:cNvPr>
            <p:cNvPicPr>
              <a:picLocks noChangeAspect="1"/>
            </p:cNvPicPr>
            <p:nvPr/>
          </p:nvPicPr>
          <p:blipFill>
            <a:blip r:embed="rId2"/>
            <a:srcRect l="7907" b="32403"/>
            <a:stretch>
              <a:fillRect/>
            </a:stretch>
          </p:blipFill>
          <p:spPr>
            <a:xfrm>
              <a:off x="328275" y="1078992"/>
              <a:ext cx="5894723" cy="5232293"/>
            </a:xfrm>
            <a:prstGeom prst="rect">
              <a:avLst/>
            </a:prstGeom>
          </p:spPr>
        </p:pic>
        <p:pic>
          <p:nvPicPr>
            <p:cNvPr id="9" name="Picture 8">
              <a:extLst>
                <a:ext uri="{FF2B5EF4-FFF2-40B4-BE49-F238E27FC236}">
                  <a16:creationId xmlns:a16="http://schemas.microsoft.com/office/drawing/2014/main" id="{A4C3F6E0-4B22-02B8-7D33-E48BFF2088EE}"/>
                </a:ext>
              </a:extLst>
            </p:cNvPr>
            <p:cNvPicPr>
              <a:picLocks noChangeAspect="1"/>
            </p:cNvPicPr>
            <p:nvPr/>
          </p:nvPicPr>
          <p:blipFill>
            <a:blip r:embed="rId2"/>
            <a:srcRect l="7907" t="93501"/>
            <a:stretch>
              <a:fillRect/>
            </a:stretch>
          </p:blipFill>
          <p:spPr>
            <a:xfrm>
              <a:off x="382349" y="6028195"/>
              <a:ext cx="5894724" cy="503031"/>
            </a:xfrm>
            <a:prstGeom prst="rect">
              <a:avLst/>
            </a:prstGeom>
          </p:spPr>
        </p:pic>
        <p:sp>
          <p:nvSpPr>
            <p:cNvPr id="12" name="Rectangle 11">
              <a:extLst>
                <a:ext uri="{FF2B5EF4-FFF2-40B4-BE49-F238E27FC236}">
                  <a16:creationId xmlns:a16="http://schemas.microsoft.com/office/drawing/2014/main" id="{CF15CF4F-F84D-2F98-42DC-4C7FCC704E0E}"/>
                </a:ext>
              </a:extLst>
            </p:cNvPr>
            <p:cNvSpPr/>
            <p:nvPr/>
          </p:nvSpPr>
          <p:spPr>
            <a:xfrm>
              <a:off x="484106" y="5453535"/>
              <a:ext cx="5351533" cy="574659"/>
            </a:xfrm>
            <a:prstGeom prst="rect">
              <a:avLst/>
            </a:prstGeom>
            <a:gradFill flip="none" rotWithShape="1">
              <a:gsLst>
                <a:gs pos="0">
                  <a:schemeClr val="bg1">
                    <a:alpha val="0"/>
                  </a:schemeClr>
                </a:gs>
                <a:gs pos="76000">
                  <a:schemeClr val="bg1"/>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PT"/>
            </a:p>
          </p:txBody>
        </p:sp>
        <p:sp>
          <p:nvSpPr>
            <p:cNvPr id="13" name="TextBox 12">
              <a:extLst>
                <a:ext uri="{FF2B5EF4-FFF2-40B4-BE49-F238E27FC236}">
                  <a16:creationId xmlns:a16="http://schemas.microsoft.com/office/drawing/2014/main" id="{12A7E1E9-F967-D1E3-186E-9C912BC32AB9}"/>
                </a:ext>
              </a:extLst>
            </p:cNvPr>
            <p:cNvSpPr txBox="1"/>
            <p:nvPr/>
          </p:nvSpPr>
          <p:spPr>
            <a:xfrm>
              <a:off x="1197893" y="5754481"/>
              <a:ext cx="4769552" cy="370577"/>
            </a:xfrm>
            <a:prstGeom prst="rect">
              <a:avLst/>
            </a:prstGeom>
            <a:noFill/>
          </p:spPr>
          <p:txBody>
            <a:bodyPr wrap="square">
              <a:spAutoFit/>
            </a:bodyPr>
            <a:lstStyle/>
            <a:p>
              <a:pPr>
                <a:lnSpc>
                  <a:spcPts val="1425"/>
                </a:lnSpc>
              </a:pPr>
              <a:r>
                <a:rPr lang="pt-PT" sz="1000" dirty="0">
                  <a:solidFill>
                    <a:schemeClr val="bg1"/>
                  </a:solidFill>
                  <a:latin typeface="Consolas" panose="020B0609020204030204" pitchFamily="49" charset="0"/>
                </a:rPr>
                <a:t>🐛u⚔️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  🌍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a:t>
              </a:r>
              <a:r>
                <a:rPr lang="pt-PT" sz="800" b="1" dirty="0">
                  <a:latin typeface="Consolas" panose="020B0609020204030204" pitchFamily="49" charset="0"/>
                </a:rPr>
                <a:t>  </a:t>
              </a:r>
              <a:r>
                <a:rPr lang="pt-PT" sz="800" b="1" dirty="0" err="1">
                  <a:latin typeface="Consolas" panose="020B0609020204030204" pitchFamily="49" charset="0"/>
                </a:rPr>
                <a:t>avg</a:t>
              </a:r>
              <a:endParaRPr lang="pt-PT" sz="1000" b="1" dirty="0">
                <a:effectLst/>
                <a:latin typeface="Consolas" panose="020B0609020204030204" pitchFamily="49" charset="0"/>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3</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Confusion Matrix — Normal as the Catch-All Class</a:t>
            </a:r>
          </a:p>
        </p:txBody>
      </p:sp>
      <p:sp>
        <p:nvSpPr>
          <p:cNvPr id="30" name="CatchBG"/>
          <p:cNvSpPr/>
          <p:nvPr/>
        </p:nvSpPr>
        <p:spPr>
          <a:xfrm>
            <a:off x="190237" y="3980347"/>
            <a:ext cx="4205520" cy="954705"/>
          </a:xfrm>
          <a:prstGeom prst="rect">
            <a:avLst/>
          </a:prstGeom>
          <a:solidFill>
            <a:srgbClr val="0D1B2A"/>
          </a:solidFill>
          <a:ln w="0">
            <a:noFill/>
          </a:ln>
        </p:spPr>
        <p:txBody>
          <a:bodyPr/>
          <a:lstStyle/>
          <a:p>
            <a:endParaRPr lang="en-US"/>
          </a:p>
        </p:txBody>
      </p:sp>
      <p:sp>
        <p:nvSpPr>
          <p:cNvPr id="31" name="CatchText"/>
          <p:cNvSpPr/>
          <p:nvPr/>
        </p:nvSpPr>
        <p:spPr>
          <a:xfrm>
            <a:off x="373117" y="3941304"/>
            <a:ext cx="4022640" cy="1324344"/>
          </a:xfrm>
          <a:prstGeom prst="rect">
            <a:avLst/>
          </a:prstGeom>
          <a:noFill/>
          <a:ln/>
        </p:spPr>
        <p:txBody>
          <a:bodyPr wrap="square" rtlCol="0" anchor="t"/>
          <a:lstStyle/>
          <a:p>
            <a:pPr>
              <a:buNone/>
            </a:pPr>
            <a:r>
              <a:rPr lang="en-US" sz="1200" b="1" dirty="0">
                <a:solidFill>
                  <a:srgbClr val="00A896"/>
                </a:solidFill>
                <a:latin typeface="Trebuchet MS"/>
              </a:rPr>
              <a:t>Why Normal is the catch-all</a:t>
            </a:r>
          </a:p>
          <a:p>
            <a:pPr marL="228600" indent="-228600">
              <a:buChar char="•"/>
            </a:pPr>
            <a:r>
              <a:rPr lang="en-US" sz="1100" dirty="0">
                <a:solidFill>
                  <a:schemeClr val="bg1"/>
                </a:solidFill>
                <a:latin typeface="Calibri"/>
              </a:rPr>
              <a:t>Normal = most diverse class: humanoids of every shape and size, no dominant colour</a:t>
            </a:r>
          </a:p>
          <a:p>
            <a:pPr marL="228600" indent="-228600">
              <a:buChar char="•"/>
            </a:pPr>
            <a:r>
              <a:rPr lang="en-US" sz="1100" dirty="0">
                <a:solidFill>
                  <a:schemeClr val="bg1"/>
                </a:solidFill>
                <a:latin typeface="Calibri"/>
              </a:rPr>
              <a:t>Bug, Fighting and Ground all lack distinctive palettes — the MLP falls back to predicting Normal</a:t>
            </a:r>
          </a:p>
        </p:txBody>
      </p:sp>
      <p:graphicFrame>
        <p:nvGraphicFramePr>
          <p:cNvPr id="8" name="Table 0"/>
          <p:cNvGraphicFramePr>
            <a:graphicFrameLocks noGrp="1"/>
          </p:cNvGraphicFramePr>
          <p:nvPr>
            <p:extLst>
              <p:ext uri="{D42A27DB-BD31-4B8C-83A1-F6EECF244321}">
                <p14:modId xmlns:p14="http://schemas.microsoft.com/office/powerpoint/2010/main" val="4165694185"/>
              </p:ext>
            </p:extLst>
          </p:nvPr>
        </p:nvGraphicFramePr>
        <p:xfrm>
          <a:off x="4782312" y="679680"/>
          <a:ext cx="4171451" cy="4367808"/>
        </p:xfrm>
        <a:graphic>
          <a:graphicData uri="http://schemas.openxmlformats.org/drawingml/2006/table">
            <a:tbl>
              <a:tblPr/>
              <a:tblGrid>
                <a:gridCol w="844851">
                  <a:extLst>
                    <a:ext uri="{9D8B030D-6E8A-4147-A177-3AD203B41FA5}">
                      <a16:colId xmlns:a16="http://schemas.microsoft.com/office/drawing/2014/main" val="20000"/>
                    </a:ext>
                  </a:extLst>
                </a:gridCol>
                <a:gridCol w="580835">
                  <a:extLst>
                    <a:ext uri="{9D8B030D-6E8A-4147-A177-3AD203B41FA5}">
                      <a16:colId xmlns:a16="http://schemas.microsoft.com/office/drawing/2014/main" val="20001"/>
                    </a:ext>
                  </a:extLst>
                </a:gridCol>
                <a:gridCol w="2745765">
                  <a:extLst>
                    <a:ext uri="{9D8B030D-6E8A-4147-A177-3AD203B41FA5}">
                      <a16:colId xmlns:a16="http://schemas.microsoft.com/office/drawing/2014/main" val="20002"/>
                    </a:ext>
                  </a:extLst>
                </a:gridCol>
              </a:tblGrid>
              <a:tr h="27954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Class</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Main confusion</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Fire</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E97C35"/>
                          </a:solidFill>
                          <a:latin typeface="Calibri" pitchFamily="34" charset="0"/>
                          <a:ea typeface="Calibri" pitchFamily="34" charset="-122"/>
                          <a:cs typeface="Calibri" pitchFamily="34" charset="-120"/>
                        </a:rPr>
                        <a:t>0.49</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Gets 49% of own class right — warm orange unique</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Poison</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00A896"/>
                          </a:solidFill>
                          <a:latin typeface="Calibri" pitchFamily="34" charset="0"/>
                          <a:ea typeface="Calibri" pitchFamily="34" charset="-122"/>
                          <a:cs typeface="Calibri" pitchFamily="34" charset="-120"/>
                        </a:rPr>
                        <a:t>0.40</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40% correct; confused with Water (purple→blue)</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Water</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0.33</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High precision, low recall — confused with Normal</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Grass</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35% correct; confused with Bug (green palette)</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Normal</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0.20</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Diverse humanoids — confused with Fire, Bug, Poison</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Bug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0.13</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Only 13% correct — near-identical to Grass</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Fighting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0.14</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Humanoid; 16% sent to Normal, 12% to Bug</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Rock</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0.17</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Grey/brown; 17% sent to Normal, 15% to Poison</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Ground</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0.10</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Worst class; 24% sent to Normal (fewest samples)</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pic>
        <p:nvPicPr>
          <p:cNvPr id="12" name="Picture 11">
            <a:extLst>
              <a:ext uri="{FF2B5EF4-FFF2-40B4-BE49-F238E27FC236}">
                <a16:creationId xmlns:a16="http://schemas.microsoft.com/office/drawing/2014/main" id="{CB407761-126A-8F2A-3A5B-4FDECE90D6C9}"/>
              </a:ext>
            </a:extLst>
          </p:cNvPr>
          <p:cNvPicPr>
            <a:picLocks noChangeAspect="1"/>
          </p:cNvPicPr>
          <p:nvPr/>
        </p:nvPicPr>
        <p:blipFill>
          <a:blip r:embed="rId2"/>
          <a:stretch>
            <a:fillRect/>
          </a:stretch>
        </p:blipFill>
        <p:spPr>
          <a:xfrm>
            <a:off x="248960" y="685800"/>
            <a:ext cx="4102764" cy="325550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3</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 Analysis &amp; Kaggle Gap</a:t>
            </a:r>
          </a:p>
        </p:txBody>
      </p:sp>
      <p:sp>
        <p:nvSpPr>
          <p:cNvPr id="10" name="EnsTblBG"/>
          <p:cNvSpPr/>
          <p:nvPr/>
        </p:nvSpPr>
        <p:spPr>
          <a:xfrm>
            <a:off x="274320" y="740160"/>
            <a:ext cx="8595360" cy="23814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All 7 Ensemble Results (soft-average of softmax outputs)</a:t>
            </a:r>
          </a:p>
        </p:txBody>
      </p:sp>
      <p:sp>
        <p:nvSpPr>
          <p:cNvPr id="11" name="E1"/>
          <p:cNvSpPr/>
          <p:nvPr/>
        </p:nvSpPr>
        <p:spPr>
          <a:xfrm>
            <a:off x="274320" y="978300"/>
            <a:ext cx="8595360" cy="219960"/>
          </a:xfrm>
          <a:prstGeom prst="rect">
            <a:avLst/>
          </a:prstGeom>
          <a:solidFill>
            <a:srgbClr val="E8F8F6"/>
          </a:solidFill>
          <a:ln w="3175">
            <a:solidFill>
              <a:srgbClr val="00A896"/>
            </a:solidFill>
          </a:ln>
        </p:spPr>
        <p:txBody>
          <a:bodyPr/>
          <a:lstStyle/>
          <a:p>
            <a:endParaRPr lang="en-US"/>
          </a:p>
        </p:txBody>
      </p:sp>
      <p:sp>
        <p:nvSpPr>
          <p:cNvPr id="12" name="E1t"/>
          <p:cNvSpPr/>
          <p:nvPr/>
        </p:nvSpPr>
        <p:spPr>
          <a:xfrm>
            <a:off x="274320" y="978300"/>
            <a:ext cx="8595360" cy="219960"/>
          </a:xfrm>
          <a:prstGeom prst="rect">
            <a:avLst/>
          </a:prstGeom>
          <a:noFill/>
          <a:ln/>
        </p:spPr>
        <p:txBody>
          <a:bodyPr wrap="square" lIns="91440" tIns="0" rIns="0" bIns="0" rtlCol="0" anchor="ctr"/>
          <a:lstStyle/>
          <a:p>
            <a:pPr>
              <a:buNone/>
            </a:pPr>
            <a:r>
              <a:rPr lang="en-US" sz="1000" b="1" dirty="0">
                <a:solidFill>
                  <a:srgbClr val="00A896"/>
                </a:solidFill>
                <a:latin typeface="Calibri"/>
              </a:rPr>
              <a:t>ENS_C+E ★  F1=0.2428  acc=26.7%   </a:t>
            </a:r>
            <a:r>
              <a:rPr lang="en-US" sz="1000" dirty="0">
                <a:solidFill>
                  <a:srgbClr val="1A2B3C"/>
                </a:solidFill>
                <a:latin typeface="Calibri"/>
              </a:rPr>
              <a:t>SUBMITTED — C (class weights) + E (sampler) = complementary error patterns</a:t>
            </a:r>
          </a:p>
        </p:txBody>
      </p:sp>
      <p:sp>
        <p:nvSpPr>
          <p:cNvPr id="13" name="E2"/>
          <p:cNvSpPr/>
          <p:nvPr/>
        </p:nvSpPr>
        <p:spPr>
          <a:xfrm>
            <a:off x="274320" y="1198260"/>
            <a:ext cx="8595360" cy="219960"/>
          </a:xfrm>
          <a:prstGeom prst="rect">
            <a:avLst/>
          </a:prstGeom>
          <a:solidFill>
            <a:srgbClr val="FFFFFF"/>
          </a:solidFill>
          <a:ln w="3175">
            <a:solidFill>
              <a:srgbClr val="E0ECF4"/>
            </a:solidFill>
          </a:ln>
        </p:spPr>
        <p:txBody>
          <a:bodyPr/>
          <a:lstStyle/>
          <a:p>
            <a:endParaRPr lang="en-US"/>
          </a:p>
        </p:txBody>
      </p:sp>
      <p:sp>
        <p:nvSpPr>
          <p:cNvPr id="14" name="E2t"/>
          <p:cNvSpPr/>
          <p:nvPr/>
        </p:nvSpPr>
        <p:spPr>
          <a:xfrm>
            <a:off x="274320" y="1198260"/>
            <a:ext cx="8595360" cy="219960"/>
          </a:xfrm>
          <a:prstGeom prst="rect">
            <a:avLst/>
          </a:prstGeom>
          <a:noFill/>
          <a:ln/>
        </p:spPr>
        <p:txBody>
          <a:bodyPr wrap="square" lIns="91440" tIns="0" rIns="0" bIns="0" rtlCol="0" anchor="ctr"/>
          <a:lstStyle/>
          <a:p>
            <a:pPr>
              <a:buNone/>
            </a:pPr>
            <a:r>
              <a:rPr lang="en-US" sz="1000" b="1" dirty="0">
                <a:solidFill>
                  <a:srgbClr val="028090"/>
                </a:solidFill>
                <a:latin typeface="Calibri"/>
              </a:rPr>
              <a:t>ENS_R+E+P       F1=0.2427  acc=26.3%   </a:t>
            </a:r>
            <a:r>
              <a:rPr lang="en-US" sz="1000" dirty="0">
                <a:solidFill>
                  <a:srgbClr val="1A2B3C"/>
                </a:solidFill>
                <a:latin typeface="Calibri"/>
              </a:rPr>
              <a:t>Near-identical to C+E; 3-model ensemble</a:t>
            </a:r>
          </a:p>
        </p:txBody>
      </p:sp>
      <p:sp>
        <p:nvSpPr>
          <p:cNvPr id="15" name="E3"/>
          <p:cNvSpPr/>
          <p:nvPr/>
        </p:nvSpPr>
        <p:spPr>
          <a:xfrm>
            <a:off x="274320" y="1418220"/>
            <a:ext cx="8595360" cy="219960"/>
          </a:xfrm>
          <a:prstGeom prst="rect">
            <a:avLst/>
          </a:prstGeom>
          <a:solidFill>
            <a:srgbClr val="F4F7F9"/>
          </a:solidFill>
          <a:ln w="3175">
            <a:solidFill>
              <a:srgbClr val="E0ECF4"/>
            </a:solidFill>
          </a:ln>
        </p:spPr>
        <p:txBody>
          <a:bodyPr/>
          <a:lstStyle/>
          <a:p>
            <a:endParaRPr lang="en-US"/>
          </a:p>
        </p:txBody>
      </p:sp>
      <p:sp>
        <p:nvSpPr>
          <p:cNvPr id="16" name="E3t"/>
          <p:cNvSpPr/>
          <p:nvPr/>
        </p:nvSpPr>
        <p:spPr>
          <a:xfrm>
            <a:off x="274320" y="1418220"/>
            <a:ext cx="8595360" cy="219960"/>
          </a:xfrm>
          <a:prstGeom prst="rect">
            <a:avLst/>
          </a:prstGeom>
          <a:noFill/>
          <a:ln/>
        </p:spPr>
        <p:txBody>
          <a:bodyPr wrap="square" lIns="91440" tIns="0" rIns="0" bIns="0" rtlCol="0" anchor="ctr"/>
          <a:lstStyle/>
          <a:p>
            <a:pPr>
              <a:buNone/>
            </a:pPr>
            <a:r>
              <a:rPr lang="en-US" sz="1000" b="1" dirty="0">
                <a:solidFill>
                  <a:srgbClr val="1C3A52"/>
                </a:solidFill>
                <a:latin typeface="Calibri"/>
              </a:rPr>
              <a:t>ENS_C+E+P       F1=0.2405  acc=26.3%   </a:t>
            </a:r>
            <a:r>
              <a:rPr lang="en-US" sz="1000" dirty="0">
                <a:solidFill>
                  <a:srgbClr val="1A2B3C"/>
                </a:solidFill>
                <a:latin typeface="Calibri"/>
              </a:rPr>
              <a:t>P drags down slightly — weak model adds noise</a:t>
            </a:r>
          </a:p>
        </p:txBody>
      </p:sp>
      <p:sp>
        <p:nvSpPr>
          <p:cNvPr id="17" name="E4"/>
          <p:cNvSpPr/>
          <p:nvPr/>
        </p:nvSpPr>
        <p:spPr>
          <a:xfrm>
            <a:off x="274320" y="1638180"/>
            <a:ext cx="8595360" cy="219960"/>
          </a:xfrm>
          <a:prstGeom prst="rect">
            <a:avLst/>
          </a:prstGeom>
          <a:solidFill>
            <a:srgbClr val="FDF8F0"/>
          </a:solidFill>
          <a:ln w="3175">
            <a:solidFill>
              <a:srgbClr val="E8D8B8"/>
            </a:solidFill>
          </a:ln>
        </p:spPr>
        <p:txBody>
          <a:bodyPr/>
          <a:lstStyle/>
          <a:p>
            <a:endParaRPr lang="en-US"/>
          </a:p>
        </p:txBody>
      </p:sp>
      <p:sp>
        <p:nvSpPr>
          <p:cNvPr id="18" name="E4t"/>
          <p:cNvSpPr/>
          <p:nvPr/>
        </p:nvSpPr>
        <p:spPr>
          <a:xfrm>
            <a:off x="274320" y="1638180"/>
            <a:ext cx="8595360" cy="219960"/>
          </a:xfrm>
          <a:prstGeom prst="rect">
            <a:avLst/>
          </a:prstGeom>
          <a:noFill/>
          <a:ln/>
        </p:spPr>
        <p:txBody>
          <a:bodyPr wrap="square" lIns="91440" tIns="0" rIns="0" bIns="0" rtlCol="0" anchor="ctr"/>
          <a:lstStyle/>
          <a:p>
            <a:pPr>
              <a:buNone/>
            </a:pPr>
            <a:r>
              <a:rPr lang="en-US" sz="1000" b="1" dirty="0">
                <a:solidFill>
                  <a:srgbClr val="C0392B"/>
                </a:solidFill>
                <a:latin typeface="Calibri"/>
              </a:rPr>
              <a:t>ENS_C+R         F1=0.2339  acc=25.6%   </a:t>
            </a:r>
            <a:r>
              <a:rPr lang="en-US" sz="1000" dirty="0">
                <a:solidFill>
                  <a:srgbClr val="1A2B3C"/>
                </a:solidFill>
                <a:latin typeface="Calibri"/>
              </a:rPr>
              <a:t>Both use CW — same error patterns, no diversity benefit</a:t>
            </a:r>
          </a:p>
        </p:txBody>
      </p:sp>
      <p:sp>
        <p:nvSpPr>
          <p:cNvPr id="19" name="E567"/>
          <p:cNvSpPr/>
          <p:nvPr/>
        </p:nvSpPr>
        <p:spPr>
          <a:xfrm>
            <a:off x="274320" y="1858140"/>
            <a:ext cx="8595360" cy="219960"/>
          </a:xfrm>
          <a:prstGeom prst="rect">
            <a:avLst/>
          </a:prstGeom>
          <a:solidFill>
            <a:srgbClr val="FDF3F0"/>
          </a:solidFill>
          <a:ln w="3175">
            <a:solidFill>
              <a:srgbClr val="E8C4B8"/>
            </a:solidFill>
          </a:ln>
        </p:spPr>
        <p:txBody>
          <a:bodyPr/>
          <a:lstStyle/>
          <a:p>
            <a:endParaRPr lang="en-US"/>
          </a:p>
        </p:txBody>
      </p:sp>
      <p:sp>
        <p:nvSpPr>
          <p:cNvPr id="6" name="E567t"/>
          <p:cNvSpPr/>
          <p:nvPr/>
        </p:nvSpPr>
        <p:spPr>
          <a:xfrm>
            <a:off x="274320" y="1858140"/>
            <a:ext cx="8595360" cy="219960"/>
          </a:xfrm>
          <a:prstGeom prst="rect">
            <a:avLst/>
          </a:prstGeom>
          <a:noFill/>
          <a:ln/>
        </p:spPr>
        <p:txBody>
          <a:bodyPr wrap="square" lIns="91440" tIns="0" rIns="0" bIns="0" rtlCol="0" anchor="ctr"/>
          <a:lstStyle/>
          <a:p>
            <a:pPr>
              <a:buNone/>
            </a:pPr>
            <a:r>
              <a:rPr lang="en-US" sz="1000" b="1" dirty="0">
                <a:solidFill>
                  <a:srgbClr val="C0392B"/>
                </a:solidFill>
                <a:latin typeface="Calibri"/>
              </a:rPr>
              <a:t>ENS_R+E / ENS_C+R+M / ENS_R+P   </a:t>
            </a:r>
            <a:r>
              <a:rPr lang="en-US" sz="1000" dirty="0">
                <a:solidFill>
                  <a:srgbClr val="1A2B3C"/>
                </a:solidFill>
                <a:latin typeface="Calibri"/>
              </a:rPr>
              <a:t>F1=0.224–0.229  Too similar models or too weak — no diversity gain</a:t>
            </a:r>
          </a:p>
        </p:txBody>
      </p:sp>
      <p:sp>
        <p:nvSpPr>
          <p:cNvPr id="40" name="LBG"/>
          <p:cNvSpPr/>
          <p:nvPr/>
        </p:nvSpPr>
        <p:spPr>
          <a:xfrm>
            <a:off x="274320" y="2169540"/>
            <a:ext cx="4205520" cy="23947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Text"/>
          <p:cNvSpPr/>
          <p:nvPr/>
        </p:nvSpPr>
        <p:spPr>
          <a:xfrm>
            <a:off x="457200" y="2243700"/>
            <a:ext cx="3840480" cy="2286000"/>
          </a:xfrm>
          <a:prstGeom prst="rect">
            <a:avLst/>
          </a:prstGeom>
          <a:noFill/>
          <a:ln/>
        </p:spPr>
        <p:txBody>
          <a:bodyPr wrap="square" rtlCol="0" anchor="t"/>
          <a:lstStyle/>
          <a:p>
            <a:pPr>
              <a:buNone/>
            </a:pPr>
            <a:r>
              <a:rPr lang="en-US" sz="1200" b="1" dirty="0">
                <a:solidFill>
                  <a:srgbClr val="028090"/>
                </a:solidFill>
                <a:latin typeface="Trebuchet MS"/>
              </a:rPr>
              <a:t>Why C+E wins over any solo</a:t>
            </a:r>
          </a:p>
          <a:p>
            <a:pPr marL="228600" indent="-228600">
              <a:buChar char="•"/>
            </a:pPr>
            <a:r>
              <a:rPr lang="en-US" sz="1100" dirty="0">
                <a:solidFill>
                  <a:srgbClr val="1A2B3C"/>
                </a:solidFill>
                <a:latin typeface="Calibri"/>
              </a:rPr>
              <a:t>C uses class weights — adjusts gradients per class</a:t>
            </a:r>
          </a:p>
          <a:p>
            <a:pPr marL="228600" indent="-228600">
              <a:buChar char="•"/>
            </a:pPr>
            <a:r>
              <a:rPr lang="en-US" sz="1100" dirty="0">
                <a:solidFill>
                  <a:srgbClr val="1A2B3C"/>
                </a:solidFill>
                <a:latin typeface="Calibri"/>
              </a:rPr>
              <a:t>E uses sampler — adjusts data frequency</a:t>
            </a:r>
          </a:p>
          <a:p>
            <a:pPr marL="228600" indent="-228600">
              <a:buChar char="•"/>
            </a:pPr>
            <a:r>
              <a:rPr lang="en-US" sz="1100" dirty="0">
                <a:solidFill>
                  <a:srgbClr val="1A2B3C"/>
                </a:solidFill>
                <a:latin typeface="Calibri"/>
              </a:rPr>
              <a:t>Different mechanisms = different mistakes = soft-average compensates</a:t>
            </a:r>
          </a:p>
          <a:p>
            <a:pPr marL="228600" indent="-228600">
              <a:buChar char="•"/>
            </a:pPr>
            <a:r>
              <a:rPr lang="en-US" sz="1100" b="1" dirty="0">
                <a:solidFill>
                  <a:srgbClr val="028090"/>
                </a:solidFill>
                <a:latin typeface="Calibri"/>
              </a:rPr>
              <a:t>+0.003 F1 over best solo</a:t>
            </a:r>
            <a:r>
              <a:rPr lang="en-US" sz="1100" dirty="0">
                <a:solidFill>
                  <a:srgbClr val="1A2B3C"/>
                </a:solidFill>
                <a:latin typeface="Calibri"/>
              </a:rPr>
              <a:t> — small but consistent</a:t>
            </a:r>
          </a:p>
          <a:p>
            <a:pPr marL="228600" indent="-228600">
              <a:buChar char="•"/>
            </a:pPr>
            <a:r>
              <a:rPr lang="en-US" sz="1100" dirty="0">
                <a:solidFill>
                  <a:srgbClr val="1A2B3C"/>
                </a:solidFill>
                <a:latin typeface="Calibri"/>
              </a:rPr>
              <a:t>C+R fails (0.234): both use CW — too similar, no error diversity</a:t>
            </a:r>
          </a:p>
        </p:txBody>
      </p:sp>
      <p:sp>
        <p:nvSpPr>
          <p:cNvPr id="50" name="RBG"/>
          <p:cNvSpPr/>
          <p:nvPr/>
        </p:nvSpPr>
        <p:spPr>
          <a:xfrm>
            <a:off x="4663920" y="2169540"/>
            <a:ext cx="4205520" cy="2394720"/>
          </a:xfrm>
          <a:prstGeom prst="rect">
            <a:avLst/>
          </a:prstGeom>
          <a:solidFill>
            <a:srgbClr val="0D1B2A"/>
          </a:solidFill>
          <a:ln w="0">
            <a:noFill/>
          </a:ln>
        </p:spPr>
        <p:txBody>
          <a:bodyPr/>
          <a:lstStyle/>
          <a:p>
            <a:endParaRPr lang="en-US"/>
          </a:p>
        </p:txBody>
      </p:sp>
      <p:sp>
        <p:nvSpPr>
          <p:cNvPr id="51" name="RText"/>
          <p:cNvSpPr/>
          <p:nvPr/>
        </p:nvSpPr>
        <p:spPr>
          <a:xfrm>
            <a:off x="4846800" y="2243700"/>
            <a:ext cx="3840480" cy="2286000"/>
          </a:xfrm>
          <a:prstGeom prst="rect">
            <a:avLst/>
          </a:prstGeom>
          <a:noFill/>
          <a:ln/>
        </p:spPr>
        <p:txBody>
          <a:bodyPr wrap="square" lIns="91440" tIns="45720" rIns="91440" bIns="45720" rtlCol="0" anchor="t"/>
          <a:lstStyle/>
          <a:p>
            <a:pPr>
              <a:buNone/>
            </a:pPr>
            <a:r>
              <a:rPr lang="en-US" sz="1200" b="1" dirty="0">
                <a:solidFill>
                  <a:srgbClr val="00A896"/>
                </a:solidFill>
                <a:latin typeface="Trebuchet MS"/>
              </a:rPr>
              <a:t>Kaggle validation gap</a:t>
            </a:r>
          </a:p>
          <a:p>
            <a:r>
              <a:rPr lang="en-US" sz="1200" b="1" dirty="0">
                <a:solidFill>
                  <a:srgbClr val="00A896"/>
                </a:solidFill>
                <a:latin typeface="Trebuchet MS"/>
              </a:rPr>
              <a:t>	</a:t>
            </a:r>
            <a:r>
              <a:rPr lang="en-US" sz="1200" b="1" dirty="0" err="1">
                <a:solidFill>
                  <a:srgbClr val="00A896"/>
                </a:solidFill>
                <a:latin typeface="Trebuchet MS"/>
              </a:rPr>
              <a:t>val</a:t>
            </a:r>
            <a:r>
              <a:rPr lang="en-US" sz="1200" b="1" dirty="0">
                <a:solidFill>
                  <a:srgbClr val="00A896"/>
                </a:solidFill>
                <a:latin typeface="Trebuchet MS"/>
              </a:rPr>
              <a:t> – 1.0</a:t>
            </a:r>
          </a:p>
          <a:p>
            <a:pPr>
              <a:buNone/>
            </a:pPr>
            <a:r>
              <a:rPr lang="en-US" sz="1200" b="1" dirty="0">
                <a:solidFill>
                  <a:srgbClr val="00A896"/>
                </a:solidFill>
                <a:latin typeface="Trebuchet MS"/>
              </a:rPr>
              <a:t>	</a:t>
            </a:r>
            <a:r>
              <a:rPr lang="en-US" sz="1200" b="1" dirty="0" err="1">
                <a:solidFill>
                  <a:srgbClr val="00A896"/>
                </a:solidFill>
                <a:latin typeface="Trebuchet MS"/>
              </a:rPr>
              <a:t>kaggle</a:t>
            </a:r>
            <a:r>
              <a:rPr lang="en-US" sz="1200" b="1" dirty="0">
                <a:solidFill>
                  <a:srgbClr val="00A896"/>
                </a:solidFill>
                <a:latin typeface="Trebuchet MS"/>
              </a:rPr>
              <a:t> - 0.99720</a:t>
            </a:r>
          </a:p>
          <a:p>
            <a:r>
              <a:rPr lang="en-US" sz="2000" b="1">
                <a:solidFill>
                  <a:srgbClr val="FFFFFF"/>
                </a:solidFill>
                <a:latin typeface="Trebuchet MS"/>
              </a:rPr>
              <a:t>	−0.028 (-0.28%)</a:t>
            </a:r>
          </a:p>
          <a:p>
            <a:pPr>
              <a:buNone/>
            </a:pPr>
            <a:endParaRPr lang="en-US" sz="1000" b="1" dirty="0">
              <a:solidFill>
                <a:srgbClr val="00A896"/>
              </a:solidFill>
              <a:latin typeface="Calibri"/>
            </a:endParaRPr>
          </a:p>
          <a:p>
            <a:r>
              <a:rPr lang="en-US" sz="1000" b="1">
                <a:solidFill>
                  <a:srgbClr val="00A896"/>
                </a:solidFill>
                <a:latin typeface="Calibri"/>
              </a:rPr>
              <a:t>This gap is negligible, since:</a:t>
            </a:r>
            <a:endParaRPr lang="en-US" sz="1000" b="1">
              <a:solidFill>
                <a:srgbClr val="00A896"/>
              </a:solidFill>
              <a:latin typeface="Calibri"/>
              <a:ea typeface="Calibri"/>
              <a:cs typeface="Calibri"/>
            </a:endParaRPr>
          </a:p>
          <a:p>
            <a:pPr marL="228600" indent="-228600">
              <a:buChar char="•"/>
            </a:pPr>
            <a:r>
              <a:rPr lang="en-US" sz="1100" dirty="0">
                <a:solidFill>
                  <a:srgbClr val="AACCD8"/>
                </a:solidFill>
                <a:latin typeface="Calibri"/>
              </a:rPr>
              <a:t>Can occur due to normal </a:t>
            </a:r>
            <a:r>
              <a:rPr lang="en-US" sz="1100">
                <a:solidFill>
                  <a:srgbClr val="AACCD8"/>
                </a:solidFill>
                <a:latin typeface="Calibri"/>
              </a:rPr>
              <a:t>variance</a:t>
            </a:r>
            <a:endParaRPr lang="en-US" sz="1100" dirty="0">
              <a:solidFill>
                <a:srgbClr val="AACCD8"/>
              </a:solidFill>
              <a:latin typeface="Calibri"/>
            </a:endParaRPr>
          </a:p>
          <a:p>
            <a:pPr marL="228600" indent="-228600">
              <a:buChar char="•"/>
            </a:pPr>
            <a:r>
              <a:rPr lang="en-US" sz="1100">
                <a:solidFill>
                  <a:srgbClr val="AACCD8"/>
                </a:solidFill>
                <a:latin typeface="Calibri"/>
                <a:ea typeface="Calibri"/>
                <a:cs typeface="Calibri"/>
              </a:rPr>
              <a:t>Data is different between local validation and Kaggle</a:t>
            </a:r>
          </a:p>
          <a:p>
            <a:pPr marL="228600" indent="-228600">
              <a:buChar char="•"/>
            </a:pPr>
            <a:r>
              <a:rPr lang="en-US" sz="1100">
                <a:solidFill>
                  <a:srgbClr val="AACCD8"/>
                </a:solidFill>
                <a:latin typeface="Calibri"/>
                <a:ea typeface="Calibri"/>
                <a:cs typeface="Calibri"/>
              </a:rPr>
              <a:t>It is a very tiny performance change</a:t>
            </a:r>
            <a:endParaRPr lang="en-US" sz="1100" dirty="0">
              <a:solidFill>
                <a:srgbClr val="AACCD8"/>
              </a:solidFill>
              <a:latin typeface="Calibri"/>
              <a:ea typeface="Calibri"/>
              <a:cs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Why MLP Has a Hard Ceiling on This Data</a:t>
            </a:r>
            <a:endParaRPr lang="en-US" sz="2200" dirty="0"/>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4160520" cy="384048"/>
          </a:xfrm>
          <a:prstGeom prst="rect">
            <a:avLst/>
          </a:prstGeom>
          <a:solidFill>
            <a:srgbClr val="0D1B2A"/>
          </a:solidFill>
          <a:ln w="12700">
            <a:solidFill>
              <a:srgbClr val="0D1B2A"/>
            </a:solidFill>
            <a:prstDash val="solid"/>
          </a:ln>
        </p:spPr>
        <p:txBody>
          <a:bodyPr/>
          <a:lstStyle/>
          <a:p>
            <a:endParaRPr lang="pt-PT"/>
          </a:p>
        </p:txBody>
      </p:sp>
      <p:sp>
        <p:nvSpPr>
          <p:cNvPr id="7" name="Text 5"/>
          <p:cNvSpPr/>
          <p:nvPr/>
        </p:nvSpPr>
        <p:spPr>
          <a:xfrm>
            <a:off x="347472"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Theoretical reasons</a:t>
            </a:r>
            <a:endParaRPr lang="en-US" sz="1300" dirty="0"/>
          </a:p>
        </p:txBody>
      </p:sp>
      <p:sp>
        <p:nvSpPr>
          <p:cNvPr id="8" name="Shape 6"/>
          <p:cNvSpPr/>
          <p:nvPr/>
        </p:nvSpPr>
        <p:spPr>
          <a:xfrm>
            <a:off x="347472"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7"/>
          <p:cNvSpPr/>
          <p:nvPr/>
        </p:nvSpPr>
        <p:spPr>
          <a:xfrm>
            <a:off x="347472" y="1298448"/>
            <a:ext cx="73152" cy="1078992"/>
          </a:xfrm>
          <a:prstGeom prst="rect">
            <a:avLst/>
          </a:prstGeom>
          <a:solidFill>
            <a:srgbClr val="3D5A73"/>
          </a:solidFill>
          <a:ln w="12700">
            <a:solidFill>
              <a:srgbClr val="3D5A73"/>
            </a:solidFill>
            <a:prstDash val="solid"/>
          </a:ln>
        </p:spPr>
        <p:txBody>
          <a:bodyPr/>
          <a:lstStyle/>
          <a:p>
            <a:endParaRPr lang="pt-PT"/>
          </a:p>
        </p:txBody>
      </p:sp>
      <p:sp>
        <p:nvSpPr>
          <p:cNvPr id="10" name="Text 8"/>
          <p:cNvSpPr/>
          <p:nvPr/>
        </p:nvSpPr>
        <p:spPr>
          <a:xfrm>
            <a:off x="493776" y="137160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No spatial inductive bias</a:t>
            </a:r>
            <a:endParaRPr lang="en-US" sz="1200" dirty="0"/>
          </a:p>
        </p:txBody>
      </p:sp>
      <p:sp>
        <p:nvSpPr>
          <p:cNvPr id="11" name="Text 9"/>
          <p:cNvSpPr/>
          <p:nvPr/>
        </p:nvSpPr>
        <p:spPr>
          <a:xfrm>
            <a:off x="493776" y="168249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A sprite at top-left and bottom-right = completely different 12 288-vector. MLP can't learn 'flame exists somewhere'.</a:t>
            </a:r>
            <a:endParaRPr lang="en-US" sz="1100" dirty="0"/>
          </a:p>
        </p:txBody>
      </p:sp>
      <p:sp>
        <p:nvSpPr>
          <p:cNvPr id="12" name="Shape 10"/>
          <p:cNvSpPr/>
          <p:nvPr/>
        </p:nvSpPr>
        <p:spPr>
          <a:xfrm>
            <a:off x="347472"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1"/>
          <p:cNvSpPr/>
          <p:nvPr/>
        </p:nvSpPr>
        <p:spPr>
          <a:xfrm>
            <a:off x="347472" y="2532888"/>
            <a:ext cx="73152" cy="1078992"/>
          </a:xfrm>
          <a:prstGeom prst="rect">
            <a:avLst/>
          </a:prstGeom>
          <a:solidFill>
            <a:srgbClr val="3D5A73"/>
          </a:solidFill>
          <a:ln w="12700">
            <a:solidFill>
              <a:srgbClr val="3D5A73"/>
            </a:solidFill>
            <a:prstDash val="solid"/>
          </a:ln>
        </p:spPr>
        <p:txBody>
          <a:bodyPr/>
          <a:lstStyle/>
          <a:p>
            <a:endParaRPr lang="pt-PT"/>
          </a:p>
        </p:txBody>
      </p:sp>
      <p:sp>
        <p:nvSpPr>
          <p:cNvPr id="14" name="Text 12"/>
          <p:cNvSpPr/>
          <p:nvPr/>
        </p:nvSpPr>
        <p:spPr>
          <a:xfrm>
            <a:off x="493776" y="260604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Feature-to-sample ratio: 4.26:1</a:t>
            </a:r>
            <a:endParaRPr lang="en-US" sz="1200" dirty="0"/>
          </a:p>
        </p:txBody>
      </p:sp>
      <p:sp>
        <p:nvSpPr>
          <p:cNvPr id="15" name="Text 13"/>
          <p:cNvSpPr/>
          <p:nvPr/>
        </p:nvSpPr>
        <p:spPr>
          <a:xfrm>
            <a:off x="493776" y="291693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12 288 features vs 2 880 samples. Even with Dropout + BN, MLP memorises noise rather than learning patterns.</a:t>
            </a:r>
            <a:endParaRPr lang="en-US" sz="1100" dirty="0"/>
          </a:p>
        </p:txBody>
      </p:sp>
      <p:sp>
        <p:nvSpPr>
          <p:cNvPr id="16" name="Shape 14"/>
          <p:cNvSpPr/>
          <p:nvPr/>
        </p:nvSpPr>
        <p:spPr>
          <a:xfrm>
            <a:off x="347472"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5"/>
          <p:cNvSpPr/>
          <p:nvPr/>
        </p:nvSpPr>
        <p:spPr>
          <a:xfrm>
            <a:off x="347472"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18" name="Text 16"/>
          <p:cNvSpPr/>
          <p:nvPr/>
        </p:nvSpPr>
        <p:spPr>
          <a:xfrm>
            <a:off x="493776" y="384048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High intra-class variance</a:t>
            </a:r>
            <a:endParaRPr lang="en-US" sz="1200" dirty="0"/>
          </a:p>
        </p:txBody>
      </p:sp>
      <p:sp>
        <p:nvSpPr>
          <p:cNvPr id="19" name="Text 17"/>
          <p:cNvSpPr/>
          <p:nvPr/>
        </p:nvSpPr>
        <p:spPr>
          <a:xfrm>
            <a:off x="493776" y="415137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Blastoise and Vaporeon are both Water-type but look nothing alike. MLP can only learn average colour histograms.</a:t>
            </a:r>
            <a:endParaRPr lang="en-US" sz="1100" dirty="0"/>
          </a:p>
        </p:txBody>
      </p:sp>
      <p:sp>
        <p:nvSpPr>
          <p:cNvPr id="20" name="Shape 18"/>
          <p:cNvSpPr/>
          <p:nvPr/>
        </p:nvSpPr>
        <p:spPr>
          <a:xfrm>
            <a:off x="4681728" y="804672"/>
            <a:ext cx="4160520" cy="384048"/>
          </a:xfrm>
          <a:prstGeom prst="rect">
            <a:avLst/>
          </a:prstGeom>
          <a:solidFill>
            <a:srgbClr val="00A896"/>
          </a:solidFill>
          <a:ln w="12700">
            <a:solidFill>
              <a:srgbClr val="00A896"/>
            </a:solidFill>
            <a:prstDash val="solid"/>
          </a:ln>
        </p:spPr>
        <p:txBody>
          <a:bodyPr/>
          <a:lstStyle/>
          <a:p>
            <a:endParaRPr lang="pt-PT"/>
          </a:p>
        </p:txBody>
      </p:sp>
      <p:sp>
        <p:nvSpPr>
          <p:cNvPr id="21" name="Text 19"/>
          <p:cNvSpPr/>
          <p:nvPr/>
        </p:nvSpPr>
        <p:spPr>
          <a:xfrm>
            <a:off x="4681728"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Empirical confirmation</a:t>
            </a:r>
            <a:endParaRPr lang="en-US" sz="1300" dirty="0"/>
          </a:p>
        </p:txBody>
      </p:sp>
      <p:sp>
        <p:nvSpPr>
          <p:cNvPr id="22" name="Shape 20"/>
          <p:cNvSpPr/>
          <p:nvPr/>
        </p:nvSpPr>
        <p:spPr>
          <a:xfrm>
            <a:off x="4681728"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4681728" y="1298448"/>
            <a:ext cx="73152" cy="1078992"/>
          </a:xfrm>
          <a:prstGeom prst="rect">
            <a:avLst/>
          </a:prstGeom>
          <a:solidFill>
            <a:srgbClr val="E74C3C"/>
          </a:solidFill>
          <a:ln w="12700">
            <a:solidFill>
              <a:srgbClr val="E74C3C"/>
            </a:solidFill>
            <a:prstDash val="solid"/>
          </a:ln>
        </p:spPr>
        <p:txBody>
          <a:bodyPr/>
          <a:lstStyle/>
          <a:p>
            <a:endParaRPr lang="pt-PT"/>
          </a:p>
        </p:txBody>
      </p:sp>
      <p:sp>
        <p:nvSpPr>
          <p:cNvPr id="24" name="Text 22"/>
          <p:cNvSpPr/>
          <p:nvPr/>
        </p:nvSpPr>
        <p:spPr>
          <a:xfrm>
            <a:off x="4828032" y="137160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Augmentation −0.047 F1</a:t>
            </a:r>
            <a:endParaRPr lang="en-US" sz="1200" dirty="0"/>
          </a:p>
        </p:txBody>
      </p:sp>
      <p:sp>
        <p:nvSpPr>
          <p:cNvPr id="25" name="Text 23"/>
          <p:cNvSpPr/>
          <p:nvPr/>
        </p:nvSpPr>
        <p:spPr>
          <a:xfrm>
            <a:off x="4828032" y="168249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Random flips/jitter/rotation break the pixel vector. CNN will benefit from the same augmentation because filters are position-invariant.</a:t>
            </a:r>
            <a:endParaRPr lang="en-US" sz="1100" dirty="0"/>
          </a:p>
        </p:txBody>
      </p:sp>
      <p:sp>
        <p:nvSpPr>
          <p:cNvPr id="26" name="Shape 24"/>
          <p:cNvSpPr/>
          <p:nvPr/>
        </p:nvSpPr>
        <p:spPr>
          <a:xfrm>
            <a:off x="4681728"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7" name="Shape 25"/>
          <p:cNvSpPr/>
          <p:nvPr/>
        </p:nvSpPr>
        <p:spPr>
          <a:xfrm>
            <a:off x="4681728" y="2532888"/>
            <a:ext cx="73152" cy="1078992"/>
          </a:xfrm>
          <a:prstGeom prst="rect">
            <a:avLst/>
          </a:prstGeom>
          <a:solidFill>
            <a:srgbClr val="E97C35"/>
          </a:solidFill>
          <a:ln w="12700">
            <a:solidFill>
              <a:srgbClr val="E97C35"/>
            </a:solidFill>
            <a:prstDash val="solid"/>
          </a:ln>
        </p:spPr>
        <p:txBody>
          <a:bodyPr/>
          <a:lstStyle/>
          <a:p>
            <a:endParaRPr lang="pt-PT"/>
          </a:p>
        </p:txBody>
      </p:sp>
      <p:sp>
        <p:nvSpPr>
          <p:cNvPr id="28" name="Text 26"/>
          <p:cNvSpPr/>
          <p:nvPr/>
        </p:nvSpPr>
        <p:spPr>
          <a:xfrm>
            <a:off x="4828032" y="260604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Grayscale −0.103 F1</a:t>
            </a:r>
            <a:endParaRPr lang="en-US" sz="1200" dirty="0"/>
          </a:p>
        </p:txBody>
      </p:sp>
      <p:sp>
        <p:nvSpPr>
          <p:cNvPr id="29" name="Text 27"/>
          <p:cNvSpPr/>
          <p:nvPr/>
        </p:nvSpPr>
        <p:spPr>
          <a:xfrm>
            <a:off x="4828032" y="291693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Removing colour channels reduces dimensionality 3x, but loses the main discriminative signal. Colour is king for Pokémon types.</a:t>
            </a:r>
            <a:endParaRPr lang="en-US" sz="1100" dirty="0"/>
          </a:p>
        </p:txBody>
      </p:sp>
      <p:sp>
        <p:nvSpPr>
          <p:cNvPr id="30" name="Shape 28"/>
          <p:cNvSpPr/>
          <p:nvPr/>
        </p:nvSpPr>
        <p:spPr>
          <a:xfrm>
            <a:off x="4681728"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31" name="Shape 29"/>
          <p:cNvSpPr/>
          <p:nvPr/>
        </p:nvSpPr>
        <p:spPr>
          <a:xfrm>
            <a:off x="4681728"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32" name="Text 30"/>
          <p:cNvSpPr/>
          <p:nvPr/>
        </p:nvSpPr>
        <p:spPr>
          <a:xfrm>
            <a:off x="4828032" y="384048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val_loss ≈ random (2.197)</a:t>
            </a:r>
            <a:endParaRPr lang="en-US" sz="1200" dirty="0"/>
          </a:p>
        </p:txBody>
      </p:sp>
      <p:sp>
        <p:nvSpPr>
          <p:cNvPr id="33" name="Text 31"/>
          <p:cNvSpPr/>
          <p:nvPr/>
        </p:nvSpPr>
        <p:spPr>
          <a:xfrm>
            <a:off x="4828032" y="415137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Even the best model's val_loss hovers at ~2.22 — barely above log(9). The model discriminates but isn't confident.</a:t>
            </a:r>
            <a:endParaRPr lang="en-US" sz="1100" dirty="0"/>
          </a:p>
        </p:txBody>
      </p:sp>
      <p:sp>
        <p:nvSpPr>
          <p:cNvPr id="34" name="Shape 2">
            <a:extLst>
              <a:ext uri="{FF2B5EF4-FFF2-40B4-BE49-F238E27FC236}">
                <a16:creationId xmlns:a16="http://schemas.microsoft.com/office/drawing/2014/main" id="{165FD74B-79DA-23ED-55E8-07094F8039D1}"/>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Perf Eval</a:t>
            </a:r>
            <a:endParaRPr lang="pt-PT" b="1" dirty="0">
              <a:solidFill>
                <a:schemeClr val="bg1"/>
              </a:solidFill>
            </a:endParaRPr>
          </a:p>
        </p:txBody>
      </p:sp>
      <p:sp>
        <p:nvSpPr>
          <p:cNvPr id="35" name="Rectangle: Rounded Corners 34">
            <a:extLst>
              <a:ext uri="{FF2B5EF4-FFF2-40B4-BE49-F238E27FC236}">
                <a16:creationId xmlns:a16="http://schemas.microsoft.com/office/drawing/2014/main" id="{41064285-E4DC-E9BB-6886-354EDD050043}"/>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3</a:t>
            </a:r>
            <a:endParaRPr lang="en-US" sz="2800" b="1"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Shape 1"/>
          <p:cNvSpPr/>
          <p:nvPr/>
        </p:nvSpPr>
        <p:spPr>
          <a:xfrm>
            <a:off x="6400800" y="-731520"/>
            <a:ext cx="4114800" cy="4114800"/>
          </a:xfrm>
          <a:prstGeom prst="ellipse">
            <a:avLst/>
          </a:prstGeom>
          <a:solidFill>
            <a:srgbClr val="1C3A52">
              <a:alpha val="60000"/>
            </a:srgbClr>
          </a:solidFill>
          <a:ln w="12700">
            <a:solidFill>
              <a:srgbClr val="1C3A52"/>
            </a:solidFill>
            <a:prstDash val="solid"/>
          </a:ln>
        </p:spPr>
        <p:txBody>
          <a:bodyPr/>
          <a:lstStyle/>
          <a:p>
            <a:endParaRPr lang="pt-PT"/>
          </a:p>
        </p:txBody>
      </p:sp>
      <p:sp>
        <p:nvSpPr>
          <p:cNvPr id="4" name="Shape 2"/>
          <p:cNvSpPr/>
          <p:nvPr/>
        </p:nvSpPr>
        <p:spPr>
          <a:xfrm>
            <a:off x="7498080" y="2103120"/>
            <a:ext cx="2560320" cy="2560320"/>
          </a:xfrm>
          <a:prstGeom prst="ellipse">
            <a:avLst/>
          </a:prstGeom>
          <a:solidFill>
            <a:srgbClr val="00A896">
              <a:alpha val="42000"/>
            </a:srgbClr>
          </a:solidFill>
          <a:ln w="12700">
            <a:solidFill>
              <a:srgbClr val="00A896"/>
            </a:solidFill>
            <a:prstDash val="solid"/>
          </a:ln>
        </p:spPr>
        <p:txBody>
          <a:bodyPr/>
          <a:lstStyle/>
          <a:p>
            <a:endParaRPr lang="pt-PT"/>
          </a:p>
        </p:txBody>
      </p:sp>
      <p:sp>
        <p:nvSpPr>
          <p:cNvPr id="5" name="Text 3"/>
          <p:cNvSpPr/>
          <p:nvPr/>
        </p:nvSpPr>
        <p:spPr>
          <a:xfrm>
            <a:off x="457200" y="109728"/>
            <a:ext cx="6858000" cy="530352"/>
          </a:xfrm>
          <a:prstGeom prst="rect">
            <a:avLst/>
          </a:prstGeom>
          <a:noFill/>
          <a:ln/>
        </p:spPr>
        <p:txBody>
          <a:bodyPr wrap="square" lIns="0" tIns="0" rIns="0" bIns="0"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Conclusions &amp; What's Next</a:t>
            </a:r>
            <a:endParaRPr lang="en-US" sz="2200" dirty="0"/>
          </a:p>
        </p:txBody>
      </p:sp>
      <p:sp>
        <p:nvSpPr>
          <p:cNvPr id="6" name="Shape 4"/>
          <p:cNvSpPr/>
          <p:nvPr/>
        </p:nvSpPr>
        <p:spPr>
          <a:xfrm>
            <a:off x="347472" y="80467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73152" cy="71323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493776" y="85953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Best MLP result: 0.2428 val F1 (ensemble C+E), 0.2288 Kaggle</a:t>
            </a:r>
            <a:endParaRPr lang="en-US" sz="1100" dirty="0"/>
          </a:p>
        </p:txBody>
      </p:sp>
      <p:sp>
        <p:nvSpPr>
          <p:cNvPr id="9" name="Text 7"/>
          <p:cNvSpPr/>
          <p:nvPr/>
        </p:nvSpPr>
        <p:spPr>
          <a:xfrm>
            <a:off x="493776" y="115214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2.18x above random baseline. All 19 solo + 7 ensemble experiments are above random.</a:t>
            </a:r>
            <a:endParaRPr lang="en-US" sz="1050" dirty="0">
              <a:solidFill>
                <a:schemeClr val="accent2">
                  <a:lumMod val="40000"/>
                  <a:lumOff val="60000"/>
                </a:schemeClr>
              </a:solidFill>
            </a:endParaRPr>
          </a:p>
        </p:txBody>
      </p:sp>
      <p:sp>
        <p:nvSpPr>
          <p:cNvPr id="10" name="Shape 8"/>
          <p:cNvSpPr/>
          <p:nvPr/>
        </p:nvSpPr>
        <p:spPr>
          <a:xfrm>
            <a:off x="347472" y="162763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347472" y="1627632"/>
            <a:ext cx="73152" cy="713232"/>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493776" y="168249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Label smoothing = most impactful technique</a:t>
            </a:r>
            <a:endParaRPr lang="en-US" sz="1100" dirty="0"/>
          </a:p>
        </p:txBody>
      </p:sp>
      <p:sp>
        <p:nvSpPr>
          <p:cNvPr id="13" name="Text 11"/>
          <p:cNvSpPr/>
          <p:nvPr/>
        </p:nvSpPr>
        <p:spPr>
          <a:xfrm>
            <a:off x="493776" y="197510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LS=0.15 rescued Rock from F1=0.000. All top-6 solo experiments use LS ≥ 0.1.</a:t>
            </a:r>
            <a:endParaRPr lang="en-US" sz="1050" dirty="0">
              <a:solidFill>
                <a:schemeClr val="accent2">
                  <a:lumMod val="40000"/>
                  <a:lumOff val="60000"/>
                </a:schemeClr>
              </a:solidFill>
            </a:endParaRPr>
          </a:p>
        </p:txBody>
      </p:sp>
      <p:sp>
        <p:nvSpPr>
          <p:cNvPr id="14" name="Shape 12"/>
          <p:cNvSpPr/>
          <p:nvPr/>
        </p:nvSpPr>
        <p:spPr>
          <a:xfrm>
            <a:off x="347472" y="245059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sz="2000">
              <a:solidFill>
                <a:schemeClr val="accent2">
                  <a:lumMod val="40000"/>
                  <a:lumOff val="60000"/>
                </a:schemeClr>
              </a:solidFill>
            </a:endParaRPr>
          </a:p>
        </p:txBody>
      </p:sp>
      <p:sp>
        <p:nvSpPr>
          <p:cNvPr id="15" name="Shape 13"/>
          <p:cNvSpPr/>
          <p:nvPr/>
        </p:nvSpPr>
        <p:spPr>
          <a:xfrm>
            <a:off x="347472" y="2450592"/>
            <a:ext cx="73152" cy="713232"/>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93776" y="250545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Augmentation and depth both hurt</a:t>
            </a:r>
            <a:endParaRPr lang="en-US" sz="1100" dirty="0"/>
          </a:p>
        </p:txBody>
      </p:sp>
      <p:sp>
        <p:nvSpPr>
          <p:cNvPr id="17" name="Text 15"/>
          <p:cNvSpPr/>
          <p:nvPr/>
        </p:nvSpPr>
        <p:spPr>
          <a:xfrm>
            <a:off x="493776" y="279806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Confirmed empirically: MLP has no spatial invariance, and small data can't regularise deeper nets.</a:t>
            </a:r>
            <a:endParaRPr lang="en-US" sz="1050" dirty="0">
              <a:solidFill>
                <a:schemeClr val="accent2">
                  <a:lumMod val="40000"/>
                  <a:lumOff val="60000"/>
                </a:schemeClr>
              </a:solidFill>
            </a:endParaRPr>
          </a:p>
        </p:txBody>
      </p:sp>
      <p:sp>
        <p:nvSpPr>
          <p:cNvPr id="18" name="Shape 16"/>
          <p:cNvSpPr/>
          <p:nvPr/>
        </p:nvSpPr>
        <p:spPr>
          <a:xfrm>
            <a:off x="347472" y="327355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47472" y="3273552"/>
            <a:ext cx="73152" cy="71323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493776" y="332841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MLP ceiling is real and confirmed</a:t>
            </a:r>
            <a:endParaRPr lang="en-US" sz="1100" dirty="0"/>
          </a:p>
        </p:txBody>
      </p:sp>
      <p:sp>
        <p:nvSpPr>
          <p:cNvPr id="21" name="Text 19"/>
          <p:cNvSpPr/>
          <p:nvPr/>
        </p:nvSpPr>
        <p:spPr>
          <a:xfrm>
            <a:off x="493776" y="362102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val_loss ≈ log(9) = random. Feature-to-sample ratio 4.26:1 = no amount of tuning fixes this.</a:t>
            </a:r>
            <a:endParaRPr lang="en-US" sz="1050" dirty="0">
              <a:solidFill>
                <a:schemeClr val="accent2">
                  <a:lumMod val="40000"/>
                  <a:lumOff val="60000"/>
                </a:schemeClr>
              </a:solidFill>
            </a:endParaRPr>
          </a:p>
        </p:txBody>
      </p:sp>
      <p:sp>
        <p:nvSpPr>
          <p:cNvPr id="22" name="Shape 20"/>
          <p:cNvSpPr/>
          <p:nvPr/>
        </p:nvSpPr>
        <p:spPr>
          <a:xfrm>
            <a:off x="347472" y="409651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347472" y="4096512"/>
            <a:ext cx="73152" cy="713232"/>
          </a:xfrm>
          <a:prstGeom prst="rect">
            <a:avLst/>
          </a:prstGeom>
          <a:solidFill>
            <a:srgbClr val="27AE60"/>
          </a:solidFill>
          <a:ln w="12700">
            <a:solidFill>
              <a:srgbClr val="27AE60"/>
            </a:solidFill>
            <a:prstDash val="solid"/>
          </a:ln>
        </p:spPr>
        <p:txBody>
          <a:bodyPr/>
          <a:lstStyle/>
          <a:p>
            <a:endParaRPr lang="pt-PT"/>
          </a:p>
        </p:txBody>
      </p:sp>
      <p:sp>
        <p:nvSpPr>
          <p:cNvPr id="24" name="Text 22"/>
          <p:cNvSpPr/>
          <p:nvPr/>
        </p:nvSpPr>
        <p:spPr>
          <a:xfrm>
            <a:off x="493776" y="415137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Ensemble diversity &gt; ensemble quality</a:t>
            </a:r>
            <a:endParaRPr lang="en-US" sz="1100" dirty="0"/>
          </a:p>
        </p:txBody>
      </p:sp>
      <p:sp>
        <p:nvSpPr>
          <p:cNvPr id="25" name="Text 23"/>
          <p:cNvSpPr/>
          <p:nvPr/>
        </p:nvSpPr>
        <p:spPr>
          <a:xfrm>
            <a:off x="493776" y="444398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C+E (0.2428) beats two top solos (C=0.2395, R=0.2396) because different imbalance mechanisms produce complementary errors.</a:t>
            </a:r>
            <a:endParaRPr lang="en-US" sz="1050" dirty="0">
              <a:solidFill>
                <a:schemeClr val="accent2">
                  <a:lumMod val="40000"/>
                  <a:lumOff val="60000"/>
                </a:schemeClr>
              </a:solidFill>
            </a:endParaRPr>
          </a:p>
        </p:txBody>
      </p:sp>
      <p:sp>
        <p:nvSpPr>
          <p:cNvPr id="26" name="Shape 24"/>
          <p:cNvSpPr/>
          <p:nvPr/>
        </p:nvSpPr>
        <p:spPr>
          <a:xfrm>
            <a:off x="6565392" y="804672"/>
            <a:ext cx="2331720" cy="3950208"/>
          </a:xfrm>
          <a:prstGeom prst="rect">
            <a:avLst/>
          </a:prstGeom>
          <a:solidFill>
            <a:srgbClr val="00A896"/>
          </a:solidFill>
          <a:ln w="12700">
            <a:solidFill>
              <a:srgbClr val="00A896"/>
            </a:solidFill>
            <a:prstDash val="solid"/>
          </a:ln>
          <a:effectLst>
            <a:outerShdw blurRad="101600" dist="38100" dir="8100000" algn="bl" rotWithShape="0">
              <a:srgbClr val="000000">
                <a:alpha val="10000"/>
              </a:srgbClr>
            </a:outerShdw>
          </a:effectLst>
        </p:spPr>
        <p:txBody>
          <a:bodyPr/>
          <a:lstStyle/>
          <a:p>
            <a:endParaRPr lang="pt-PT"/>
          </a:p>
        </p:txBody>
      </p:sp>
      <p:sp>
        <p:nvSpPr>
          <p:cNvPr id="27" name="Text 25"/>
          <p:cNvSpPr/>
          <p:nvPr/>
        </p:nvSpPr>
        <p:spPr>
          <a:xfrm>
            <a:off x="6565392" y="841248"/>
            <a:ext cx="2331720" cy="384048"/>
          </a:xfrm>
          <a:prstGeom prst="rect">
            <a:avLst/>
          </a:prstGeom>
          <a:noFill/>
          <a:ln/>
        </p:spPr>
        <p:txBody>
          <a:bodyPr wrap="square" lIns="0" tIns="0" rIns="0" bIns="0" rtlCol="0" anchor="ctr"/>
          <a:lstStyle/>
          <a:p>
            <a:pPr marL="0" indent="0" algn="ctr">
              <a:buNone/>
            </a:pPr>
            <a:r>
              <a:rPr lang="en-US" sz="1500" b="1">
                <a:solidFill>
                  <a:srgbClr val="FFFFFF"/>
                </a:solidFill>
                <a:latin typeface="Trebuchet MS"/>
                <a:ea typeface="Trebuchet MS" pitchFamily="34" charset="-122"/>
                <a:cs typeface="Trebuchet MS" pitchFamily="34" charset="-120"/>
              </a:rPr>
              <a:t>Next: Task 3</a:t>
            </a:r>
            <a:endParaRPr lang="en-US" sz="1500" dirty="0"/>
          </a:p>
        </p:txBody>
      </p:sp>
      <p:sp>
        <p:nvSpPr>
          <p:cNvPr id="28" name="Text 26"/>
          <p:cNvSpPr/>
          <p:nvPr/>
        </p:nvSpPr>
        <p:spPr>
          <a:xfrm>
            <a:off x="6565392" y="1298448"/>
            <a:ext cx="2331720" cy="914400"/>
          </a:xfrm>
          <a:prstGeom prst="rect">
            <a:avLst/>
          </a:prstGeom>
          <a:noFill/>
          <a:ln/>
        </p:spPr>
        <p:txBody>
          <a:bodyPr wrap="square" rtlCol="0" anchor="ctr"/>
          <a:lstStyle/>
          <a:p>
            <a:pPr marL="0" indent="0" algn="ctr">
              <a:buNone/>
            </a:pPr>
            <a:r>
              <a:rPr lang="en-US" sz="2000" b="1" dirty="0">
                <a:solidFill>
                  <a:srgbClr val="FFFFFF"/>
                </a:solidFill>
                <a:latin typeface="Trebuchet MS" pitchFamily="34" charset="0"/>
                <a:ea typeface="Trebuchet MS" pitchFamily="34" charset="-122"/>
                <a:cs typeface="Trebuchet MS" pitchFamily="34" charset="-120"/>
              </a:rPr>
              <a:t>CNN</a:t>
            </a:r>
            <a:endParaRPr lang="en-US" sz="2000" dirty="0"/>
          </a:p>
          <a:p>
            <a:pPr marL="0" indent="0" algn="ctr">
              <a:buNone/>
            </a:pPr>
            <a:r>
              <a:rPr lang="en-US" sz="1200" dirty="0">
                <a:solidFill>
                  <a:srgbClr val="FFFFFF"/>
                </a:solidFill>
                <a:latin typeface="Trebuchet MS" pitchFamily="34" charset="0"/>
                <a:ea typeface="Trebuchet MS" pitchFamily="34" charset="-122"/>
                <a:cs typeface="Trebuchet MS" pitchFamily="34" charset="-120"/>
              </a:rPr>
              <a:t>Convolutional</a:t>
            </a:r>
            <a:endParaRPr lang="en-US" sz="2000" dirty="0"/>
          </a:p>
          <a:p>
            <a:pPr marL="0" indent="0" algn="ctr">
              <a:buNone/>
            </a:pPr>
            <a:r>
              <a:rPr lang="en-US" sz="1200" dirty="0">
                <a:solidFill>
                  <a:srgbClr val="FFFFFF"/>
                </a:solidFill>
                <a:latin typeface="Trebuchet MS" pitchFamily="34" charset="0"/>
                <a:ea typeface="Trebuchet MS" pitchFamily="34" charset="-122"/>
                <a:cs typeface="Trebuchet MS" pitchFamily="34" charset="-120"/>
              </a:rPr>
              <a:t>Neural Network</a:t>
            </a:r>
            <a:endParaRPr lang="en-US" sz="2000" dirty="0"/>
          </a:p>
        </p:txBody>
      </p:sp>
      <p:sp>
        <p:nvSpPr>
          <p:cNvPr id="29" name="Text 27"/>
          <p:cNvSpPr/>
          <p:nvPr/>
        </p:nvSpPr>
        <p:spPr>
          <a:xfrm>
            <a:off x="6629400" y="2304288"/>
            <a:ext cx="2212848" cy="2286000"/>
          </a:xfrm>
          <a:prstGeom prst="rect">
            <a:avLst/>
          </a:prstGeom>
          <a:noFill/>
          <a:ln/>
        </p:spPr>
        <p:txBody>
          <a:bodyPr wrap="square" rtlCol="0" anchor="ctr"/>
          <a:lstStyle/>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Spatial inductive bias — same filters at every position</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3×3 conv = 27 params vs 12 288 per MLP node</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Augmentation will HELP (not hurt)</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Target F1: 0.55 – 0.70</a:t>
            </a:r>
            <a:endParaRPr lang="en-US" sz="1000" dirty="0"/>
          </a:p>
        </p:txBody>
      </p:sp>
      <p:sp>
        <p:nvSpPr>
          <p:cNvPr id="30" name="Text 28"/>
          <p:cNvSpPr/>
          <p:nvPr/>
        </p:nvSpPr>
        <p:spPr>
          <a:xfrm>
            <a:off x="6629400" y="2304288"/>
            <a:ext cx="2212848" cy="1965960"/>
          </a:xfrm>
          <a:prstGeom prst="rect">
            <a:avLst/>
          </a:prstGeom>
          <a:noFill/>
          <a:ln/>
        </p:spPr>
        <p:txBody>
          <a:bodyPr wrap="square" rtlCol="0" anchor="ctr"/>
          <a:lstStyle/>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Spatial inductive bias — same filters at every position</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3×3 conv = 27 params vs 12 288 per MLP node</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Augmentation will HELP (not hurt)</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Target F1: 0.55 – 0.70</a:t>
            </a:r>
            <a:endParaRPr lang="en-US" sz="1000" dirty="0"/>
          </a:p>
        </p:txBody>
      </p:sp>
      <p:sp>
        <p:nvSpPr>
          <p:cNvPr id="31" name="Shape 29"/>
          <p:cNvSpPr/>
          <p:nvPr/>
        </p:nvSpPr>
        <p:spPr>
          <a:xfrm>
            <a:off x="0" y="4846320"/>
            <a:ext cx="9144000" cy="301752"/>
          </a:xfrm>
          <a:prstGeom prst="rect">
            <a:avLst/>
          </a:prstGeom>
          <a:solidFill>
            <a:srgbClr val="00A896">
              <a:alpha val="80000"/>
            </a:srgbClr>
          </a:solidFill>
          <a:ln w="12700">
            <a:solidFill>
              <a:srgbClr val="00A896"/>
            </a:solidFill>
            <a:prstDash val="solid"/>
          </a:ln>
        </p:spPr>
        <p:txBody>
          <a:bodyPr/>
          <a:lstStyle/>
          <a:p>
            <a:endParaRPr lang="pt-PT"/>
          </a:p>
        </p:txBody>
      </p:sp>
      <p:sp>
        <p:nvSpPr>
          <p:cNvPr id="32" name="Text 30"/>
          <p:cNvSpPr/>
          <p:nvPr/>
        </p:nvSpPr>
        <p:spPr>
          <a:xfrm>
            <a:off x="274320" y="4855464"/>
            <a:ext cx="8595360" cy="283464"/>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Task 1 complete  ·  Kaggle score: 0.2288  ·  22 experiments  ·  ~44 min on T4</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70555-57EC-4E35-5048-823A2DEFE64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FB102AD-A2D7-3936-D7A6-04426D3643AD}"/>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BB423936-36F1-D113-3DE6-5ABBB1D2EE5C}"/>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a:extLst>
              <a:ext uri="{FF2B5EF4-FFF2-40B4-BE49-F238E27FC236}">
                <a16:creationId xmlns:a16="http://schemas.microsoft.com/office/drawing/2014/main" id="{97924F36-4650-876C-64EC-5FD675153D5D}"/>
              </a:ext>
            </a:extLst>
          </p:cNvPr>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a:solidFill>
                  <a:srgbClr val="02C39A"/>
                </a:solidFill>
                <a:latin typeface="Calibri"/>
                <a:ea typeface="Calibri"/>
                <a:cs typeface="Calibri"/>
              </a:rPr>
              <a:t>DEEP LEARNING  ·  ASSIGNMENT 1  ·  TASK 2</a:t>
            </a:r>
            <a:endParaRPr lang="en-US" sz="1000" dirty="0"/>
          </a:p>
        </p:txBody>
      </p:sp>
      <p:sp>
        <p:nvSpPr>
          <p:cNvPr id="6" name="Text 4">
            <a:extLst>
              <a:ext uri="{FF2B5EF4-FFF2-40B4-BE49-F238E27FC236}">
                <a16:creationId xmlns:a16="http://schemas.microsoft.com/office/drawing/2014/main" id="{E29C7CFC-1327-6781-BDBC-2455C958B608}"/>
              </a:ext>
            </a:extLst>
          </p:cNvPr>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a:extLst>
              <a:ext uri="{FF2B5EF4-FFF2-40B4-BE49-F238E27FC236}">
                <a16:creationId xmlns:a16="http://schemas.microsoft.com/office/drawing/2014/main" id="{947BC29D-0119-742E-B479-E6D99C580F5E}"/>
              </a:ext>
            </a:extLst>
          </p:cNvPr>
          <p:cNvSpPr/>
          <p:nvPr/>
        </p:nvSpPr>
        <p:spPr>
          <a:xfrm>
            <a:off x="347472" y="1719072"/>
            <a:ext cx="6583680" cy="438912"/>
          </a:xfrm>
          <a:prstGeom prst="rect">
            <a:avLst/>
          </a:prstGeom>
          <a:noFill/>
          <a:ln/>
        </p:spPr>
        <p:txBody>
          <a:bodyPr wrap="square" lIns="0" tIns="0" rIns="0" bIns="0" rtlCol="0" anchor="ctr"/>
          <a:lstStyle/>
          <a:p>
            <a:r>
              <a:rPr lang="en-US" sz="1600">
                <a:solidFill>
                  <a:srgbClr val="7AADCC"/>
                </a:solidFill>
                <a:latin typeface="Calibri"/>
                <a:ea typeface="Calibri"/>
                <a:cs typeface="Calibri"/>
              </a:rPr>
              <a:t>TASK 2 - Convolutional Neural Network</a:t>
            </a:r>
            <a:endParaRPr lang="en-US" sz="1600">
              <a:latin typeface="Calibri"/>
              <a:ea typeface="Calibri"/>
              <a:cs typeface="Calibri"/>
            </a:endParaRPr>
          </a:p>
        </p:txBody>
      </p:sp>
      <p:sp>
        <p:nvSpPr>
          <p:cNvPr id="8" name="Shape 6">
            <a:extLst>
              <a:ext uri="{FF2B5EF4-FFF2-40B4-BE49-F238E27FC236}">
                <a16:creationId xmlns:a16="http://schemas.microsoft.com/office/drawing/2014/main" id="{AC89F985-F493-5CA9-B6A5-08BA6D32CAA8}"/>
              </a:ext>
            </a:extLst>
          </p:cNvPr>
          <p:cNvSpPr/>
          <p:nvPr/>
        </p:nvSpPr>
        <p:spPr>
          <a:xfrm>
            <a:off x="347472" y="2267712"/>
            <a:ext cx="3474720" cy="36576"/>
          </a:xfrm>
          <a:prstGeom prst="rect">
            <a:avLst/>
          </a:prstGeom>
          <a:solidFill>
            <a:srgbClr val="00A896"/>
          </a:solidFill>
          <a:ln w="12700">
            <a:solidFill>
              <a:srgbClr val="00A896"/>
            </a:solidFill>
            <a:prstDash val="solid"/>
          </a:ln>
        </p:spPr>
        <p:txBody>
          <a:bodyPr/>
          <a:lstStyle/>
          <a:p>
            <a:endParaRPr lang="pt-PT"/>
          </a:p>
        </p:txBody>
      </p:sp>
      <p:sp>
        <p:nvSpPr>
          <p:cNvPr id="9" name="Text 7">
            <a:extLst>
              <a:ext uri="{FF2B5EF4-FFF2-40B4-BE49-F238E27FC236}">
                <a16:creationId xmlns:a16="http://schemas.microsoft.com/office/drawing/2014/main" id="{F5F674C6-1E3F-AC7B-2B6A-E96DFE19657C}"/>
              </a:ext>
            </a:extLst>
          </p:cNvPr>
          <p:cNvSpPr/>
          <p:nvPr/>
        </p:nvSpPr>
        <p:spPr>
          <a:xfrm>
            <a:off x="347472" y="2377440"/>
            <a:ext cx="6858000" cy="914400"/>
          </a:xfrm>
          <a:prstGeom prst="rect">
            <a:avLst/>
          </a:prstGeom>
          <a:noFill/>
          <a:ln/>
        </p:spPr>
        <p:txBody>
          <a:bodyPr wrap="square" rtlCol="0" anchor="ctr"/>
          <a:lstStyle/>
          <a:p>
            <a:pPr marL="0" indent="0">
              <a:buNone/>
            </a:pPr>
            <a:r>
              <a:rPr lang="en-US" sz="1300" dirty="0">
                <a:solidFill>
                  <a:srgbClr val="AACDE0"/>
                </a:solidFill>
                <a:latin typeface="Calibri" pitchFamily="34" charset="0"/>
                <a:ea typeface="Calibri" pitchFamily="34" charset="-122"/>
                <a:cs typeface="Calibri" pitchFamily="34" charset="-120"/>
              </a:rPr>
              <a:t>70698 – Francisco Silva</a:t>
            </a:r>
          </a:p>
          <a:p>
            <a:r>
              <a:rPr lang="en-US" sz="1300" dirty="0">
                <a:solidFill>
                  <a:srgbClr val="AACDE0"/>
                </a:solidFill>
                <a:latin typeface="Calibri" pitchFamily="34" charset="0"/>
                <a:cs typeface="Calibri" pitchFamily="34" charset="-120"/>
              </a:rPr>
              <a:t>73208 </a:t>
            </a:r>
            <a:r>
              <a:rPr lang="en-US" sz="1300" dirty="0">
                <a:solidFill>
                  <a:srgbClr val="AACDE0"/>
                </a:solidFill>
                <a:latin typeface="Calibri" pitchFamily="34" charset="0"/>
                <a:ea typeface="Calibri" pitchFamily="34" charset="-122"/>
                <a:cs typeface="Calibri" pitchFamily="34" charset="-120"/>
              </a:rPr>
              <a:t>– Rúben Silva</a:t>
            </a:r>
            <a:endParaRPr lang="en-US" sz="1300" dirty="0"/>
          </a:p>
          <a:p>
            <a:pPr marL="0" indent="0">
              <a:buNone/>
            </a:pPr>
            <a:r>
              <a:rPr lang="en-US" sz="1300" dirty="0">
                <a:solidFill>
                  <a:srgbClr val="AACDE0"/>
                </a:solidFill>
                <a:latin typeface="Calibri" pitchFamily="34" charset="0"/>
                <a:ea typeface="Calibri" pitchFamily="34" charset="-122"/>
                <a:cs typeface="Calibri" pitchFamily="34" charset="-120"/>
              </a:rPr>
              <a:t>73554 – Miguel </a:t>
            </a:r>
            <a:r>
              <a:rPr lang="en-US" sz="1300" dirty="0" err="1">
                <a:solidFill>
                  <a:srgbClr val="AACDE0"/>
                </a:solidFill>
                <a:latin typeface="Calibri" pitchFamily="34" charset="0"/>
                <a:ea typeface="Calibri" pitchFamily="34" charset="-122"/>
                <a:cs typeface="Calibri" pitchFamily="34" charset="-120"/>
              </a:rPr>
              <a:t>Cangalhas</a:t>
            </a:r>
            <a:endParaRPr lang="en-US" sz="1300" dirty="0">
              <a:solidFill>
                <a:srgbClr val="AACDE0"/>
              </a:solidFill>
              <a:latin typeface="Calibri" pitchFamily="34" charset="0"/>
              <a:ea typeface="Calibri" pitchFamily="34" charset="-122"/>
              <a:cs typeface="Calibri" pitchFamily="34" charset="-120"/>
            </a:endParaRPr>
          </a:p>
        </p:txBody>
      </p:sp>
      <p:pic>
        <p:nvPicPr>
          <p:cNvPr id="1028" name="Picture 4" descr="NOVA FCT">
            <a:extLst>
              <a:ext uri="{FF2B5EF4-FFF2-40B4-BE49-F238E27FC236}">
                <a16:creationId xmlns:a16="http://schemas.microsoft.com/office/drawing/2014/main" id="{0676964B-354F-668D-B660-CAD8B1F02F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823F5CCF-ED72-A15A-EF86-1D993A0B1219}"/>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6549E42C-BAD7-D06C-8CBF-7F1BA5902D18}"/>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Brick Wall Speech Bubble Thank You Design Presentation Template">
            <a:extLst>
              <a:ext uri="{FF2B5EF4-FFF2-40B4-BE49-F238E27FC236}">
                <a16:creationId xmlns:a16="http://schemas.microsoft.com/office/drawing/2014/main" id="{96078CA1-7000-0C4A-46C3-970B1FE9EFE5}"/>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10000" b="90000" l="10000" r="90000">
                        <a14:foregroundMark x1="21979" y1="30417" x2="29896" y2="35139"/>
                        <a14:foregroundMark x1="29896" y1="35139" x2="41146" y2="33056"/>
                        <a14:foregroundMark x1="41146" y1="33056" x2="56458" y2="33750"/>
                        <a14:foregroundMark x1="48125" y1="63194" x2="77500" y2="66667"/>
                        <a14:foregroundMark x1="77500" y1="66667" x2="79063" y2="66667"/>
                        <a14:foregroundMark x1="78229" y1="58472" x2="76979" y2="64861"/>
                      </a14:backgroundRemoval>
                    </a14:imgEffect>
                  </a14:imgLayer>
                </a14:imgProps>
              </a:ext>
              <a:ext uri="{28A0092B-C50C-407E-A947-70E740481C1C}">
                <a14:useLocalDpi xmlns:a14="http://schemas.microsoft.com/office/drawing/2010/main" val="0"/>
              </a:ext>
            </a:extLst>
          </a:blip>
          <a:srcRect/>
          <a:stretch>
            <a:fillRect/>
          </a:stretch>
        </p:blipFill>
        <p:spPr bwMode="auto">
          <a:xfrm>
            <a:off x="3923792" y="1164859"/>
            <a:ext cx="3460537" cy="25954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2527038"/>
      </p:ext>
    </p:extLst>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Depth">
      <a:maj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1735E755-43E6-43AA-ABA2-C989ECC79AF5}"/>
    </a:ext>
  </a:extLst>
</a:theme>
</file>

<file path=ppt/theme/theme2.xml><?xml version="1.0" encoding="utf-8"?>
<a:theme xmlns:a="http://schemas.openxmlformats.org/drawingml/2006/main" name="Droplet">
  <a:themeElements>
    <a:clrScheme name="Droplet">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Drople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roplet">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TM04033925[[fn=Droplet]]</Template>
  <TotalTime>522</TotalTime>
  <Words>3877</Words>
  <Application>Microsoft Office PowerPoint</Application>
  <PresentationFormat>On-screen Show (16:9)</PresentationFormat>
  <Paragraphs>680</Paragraphs>
  <Slides>27</Slides>
  <Notes>12</Notes>
  <HiddenSlides>0</HiddenSlides>
  <MMClips>0</MMClips>
  <ScaleCrop>false</ScaleCrop>
  <HeadingPairs>
    <vt:vector size="4" baseType="variant">
      <vt:variant>
        <vt:lpstr>Theme</vt:lpstr>
      </vt:variant>
      <vt:variant>
        <vt:i4>2</vt:i4>
      </vt:variant>
      <vt:variant>
        <vt:lpstr>Slide Titles</vt:lpstr>
      </vt:variant>
      <vt:variant>
        <vt:i4>27</vt:i4>
      </vt:variant>
    </vt:vector>
  </HeadingPairs>
  <TitlesOfParts>
    <vt:vector size="29" baseType="lpstr">
      <vt:lpstr>Depth</vt:lpstr>
      <vt:lpstr>Droplet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 1 — MLP Pokémon Classification</dc:title>
  <dc:subject>PptxGenJS Presentation</dc:subject>
  <dc:creator>PptxGenJS</dc:creator>
  <cp:lastModifiedBy>Rúben Silva</cp:lastModifiedBy>
  <cp:revision>1256</cp:revision>
  <dcterms:created xsi:type="dcterms:W3CDTF">2026-03-07T01:48:48Z</dcterms:created>
  <dcterms:modified xsi:type="dcterms:W3CDTF">2026-03-24T23:17:07Z</dcterms:modified>
</cp:coreProperties>
</file>