
<file path=[Content_Types].xml><?xml version="1.0" encoding="utf-8"?>
<Types xmlns="http://schemas.openxmlformats.org/package/2006/content-types">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21" r:id="rId1"/>
    <p:sldMasterId id="2147483840" r:id="rId2"/>
  </p:sldMasterIdLst>
  <p:notesMasterIdLst>
    <p:notesMasterId r:id="rId33"/>
  </p:notesMasterIdLst>
  <p:sldIdLst>
    <p:sldId id="256" r:id="rId3"/>
    <p:sldId id="257" r:id="rId4"/>
    <p:sldId id="281" r:id="rId5"/>
    <p:sldId id="258" r:id="rId6"/>
    <p:sldId id="259" r:id="rId7"/>
    <p:sldId id="260" r:id="rId8"/>
    <p:sldId id="261" r:id="rId9"/>
    <p:sldId id="262" r:id="rId10"/>
    <p:sldId id="263" r:id="rId11"/>
    <p:sldId id="282" r:id="rId12"/>
    <p:sldId id="288" r:id="rId13"/>
    <p:sldId id="295" r:id="rId14"/>
    <p:sldId id="285" r:id="rId15"/>
    <p:sldId id="286" r:id="rId16"/>
    <p:sldId id="287" r:id="rId17"/>
    <p:sldId id="296" r:id="rId18"/>
    <p:sldId id="289" r:id="rId19"/>
    <p:sldId id="290" r:id="rId20"/>
    <p:sldId id="283" r:id="rId21"/>
    <p:sldId id="271" r:id="rId22"/>
    <p:sldId id="273" r:id="rId23"/>
    <p:sldId id="293" r:id="rId24"/>
    <p:sldId id="284" r:id="rId25"/>
    <p:sldId id="275" r:id="rId26"/>
    <p:sldId id="297" r:id="rId27"/>
    <p:sldId id="298" r:id="rId28"/>
    <p:sldId id="299" r:id="rId29"/>
    <p:sldId id="278" r:id="rId30"/>
    <p:sldId id="279" r:id="rId31"/>
    <p:sldId id="300" r:id="rId32"/>
  </p:sldIdLst>
  <p:sldSz cx="9144000" cy="5143500" type="screen16x9"/>
  <p:notesSz cx="51435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F4F0F"/>
    <a:srgbClr val="61B2E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6415491-CAAD-4ABA-B19F-C3CB9698F8BE}" v="28" dt="2026-03-19T11:07:20.52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43" d="100"/>
          <a:sy n="143" d="100"/>
        </p:scale>
        <p:origin x="606"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notesMaster" Target="notesMasters/notesMaster1.xml"/><Relationship Id="rId38" Type="http://schemas.microsoft.com/office/2015/10/relationships/revisionInfo" Target="revisionInfo.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viewProps" Target="viewProps.xml"/><Relationship Id="rId8" Type="http://schemas.openxmlformats.org/officeDocument/2006/relationships/slide" Target="slides/slide6.xml"/><Relationship Id="rId3"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838599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BB7D86-4E7E-69D6-10DE-EB52DA17C3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976FE4-68DF-C1F9-27AB-2B718C5C5A7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9A7C7FC-08E4-5C4F-DACB-BBCA4774709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B1E08CF-3F97-5E03-EF73-A38F691D4826}"/>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505062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7BFAA4-F991-26B2-8A0F-8376B111AD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833D0B-4CBD-425B-310A-38E1C38BD41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568C936-3F6C-0B70-6277-E2C33778785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9B0199C-FB5A-9A95-7D7A-3AAFB147A108}"/>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65237101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6367F7-8E15-C927-6398-C8EAAFA7B6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F5B05F-A2D1-5297-20C6-93EA1D23CA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C106E45-EECD-6837-C95A-6C5C4C8162E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6F24DA2-A2D5-360F-B5D7-92B814684E06}"/>
              </a:ext>
            </a:extLst>
          </p:cNvPr>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342817087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4CAAF6-D4DD-1AE9-BDA9-565C1F13BE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A68680-5EF1-0C56-DBE8-6E02EB5892D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C4CF2B4-6456-837C-FDF2-44EE498F3A5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93A4805-850F-EF40-9841-AFAA42965184}"/>
              </a:ext>
            </a:extLst>
          </p:cNvPr>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251663663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298400-0C3E-F44B-0F7F-FB447416E1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F94077-DC70-7860-D88D-2E012B863E5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C6C7627-08B3-EB64-5D9A-90C4A6AE722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210D99B-F0B4-C7DA-5A9B-D974AA8E4D9B}"/>
              </a:ext>
            </a:extLst>
          </p:cNvPr>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33398344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657350" y="3348021"/>
            <a:ext cx="6858000" cy="1231118"/>
          </a:xfrm>
        </p:spPr>
        <p:txBody>
          <a:bodyPr wrap="none" anchor="t">
            <a:normAutofit/>
          </a:bodyPr>
          <a:lstStyle>
            <a:lvl1pPr algn="r">
              <a:defRPr sz="7200" b="0" spc="-225">
                <a:gradFill flip="none" rotWithShape="1">
                  <a:gsLst>
                    <a:gs pos="32000">
                      <a:schemeClr val="tx1">
                        <a:lumMod val="89000"/>
                      </a:schemeClr>
                    </a:gs>
                    <a:gs pos="0">
                      <a:schemeClr val="bg1">
                        <a:lumMod val="41000"/>
                        <a:lumOff val="59000"/>
                      </a:schemeClr>
                    </a:gs>
                    <a:gs pos="100000">
                      <a:schemeClr val="tx2">
                        <a:lumMod val="0"/>
                        <a:lumOff val="100000"/>
                      </a:schemeClr>
                    </a:gs>
                  </a:gsLst>
                  <a:lin ang="8100000" scaled="1"/>
                  <a:tileRect/>
                </a:gradFill>
                <a:effectLst>
                  <a:outerShdw blurRad="469900" dist="342900" dir="5400000" sy="-20000" rotWithShape="0">
                    <a:prstClr val="black">
                      <a:alpha val="66000"/>
                    </a:prstClr>
                  </a:outerShdw>
                </a:effectLst>
                <a:latin typeface="+mj-lt"/>
              </a:defRPr>
            </a:lvl1pPr>
          </a:lstStyle>
          <a:p>
            <a:r>
              <a:rPr lang="en-US"/>
              <a:t>Click to edit Master title style</a:t>
            </a:r>
            <a:endParaRPr lang="en-US" dirty="0"/>
          </a:p>
        </p:txBody>
      </p:sp>
      <p:sp>
        <p:nvSpPr>
          <p:cNvPr id="3" name="Subtitle 2"/>
          <p:cNvSpPr>
            <a:spLocks noGrp="1"/>
          </p:cNvSpPr>
          <p:nvPr>
            <p:ph type="subTitle" idx="1"/>
          </p:nvPr>
        </p:nvSpPr>
        <p:spPr>
          <a:xfrm>
            <a:off x="1657349" y="2770782"/>
            <a:ext cx="6858000" cy="565519"/>
          </a:xfrm>
        </p:spPr>
        <p:txBody>
          <a:bodyPr anchor="b">
            <a:normAutofit/>
          </a:bodyPr>
          <a:lstStyle>
            <a:lvl1pPr marL="0" indent="0" algn="r">
              <a:buNone/>
              <a:defRPr sz="2400" b="0">
                <a:gradFill flip="none" rotWithShape="1">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tileRect/>
                </a:gradFill>
                <a:latin typeface="+mj-lt"/>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4AAD347D-5ACD-4C99-B74B-A9C85AD731AF}" type="datetimeFigureOut">
              <a:rPr lang="en-US" smtClean="0"/>
              <a:t>3/20/2026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02111984F565}" type="slidenum">
              <a:rPr lang="en-US" smtClean="0"/>
              <a:t>‹nº›</a:t>
            </a:fld>
            <a:endParaRPr lang="en-US" dirty="0"/>
          </a:p>
        </p:txBody>
      </p:sp>
    </p:spTree>
    <p:extLst>
      <p:ext uri="{BB962C8B-B14F-4D97-AF65-F5344CB8AC3E}">
        <p14:creationId xmlns:p14="http://schemas.microsoft.com/office/powerpoint/2010/main" val="1490279829"/>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8"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smtClean="0"/>
              <a:t>3/20/2026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‹nº›</a:t>
            </a:fld>
            <a:endParaRPr lang="en-US" dirty="0"/>
          </a:p>
        </p:txBody>
      </p:sp>
    </p:spTree>
    <p:extLst>
      <p:ext uri="{BB962C8B-B14F-4D97-AF65-F5344CB8AC3E}">
        <p14:creationId xmlns:p14="http://schemas.microsoft.com/office/powerpoint/2010/main" val="689774209"/>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Title 1"/>
          <p:cNvSpPr>
            <a:spLocks noGrp="1"/>
          </p:cNvSpPr>
          <p:nvPr>
            <p:ph type="ctrTitle"/>
          </p:nvPr>
        </p:nvSpPr>
        <p:spPr>
          <a:xfrm>
            <a:off x="640899" y="3348021"/>
            <a:ext cx="6858000" cy="1231118"/>
          </a:xfrm>
        </p:spPr>
        <p:txBody>
          <a:bodyPr wrap="none" anchor="t">
            <a:normAutofit/>
          </a:bodyPr>
          <a:lstStyle>
            <a:lvl1pPr algn="l">
              <a:defRPr sz="7200" b="0" spc="-225">
                <a:gradFill flip="none" rotWithShape="1">
                  <a:gsLst>
                    <a:gs pos="32000">
                      <a:schemeClr val="tx1">
                        <a:lumMod val="89000"/>
                      </a:schemeClr>
                    </a:gs>
                    <a:gs pos="0">
                      <a:schemeClr val="bg1">
                        <a:lumMod val="47000"/>
                        <a:lumOff val="53000"/>
                      </a:schemeClr>
                    </a:gs>
                    <a:gs pos="100000">
                      <a:schemeClr val="tx2">
                        <a:lumMod val="0"/>
                        <a:lumOff val="100000"/>
                      </a:schemeClr>
                    </a:gs>
                  </a:gsLst>
                  <a:lin ang="8100000" scaled="1"/>
                  <a:tileRect/>
                </a:gradFill>
                <a:effectLst>
                  <a:outerShdw blurRad="469900" dist="342900" dir="5400000" sy="-20000" rotWithShape="0">
                    <a:prstClr val="black">
                      <a:alpha val="66000"/>
                    </a:prstClr>
                  </a:outerShdw>
                </a:effectLst>
                <a:latin typeface="+mj-lt"/>
              </a:defRPr>
            </a:lvl1pPr>
          </a:lstStyle>
          <a:p>
            <a:r>
              <a:rPr lang="en-US"/>
              <a:t>Click to edit Master title style</a:t>
            </a:r>
            <a:endParaRPr lang="en-US" dirty="0"/>
          </a:p>
        </p:txBody>
      </p:sp>
      <p:sp>
        <p:nvSpPr>
          <p:cNvPr id="8" name="Subtitle 2"/>
          <p:cNvSpPr>
            <a:spLocks noGrp="1"/>
          </p:cNvSpPr>
          <p:nvPr>
            <p:ph type="subTitle" idx="1"/>
          </p:nvPr>
        </p:nvSpPr>
        <p:spPr>
          <a:xfrm>
            <a:off x="640899" y="2770256"/>
            <a:ext cx="6858000" cy="565519"/>
          </a:xfrm>
        </p:spPr>
        <p:txBody>
          <a:bodyPr anchor="b">
            <a:normAutofit/>
          </a:bodyPr>
          <a:lstStyle>
            <a:lvl1pPr marL="0" indent="0" algn="l">
              <a:buNone/>
              <a:defRPr sz="2400" b="0">
                <a:gradFill flip="none" rotWithShape="1">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tileRect/>
                </a:gradFill>
                <a:latin typeface="+mj-lt"/>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796027F-7875-4030-9381-8BD8C4F21935}" type="datetimeFigureOut">
              <a:rPr lang="en-US" smtClean="0"/>
              <a:t>3/20/2026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‹nº›</a:t>
            </a:fld>
            <a:endParaRPr lang="en-US" dirty="0"/>
          </a:p>
        </p:txBody>
      </p:sp>
    </p:spTree>
    <p:extLst>
      <p:ext uri="{BB962C8B-B14F-4D97-AF65-F5344CB8AC3E}">
        <p14:creationId xmlns:p14="http://schemas.microsoft.com/office/powerpoint/2010/main" val="1000002304"/>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40000" y="1369219"/>
            <a:ext cx="3768912"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739880" y="1369219"/>
            <a:ext cx="377547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796027F-7875-4030-9381-8BD8C4F21935}" type="datetimeFigureOut">
              <a:rPr lang="en-US" smtClean="0"/>
              <a:t>3/20/2026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‹nº›</a:t>
            </a:fld>
            <a:endParaRPr lang="en-US" dirty="0"/>
          </a:p>
        </p:txBody>
      </p:sp>
    </p:spTree>
    <p:extLst>
      <p:ext uri="{BB962C8B-B14F-4D97-AF65-F5344CB8AC3E}">
        <p14:creationId xmlns:p14="http://schemas.microsoft.com/office/powerpoint/2010/main" val="1272126491"/>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273844"/>
            <a:ext cx="7886700" cy="994172"/>
          </a:xfrm>
        </p:spPr>
        <p:txBody>
          <a:bodyPr/>
          <a:lstStyle/>
          <a:p>
            <a:r>
              <a:rPr lang="en-US"/>
              <a:t>Click to edit Master title style</a:t>
            </a:r>
            <a:endParaRPr lang="en-US" dirty="0"/>
          </a:p>
        </p:txBody>
      </p:sp>
      <p:sp>
        <p:nvSpPr>
          <p:cNvPr id="3" name="Text Placeholder 2"/>
          <p:cNvSpPr>
            <a:spLocks noGrp="1"/>
          </p:cNvSpPr>
          <p:nvPr>
            <p:ph type="body" idx="1"/>
          </p:nvPr>
        </p:nvSpPr>
        <p:spPr>
          <a:xfrm>
            <a:off x="840000" y="1260872"/>
            <a:ext cx="3768912" cy="617934"/>
          </a:xfrm>
        </p:spPr>
        <p:txBody>
          <a:bodyPr anchor="b"/>
          <a:lstStyle>
            <a:lvl1pPr marL="0" indent="0">
              <a:buNone/>
              <a:defRPr sz="18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840000" y="1878806"/>
            <a:ext cx="3768912"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739880" y="1260872"/>
            <a:ext cx="3776661" cy="617934"/>
          </a:xfrm>
        </p:spPr>
        <p:txBody>
          <a:bodyPr vert="horz" lIns="91440" tIns="45720" rIns="91440" bIns="45720" rtlCol="0" anchor="b">
            <a:normAutofit/>
          </a:bodyPr>
          <a:lstStyle>
            <a:lvl1pPr>
              <a:buNone/>
              <a:defRPr lang="en-US" sz="18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en-US"/>
              <a:t>Click to edit Master text styles</a:t>
            </a:r>
          </a:p>
        </p:txBody>
      </p:sp>
      <p:sp>
        <p:nvSpPr>
          <p:cNvPr id="6" name="Content Placeholder 5"/>
          <p:cNvSpPr>
            <a:spLocks noGrp="1"/>
          </p:cNvSpPr>
          <p:nvPr>
            <p:ph sz="quarter" idx="4"/>
          </p:nvPr>
        </p:nvSpPr>
        <p:spPr>
          <a:xfrm>
            <a:off x="4739880" y="1878806"/>
            <a:ext cx="3776661"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796027F-7875-4030-9381-8BD8C4F21935}" type="datetimeFigureOut">
              <a:rPr lang="en-US" smtClean="0"/>
              <a:t>3/20/2026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02111984F565}" type="slidenum">
              <a:rPr lang="en-US" smtClean="0"/>
              <a:t>‹nº›</a:t>
            </a:fld>
            <a:endParaRPr lang="en-US" dirty="0"/>
          </a:p>
        </p:txBody>
      </p:sp>
    </p:spTree>
    <p:extLst>
      <p:ext uri="{BB962C8B-B14F-4D97-AF65-F5344CB8AC3E}">
        <p14:creationId xmlns:p14="http://schemas.microsoft.com/office/powerpoint/2010/main" val="3350232500"/>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509A250-FF31-4206-8172-F9D3106AACB1}" type="datetimeFigureOut">
              <a:rPr lang="en-US" smtClean="0"/>
              <a:t>3/20/2026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02111984F565}" type="slidenum">
              <a:rPr lang="en-US" smtClean="0"/>
              <a:t>‹nº›</a:t>
            </a:fld>
            <a:endParaRPr lang="en-US" dirty="0"/>
          </a:p>
        </p:txBody>
      </p:sp>
    </p:spTree>
    <p:extLst>
      <p:ext uri="{BB962C8B-B14F-4D97-AF65-F5344CB8AC3E}">
        <p14:creationId xmlns:p14="http://schemas.microsoft.com/office/powerpoint/2010/main" val="273020505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509A250-FF31-4206-8172-F9D3106AACB1}" type="datetimeFigureOut">
              <a:rPr lang="en-US" smtClean="0"/>
              <a:t>3/20/2026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02111984F565}" type="slidenum">
              <a:rPr lang="en-US" smtClean="0"/>
              <a:t>‹nº›</a:t>
            </a:fld>
            <a:endParaRPr lang="en-US" dirty="0"/>
          </a:p>
        </p:txBody>
      </p:sp>
    </p:spTree>
    <p:extLst>
      <p:ext uri="{BB962C8B-B14F-4D97-AF65-F5344CB8AC3E}">
        <p14:creationId xmlns:p14="http://schemas.microsoft.com/office/powerpoint/2010/main" val="4110707079"/>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3887391" y="740569"/>
            <a:ext cx="4629150" cy="365521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40000" y="1543050"/>
            <a:ext cx="2739019" cy="2858691"/>
          </a:xfrm>
        </p:spPr>
        <p:txBody>
          <a:bodyPr/>
          <a:lstStyle>
            <a:lvl1pPr marL="0" indent="0">
              <a:buNone/>
              <a:defRPr sz="12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smtClean="0"/>
              <a:t>3/20/2026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‹nº›</a:t>
            </a:fld>
            <a:endParaRPr lang="en-US" dirty="0"/>
          </a:p>
        </p:txBody>
      </p:sp>
    </p:spTree>
    <p:extLst>
      <p:ext uri="{BB962C8B-B14F-4D97-AF65-F5344CB8AC3E}">
        <p14:creationId xmlns:p14="http://schemas.microsoft.com/office/powerpoint/2010/main" val="3564106014"/>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740569"/>
            <a:ext cx="4629150" cy="3655219"/>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840000" y="1543050"/>
            <a:ext cx="2739019" cy="2858691"/>
          </a:xfrm>
        </p:spPr>
        <p:txBody>
          <a:bodyPr/>
          <a:lstStyle>
            <a:lvl1pPr marL="0" indent="0">
              <a:buNone/>
              <a:defRPr sz="12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smtClean="0"/>
              <a:t>3/20/2026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‹nº›</a:t>
            </a:fld>
            <a:endParaRPr lang="en-US" dirty="0"/>
          </a:p>
        </p:txBody>
      </p:sp>
    </p:spTree>
    <p:extLst>
      <p:ext uri="{BB962C8B-B14F-4D97-AF65-F5344CB8AC3E}">
        <p14:creationId xmlns:p14="http://schemas.microsoft.com/office/powerpoint/2010/main" val="3348271288"/>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275370"/>
            <a:ext cx="7886700" cy="614516"/>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29841" y="740569"/>
            <a:ext cx="7886700" cy="253480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629841" y="3889887"/>
            <a:ext cx="7885509" cy="511854"/>
          </a:xfrm>
        </p:spPr>
        <p:txBody>
          <a:bodyPr/>
          <a:lstStyle>
            <a:lvl1pPr marL="0" indent="0">
              <a:buNone/>
              <a:defRPr sz="12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smtClean="0"/>
              <a:t>3/20/2026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‹nº›</a:t>
            </a:fld>
            <a:endParaRPr lang="en-US" dirty="0"/>
          </a:p>
        </p:txBody>
      </p:sp>
    </p:spTree>
    <p:extLst>
      <p:ext uri="{BB962C8B-B14F-4D97-AF65-F5344CB8AC3E}">
        <p14:creationId xmlns:p14="http://schemas.microsoft.com/office/powerpoint/2010/main" val="2014763516"/>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273844"/>
            <a:ext cx="7886700" cy="2650758"/>
          </a:xfrm>
        </p:spPr>
        <p:txBody>
          <a:bodyPr anchor="ctr"/>
          <a:lstStyle>
            <a:lvl1pPr>
              <a:defRPr sz="2400"/>
            </a:lvl1pPr>
          </a:lstStyle>
          <a:p>
            <a:r>
              <a:rPr lang="en-US"/>
              <a:t>Click to edit Master title style</a:t>
            </a:r>
            <a:endParaRPr lang="en-US" dirty="0"/>
          </a:p>
        </p:txBody>
      </p:sp>
      <p:sp>
        <p:nvSpPr>
          <p:cNvPr id="4" name="Text Placeholder 3"/>
          <p:cNvSpPr>
            <a:spLocks noGrp="1"/>
          </p:cNvSpPr>
          <p:nvPr>
            <p:ph type="body" sz="half" idx="2"/>
          </p:nvPr>
        </p:nvSpPr>
        <p:spPr>
          <a:xfrm>
            <a:off x="629841" y="3367049"/>
            <a:ext cx="7885509" cy="1126370"/>
          </a:xfrm>
        </p:spPr>
        <p:txBody>
          <a:bodyPr anchor="ct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smtClean="0"/>
              <a:t>3/20/2026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‹nº›</a:t>
            </a:fld>
            <a:endParaRPr lang="en-US" dirty="0"/>
          </a:p>
        </p:txBody>
      </p:sp>
    </p:spTree>
    <p:extLst>
      <p:ext uri="{BB962C8B-B14F-4D97-AF65-F5344CB8AC3E}">
        <p14:creationId xmlns:p14="http://schemas.microsoft.com/office/powerpoint/2010/main" val="3190648732"/>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84659" y="273844"/>
            <a:ext cx="6977064" cy="2244678"/>
          </a:xfrm>
        </p:spPr>
        <p:txBody>
          <a:bodyPr anchor="ctr"/>
          <a:lstStyle>
            <a:lvl1pPr>
              <a:defRPr sz="3300"/>
            </a:lvl1pPr>
          </a:lstStyle>
          <a:p>
            <a:r>
              <a:rPr lang="en-US"/>
              <a:t>Click to edit Master title style</a:t>
            </a:r>
            <a:endParaRPr lang="en-US" dirty="0"/>
          </a:p>
        </p:txBody>
      </p:sp>
      <p:sp>
        <p:nvSpPr>
          <p:cNvPr id="12" name="Text Placeholder 3"/>
          <p:cNvSpPr>
            <a:spLocks noGrp="1"/>
          </p:cNvSpPr>
          <p:nvPr>
            <p:ph type="body" sz="half" idx="13"/>
          </p:nvPr>
        </p:nvSpPr>
        <p:spPr>
          <a:xfrm>
            <a:off x="1290484" y="2524168"/>
            <a:ext cx="6564224" cy="411726"/>
          </a:xfrm>
        </p:spPr>
        <p:txBody>
          <a:bodyPr anchor="t">
            <a:normAutofit/>
          </a:bodyPr>
          <a:lstStyle>
            <a:lvl1pPr marL="0" indent="0">
              <a:buNone/>
              <a:defRPr sz="105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4" name="Text Placeholder 3"/>
          <p:cNvSpPr>
            <a:spLocks noGrp="1"/>
          </p:cNvSpPr>
          <p:nvPr>
            <p:ph type="body" sz="half" idx="2"/>
          </p:nvPr>
        </p:nvSpPr>
        <p:spPr>
          <a:xfrm>
            <a:off x="628650" y="3376297"/>
            <a:ext cx="7884318" cy="1117122"/>
          </a:xfrm>
        </p:spPr>
        <p:txBody>
          <a:bodyPr anchor="ctr">
            <a:normAutofit/>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4AAD347D-5ACD-4C99-B74B-A9C85AD731AF}" type="datetimeFigureOut">
              <a:rPr lang="en-US" smtClean="0"/>
              <a:t>3/20/2026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‹nº›</a:t>
            </a:fld>
            <a:endParaRPr lang="en-US" dirty="0"/>
          </a:p>
        </p:txBody>
      </p:sp>
      <p:sp>
        <p:nvSpPr>
          <p:cNvPr id="9" name="TextBox 8"/>
          <p:cNvSpPr txBox="1"/>
          <p:nvPr/>
        </p:nvSpPr>
        <p:spPr>
          <a:xfrm>
            <a:off x="833283" y="590118"/>
            <a:ext cx="457200" cy="438582"/>
          </a:xfrm>
          <a:prstGeom prst="rect">
            <a:avLst/>
          </a:prstGeom>
        </p:spPr>
        <p:txBody>
          <a:bodyPr vert="horz" lIns="68580" tIns="34290" rIns="68580" bIns="3429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6000" dirty="0">
                <a:solidFill>
                  <a:schemeClr val="tx1"/>
                </a:solidFill>
                <a:effectLst/>
              </a:rPr>
              <a:t>“</a:t>
            </a:r>
          </a:p>
        </p:txBody>
      </p:sp>
      <p:sp>
        <p:nvSpPr>
          <p:cNvPr id="10" name="TextBox 9"/>
          <p:cNvSpPr txBox="1"/>
          <p:nvPr/>
        </p:nvSpPr>
        <p:spPr>
          <a:xfrm>
            <a:off x="7828359" y="2057400"/>
            <a:ext cx="457200" cy="438582"/>
          </a:xfrm>
          <a:prstGeom prst="rect">
            <a:avLst/>
          </a:prstGeom>
        </p:spPr>
        <p:txBody>
          <a:bodyPr vert="horz" lIns="68580" tIns="34290" rIns="68580" bIns="3429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6000" dirty="0">
                <a:solidFill>
                  <a:schemeClr val="tx1"/>
                </a:solidFill>
                <a:effectLst/>
              </a:rPr>
              <a:t>”</a:t>
            </a:r>
          </a:p>
        </p:txBody>
      </p:sp>
    </p:spTree>
    <p:extLst>
      <p:ext uri="{BB962C8B-B14F-4D97-AF65-F5344CB8AC3E}">
        <p14:creationId xmlns:p14="http://schemas.microsoft.com/office/powerpoint/2010/main" val="292476660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29841" y="1745226"/>
            <a:ext cx="7886700" cy="1883876"/>
          </a:xfrm>
        </p:spPr>
        <p:txBody>
          <a:bodyPr anchor="b">
            <a:normAutofit/>
          </a:bodyPr>
          <a:lstStyle>
            <a:lvl1pPr>
              <a:defRPr sz="4050"/>
            </a:lvl1pPr>
          </a:lstStyle>
          <a:p>
            <a:r>
              <a:rPr lang="en-US"/>
              <a:t>Click to edit Master title style</a:t>
            </a:r>
            <a:endParaRPr lang="en-US" dirty="0"/>
          </a:p>
        </p:txBody>
      </p:sp>
      <p:sp>
        <p:nvSpPr>
          <p:cNvPr id="4" name="Text Placeholder 3"/>
          <p:cNvSpPr>
            <a:spLocks noGrp="1"/>
          </p:cNvSpPr>
          <p:nvPr>
            <p:ph type="body" sz="half" idx="2"/>
          </p:nvPr>
        </p:nvSpPr>
        <p:spPr>
          <a:xfrm>
            <a:off x="629841" y="3637936"/>
            <a:ext cx="7885509" cy="855483"/>
          </a:xfrm>
        </p:spPr>
        <p:txBody>
          <a:bodyPr anchor="t"/>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4AAD347D-5ACD-4C99-B74B-A9C85AD731AF}" type="datetimeFigureOut">
              <a:rPr lang="en-US" smtClean="0"/>
              <a:t>3/20/2026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‹nº›</a:t>
            </a:fld>
            <a:endParaRPr lang="en-US" dirty="0"/>
          </a:p>
        </p:txBody>
      </p:sp>
    </p:spTree>
    <p:extLst>
      <p:ext uri="{BB962C8B-B14F-4D97-AF65-F5344CB8AC3E}">
        <p14:creationId xmlns:p14="http://schemas.microsoft.com/office/powerpoint/2010/main" val="4120857124"/>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628650" y="273844"/>
            <a:ext cx="7886700" cy="994172"/>
          </a:xfrm>
        </p:spPr>
        <p:txBody>
          <a:bodyPr/>
          <a:lstStyle/>
          <a:p>
            <a:r>
              <a:rPr lang="en-US"/>
              <a:t>Click to edit Master title style</a:t>
            </a:r>
            <a:endParaRPr lang="en-US" dirty="0"/>
          </a:p>
        </p:txBody>
      </p:sp>
      <p:sp>
        <p:nvSpPr>
          <p:cNvPr id="7" name="Text Placeholder 2"/>
          <p:cNvSpPr>
            <a:spLocks noGrp="1"/>
          </p:cNvSpPr>
          <p:nvPr>
            <p:ph type="body" idx="1"/>
          </p:nvPr>
        </p:nvSpPr>
        <p:spPr>
          <a:xfrm>
            <a:off x="1002961" y="1414462"/>
            <a:ext cx="2210150" cy="432197"/>
          </a:xfrm>
        </p:spPr>
        <p:txBody>
          <a:bodyPr anchor="b">
            <a:noAutofit/>
          </a:bodyPr>
          <a:lstStyle>
            <a:lvl1pPr marL="0" indent="0">
              <a:buNone/>
              <a:defRPr sz="18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8" name="Text Placeholder 3"/>
          <p:cNvSpPr>
            <a:spLocks noGrp="1"/>
          </p:cNvSpPr>
          <p:nvPr>
            <p:ph type="body" sz="half" idx="15"/>
          </p:nvPr>
        </p:nvSpPr>
        <p:spPr>
          <a:xfrm>
            <a:off x="1017598" y="1928812"/>
            <a:ext cx="2195513" cy="2692004"/>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9" name="Text Placeholder 4"/>
          <p:cNvSpPr>
            <a:spLocks noGrp="1"/>
          </p:cNvSpPr>
          <p:nvPr>
            <p:ph type="body" sz="quarter" idx="3"/>
          </p:nvPr>
        </p:nvSpPr>
        <p:spPr>
          <a:xfrm>
            <a:off x="3440996" y="1414462"/>
            <a:ext cx="2202181" cy="432197"/>
          </a:xfrm>
        </p:spPr>
        <p:txBody>
          <a:bodyPr vert="horz" lIns="91440" tIns="45720" rIns="91440" bIns="45720" rtlCol="0" anchor="b">
            <a:noAutofit/>
          </a:bodyPr>
          <a:lstStyle>
            <a:lvl1pPr>
              <a:buNone/>
              <a:defRPr lang="en-US" sz="18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en-US"/>
              <a:t>Click to edit Master text styles</a:t>
            </a:r>
          </a:p>
        </p:txBody>
      </p:sp>
      <p:sp>
        <p:nvSpPr>
          <p:cNvPr id="10" name="Text Placeholder 3"/>
          <p:cNvSpPr>
            <a:spLocks noGrp="1"/>
          </p:cNvSpPr>
          <p:nvPr>
            <p:ph type="body" sz="half" idx="16"/>
          </p:nvPr>
        </p:nvSpPr>
        <p:spPr>
          <a:xfrm>
            <a:off x="3433081" y="1928812"/>
            <a:ext cx="2210096" cy="2692004"/>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11" name="Text Placeholder 4"/>
          <p:cNvSpPr>
            <a:spLocks noGrp="1"/>
          </p:cNvSpPr>
          <p:nvPr>
            <p:ph type="body" sz="quarter" idx="13"/>
          </p:nvPr>
        </p:nvSpPr>
        <p:spPr>
          <a:xfrm>
            <a:off x="5871777" y="1414462"/>
            <a:ext cx="2199085" cy="432197"/>
          </a:xfrm>
        </p:spPr>
        <p:txBody>
          <a:bodyPr vert="horz" lIns="91440" tIns="45720" rIns="91440" bIns="45720" rtlCol="0" anchor="b">
            <a:noAutofit/>
          </a:bodyPr>
          <a:lstStyle>
            <a:lvl1pPr>
              <a:buNone/>
              <a:defRPr lang="en-US" sz="1800" b="0" dirty="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en-US"/>
              <a:t>Click to edit Master text styles</a:t>
            </a:r>
          </a:p>
        </p:txBody>
      </p:sp>
      <p:sp>
        <p:nvSpPr>
          <p:cNvPr id="12" name="Text Placeholder 3"/>
          <p:cNvSpPr>
            <a:spLocks noGrp="1"/>
          </p:cNvSpPr>
          <p:nvPr>
            <p:ph type="body" sz="half" idx="17"/>
          </p:nvPr>
        </p:nvSpPr>
        <p:spPr>
          <a:xfrm>
            <a:off x="5871777" y="1928812"/>
            <a:ext cx="2199085" cy="2692004"/>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3" name="Date Placeholder 2"/>
          <p:cNvSpPr>
            <a:spLocks noGrp="1"/>
          </p:cNvSpPr>
          <p:nvPr>
            <p:ph type="dt" sz="half" idx="10"/>
          </p:nvPr>
        </p:nvSpPr>
        <p:spPr/>
        <p:txBody>
          <a:bodyPr/>
          <a:lstStyle/>
          <a:p>
            <a:fld id="{4509A250-FF31-4206-8172-F9D3106AACB1}" type="datetimeFigureOut">
              <a:rPr lang="en-US" smtClean="0"/>
              <a:t>3/20/2026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02111984F565}" type="slidenum">
              <a:rPr lang="en-US" smtClean="0"/>
              <a:t>‹nº›</a:t>
            </a:fld>
            <a:endParaRPr lang="en-US" dirty="0"/>
          </a:p>
        </p:txBody>
      </p:sp>
    </p:spTree>
    <p:extLst>
      <p:ext uri="{BB962C8B-B14F-4D97-AF65-F5344CB8AC3E}">
        <p14:creationId xmlns:p14="http://schemas.microsoft.com/office/powerpoint/2010/main" val="2492792762"/>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628650" y="273844"/>
            <a:ext cx="7886700" cy="994172"/>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99064" y="3223127"/>
            <a:ext cx="2205038" cy="432197"/>
          </a:xfrm>
        </p:spPr>
        <p:txBody>
          <a:bodyPr anchor="b">
            <a:noAutofit/>
          </a:bodyPr>
          <a:lstStyle>
            <a:lvl1pPr marL="0" indent="0">
              <a:buNone/>
              <a:defRPr sz="18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0" name="Picture Placeholder 2"/>
          <p:cNvSpPr>
            <a:spLocks noGrp="1" noChangeAspect="1"/>
          </p:cNvSpPr>
          <p:nvPr>
            <p:ph type="pic" idx="15"/>
          </p:nvPr>
        </p:nvSpPr>
        <p:spPr>
          <a:xfrm>
            <a:off x="999064" y="1692266"/>
            <a:ext cx="2205038" cy="1143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21" name="Text Placeholder 3"/>
          <p:cNvSpPr>
            <a:spLocks noGrp="1"/>
          </p:cNvSpPr>
          <p:nvPr>
            <p:ph type="body" sz="half" idx="18"/>
          </p:nvPr>
        </p:nvSpPr>
        <p:spPr>
          <a:xfrm>
            <a:off x="999064" y="3655324"/>
            <a:ext cx="2205038" cy="494392"/>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22" name="Text Placeholder 4"/>
          <p:cNvSpPr>
            <a:spLocks noGrp="1"/>
          </p:cNvSpPr>
          <p:nvPr>
            <p:ph type="body" sz="quarter" idx="3"/>
          </p:nvPr>
        </p:nvSpPr>
        <p:spPr>
          <a:xfrm>
            <a:off x="3426748" y="3223127"/>
            <a:ext cx="2197894" cy="432197"/>
          </a:xfrm>
        </p:spPr>
        <p:txBody>
          <a:bodyPr anchor="b">
            <a:noAutofit/>
          </a:bodyPr>
          <a:lstStyle>
            <a:lvl1pPr marL="0" indent="0">
              <a:buNone/>
              <a:defRPr sz="18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3" name="Picture Placeholder 2"/>
          <p:cNvSpPr>
            <a:spLocks noGrp="1" noChangeAspect="1"/>
          </p:cNvSpPr>
          <p:nvPr>
            <p:ph type="pic" idx="21"/>
          </p:nvPr>
        </p:nvSpPr>
        <p:spPr>
          <a:xfrm>
            <a:off x="3426747" y="1692266"/>
            <a:ext cx="2197894" cy="1143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24" name="Text Placeholder 3"/>
          <p:cNvSpPr>
            <a:spLocks noGrp="1"/>
          </p:cNvSpPr>
          <p:nvPr>
            <p:ph type="body" sz="half" idx="19"/>
          </p:nvPr>
        </p:nvSpPr>
        <p:spPr>
          <a:xfrm>
            <a:off x="3425733" y="3655323"/>
            <a:ext cx="2200805" cy="494392"/>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25" name="Text Placeholder 4"/>
          <p:cNvSpPr>
            <a:spLocks noGrp="1"/>
          </p:cNvSpPr>
          <p:nvPr>
            <p:ph type="body" sz="quarter" idx="13"/>
          </p:nvPr>
        </p:nvSpPr>
        <p:spPr>
          <a:xfrm>
            <a:off x="5853242" y="3223127"/>
            <a:ext cx="2199085" cy="432197"/>
          </a:xfrm>
        </p:spPr>
        <p:txBody>
          <a:bodyPr anchor="b">
            <a:noAutofit/>
          </a:bodyPr>
          <a:lstStyle>
            <a:lvl1pPr marL="0" indent="0">
              <a:buNone/>
              <a:defRPr sz="18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6" name="Picture Placeholder 2"/>
          <p:cNvSpPr>
            <a:spLocks noGrp="1" noChangeAspect="1"/>
          </p:cNvSpPr>
          <p:nvPr>
            <p:ph type="pic" idx="22"/>
          </p:nvPr>
        </p:nvSpPr>
        <p:spPr>
          <a:xfrm>
            <a:off x="5853241" y="1692266"/>
            <a:ext cx="2199085" cy="1143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27" name="Text Placeholder 3"/>
          <p:cNvSpPr>
            <a:spLocks noGrp="1"/>
          </p:cNvSpPr>
          <p:nvPr>
            <p:ph type="body" sz="half" idx="20"/>
          </p:nvPr>
        </p:nvSpPr>
        <p:spPr>
          <a:xfrm>
            <a:off x="5853148" y="3655322"/>
            <a:ext cx="2201998" cy="494392"/>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3" name="Date Placeholder 2"/>
          <p:cNvSpPr>
            <a:spLocks noGrp="1"/>
          </p:cNvSpPr>
          <p:nvPr>
            <p:ph type="dt" sz="half" idx="10"/>
          </p:nvPr>
        </p:nvSpPr>
        <p:spPr/>
        <p:txBody>
          <a:bodyPr/>
          <a:lstStyle/>
          <a:p>
            <a:fld id="{4509A250-FF31-4206-8172-F9D3106AACB1}" type="datetimeFigureOut">
              <a:rPr lang="en-US" smtClean="0"/>
              <a:t>3/20/2026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02111984F565}" type="slidenum">
              <a:rPr lang="en-US" smtClean="0"/>
              <a:t>‹nº›</a:t>
            </a:fld>
            <a:endParaRPr lang="en-US" dirty="0"/>
          </a:p>
        </p:txBody>
      </p:sp>
    </p:spTree>
    <p:extLst>
      <p:ext uri="{BB962C8B-B14F-4D97-AF65-F5344CB8AC3E}">
        <p14:creationId xmlns:p14="http://schemas.microsoft.com/office/powerpoint/2010/main" val="481940211"/>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smtClean="0"/>
              <a:t>3/20/2026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‹nº›</a:t>
            </a:fld>
            <a:endParaRPr lang="en-US" dirty="0"/>
          </a:p>
        </p:txBody>
      </p:sp>
    </p:spTree>
    <p:extLst>
      <p:ext uri="{BB962C8B-B14F-4D97-AF65-F5344CB8AC3E}">
        <p14:creationId xmlns:p14="http://schemas.microsoft.com/office/powerpoint/2010/main" val="1005574217"/>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3844"/>
            <a:ext cx="1971675" cy="4358879"/>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273844"/>
            <a:ext cx="5800725" cy="43588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smtClean="0"/>
              <a:t>3/20/2026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‹nº›</a:t>
            </a:fld>
            <a:endParaRPr lang="en-US" dirty="0"/>
          </a:p>
        </p:txBody>
      </p:sp>
    </p:spTree>
    <p:extLst>
      <p:ext uri="{BB962C8B-B14F-4D97-AF65-F5344CB8AC3E}">
        <p14:creationId xmlns:p14="http://schemas.microsoft.com/office/powerpoint/2010/main" val="415472819"/>
      </p:ext>
    </p:extLst>
  </p:cSld>
  <p:clrMapOvr>
    <a:masterClrMapping/>
  </p:clrMapOvr>
  <p:hf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2425083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Droplets-H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2" name="Title 1"/>
          <p:cNvSpPr>
            <a:spLocks noGrp="1"/>
          </p:cNvSpPr>
          <p:nvPr>
            <p:ph type="ctrTitle"/>
          </p:nvPr>
        </p:nvSpPr>
        <p:spPr>
          <a:xfrm>
            <a:off x="1313259" y="975589"/>
            <a:ext cx="6517482" cy="1881910"/>
          </a:xfrm>
        </p:spPr>
        <p:txBody>
          <a:bodyPr anchor="b">
            <a:normAutofit/>
          </a:bodyPr>
          <a:lstStyle>
            <a:lvl1pPr algn="ctr">
              <a:defRPr sz="3600"/>
            </a:lvl1pPr>
          </a:lstStyle>
          <a:p>
            <a:r>
              <a:rPr lang="en-US"/>
              <a:t>Click to edit Master title style</a:t>
            </a:r>
            <a:endParaRPr lang="en-US" dirty="0"/>
          </a:p>
        </p:txBody>
      </p:sp>
      <p:sp>
        <p:nvSpPr>
          <p:cNvPr id="3" name="Subtitle 2"/>
          <p:cNvSpPr>
            <a:spLocks noGrp="1"/>
          </p:cNvSpPr>
          <p:nvPr>
            <p:ph type="subTitle" idx="1"/>
          </p:nvPr>
        </p:nvSpPr>
        <p:spPr>
          <a:xfrm>
            <a:off x="1313259" y="2914651"/>
            <a:ext cx="6517482" cy="1028699"/>
          </a:xfrm>
        </p:spPr>
        <p:txBody>
          <a:bodyPr>
            <a:normAutofit/>
          </a:bodyPr>
          <a:lstStyle>
            <a:lvl1pPr marL="0" indent="0" algn="ctr">
              <a:buNone/>
              <a:defRPr sz="1650">
                <a:solidFill>
                  <a:schemeClr val="bg1">
                    <a:lumMod val="50000"/>
                  </a:schemeClr>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AAD347D-5ACD-4C99-B74B-A9C85AD731AF}" type="datetimeFigureOut">
              <a:rPr lang="en-US" smtClean="0"/>
              <a:t>3/20/2026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‹nº›</a:t>
            </a:fld>
            <a:endParaRPr lang="en-US" dirty="0"/>
          </a:p>
        </p:txBody>
      </p:sp>
    </p:spTree>
    <p:extLst>
      <p:ext uri="{BB962C8B-B14F-4D97-AF65-F5344CB8AC3E}">
        <p14:creationId xmlns:p14="http://schemas.microsoft.com/office/powerpoint/2010/main" val="1839203006"/>
      </p:ext>
    </p:extLst>
  </p:cSld>
  <p:clrMapOvr>
    <a:masterClrMapping/>
  </p:clrMapOvr>
  <p:hf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685330" y="1775320"/>
            <a:ext cx="7772870" cy="25680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AAD347D-5ACD-4C99-B74B-A9C85AD731AF}" type="datetimeFigureOut">
              <a:rPr lang="en-US" smtClean="0"/>
              <a:t>3/20/2026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‹nº›</a:t>
            </a:fld>
            <a:endParaRPr lang="en-US" dirty="0"/>
          </a:p>
        </p:txBody>
      </p:sp>
    </p:spTree>
    <p:extLst>
      <p:ext uri="{BB962C8B-B14F-4D97-AF65-F5344CB8AC3E}">
        <p14:creationId xmlns:p14="http://schemas.microsoft.com/office/powerpoint/2010/main" val="760113442"/>
      </p:ext>
    </p:extLst>
  </p:cSld>
  <p:clrMapOvr>
    <a:masterClrMapping/>
  </p:clrMapOvr>
  <p:hf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2" name="Title 1"/>
          <p:cNvSpPr>
            <a:spLocks noGrp="1"/>
          </p:cNvSpPr>
          <p:nvPr>
            <p:ph type="title"/>
          </p:nvPr>
        </p:nvSpPr>
        <p:spPr>
          <a:xfrm>
            <a:off x="685331" y="621423"/>
            <a:ext cx="7763814" cy="2052614"/>
          </a:xfrm>
        </p:spPr>
        <p:txBody>
          <a:bodyPr anchor="b">
            <a:normAutofit/>
          </a:bodyPr>
          <a:lstStyle>
            <a:lvl1pPr>
              <a:defRPr sz="3000"/>
            </a:lvl1pPr>
          </a:lstStyle>
          <a:p>
            <a:r>
              <a:rPr lang="en-US"/>
              <a:t>Click to edit Master title style</a:t>
            </a:r>
            <a:endParaRPr lang="en-US" dirty="0"/>
          </a:p>
        </p:txBody>
      </p:sp>
      <p:sp>
        <p:nvSpPr>
          <p:cNvPr id="3" name="Text Placeholder 2"/>
          <p:cNvSpPr>
            <a:spLocks noGrp="1"/>
          </p:cNvSpPr>
          <p:nvPr>
            <p:ph type="body" idx="1"/>
          </p:nvPr>
        </p:nvSpPr>
        <p:spPr>
          <a:xfrm>
            <a:off x="685331" y="2743093"/>
            <a:ext cx="7763814" cy="1026137"/>
          </a:xfrm>
        </p:spPr>
        <p:txBody>
          <a:bodyPr>
            <a:normAutofit/>
          </a:bodyPr>
          <a:lstStyle>
            <a:lvl1pPr marL="0" indent="0" algn="ctr">
              <a:buNone/>
              <a:defRPr sz="1500">
                <a:solidFill>
                  <a:schemeClr val="bg1">
                    <a:lumMod val="50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796027F-7875-4030-9381-8BD8C4F21935}" type="datetimeFigureOut">
              <a:rPr lang="en-US" smtClean="0"/>
              <a:t>3/20/2026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‹nº›</a:t>
            </a:fld>
            <a:endParaRPr lang="en-US" dirty="0"/>
          </a:p>
        </p:txBody>
      </p:sp>
    </p:spTree>
    <p:extLst>
      <p:ext uri="{BB962C8B-B14F-4D97-AF65-F5344CB8AC3E}">
        <p14:creationId xmlns:p14="http://schemas.microsoft.com/office/powerpoint/2010/main" val="294652945"/>
      </p:ext>
    </p:extLst>
  </p:cSld>
  <p:clrMapOvr>
    <a:masterClrMapping/>
  </p:clrMapOvr>
  <p:hf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14" name="Title 1"/>
          <p:cNvSpPr>
            <a:spLocks noGrp="1"/>
          </p:cNvSpPr>
          <p:nvPr>
            <p:ph type="title"/>
          </p:nvPr>
        </p:nvSpPr>
        <p:spPr>
          <a:xfrm>
            <a:off x="685332" y="463888"/>
            <a:ext cx="7773338" cy="1197133"/>
          </a:xfrm>
        </p:spPr>
        <p:txBody>
          <a:bodyPr/>
          <a:lstStyle/>
          <a:p>
            <a:r>
              <a:rPr lang="en-US"/>
              <a:t>Click to edit Master title style</a:t>
            </a:r>
            <a:endParaRPr lang="en-US" dirty="0"/>
          </a:p>
        </p:txBody>
      </p:sp>
      <p:sp>
        <p:nvSpPr>
          <p:cNvPr id="12" name="Content Placeholder 2"/>
          <p:cNvSpPr>
            <a:spLocks noGrp="1"/>
          </p:cNvSpPr>
          <p:nvPr>
            <p:ph sz="quarter" idx="13"/>
          </p:nvPr>
        </p:nvSpPr>
        <p:spPr>
          <a:xfrm>
            <a:off x="685330" y="1775320"/>
            <a:ext cx="3829520" cy="25680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3"/>
          <p:cNvSpPr>
            <a:spLocks noGrp="1"/>
          </p:cNvSpPr>
          <p:nvPr>
            <p:ph sz="quarter" idx="14"/>
          </p:nvPr>
        </p:nvSpPr>
        <p:spPr>
          <a:xfrm>
            <a:off x="4629150" y="1775320"/>
            <a:ext cx="3829050" cy="25680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AAD347D-5ACD-4C99-B74B-A9C85AD731AF}" type="datetimeFigureOut">
              <a:rPr lang="en-US" smtClean="0"/>
              <a:t>3/20/2026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‹nº›</a:t>
            </a:fld>
            <a:endParaRPr lang="en-US" dirty="0"/>
          </a:p>
        </p:txBody>
      </p:sp>
    </p:spTree>
    <p:extLst>
      <p:ext uri="{BB962C8B-B14F-4D97-AF65-F5344CB8AC3E}">
        <p14:creationId xmlns:p14="http://schemas.microsoft.com/office/powerpoint/2010/main" val="1699694362"/>
      </p:ext>
    </p:extLst>
  </p:cSld>
  <p:clrMapOvr>
    <a:masterClrMapping/>
  </p:clrMapOvr>
  <p:hf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5" name="Picture 14"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14" name="Title 1"/>
          <p:cNvSpPr>
            <a:spLocks noGrp="1"/>
          </p:cNvSpPr>
          <p:nvPr>
            <p:ph type="title"/>
          </p:nvPr>
        </p:nvSpPr>
        <p:spPr>
          <a:xfrm>
            <a:off x="685332" y="463888"/>
            <a:ext cx="7773338" cy="119713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59746" y="1778263"/>
            <a:ext cx="3655106" cy="509996"/>
          </a:xfrm>
        </p:spPr>
        <p:txBody>
          <a:bodyPr anchor="b">
            <a:noAutofit/>
          </a:bodyPr>
          <a:lstStyle>
            <a:lvl1pPr marL="0" indent="0">
              <a:lnSpc>
                <a:spcPct val="85000"/>
              </a:lnSpc>
              <a:buNone/>
              <a:defRPr sz="1950" b="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2" name="Content Placeholder 3"/>
          <p:cNvSpPr>
            <a:spLocks noGrp="1"/>
          </p:cNvSpPr>
          <p:nvPr>
            <p:ph sz="quarter" idx="13"/>
          </p:nvPr>
        </p:nvSpPr>
        <p:spPr>
          <a:xfrm>
            <a:off x="685331" y="2288260"/>
            <a:ext cx="3829520" cy="20551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797317" y="1778263"/>
            <a:ext cx="3661353" cy="509996"/>
          </a:xfrm>
        </p:spPr>
        <p:txBody>
          <a:bodyPr anchor="b">
            <a:noAutofit/>
          </a:bodyPr>
          <a:lstStyle>
            <a:lvl1pPr marL="0" indent="0">
              <a:lnSpc>
                <a:spcPct val="85000"/>
              </a:lnSpc>
              <a:buNone/>
              <a:defRPr sz="1950" b="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3" name="Content Placeholder 5"/>
          <p:cNvSpPr>
            <a:spLocks noGrp="1"/>
          </p:cNvSpPr>
          <p:nvPr>
            <p:ph sz="quarter" idx="14"/>
          </p:nvPr>
        </p:nvSpPr>
        <p:spPr>
          <a:xfrm>
            <a:off x="4629150" y="2288260"/>
            <a:ext cx="3829051" cy="20551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AAD347D-5ACD-4C99-B74B-A9C85AD731AF}" type="datetimeFigureOut">
              <a:rPr lang="en-US" smtClean="0"/>
              <a:t>3/20/2026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02111984F565}" type="slidenum">
              <a:rPr lang="en-US" smtClean="0"/>
              <a:t>‹nº›</a:t>
            </a:fld>
            <a:endParaRPr lang="en-US" dirty="0"/>
          </a:p>
        </p:txBody>
      </p:sp>
    </p:spTree>
    <p:extLst>
      <p:ext uri="{BB962C8B-B14F-4D97-AF65-F5344CB8AC3E}">
        <p14:creationId xmlns:p14="http://schemas.microsoft.com/office/powerpoint/2010/main" val="3036937495"/>
      </p:ext>
    </p:extLst>
  </p:cSld>
  <p:clrMapOvr>
    <a:masterClrMapping/>
  </p:clrMapOvr>
  <p:hf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509A250-FF31-4206-8172-F9D3106AACB1}" type="datetimeFigureOut">
              <a:rPr lang="en-US" smtClean="0"/>
              <a:t>3/20/2026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02111984F565}" type="slidenum">
              <a:rPr lang="en-US" smtClean="0"/>
              <a:t>‹nº›</a:t>
            </a:fld>
            <a:endParaRPr lang="en-US" dirty="0"/>
          </a:p>
        </p:txBody>
      </p:sp>
    </p:spTree>
    <p:extLst>
      <p:ext uri="{BB962C8B-B14F-4D97-AF65-F5344CB8AC3E}">
        <p14:creationId xmlns:p14="http://schemas.microsoft.com/office/powerpoint/2010/main" val="854484401"/>
      </p:ext>
    </p:extLst>
  </p:cSld>
  <p:clrMapOvr>
    <a:masterClrMapping/>
  </p:clrMapOvr>
  <p:hf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7" name="Picture 6"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2" name="Date Placeholder 1"/>
          <p:cNvSpPr>
            <a:spLocks noGrp="1"/>
          </p:cNvSpPr>
          <p:nvPr>
            <p:ph type="dt" sz="half" idx="10"/>
          </p:nvPr>
        </p:nvSpPr>
        <p:spPr/>
        <p:txBody>
          <a:bodyPr/>
          <a:lstStyle/>
          <a:p>
            <a:fld id="{4509A250-FF31-4206-8172-F9D3106AACB1}" type="datetimeFigureOut">
              <a:rPr lang="en-US" smtClean="0"/>
              <a:t>3/20/2026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02111984F565}" type="slidenum">
              <a:rPr lang="en-US" smtClean="0"/>
              <a:t>‹nº›</a:t>
            </a:fld>
            <a:endParaRPr lang="en-US" dirty="0"/>
          </a:p>
        </p:txBody>
      </p:sp>
    </p:spTree>
    <p:extLst>
      <p:ext uri="{BB962C8B-B14F-4D97-AF65-F5344CB8AC3E}">
        <p14:creationId xmlns:p14="http://schemas.microsoft.com/office/powerpoint/2010/main" val="1507790090"/>
      </p:ext>
    </p:extLst>
  </p:cSld>
  <p:clrMapOvr>
    <a:masterClrMapping/>
  </p:clrMapOvr>
  <p:hf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2" name="Title 1"/>
          <p:cNvSpPr>
            <a:spLocks noGrp="1"/>
          </p:cNvSpPr>
          <p:nvPr>
            <p:ph type="title"/>
          </p:nvPr>
        </p:nvSpPr>
        <p:spPr>
          <a:xfrm>
            <a:off x="685331" y="457200"/>
            <a:ext cx="2951766" cy="1517439"/>
          </a:xfrm>
        </p:spPr>
        <p:txBody>
          <a:bodyPr anchor="b"/>
          <a:lstStyle>
            <a:lvl1pPr algn="ctr">
              <a:defRPr sz="2400"/>
            </a:lvl1pPr>
          </a:lstStyle>
          <a:p>
            <a:r>
              <a:rPr lang="en-US"/>
              <a:t>Click to edit Master title style</a:t>
            </a:r>
            <a:endParaRPr lang="en-US" dirty="0"/>
          </a:p>
        </p:txBody>
      </p:sp>
      <p:sp>
        <p:nvSpPr>
          <p:cNvPr id="10" name="Content Placeholder 2"/>
          <p:cNvSpPr>
            <a:spLocks noGrp="1"/>
          </p:cNvSpPr>
          <p:nvPr>
            <p:ph sz="quarter" idx="13"/>
          </p:nvPr>
        </p:nvSpPr>
        <p:spPr>
          <a:xfrm>
            <a:off x="3808547" y="457201"/>
            <a:ext cx="4650122" cy="38861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331" y="1974639"/>
            <a:ext cx="2951767" cy="2368761"/>
          </a:xfrm>
        </p:spPr>
        <p:txBody>
          <a:bodyPr/>
          <a:lstStyle>
            <a:lvl1pPr marL="0" indent="0" algn="ctr">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4AAD347D-5ACD-4C99-B74B-A9C85AD731AF}" type="datetimeFigureOut">
              <a:rPr lang="en-US" smtClean="0"/>
              <a:t>3/20/2026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‹nº›</a:t>
            </a:fld>
            <a:endParaRPr lang="en-US" dirty="0"/>
          </a:p>
        </p:txBody>
      </p:sp>
    </p:spTree>
    <p:extLst>
      <p:ext uri="{BB962C8B-B14F-4D97-AF65-F5344CB8AC3E}">
        <p14:creationId xmlns:p14="http://schemas.microsoft.com/office/powerpoint/2010/main" val="110464754"/>
      </p:ext>
    </p:extLst>
  </p:cSld>
  <p:clrMapOvr>
    <a:masterClrMapping/>
  </p:clrMapOvr>
  <p:hf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2" name="Title 1"/>
          <p:cNvSpPr>
            <a:spLocks noGrp="1"/>
          </p:cNvSpPr>
          <p:nvPr>
            <p:ph type="title"/>
          </p:nvPr>
        </p:nvSpPr>
        <p:spPr>
          <a:xfrm>
            <a:off x="685331" y="457200"/>
            <a:ext cx="4451227" cy="1517441"/>
          </a:xfrm>
        </p:spPr>
        <p:txBody>
          <a:bodyPr anchor="b"/>
          <a:lstStyle>
            <a:lvl1pPr algn="ct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568602" y="457201"/>
            <a:ext cx="2441519" cy="3886200"/>
          </a:xfrm>
          <a:prstGeom prst="roundRect">
            <a:avLst>
              <a:gd name="adj" fmla="val 494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685346" y="1974639"/>
            <a:ext cx="4451212" cy="2368760"/>
          </a:xfrm>
        </p:spPr>
        <p:txBody>
          <a:bodyPr/>
          <a:lstStyle>
            <a:lvl1pPr marL="0" indent="0" algn="ctr">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smtClean="0"/>
              <a:t>3/20/2026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‹nº›</a:t>
            </a:fld>
            <a:endParaRPr lang="en-US" dirty="0"/>
          </a:p>
        </p:txBody>
      </p:sp>
    </p:spTree>
    <p:extLst>
      <p:ext uri="{BB962C8B-B14F-4D97-AF65-F5344CB8AC3E}">
        <p14:creationId xmlns:p14="http://schemas.microsoft.com/office/powerpoint/2010/main" val="3355906301"/>
      </p:ext>
    </p:extLst>
  </p:cSld>
  <p:clrMapOvr>
    <a:masterClrMapping/>
  </p:clrMapOvr>
  <p:hf hdr="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2" name="Title 1"/>
          <p:cNvSpPr>
            <a:spLocks noGrp="1"/>
          </p:cNvSpPr>
          <p:nvPr>
            <p:ph type="title"/>
          </p:nvPr>
        </p:nvSpPr>
        <p:spPr>
          <a:xfrm>
            <a:off x="685346" y="3217030"/>
            <a:ext cx="7773324" cy="608708"/>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88558" y="523696"/>
            <a:ext cx="7366899" cy="2410602"/>
          </a:xfrm>
          <a:prstGeom prst="roundRect">
            <a:avLst>
              <a:gd name="adj" fmla="val 4944"/>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685331" y="3831546"/>
            <a:ext cx="7773339" cy="511854"/>
          </a:xfrm>
        </p:spPr>
        <p:txBody>
          <a:bodyPr/>
          <a:lstStyle>
            <a:lvl1pPr marL="0" indent="0" algn="ctr">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smtClean="0"/>
              <a:t>3/20/2026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‹nº›</a:t>
            </a:fld>
            <a:endParaRPr lang="en-US" dirty="0"/>
          </a:p>
        </p:txBody>
      </p:sp>
    </p:spTree>
    <p:extLst>
      <p:ext uri="{BB962C8B-B14F-4D97-AF65-F5344CB8AC3E}">
        <p14:creationId xmlns:p14="http://schemas.microsoft.com/office/powerpoint/2010/main" val="2978210890"/>
      </p:ext>
    </p:extLst>
  </p:cSld>
  <p:clrMapOvr>
    <a:masterClrMapping/>
  </p:clrMapOvr>
  <p:hf hdr="0" ftr="0" dt="0"/>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2" name="Title 1"/>
          <p:cNvSpPr>
            <a:spLocks noGrp="1"/>
          </p:cNvSpPr>
          <p:nvPr>
            <p:ph type="title"/>
          </p:nvPr>
        </p:nvSpPr>
        <p:spPr>
          <a:xfrm>
            <a:off x="685331" y="457200"/>
            <a:ext cx="7773339" cy="2570434"/>
          </a:xfrm>
        </p:spPr>
        <p:txBody>
          <a:bodyPr anchor="ctr"/>
          <a:lstStyle>
            <a:lvl1pPr algn="ctr">
              <a:defRPr sz="2400"/>
            </a:lvl1pPr>
          </a:lstStyle>
          <a:p>
            <a:r>
              <a:rPr lang="en-US"/>
              <a:t>Click to edit Master title style</a:t>
            </a:r>
            <a:endParaRPr lang="en-US" dirty="0"/>
          </a:p>
        </p:txBody>
      </p:sp>
      <p:sp>
        <p:nvSpPr>
          <p:cNvPr id="4" name="Text Placeholder 3"/>
          <p:cNvSpPr>
            <a:spLocks noGrp="1"/>
          </p:cNvSpPr>
          <p:nvPr>
            <p:ph type="body" sz="half" idx="2"/>
          </p:nvPr>
        </p:nvSpPr>
        <p:spPr>
          <a:xfrm>
            <a:off x="685331" y="3153616"/>
            <a:ext cx="7773339" cy="1189785"/>
          </a:xfrm>
        </p:spPr>
        <p:txBody>
          <a:bodyPr anchor="ctr"/>
          <a:lstStyle>
            <a:lvl1pPr marL="0" indent="0" algn="ctr">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smtClean="0"/>
              <a:t>3/20/2026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‹nº›</a:t>
            </a:fld>
            <a:endParaRPr lang="en-US" dirty="0"/>
          </a:p>
        </p:txBody>
      </p:sp>
    </p:spTree>
    <p:extLst>
      <p:ext uri="{BB962C8B-B14F-4D97-AF65-F5344CB8AC3E}">
        <p14:creationId xmlns:p14="http://schemas.microsoft.com/office/powerpoint/2010/main" val="2982293182"/>
      </p:ext>
    </p:extLst>
  </p:cSld>
  <p:clrMapOvr>
    <a:masterClrMapping/>
  </p:clrMapOvr>
  <p:hf hdr="0" ftr="0" dt="0"/>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2" name="Title 1"/>
          <p:cNvSpPr>
            <a:spLocks noGrp="1"/>
          </p:cNvSpPr>
          <p:nvPr>
            <p:ph type="title"/>
          </p:nvPr>
        </p:nvSpPr>
        <p:spPr>
          <a:xfrm>
            <a:off x="1084659" y="457200"/>
            <a:ext cx="6977064" cy="2244678"/>
          </a:xfrm>
        </p:spPr>
        <p:txBody>
          <a:bodyPr anchor="ctr"/>
          <a:lstStyle>
            <a:lvl1pPr>
              <a:defRPr sz="2400"/>
            </a:lvl1pPr>
          </a:lstStyle>
          <a:p>
            <a:r>
              <a:rPr lang="en-US"/>
              <a:t>Click to edit Master title style</a:t>
            </a:r>
            <a:endParaRPr lang="en-US" dirty="0"/>
          </a:p>
        </p:txBody>
      </p:sp>
      <p:sp>
        <p:nvSpPr>
          <p:cNvPr id="12" name="Text Placeholder 3"/>
          <p:cNvSpPr>
            <a:spLocks noGrp="1"/>
          </p:cNvSpPr>
          <p:nvPr>
            <p:ph type="body" sz="half" idx="13"/>
          </p:nvPr>
        </p:nvSpPr>
        <p:spPr>
          <a:xfrm>
            <a:off x="1290484" y="2707524"/>
            <a:ext cx="6564224" cy="446091"/>
          </a:xfrm>
        </p:spPr>
        <p:txBody>
          <a:bodyPr anchor="t">
            <a:normAutofit/>
          </a:bodyPr>
          <a:lstStyle>
            <a:lvl1pPr marL="0" indent="0">
              <a:buNone/>
              <a:defRPr sz="105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4" name="Text Placeholder 3"/>
          <p:cNvSpPr>
            <a:spLocks noGrp="1"/>
          </p:cNvSpPr>
          <p:nvPr>
            <p:ph type="body" sz="half" idx="2"/>
          </p:nvPr>
        </p:nvSpPr>
        <p:spPr>
          <a:xfrm>
            <a:off x="685331" y="3279597"/>
            <a:ext cx="7773339" cy="1065790"/>
          </a:xfrm>
        </p:spPr>
        <p:txBody>
          <a:bodyPr anchor="ctr">
            <a:normAutofit/>
          </a:bodyPr>
          <a:lstStyle>
            <a:lvl1pPr marL="0" indent="0" algn="ctr">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4AAD347D-5ACD-4C99-B74B-A9C85AD731AF}" type="datetimeFigureOut">
              <a:rPr lang="en-US" smtClean="0"/>
              <a:t>3/20/2026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‹nº›</a:t>
            </a:fld>
            <a:endParaRPr lang="en-US" dirty="0"/>
          </a:p>
        </p:txBody>
      </p:sp>
      <p:sp>
        <p:nvSpPr>
          <p:cNvPr id="13" name="TextBox 12"/>
          <p:cNvSpPr txBox="1"/>
          <p:nvPr/>
        </p:nvSpPr>
        <p:spPr>
          <a:xfrm>
            <a:off x="751116" y="565625"/>
            <a:ext cx="457200" cy="438582"/>
          </a:xfrm>
          <a:prstGeom prst="rect">
            <a:avLst/>
          </a:prstGeom>
        </p:spPr>
        <p:txBody>
          <a:bodyPr vert="horz" lIns="68580" tIns="34290" rIns="68580" bIns="3429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6000" dirty="0">
                <a:solidFill>
                  <a:schemeClr val="tx1"/>
                </a:solidFill>
                <a:effectLst/>
              </a:rPr>
              <a:t>“</a:t>
            </a:r>
          </a:p>
        </p:txBody>
      </p:sp>
      <p:sp>
        <p:nvSpPr>
          <p:cNvPr id="14" name="TextBox 13"/>
          <p:cNvSpPr txBox="1"/>
          <p:nvPr/>
        </p:nvSpPr>
        <p:spPr>
          <a:xfrm>
            <a:off x="7918169" y="2245184"/>
            <a:ext cx="457200" cy="438582"/>
          </a:xfrm>
          <a:prstGeom prst="rect">
            <a:avLst/>
          </a:prstGeom>
        </p:spPr>
        <p:txBody>
          <a:bodyPr vert="horz" lIns="68580" tIns="34290" rIns="68580" bIns="3429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6000" dirty="0">
                <a:solidFill>
                  <a:schemeClr val="tx1"/>
                </a:solidFill>
                <a:effectLst/>
              </a:rPr>
              <a:t>”</a:t>
            </a:r>
          </a:p>
        </p:txBody>
      </p:sp>
    </p:spTree>
    <p:extLst>
      <p:ext uri="{BB962C8B-B14F-4D97-AF65-F5344CB8AC3E}">
        <p14:creationId xmlns:p14="http://schemas.microsoft.com/office/powerpoint/2010/main" val="1883424276"/>
      </p:ext>
    </p:extLst>
  </p:cSld>
  <p:clrMapOvr>
    <a:masterClrMapping/>
  </p:clrMapOvr>
  <p:hf hdr="0" ftr="0" dt="0"/>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2" name="Title 1"/>
          <p:cNvSpPr>
            <a:spLocks noGrp="1"/>
          </p:cNvSpPr>
          <p:nvPr>
            <p:ph type="title"/>
          </p:nvPr>
        </p:nvSpPr>
        <p:spPr>
          <a:xfrm>
            <a:off x="685331" y="1604041"/>
            <a:ext cx="7773339" cy="1883876"/>
          </a:xfrm>
        </p:spPr>
        <p:txBody>
          <a:bodyPr anchor="b"/>
          <a:lstStyle>
            <a:lvl1pPr algn="ctr">
              <a:defRPr sz="2400"/>
            </a:lvl1pPr>
          </a:lstStyle>
          <a:p>
            <a:r>
              <a:rPr lang="en-US"/>
              <a:t>Click to edit Master title style</a:t>
            </a:r>
            <a:endParaRPr lang="en-US" dirty="0"/>
          </a:p>
        </p:txBody>
      </p:sp>
      <p:sp>
        <p:nvSpPr>
          <p:cNvPr id="4" name="Text Placeholder 3"/>
          <p:cNvSpPr>
            <a:spLocks noGrp="1"/>
          </p:cNvSpPr>
          <p:nvPr>
            <p:ph type="body" sz="half" idx="2"/>
          </p:nvPr>
        </p:nvSpPr>
        <p:spPr>
          <a:xfrm>
            <a:off x="685331" y="3496751"/>
            <a:ext cx="7773339" cy="855483"/>
          </a:xfrm>
        </p:spPr>
        <p:txBody>
          <a:bodyPr anchor="t"/>
          <a:lstStyle>
            <a:lvl1pPr marL="0" indent="0" algn="ctr">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4AAD347D-5ACD-4C99-B74B-A9C85AD731AF}" type="datetimeFigureOut">
              <a:rPr lang="en-US" smtClean="0"/>
              <a:t>3/20/2026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‹nº›</a:t>
            </a:fld>
            <a:endParaRPr lang="en-US" dirty="0"/>
          </a:p>
        </p:txBody>
      </p:sp>
    </p:spTree>
    <p:extLst>
      <p:ext uri="{BB962C8B-B14F-4D97-AF65-F5344CB8AC3E}">
        <p14:creationId xmlns:p14="http://schemas.microsoft.com/office/powerpoint/2010/main" val="3754657086"/>
      </p:ext>
    </p:extLst>
  </p:cSld>
  <p:clrMapOvr>
    <a:masterClrMapping/>
  </p:clrMapOvr>
  <p:hf hdr="0" ftr="0" dt="0"/>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15" name="Title 1"/>
          <p:cNvSpPr>
            <a:spLocks noGrp="1"/>
          </p:cNvSpPr>
          <p:nvPr>
            <p:ph type="title"/>
          </p:nvPr>
        </p:nvSpPr>
        <p:spPr>
          <a:xfrm>
            <a:off x="685331" y="457200"/>
            <a:ext cx="7773339" cy="1203821"/>
          </a:xfrm>
        </p:spPr>
        <p:txBody>
          <a:bodyPr/>
          <a:lstStyle/>
          <a:p>
            <a:r>
              <a:rPr lang="en-US"/>
              <a:t>Click to edit Master title style</a:t>
            </a:r>
            <a:endParaRPr lang="en-US" dirty="0"/>
          </a:p>
        </p:txBody>
      </p:sp>
      <p:sp>
        <p:nvSpPr>
          <p:cNvPr id="7" name="Text Placeholder 2"/>
          <p:cNvSpPr>
            <a:spLocks noGrp="1"/>
          </p:cNvSpPr>
          <p:nvPr>
            <p:ph type="body" idx="1"/>
          </p:nvPr>
        </p:nvSpPr>
        <p:spPr>
          <a:xfrm>
            <a:off x="685331" y="1775320"/>
            <a:ext cx="2474232" cy="432197"/>
          </a:xfrm>
        </p:spPr>
        <p:txBody>
          <a:bodyPr anchor="b">
            <a:noAutofit/>
          </a:bodyPr>
          <a:lstStyle>
            <a:lvl1pPr marL="0" indent="0" algn="ctr">
              <a:lnSpc>
                <a:spcPct val="85000"/>
              </a:lnSpc>
              <a:buNone/>
              <a:defRPr sz="1800" b="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8" name="Text Placeholder 3"/>
          <p:cNvSpPr>
            <a:spLocks noGrp="1"/>
          </p:cNvSpPr>
          <p:nvPr>
            <p:ph type="body" sz="half" idx="15"/>
          </p:nvPr>
        </p:nvSpPr>
        <p:spPr>
          <a:xfrm>
            <a:off x="685331" y="2207517"/>
            <a:ext cx="2474232" cy="2135884"/>
          </a:xfrm>
        </p:spPr>
        <p:txBody>
          <a:bodyPr anchor="t">
            <a:normAutofit/>
          </a:bodyPr>
          <a:lstStyle>
            <a:lvl1pPr marL="0" indent="0" algn="ctr">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9" name="Text Placeholder 4"/>
          <p:cNvSpPr>
            <a:spLocks noGrp="1"/>
          </p:cNvSpPr>
          <p:nvPr>
            <p:ph type="body" sz="quarter" idx="3"/>
          </p:nvPr>
        </p:nvSpPr>
        <p:spPr>
          <a:xfrm>
            <a:off x="3339292" y="1775320"/>
            <a:ext cx="2468641" cy="432197"/>
          </a:xfrm>
        </p:spPr>
        <p:txBody>
          <a:bodyPr anchor="b">
            <a:noAutofit/>
          </a:bodyPr>
          <a:lstStyle>
            <a:lvl1pPr marL="0" indent="0" algn="ctr">
              <a:lnSpc>
                <a:spcPct val="85000"/>
              </a:lnSpc>
              <a:buNone/>
              <a:defRPr sz="1800" b="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0" name="Text Placeholder 3"/>
          <p:cNvSpPr>
            <a:spLocks noGrp="1"/>
          </p:cNvSpPr>
          <p:nvPr>
            <p:ph type="body" sz="half" idx="16"/>
          </p:nvPr>
        </p:nvSpPr>
        <p:spPr>
          <a:xfrm>
            <a:off x="3331012" y="2207517"/>
            <a:ext cx="2477513" cy="2135884"/>
          </a:xfrm>
        </p:spPr>
        <p:txBody>
          <a:bodyPr anchor="t">
            <a:normAutofit/>
          </a:bodyPr>
          <a:lstStyle>
            <a:lvl1pPr marL="0" indent="0" algn="ctr">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11" name="Text Placeholder 4"/>
          <p:cNvSpPr>
            <a:spLocks noGrp="1"/>
          </p:cNvSpPr>
          <p:nvPr>
            <p:ph type="body" sz="quarter" idx="13"/>
          </p:nvPr>
        </p:nvSpPr>
        <p:spPr>
          <a:xfrm>
            <a:off x="5979974" y="1775320"/>
            <a:ext cx="2478696" cy="432197"/>
          </a:xfrm>
        </p:spPr>
        <p:txBody>
          <a:bodyPr anchor="b">
            <a:noAutofit/>
          </a:bodyPr>
          <a:lstStyle>
            <a:lvl1pPr marL="0" indent="0" algn="ctr">
              <a:lnSpc>
                <a:spcPct val="85000"/>
              </a:lnSpc>
              <a:buNone/>
              <a:defRPr sz="1800" b="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2" name="Text Placeholder 3"/>
          <p:cNvSpPr>
            <a:spLocks noGrp="1"/>
          </p:cNvSpPr>
          <p:nvPr>
            <p:ph type="body" sz="half" idx="17"/>
          </p:nvPr>
        </p:nvSpPr>
        <p:spPr>
          <a:xfrm>
            <a:off x="5979974" y="2207517"/>
            <a:ext cx="2478696" cy="2135884"/>
          </a:xfrm>
        </p:spPr>
        <p:txBody>
          <a:bodyPr anchor="t">
            <a:normAutofit/>
          </a:bodyPr>
          <a:lstStyle>
            <a:lvl1pPr marL="0" indent="0" algn="ctr">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3" name="Date Placeholder 2"/>
          <p:cNvSpPr>
            <a:spLocks noGrp="1"/>
          </p:cNvSpPr>
          <p:nvPr>
            <p:ph type="dt" sz="half" idx="10"/>
          </p:nvPr>
        </p:nvSpPr>
        <p:spPr/>
        <p:txBody>
          <a:bodyPr/>
          <a:lstStyle/>
          <a:p>
            <a:fld id="{4509A250-FF31-4206-8172-F9D3106AACB1}" type="datetimeFigureOut">
              <a:rPr lang="en-US" smtClean="0"/>
              <a:t>3/20/2026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02111984F565}" type="slidenum">
              <a:rPr lang="en-US" smtClean="0"/>
              <a:t>‹nº›</a:t>
            </a:fld>
            <a:endParaRPr lang="en-US" dirty="0"/>
          </a:p>
        </p:txBody>
      </p:sp>
    </p:spTree>
    <p:extLst>
      <p:ext uri="{BB962C8B-B14F-4D97-AF65-F5344CB8AC3E}">
        <p14:creationId xmlns:p14="http://schemas.microsoft.com/office/powerpoint/2010/main" val="3244322476"/>
      </p:ext>
    </p:extLst>
  </p:cSld>
  <p:clrMapOvr>
    <a:masterClrMapping/>
  </p:clrMapOvr>
  <p:hf hdr="0" ftr="0" dt="0"/>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6" name="Picture 15"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30" name="Title 1"/>
          <p:cNvSpPr>
            <a:spLocks noGrp="1"/>
          </p:cNvSpPr>
          <p:nvPr>
            <p:ph type="title"/>
          </p:nvPr>
        </p:nvSpPr>
        <p:spPr>
          <a:xfrm>
            <a:off x="685331" y="458079"/>
            <a:ext cx="7773339" cy="1202942"/>
          </a:xfrm>
        </p:spPr>
        <p:txBody>
          <a:bodyPr/>
          <a:lstStyle/>
          <a:p>
            <a:r>
              <a:rPr lang="en-US"/>
              <a:t>Click to edit Master title style</a:t>
            </a:r>
            <a:endParaRPr lang="en-US" dirty="0"/>
          </a:p>
        </p:txBody>
      </p:sp>
      <p:sp>
        <p:nvSpPr>
          <p:cNvPr id="19" name="Text Placeholder 2"/>
          <p:cNvSpPr>
            <a:spLocks noGrp="1"/>
          </p:cNvSpPr>
          <p:nvPr>
            <p:ph type="body" idx="1"/>
          </p:nvPr>
        </p:nvSpPr>
        <p:spPr>
          <a:xfrm>
            <a:off x="685331" y="3153615"/>
            <a:ext cx="2472307" cy="432197"/>
          </a:xfrm>
        </p:spPr>
        <p:txBody>
          <a:bodyPr anchor="b">
            <a:noAutofit/>
          </a:bodyPr>
          <a:lstStyle>
            <a:lvl1pPr marL="0" indent="0" algn="ctr">
              <a:lnSpc>
                <a:spcPct val="85000"/>
              </a:lnSpc>
              <a:buNone/>
              <a:defRPr sz="1650" b="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0" name="Picture Placeholder 2"/>
          <p:cNvSpPr>
            <a:spLocks noGrp="1" noChangeAspect="1"/>
          </p:cNvSpPr>
          <p:nvPr>
            <p:ph type="pic" idx="15"/>
          </p:nvPr>
        </p:nvSpPr>
        <p:spPr>
          <a:xfrm>
            <a:off x="685331" y="1775320"/>
            <a:ext cx="2472307" cy="1143000"/>
          </a:xfrm>
          <a:prstGeom prst="roundRect">
            <a:avLst>
              <a:gd name="adj" fmla="val 936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21" name="Text Placeholder 3"/>
          <p:cNvSpPr>
            <a:spLocks noGrp="1"/>
          </p:cNvSpPr>
          <p:nvPr>
            <p:ph type="body" sz="half" idx="18"/>
          </p:nvPr>
        </p:nvSpPr>
        <p:spPr>
          <a:xfrm>
            <a:off x="685331" y="3585811"/>
            <a:ext cx="2472307" cy="757589"/>
          </a:xfrm>
        </p:spPr>
        <p:txBody>
          <a:bodyPr anchor="t">
            <a:normAutofit/>
          </a:bodyPr>
          <a:lstStyle>
            <a:lvl1pPr marL="0" indent="0" algn="ctr">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22" name="Text Placeholder 4"/>
          <p:cNvSpPr>
            <a:spLocks noGrp="1"/>
          </p:cNvSpPr>
          <p:nvPr>
            <p:ph type="body" sz="quarter" idx="3"/>
          </p:nvPr>
        </p:nvSpPr>
        <p:spPr>
          <a:xfrm>
            <a:off x="3332069" y="3153615"/>
            <a:ext cx="2476371" cy="432197"/>
          </a:xfrm>
        </p:spPr>
        <p:txBody>
          <a:bodyPr anchor="b">
            <a:noAutofit/>
          </a:bodyPr>
          <a:lstStyle>
            <a:lvl1pPr marL="0" indent="0" algn="ctr">
              <a:lnSpc>
                <a:spcPct val="85000"/>
              </a:lnSpc>
              <a:buNone/>
              <a:defRPr sz="1650" b="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3" name="Picture Placeholder 2"/>
          <p:cNvSpPr>
            <a:spLocks noGrp="1" noChangeAspect="1"/>
          </p:cNvSpPr>
          <p:nvPr>
            <p:ph type="pic" idx="21"/>
          </p:nvPr>
        </p:nvSpPr>
        <p:spPr>
          <a:xfrm>
            <a:off x="3331011" y="1775320"/>
            <a:ext cx="2477514" cy="1143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24" name="Text Placeholder 3"/>
          <p:cNvSpPr>
            <a:spLocks noGrp="1"/>
          </p:cNvSpPr>
          <p:nvPr>
            <p:ph type="body" sz="half" idx="19"/>
          </p:nvPr>
        </p:nvSpPr>
        <p:spPr>
          <a:xfrm>
            <a:off x="3331011" y="3585811"/>
            <a:ext cx="2477514" cy="757589"/>
          </a:xfrm>
        </p:spPr>
        <p:txBody>
          <a:bodyPr anchor="t">
            <a:normAutofit/>
          </a:bodyPr>
          <a:lstStyle>
            <a:lvl1pPr marL="0" indent="0" algn="ctr">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25" name="Text Placeholder 4"/>
          <p:cNvSpPr>
            <a:spLocks noGrp="1"/>
          </p:cNvSpPr>
          <p:nvPr>
            <p:ph type="body" sz="quarter" idx="13"/>
          </p:nvPr>
        </p:nvSpPr>
        <p:spPr>
          <a:xfrm>
            <a:off x="5979974" y="3153615"/>
            <a:ext cx="2475511" cy="432197"/>
          </a:xfrm>
        </p:spPr>
        <p:txBody>
          <a:bodyPr anchor="b">
            <a:noAutofit/>
          </a:bodyPr>
          <a:lstStyle>
            <a:lvl1pPr marL="0" indent="0" algn="ctr">
              <a:lnSpc>
                <a:spcPct val="85000"/>
              </a:lnSpc>
              <a:buNone/>
              <a:defRPr sz="1650" b="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6" name="Picture Placeholder 2"/>
          <p:cNvSpPr>
            <a:spLocks noGrp="1" noChangeAspect="1"/>
          </p:cNvSpPr>
          <p:nvPr>
            <p:ph type="pic" idx="22"/>
          </p:nvPr>
        </p:nvSpPr>
        <p:spPr>
          <a:xfrm>
            <a:off x="5979974" y="1775320"/>
            <a:ext cx="2478696" cy="1143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27" name="Text Placeholder 3"/>
          <p:cNvSpPr>
            <a:spLocks noGrp="1"/>
          </p:cNvSpPr>
          <p:nvPr>
            <p:ph type="body" sz="half" idx="20"/>
          </p:nvPr>
        </p:nvSpPr>
        <p:spPr>
          <a:xfrm>
            <a:off x="5979880" y="3585809"/>
            <a:ext cx="2478790" cy="757591"/>
          </a:xfrm>
        </p:spPr>
        <p:txBody>
          <a:bodyPr anchor="t">
            <a:normAutofit/>
          </a:bodyPr>
          <a:lstStyle>
            <a:lvl1pPr marL="0" indent="0" algn="ctr">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3" name="Date Placeholder 2"/>
          <p:cNvSpPr>
            <a:spLocks noGrp="1"/>
          </p:cNvSpPr>
          <p:nvPr>
            <p:ph type="dt" sz="half" idx="10"/>
          </p:nvPr>
        </p:nvSpPr>
        <p:spPr/>
        <p:txBody>
          <a:bodyPr/>
          <a:lstStyle/>
          <a:p>
            <a:fld id="{4509A250-FF31-4206-8172-F9D3106AACB1}" type="datetimeFigureOut">
              <a:rPr lang="en-US" smtClean="0"/>
              <a:t>3/20/2026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02111984F565}" type="slidenum">
              <a:rPr lang="en-US" smtClean="0"/>
              <a:t>‹nº›</a:t>
            </a:fld>
            <a:endParaRPr lang="en-US" dirty="0"/>
          </a:p>
        </p:txBody>
      </p:sp>
    </p:spTree>
    <p:extLst>
      <p:ext uri="{BB962C8B-B14F-4D97-AF65-F5344CB8AC3E}">
        <p14:creationId xmlns:p14="http://schemas.microsoft.com/office/powerpoint/2010/main" val="534475446"/>
      </p:ext>
    </p:extLst>
  </p:cSld>
  <p:clrMapOvr>
    <a:masterClrMapping/>
  </p:clrMapOvr>
  <p:hf hdr="0" ftr="0" dt="0"/>
</p:sldLayout>
</file>

<file path=ppt/slideLayouts/slideLayout3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1" name="Vertical Text Placeholder 2"/>
          <p:cNvSpPr>
            <a:spLocks noGrp="1"/>
          </p:cNvSpPr>
          <p:nvPr>
            <p:ph type="body" orient="vert" sz="quarter" idx="13"/>
          </p:nvPr>
        </p:nvSpPr>
        <p:spPr>
          <a:xfrm>
            <a:off x="685331" y="1775320"/>
            <a:ext cx="7773339" cy="256808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AAD347D-5ACD-4C99-B74B-A9C85AD731AF}" type="datetimeFigureOut">
              <a:rPr lang="en-US" smtClean="0"/>
              <a:t>3/20/2026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‹nº›</a:t>
            </a:fld>
            <a:endParaRPr lang="en-US" dirty="0"/>
          </a:p>
        </p:txBody>
      </p:sp>
    </p:spTree>
    <p:extLst>
      <p:ext uri="{BB962C8B-B14F-4D97-AF65-F5344CB8AC3E}">
        <p14:creationId xmlns:p14="http://schemas.microsoft.com/office/powerpoint/2010/main" val="785221913"/>
      </p:ext>
    </p:extLst>
  </p:cSld>
  <p:clrMapOvr>
    <a:masterClrMapping/>
  </p:clrMapOvr>
  <p:hf hdr="0" ftr="0" dt="0"/>
</p:sldLayout>
</file>

<file path=ppt/slideLayouts/slideLayout3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2" name="Vertical Title 1"/>
          <p:cNvSpPr>
            <a:spLocks noGrp="1"/>
          </p:cNvSpPr>
          <p:nvPr>
            <p:ph type="title" orient="vert"/>
          </p:nvPr>
        </p:nvSpPr>
        <p:spPr>
          <a:xfrm>
            <a:off x="6543675" y="457201"/>
            <a:ext cx="1914995" cy="3886199"/>
          </a:xfrm>
        </p:spPr>
        <p:txBody>
          <a:bodyPr vert="eaVert"/>
          <a:lstStyle>
            <a:lvl1pPr algn="l">
              <a:defRPr/>
            </a:lvl1pPr>
          </a:lstStyle>
          <a:p>
            <a:r>
              <a:rPr lang="en-US"/>
              <a:t>Click to edit Master title style</a:t>
            </a:r>
            <a:endParaRPr lang="en-US" dirty="0"/>
          </a:p>
        </p:txBody>
      </p:sp>
      <p:sp>
        <p:nvSpPr>
          <p:cNvPr id="8" name="Vertical Text Placeholder 2"/>
          <p:cNvSpPr>
            <a:spLocks noGrp="1"/>
          </p:cNvSpPr>
          <p:nvPr>
            <p:ph type="body" orient="vert" sz="quarter" idx="13"/>
          </p:nvPr>
        </p:nvSpPr>
        <p:spPr>
          <a:xfrm>
            <a:off x="685331" y="457201"/>
            <a:ext cx="5744043" cy="388619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AAD347D-5ACD-4C99-B74B-A9C85AD731AF}" type="datetimeFigureOut">
              <a:rPr lang="en-US" smtClean="0"/>
              <a:t>3/20/2026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‹nº›</a:t>
            </a:fld>
            <a:endParaRPr lang="en-US" dirty="0"/>
          </a:p>
        </p:txBody>
      </p:sp>
    </p:spTree>
    <p:extLst>
      <p:ext uri="{BB962C8B-B14F-4D97-AF65-F5344CB8AC3E}">
        <p14:creationId xmlns:p14="http://schemas.microsoft.com/office/powerpoint/2010/main" val="382307999"/>
      </p:ext>
    </p:extLst>
  </p:cSld>
  <p:clrMapOvr>
    <a:masterClrMapping/>
  </p:clrMapOvr>
  <p:hf hdr="0" ftr="0" dt="0"/>
</p:sldLayout>
</file>

<file path=ppt/slideLayouts/slideLayout36.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985825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6.xml"/><Relationship Id="rId13" Type="http://schemas.openxmlformats.org/officeDocument/2006/relationships/slideLayout" Target="../slideLayouts/slideLayout31.xml"/><Relationship Id="rId18" Type="http://schemas.openxmlformats.org/officeDocument/2006/relationships/slideLayout" Target="../slideLayouts/slideLayout36.xml"/><Relationship Id="rId3" Type="http://schemas.openxmlformats.org/officeDocument/2006/relationships/slideLayout" Target="../slideLayouts/slideLayout21.xml"/><Relationship Id="rId7" Type="http://schemas.openxmlformats.org/officeDocument/2006/relationships/slideLayout" Target="../slideLayouts/slideLayout25.xml"/><Relationship Id="rId12" Type="http://schemas.openxmlformats.org/officeDocument/2006/relationships/slideLayout" Target="../slideLayouts/slideLayout30.xml"/><Relationship Id="rId17" Type="http://schemas.openxmlformats.org/officeDocument/2006/relationships/slideLayout" Target="../slideLayouts/slideLayout35.xml"/><Relationship Id="rId2" Type="http://schemas.openxmlformats.org/officeDocument/2006/relationships/slideLayout" Target="../slideLayouts/slideLayout20.xml"/><Relationship Id="rId16" Type="http://schemas.openxmlformats.org/officeDocument/2006/relationships/slideLayout" Target="../slideLayouts/slideLayout34.xml"/><Relationship Id="rId20" Type="http://schemas.openxmlformats.org/officeDocument/2006/relationships/image" Target="../media/image2.png"/><Relationship Id="rId1" Type="http://schemas.openxmlformats.org/officeDocument/2006/relationships/slideLayout" Target="../slideLayouts/slideLayout19.xml"/><Relationship Id="rId6" Type="http://schemas.openxmlformats.org/officeDocument/2006/relationships/slideLayout" Target="../slideLayouts/slideLayout24.xml"/><Relationship Id="rId11" Type="http://schemas.openxmlformats.org/officeDocument/2006/relationships/slideLayout" Target="../slideLayouts/slideLayout29.xml"/><Relationship Id="rId5" Type="http://schemas.openxmlformats.org/officeDocument/2006/relationships/slideLayout" Target="../slideLayouts/slideLayout23.xml"/><Relationship Id="rId15" Type="http://schemas.openxmlformats.org/officeDocument/2006/relationships/slideLayout" Target="../slideLayouts/slideLayout33.xml"/><Relationship Id="rId10" Type="http://schemas.openxmlformats.org/officeDocument/2006/relationships/slideLayout" Target="../slideLayouts/slideLayout28.xml"/><Relationship Id="rId19" Type="http://schemas.openxmlformats.org/officeDocument/2006/relationships/theme" Target="../theme/theme2.xml"/><Relationship Id="rId4" Type="http://schemas.openxmlformats.org/officeDocument/2006/relationships/slideLayout" Target="../slideLayouts/slideLayout22.xml"/><Relationship Id="rId9" Type="http://schemas.openxmlformats.org/officeDocument/2006/relationships/slideLayout" Target="../slideLayouts/slideLayout27.xml"/><Relationship Id="rId14" Type="http://schemas.openxmlformats.org/officeDocument/2006/relationships/slideLayout" Target="../slideLayouts/slideLayout3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20">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40000" y="1369219"/>
            <a:ext cx="767535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fld id="{4AAD347D-5ACD-4C99-B74B-A9C85AD731AF}" type="datetimeFigureOut">
              <a:rPr lang="en-US" smtClean="0"/>
              <a:t>3/20/2026</a:t>
            </a:fld>
            <a:endParaRPr lang="en-US" dirty="0"/>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endParaRPr lang="en-US" dirty="0"/>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fld id="{D57F1E4F-1CFF-5643-939E-02111984F565}" type="slidenum">
              <a:rPr lang="en-US" smtClean="0"/>
              <a:t>‹nº›</a:t>
            </a:fld>
            <a:endParaRPr lang="en-US" dirty="0"/>
          </a:p>
        </p:txBody>
      </p:sp>
    </p:spTree>
    <p:extLst>
      <p:ext uri="{BB962C8B-B14F-4D97-AF65-F5344CB8AC3E}">
        <p14:creationId xmlns:p14="http://schemas.microsoft.com/office/powerpoint/2010/main" val="842644415"/>
      </p:ext>
    </p:extLst>
  </p:cSld>
  <p:clrMap bg1="dk1" tx1="lt1" bg2="dk2" tx2="lt2" accent1="accent1" accent2="accent2" accent3="accent3" accent4="accent4" accent5="accent5" accent6="accent6" hlink="hlink" folHlink="folHlink"/>
  <p:sldLayoutIdLst>
    <p:sldLayoutId id="2147483822" r:id="rId1"/>
    <p:sldLayoutId id="2147483823" r:id="rId2"/>
    <p:sldLayoutId id="2147483824" r:id="rId3"/>
    <p:sldLayoutId id="2147483825" r:id="rId4"/>
    <p:sldLayoutId id="2147483826" r:id="rId5"/>
    <p:sldLayoutId id="2147483827" r:id="rId6"/>
    <p:sldLayoutId id="2147483828" r:id="rId7"/>
    <p:sldLayoutId id="2147483829" r:id="rId8"/>
    <p:sldLayoutId id="2147483830" r:id="rId9"/>
    <p:sldLayoutId id="2147483831" r:id="rId10"/>
    <p:sldLayoutId id="2147483832" r:id="rId11"/>
    <p:sldLayoutId id="2147483833" r:id="rId12"/>
    <p:sldLayoutId id="2147483834" r:id="rId13"/>
    <p:sldLayoutId id="2147483835" r:id="rId14"/>
    <p:sldLayoutId id="2147483836" r:id="rId15"/>
    <p:sldLayoutId id="2147483837" r:id="rId16"/>
    <p:sldLayoutId id="2147483838" r:id="rId17"/>
    <p:sldLayoutId id="2147483839" r:id="rId18"/>
  </p:sldLayoutIdLst>
  <p:hf hdr="0" ftr="0" dt="0"/>
  <p:txStyles>
    <p:titleStyle>
      <a:lvl1pPr algn="l" defTabSz="685800" rtl="0" eaLnBrk="1" latinLnBrk="0" hangingPunct="1">
        <a:lnSpc>
          <a:spcPct val="90000"/>
        </a:lnSpc>
        <a:spcBef>
          <a:spcPct val="0"/>
        </a:spcBef>
        <a:buNone/>
        <a:defRPr sz="4050" b="0" kern="1200">
          <a:gradFill flip="none" rotWithShape="1">
            <a:gsLst>
              <a:gs pos="28000">
                <a:schemeClr val="tx1">
                  <a:lumMod val="93000"/>
                </a:schemeClr>
              </a:gs>
              <a:gs pos="0">
                <a:schemeClr val="bg1">
                  <a:lumMod val="25000"/>
                  <a:lumOff val="75000"/>
                </a:schemeClr>
              </a:gs>
              <a:gs pos="100000">
                <a:schemeClr val="tx2">
                  <a:lumMod val="0"/>
                  <a:lumOff val="100000"/>
                </a:schemeClr>
              </a:gs>
            </a:gsLst>
            <a:lin ang="4800000" scaled="0"/>
            <a:tileRect/>
          </a:gra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20">
            <a:alphaModFix/>
            <a:extLst>
              <a:ext uri="{28A0092B-C50C-407E-A947-70E740481C1C}">
                <a14:useLocalDpi xmlns:a14="http://schemas.microsoft.com/office/drawing/2010/main" val="0"/>
              </a:ext>
            </a:extLst>
          </a:blip>
          <a:srcRect/>
          <a:stretch>
            <a:fillRect/>
          </a:stretch>
        </p:blipFill>
        <p:spPr bwMode="auto">
          <a:xfrm>
            <a:off x="1" y="-1"/>
            <a:ext cx="9144002" cy="51435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685332" y="463888"/>
            <a:ext cx="7773338" cy="119713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331" y="1775320"/>
            <a:ext cx="7773339" cy="256808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759053" y="4412457"/>
            <a:ext cx="2057400" cy="273844"/>
          </a:xfrm>
          <a:prstGeom prst="rect">
            <a:avLst/>
          </a:prstGeom>
        </p:spPr>
        <p:txBody>
          <a:bodyPr vert="horz" lIns="91440" tIns="45720" rIns="91440" bIns="45720" rtlCol="0" anchor="ctr"/>
          <a:lstStyle>
            <a:lvl1pPr algn="r">
              <a:defRPr sz="750">
                <a:solidFill>
                  <a:schemeClr val="tx1"/>
                </a:solidFill>
              </a:defRPr>
            </a:lvl1pPr>
          </a:lstStyle>
          <a:p>
            <a:fld id="{4AAD347D-5ACD-4C99-B74B-A9C85AD731AF}" type="datetimeFigureOut">
              <a:rPr lang="en-US" smtClean="0"/>
              <a:t>3/20/2026</a:t>
            </a:fld>
            <a:endParaRPr lang="en-US" dirty="0"/>
          </a:p>
        </p:txBody>
      </p:sp>
      <p:sp>
        <p:nvSpPr>
          <p:cNvPr id="5" name="Footer Placeholder 4"/>
          <p:cNvSpPr>
            <a:spLocks noGrp="1"/>
          </p:cNvSpPr>
          <p:nvPr>
            <p:ph type="ftr" sz="quarter" idx="3"/>
          </p:nvPr>
        </p:nvSpPr>
        <p:spPr>
          <a:xfrm>
            <a:off x="685331" y="4412457"/>
            <a:ext cx="5004665" cy="273844"/>
          </a:xfrm>
          <a:prstGeom prst="rect">
            <a:avLst/>
          </a:prstGeom>
        </p:spPr>
        <p:txBody>
          <a:bodyPr vert="horz" lIns="91440" tIns="45720" rIns="91440" bIns="45720" rtlCol="0" anchor="ctr"/>
          <a:lstStyle>
            <a:lvl1pPr algn="l">
              <a:defRPr sz="750">
                <a:solidFill>
                  <a:schemeClr val="tx1"/>
                </a:solidFill>
              </a:defRPr>
            </a:lvl1pPr>
          </a:lstStyle>
          <a:p>
            <a:endParaRPr lang="en-US" dirty="0"/>
          </a:p>
        </p:txBody>
      </p:sp>
      <p:sp>
        <p:nvSpPr>
          <p:cNvPr id="6" name="Slide Number Placeholder 5"/>
          <p:cNvSpPr>
            <a:spLocks noGrp="1"/>
          </p:cNvSpPr>
          <p:nvPr>
            <p:ph type="sldNum" sz="quarter" idx="4"/>
          </p:nvPr>
        </p:nvSpPr>
        <p:spPr>
          <a:xfrm>
            <a:off x="7885509" y="4412457"/>
            <a:ext cx="573161" cy="273844"/>
          </a:xfrm>
          <a:prstGeom prst="rect">
            <a:avLst/>
          </a:prstGeom>
        </p:spPr>
        <p:txBody>
          <a:bodyPr vert="horz" lIns="91440" tIns="45720" rIns="91440" bIns="45720" rtlCol="0" anchor="ctr"/>
          <a:lstStyle>
            <a:lvl1pPr algn="r">
              <a:defRPr sz="750">
                <a:solidFill>
                  <a:schemeClr val="tx1"/>
                </a:solidFill>
              </a:defRPr>
            </a:lvl1pPr>
          </a:lstStyle>
          <a:p>
            <a:fld id="{D57F1E4F-1CFF-5643-939E-02111984F565}" type="slidenum">
              <a:rPr lang="en-US" smtClean="0"/>
              <a:t>‹nº›</a:t>
            </a:fld>
            <a:endParaRPr lang="en-US" dirty="0"/>
          </a:p>
        </p:txBody>
      </p:sp>
    </p:spTree>
    <p:extLst>
      <p:ext uri="{BB962C8B-B14F-4D97-AF65-F5344CB8AC3E}">
        <p14:creationId xmlns:p14="http://schemas.microsoft.com/office/powerpoint/2010/main" val="4106938611"/>
      </p:ext>
    </p:extLst>
  </p:cSld>
  <p:clrMap bg1="lt1" tx1="dk1" bg2="lt2" tx2="dk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0" r:id="rId10"/>
    <p:sldLayoutId id="2147483851" r:id="rId11"/>
    <p:sldLayoutId id="2147483852" r:id="rId12"/>
    <p:sldLayoutId id="2147483853" r:id="rId13"/>
    <p:sldLayoutId id="2147483854" r:id="rId14"/>
    <p:sldLayoutId id="2147483855" r:id="rId15"/>
    <p:sldLayoutId id="2147483856" r:id="rId16"/>
    <p:sldLayoutId id="2147483857" r:id="rId17"/>
    <p:sldLayoutId id="2147483858" r:id="rId18"/>
  </p:sldLayoutIdLst>
  <p:hf hdr="0" ftr="0" dt="0"/>
  <p:txStyles>
    <p:titleStyle>
      <a:lvl1pPr algn="ctr" defTabSz="685800" rtl="0" eaLnBrk="1" latinLnBrk="0" hangingPunct="1">
        <a:lnSpc>
          <a:spcPct val="90000"/>
        </a:lnSpc>
        <a:spcBef>
          <a:spcPct val="0"/>
        </a:spcBef>
        <a:buNone/>
        <a:defRPr sz="2700" kern="1200" cap="all" baseline="0">
          <a:solidFill>
            <a:schemeClr val="tx1"/>
          </a:solidFill>
          <a:effectLst/>
          <a:latin typeface="+mj-lt"/>
          <a:ea typeface="+mj-ea"/>
          <a:cs typeface="+mj-cs"/>
        </a:defRPr>
      </a:lvl1pPr>
    </p:titleStyle>
    <p:bodyStyle>
      <a:lvl1pPr marL="171450" indent="-171450" algn="l" defTabSz="685800" rtl="0" eaLnBrk="1" latinLnBrk="0" hangingPunct="1">
        <a:lnSpc>
          <a:spcPct val="120000"/>
        </a:lnSpc>
        <a:spcBef>
          <a:spcPts val="750"/>
        </a:spcBef>
        <a:buClr>
          <a:schemeClr val="tx1"/>
        </a:buClr>
        <a:buFont typeface="Arial" panose="020B0604020202020204" pitchFamily="34" charset="0"/>
        <a:buChar char="•"/>
        <a:defRPr sz="1500" kern="1200" cap="all" baseline="0">
          <a:solidFill>
            <a:schemeClr val="tx1"/>
          </a:solidFill>
          <a:effectLst/>
          <a:latin typeface="+mn-lt"/>
          <a:ea typeface="+mn-ea"/>
          <a:cs typeface="+mn-cs"/>
        </a:defRPr>
      </a:lvl1pPr>
      <a:lvl2pPr marL="514350" indent="-171450" algn="l" defTabSz="685800" rtl="0" eaLnBrk="1" latinLnBrk="0" hangingPunct="1">
        <a:lnSpc>
          <a:spcPct val="120000"/>
        </a:lnSpc>
        <a:spcBef>
          <a:spcPts val="375"/>
        </a:spcBef>
        <a:buClr>
          <a:schemeClr val="tx1"/>
        </a:buClr>
        <a:buFont typeface="Arial" panose="020B0604020202020204" pitchFamily="34" charset="0"/>
        <a:buChar char="•"/>
        <a:defRPr sz="1350" kern="1200" cap="all" baseline="0">
          <a:solidFill>
            <a:schemeClr val="tx1"/>
          </a:solidFill>
          <a:effectLst/>
          <a:latin typeface="+mn-lt"/>
          <a:ea typeface="+mn-ea"/>
          <a:cs typeface="+mn-cs"/>
        </a:defRPr>
      </a:lvl2pPr>
      <a:lvl3pPr marL="857250" indent="-171450" algn="l" defTabSz="685800" rtl="0" eaLnBrk="1" latinLnBrk="0" hangingPunct="1">
        <a:lnSpc>
          <a:spcPct val="120000"/>
        </a:lnSpc>
        <a:spcBef>
          <a:spcPts val="375"/>
        </a:spcBef>
        <a:buClr>
          <a:schemeClr val="tx1"/>
        </a:buClr>
        <a:buFont typeface="Arial" panose="020B0604020202020204" pitchFamily="34" charset="0"/>
        <a:buChar char="•"/>
        <a:defRPr sz="1200" kern="1200" cap="all" baseline="0">
          <a:solidFill>
            <a:schemeClr val="tx1"/>
          </a:solidFill>
          <a:effectLst/>
          <a:latin typeface="+mn-lt"/>
          <a:ea typeface="+mn-ea"/>
          <a:cs typeface="+mn-cs"/>
        </a:defRPr>
      </a:lvl3pPr>
      <a:lvl4pPr marL="1200150" indent="-171450" algn="l" defTabSz="685800" rtl="0" eaLnBrk="1" latinLnBrk="0" hangingPunct="1">
        <a:lnSpc>
          <a:spcPct val="120000"/>
        </a:lnSpc>
        <a:spcBef>
          <a:spcPts val="375"/>
        </a:spcBef>
        <a:buClr>
          <a:schemeClr val="tx1"/>
        </a:buClr>
        <a:buFont typeface="Arial" panose="020B0604020202020204" pitchFamily="34" charset="0"/>
        <a:buChar char="•"/>
        <a:defRPr sz="1050" kern="1200" cap="all" baseline="0">
          <a:solidFill>
            <a:schemeClr val="tx1"/>
          </a:solidFill>
          <a:effectLst/>
          <a:latin typeface="+mn-lt"/>
          <a:ea typeface="+mn-ea"/>
          <a:cs typeface="+mn-cs"/>
        </a:defRPr>
      </a:lvl4pPr>
      <a:lvl5pPr marL="1543050" indent="-171450" algn="l" defTabSz="685800" rtl="0" eaLnBrk="1" latinLnBrk="0" hangingPunct="1">
        <a:lnSpc>
          <a:spcPct val="120000"/>
        </a:lnSpc>
        <a:spcBef>
          <a:spcPts val="375"/>
        </a:spcBef>
        <a:buClr>
          <a:schemeClr val="tx1"/>
        </a:buClr>
        <a:buFont typeface="Arial" panose="020B0604020202020204" pitchFamily="34" charset="0"/>
        <a:buChar char="•"/>
        <a:defRPr sz="1050" kern="1200" cap="all" baseline="0">
          <a:solidFill>
            <a:schemeClr val="tx1"/>
          </a:solidFill>
          <a:effectLst/>
          <a:latin typeface="+mn-lt"/>
          <a:ea typeface="+mn-ea"/>
          <a:cs typeface="+mn-cs"/>
        </a:defRPr>
      </a:lvl5pPr>
      <a:lvl6pPr marL="1885950" indent="-171450" algn="l" defTabSz="685800" rtl="0" eaLnBrk="1" latinLnBrk="0" hangingPunct="1">
        <a:lnSpc>
          <a:spcPct val="120000"/>
        </a:lnSpc>
        <a:spcBef>
          <a:spcPts val="375"/>
        </a:spcBef>
        <a:buClr>
          <a:schemeClr val="tx1"/>
        </a:buClr>
        <a:buFont typeface="Arial" panose="020B0604020202020204" pitchFamily="34" charset="0"/>
        <a:buChar char="•"/>
        <a:defRPr sz="1050" kern="1200" cap="all" baseline="0">
          <a:solidFill>
            <a:schemeClr val="tx1"/>
          </a:solidFill>
          <a:effectLst/>
          <a:latin typeface="+mn-lt"/>
          <a:ea typeface="+mn-ea"/>
          <a:cs typeface="+mn-cs"/>
        </a:defRPr>
      </a:lvl6pPr>
      <a:lvl7pPr marL="2228850" indent="-171450" algn="l" defTabSz="685800" rtl="0" eaLnBrk="1" latinLnBrk="0" hangingPunct="1">
        <a:lnSpc>
          <a:spcPct val="120000"/>
        </a:lnSpc>
        <a:spcBef>
          <a:spcPts val="375"/>
        </a:spcBef>
        <a:buClr>
          <a:schemeClr val="tx1"/>
        </a:buClr>
        <a:buFont typeface="Arial" panose="020B0604020202020204" pitchFamily="34" charset="0"/>
        <a:buChar char="•"/>
        <a:defRPr sz="1050" kern="1200" cap="all" baseline="0">
          <a:solidFill>
            <a:schemeClr val="tx1"/>
          </a:solidFill>
          <a:effectLst/>
          <a:latin typeface="+mn-lt"/>
          <a:ea typeface="+mn-ea"/>
          <a:cs typeface="+mn-cs"/>
        </a:defRPr>
      </a:lvl7pPr>
      <a:lvl8pPr marL="2571750" indent="-171450" algn="l" defTabSz="685800" rtl="0" eaLnBrk="1" latinLnBrk="0" hangingPunct="1">
        <a:lnSpc>
          <a:spcPct val="120000"/>
        </a:lnSpc>
        <a:spcBef>
          <a:spcPts val="375"/>
        </a:spcBef>
        <a:buClr>
          <a:schemeClr val="tx1"/>
        </a:buClr>
        <a:buFont typeface="Arial" panose="020B0604020202020204" pitchFamily="34" charset="0"/>
        <a:buChar char="•"/>
        <a:defRPr sz="1050" kern="1200" cap="all" baseline="0">
          <a:solidFill>
            <a:schemeClr val="tx1"/>
          </a:solidFill>
          <a:effectLst/>
          <a:latin typeface="+mn-lt"/>
          <a:ea typeface="+mn-ea"/>
          <a:cs typeface="+mn-cs"/>
        </a:defRPr>
      </a:lvl8pPr>
      <a:lvl9pPr marL="2914650" indent="-171450" algn="l" defTabSz="685800" rtl="0" eaLnBrk="1" latinLnBrk="0" hangingPunct="1">
        <a:lnSpc>
          <a:spcPct val="120000"/>
        </a:lnSpc>
        <a:spcBef>
          <a:spcPts val="375"/>
        </a:spcBef>
        <a:buClr>
          <a:schemeClr val="tx1"/>
        </a:buClr>
        <a:buFont typeface="Arial" panose="020B0604020202020204" pitchFamily="34" charset="0"/>
        <a:buChar char="•"/>
        <a:defRPr sz="1050" kern="1200" cap="all" baseline="0">
          <a:solidFill>
            <a:schemeClr val="tx1"/>
          </a:solidFill>
          <a:effectLst/>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7" Type="http://schemas.microsoft.com/office/2007/relationships/hdphoto" Target="../media/hdphoto2.wdp"/><Relationship Id="rId2" Type="http://schemas.openxmlformats.org/officeDocument/2006/relationships/notesSlide" Target="../notesSlides/notesSlide1.xml"/><Relationship Id="rId1" Type="http://schemas.openxmlformats.org/officeDocument/2006/relationships/slideLayout" Target="../slideLayouts/slideLayout18.xml"/><Relationship Id="rId6" Type="http://schemas.openxmlformats.org/officeDocument/2006/relationships/image" Target="../media/image7.png"/><Relationship Id="rId5" Type="http://schemas.microsoft.com/office/2007/relationships/hdphoto" Target="../media/hdphoto1.wdp"/><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18.xml"/><Relationship Id="rId4" Type="http://schemas.microsoft.com/office/2007/relationships/hdphoto" Target="../media/hdphoto2.wdp"/></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7" Type="http://schemas.microsoft.com/office/2007/relationships/hdphoto" Target="../media/hdphoto2.wdp"/><Relationship Id="rId2" Type="http://schemas.openxmlformats.org/officeDocument/2006/relationships/notesSlide" Target="../notesSlides/notesSlide3.xml"/><Relationship Id="rId1" Type="http://schemas.openxmlformats.org/officeDocument/2006/relationships/slideLayout" Target="../slideLayouts/slideLayout18.xml"/><Relationship Id="rId6" Type="http://schemas.openxmlformats.org/officeDocument/2006/relationships/image" Target="../media/image7.png"/><Relationship Id="rId5" Type="http://schemas.microsoft.com/office/2007/relationships/hdphoto" Target="../media/hdphoto1.wdp"/><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18.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18.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7" Type="http://schemas.microsoft.com/office/2007/relationships/hdphoto" Target="../media/hdphoto2.wdp"/><Relationship Id="rId2" Type="http://schemas.openxmlformats.org/officeDocument/2006/relationships/notesSlide" Target="../notesSlides/notesSlide10.xml"/><Relationship Id="rId1" Type="http://schemas.openxmlformats.org/officeDocument/2006/relationships/slideLayout" Target="../slideLayouts/slideLayout18.xml"/><Relationship Id="rId6" Type="http://schemas.openxmlformats.org/officeDocument/2006/relationships/image" Target="../media/image7.png"/><Relationship Id="rId5" Type="http://schemas.microsoft.com/office/2007/relationships/hdphoto" Target="../media/hdphoto1.wdp"/><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3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3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1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6.xml"/></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7" Type="http://schemas.microsoft.com/office/2007/relationships/hdphoto" Target="../media/hdphoto2.wdp"/><Relationship Id="rId2" Type="http://schemas.openxmlformats.org/officeDocument/2006/relationships/notesSlide" Target="../notesSlides/notesSlide11.xml"/><Relationship Id="rId1" Type="http://schemas.openxmlformats.org/officeDocument/2006/relationships/slideLayout" Target="../slideLayouts/slideLayout18.xml"/><Relationship Id="rId6" Type="http://schemas.openxmlformats.org/officeDocument/2006/relationships/image" Target="../media/image7.png"/><Relationship Id="rId5" Type="http://schemas.microsoft.com/office/2007/relationships/hdphoto" Target="../media/hdphoto1.wdp"/><Relationship Id="rId4" Type="http://schemas.openxmlformats.org/officeDocument/2006/relationships/image" Target="../media/image6.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6.xml"/></Relationships>
</file>

<file path=ppt/slides/_rels/slide2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36.xml"/></Relationships>
</file>

<file path=ppt/slides/_rels/slide23.xml.rels><?xml version="1.0" encoding="UTF-8" standalone="yes"?>
<Relationships xmlns="http://schemas.openxmlformats.org/package/2006/relationships"><Relationship Id="rId3" Type="http://schemas.openxmlformats.org/officeDocument/2006/relationships/image" Target="../media/image5.png"/><Relationship Id="rId7" Type="http://schemas.microsoft.com/office/2007/relationships/hdphoto" Target="../media/hdphoto2.wdp"/><Relationship Id="rId2" Type="http://schemas.openxmlformats.org/officeDocument/2006/relationships/notesSlide" Target="../notesSlides/notesSlide14.xml"/><Relationship Id="rId1" Type="http://schemas.openxmlformats.org/officeDocument/2006/relationships/slideLayout" Target="../slideLayouts/slideLayout18.xml"/><Relationship Id="rId6" Type="http://schemas.openxmlformats.org/officeDocument/2006/relationships/image" Target="../media/image7.png"/><Relationship Id="rId5" Type="http://schemas.microsoft.com/office/2007/relationships/hdphoto" Target="../media/hdphoto1.wdp"/><Relationship Id="rId4" Type="http://schemas.openxmlformats.org/officeDocument/2006/relationships/image" Target="../media/image6.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6.xml"/></Relationships>
</file>

<file path=ppt/slides/_rels/slide2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6.xml"/></Relationships>
</file>

<file path=ppt/slides/_rels/slide2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8.xml"/></Relationships>
</file>

<file path=ppt/slides/_rels/slide30.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5.png"/><Relationship Id="rId7" Type="http://schemas.microsoft.com/office/2007/relationships/hdphoto" Target="../media/hdphoto2.wdp"/><Relationship Id="rId2" Type="http://schemas.openxmlformats.org/officeDocument/2006/relationships/notesSlide" Target="../notesSlides/notesSlide18.xml"/><Relationship Id="rId1" Type="http://schemas.openxmlformats.org/officeDocument/2006/relationships/slideLayout" Target="../slideLayouts/slideLayout18.xml"/><Relationship Id="rId6" Type="http://schemas.openxmlformats.org/officeDocument/2006/relationships/image" Target="../media/image7.png"/><Relationship Id="rId5" Type="http://schemas.microsoft.com/office/2007/relationships/hdphoto" Target="../media/hdphoto1.wdp"/><Relationship Id="rId4" Type="http://schemas.openxmlformats.org/officeDocument/2006/relationships/image" Target="../media/image6.png"/><Relationship Id="rId9" Type="http://schemas.microsoft.com/office/2007/relationships/hdphoto" Target="../media/hdphoto3.wdp"/></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6217920" y="-822960"/>
            <a:ext cx="4754880" cy="4754880"/>
          </a:xfrm>
          <a:prstGeom prst="ellipse">
            <a:avLst/>
          </a:prstGeom>
          <a:solidFill>
            <a:srgbClr val="1C3A52">
              <a:alpha val="62000"/>
            </a:srgbClr>
          </a:solidFill>
          <a:ln w="12700">
            <a:solidFill>
              <a:srgbClr val="1C3A52"/>
            </a:solidFill>
            <a:prstDash val="solid"/>
          </a:ln>
        </p:spPr>
        <p:txBody>
          <a:bodyPr/>
          <a:lstStyle/>
          <a:p>
            <a:endParaRPr lang="pt-PT"/>
          </a:p>
        </p:txBody>
      </p:sp>
      <p:sp>
        <p:nvSpPr>
          <p:cNvPr id="3" name="Shape 1"/>
          <p:cNvSpPr/>
          <p:nvPr/>
        </p:nvSpPr>
        <p:spPr>
          <a:xfrm>
            <a:off x="7315200" y="2377440"/>
            <a:ext cx="2743200" cy="2743200"/>
          </a:xfrm>
          <a:prstGeom prst="ellipse">
            <a:avLst/>
          </a:prstGeom>
          <a:solidFill>
            <a:srgbClr val="00A896">
              <a:alpha val="45000"/>
            </a:srgbClr>
          </a:solidFill>
          <a:ln w="12700">
            <a:solidFill>
              <a:srgbClr val="00A896"/>
            </a:solidFill>
            <a:prstDash val="solid"/>
          </a:ln>
        </p:spPr>
        <p:txBody>
          <a:bodyPr/>
          <a:lstStyle/>
          <a:p>
            <a:endParaRPr lang="pt-PT"/>
          </a:p>
        </p:txBody>
      </p:sp>
      <p:sp>
        <p:nvSpPr>
          <p:cNvPr id="5" name="Text 3"/>
          <p:cNvSpPr/>
          <p:nvPr/>
        </p:nvSpPr>
        <p:spPr>
          <a:xfrm>
            <a:off x="347472" y="502920"/>
            <a:ext cx="6858000" cy="292608"/>
          </a:xfrm>
          <a:prstGeom prst="rect">
            <a:avLst/>
          </a:prstGeom>
          <a:noFill/>
          <a:ln/>
        </p:spPr>
        <p:txBody>
          <a:bodyPr wrap="square" lIns="0" tIns="0" rIns="0" bIns="0" rtlCol="0" anchor="ctr"/>
          <a:lstStyle/>
          <a:p>
            <a:pPr marL="0" indent="0">
              <a:buNone/>
            </a:pPr>
            <a:r>
              <a:rPr lang="en-US" sz="1000" b="1" kern="0" spc="200" dirty="0">
                <a:solidFill>
                  <a:srgbClr val="02C39A"/>
                </a:solidFill>
                <a:latin typeface="Calibri" pitchFamily="34" charset="0"/>
                <a:ea typeface="Calibri" pitchFamily="34" charset="-122"/>
                <a:cs typeface="Calibri" pitchFamily="34" charset="-120"/>
              </a:rPr>
              <a:t>DEEP LEARNING  ·  ASSIGNMENT 1  ·  TASK 2</a:t>
            </a:r>
            <a:endParaRPr lang="en-US" sz="1000" dirty="0"/>
          </a:p>
        </p:txBody>
      </p:sp>
      <p:sp>
        <p:nvSpPr>
          <p:cNvPr id="6" name="Text 4"/>
          <p:cNvSpPr/>
          <p:nvPr/>
        </p:nvSpPr>
        <p:spPr>
          <a:xfrm>
            <a:off x="347472" y="868680"/>
            <a:ext cx="6583680" cy="777240"/>
          </a:xfrm>
          <a:prstGeom prst="rect">
            <a:avLst/>
          </a:prstGeom>
          <a:noFill/>
          <a:ln/>
        </p:spPr>
        <p:txBody>
          <a:bodyPr wrap="square" lIns="0" tIns="0" rIns="0" bIns="0" rtlCol="0" anchor="ctr"/>
          <a:lstStyle/>
          <a:p>
            <a:pPr marL="0" indent="0">
              <a:buNone/>
            </a:pPr>
            <a:r>
              <a:rPr lang="en-US" sz="3400" b="1" dirty="0">
                <a:solidFill>
                  <a:srgbClr val="FFFFFF"/>
                </a:solidFill>
                <a:latin typeface="Trebuchet MS" pitchFamily="34" charset="0"/>
                <a:ea typeface="Trebuchet MS" pitchFamily="34" charset="-122"/>
                <a:cs typeface="Trebuchet MS" pitchFamily="34" charset="-120"/>
              </a:rPr>
              <a:t>Pokémon Type Classification</a:t>
            </a:r>
            <a:endParaRPr lang="en-US" sz="3400" dirty="0"/>
          </a:p>
        </p:txBody>
      </p:sp>
      <p:sp>
        <p:nvSpPr>
          <p:cNvPr id="7" name="Text 5"/>
          <p:cNvSpPr/>
          <p:nvPr/>
        </p:nvSpPr>
        <p:spPr>
          <a:xfrm>
            <a:off x="347472" y="1719072"/>
            <a:ext cx="6583680" cy="438912"/>
          </a:xfrm>
          <a:prstGeom prst="rect">
            <a:avLst/>
          </a:prstGeom>
          <a:noFill/>
          <a:ln/>
        </p:spPr>
        <p:txBody>
          <a:bodyPr wrap="square" lIns="0" tIns="0" rIns="0" bIns="0" rtlCol="0" anchor="ctr"/>
          <a:lstStyle/>
          <a:p>
            <a:r>
              <a:rPr lang="en-US" sz="1600" dirty="0">
                <a:solidFill>
                  <a:srgbClr val="7AADCC"/>
                </a:solidFill>
                <a:latin typeface="Calibri" pitchFamily="34" charset="0"/>
                <a:ea typeface="Calibri" pitchFamily="34" charset="-122"/>
                <a:cs typeface="Calibri" pitchFamily="34" charset="-120"/>
              </a:rPr>
              <a:t>TASK 2 — Convolutional Neural Network</a:t>
            </a:r>
            <a:endParaRPr lang="en-US" sz="1600" dirty="0"/>
          </a:p>
        </p:txBody>
      </p:sp>
      <p:sp>
        <p:nvSpPr>
          <p:cNvPr id="8" name="Shape 6"/>
          <p:cNvSpPr/>
          <p:nvPr/>
        </p:nvSpPr>
        <p:spPr>
          <a:xfrm>
            <a:off x="347472" y="2267712"/>
            <a:ext cx="3474720" cy="36576"/>
          </a:xfrm>
          <a:prstGeom prst="rect">
            <a:avLst/>
          </a:prstGeom>
          <a:solidFill>
            <a:srgbClr val="00A896"/>
          </a:solidFill>
          <a:ln w="12700">
            <a:solidFill>
              <a:srgbClr val="00A896"/>
            </a:solidFill>
            <a:prstDash val="solid"/>
          </a:ln>
        </p:spPr>
        <p:txBody>
          <a:bodyPr/>
          <a:lstStyle/>
          <a:p>
            <a:endParaRPr lang="pt-PT"/>
          </a:p>
        </p:txBody>
      </p:sp>
      <p:sp>
        <p:nvSpPr>
          <p:cNvPr id="9" name="Text 7"/>
          <p:cNvSpPr/>
          <p:nvPr/>
        </p:nvSpPr>
        <p:spPr>
          <a:xfrm>
            <a:off x="347472" y="2377440"/>
            <a:ext cx="6858000" cy="914400"/>
          </a:xfrm>
          <a:prstGeom prst="rect">
            <a:avLst/>
          </a:prstGeom>
          <a:noFill/>
          <a:ln/>
        </p:spPr>
        <p:txBody>
          <a:bodyPr wrap="square" rtlCol="0" anchor="ctr"/>
          <a:lstStyle/>
          <a:p>
            <a:pPr marL="0" indent="0">
              <a:buNone/>
            </a:pPr>
            <a:r>
              <a:rPr lang="en-US" sz="1300" dirty="0">
                <a:solidFill>
                  <a:srgbClr val="AACDE0"/>
                </a:solidFill>
                <a:latin typeface="Calibri" pitchFamily="34" charset="0"/>
                <a:ea typeface="Calibri" pitchFamily="34" charset="-122"/>
                <a:cs typeface="Calibri" pitchFamily="34" charset="-120"/>
              </a:rPr>
              <a:t>70698 – Francisco Silva</a:t>
            </a:r>
          </a:p>
          <a:p>
            <a:r>
              <a:rPr lang="en-US" sz="1300" dirty="0">
                <a:solidFill>
                  <a:srgbClr val="AACDE0"/>
                </a:solidFill>
                <a:latin typeface="Calibri" pitchFamily="34" charset="0"/>
                <a:cs typeface="Calibri" pitchFamily="34" charset="-120"/>
              </a:rPr>
              <a:t>73208 </a:t>
            </a:r>
            <a:r>
              <a:rPr lang="en-US" sz="1300" dirty="0">
                <a:solidFill>
                  <a:srgbClr val="AACDE0"/>
                </a:solidFill>
                <a:latin typeface="Calibri" pitchFamily="34" charset="0"/>
                <a:ea typeface="Calibri" pitchFamily="34" charset="-122"/>
                <a:cs typeface="Calibri" pitchFamily="34" charset="-120"/>
              </a:rPr>
              <a:t>– Rúben Silva</a:t>
            </a:r>
            <a:endParaRPr lang="en-US" sz="1300" dirty="0"/>
          </a:p>
          <a:p>
            <a:pPr marL="0" indent="0">
              <a:buNone/>
            </a:pPr>
            <a:r>
              <a:rPr lang="en-US" sz="1300" dirty="0">
                <a:solidFill>
                  <a:srgbClr val="AACDE0"/>
                </a:solidFill>
                <a:latin typeface="Calibri" pitchFamily="34" charset="0"/>
                <a:ea typeface="Calibri" pitchFamily="34" charset="-122"/>
                <a:cs typeface="Calibri" pitchFamily="34" charset="-120"/>
              </a:rPr>
              <a:t>73554 – Miguel </a:t>
            </a:r>
            <a:r>
              <a:rPr lang="en-US" sz="1300" dirty="0" err="1">
                <a:solidFill>
                  <a:srgbClr val="AACDE0"/>
                </a:solidFill>
                <a:latin typeface="Calibri" pitchFamily="34" charset="0"/>
                <a:ea typeface="Calibri" pitchFamily="34" charset="-122"/>
                <a:cs typeface="Calibri" pitchFamily="34" charset="-120"/>
              </a:rPr>
              <a:t>Cangalhas</a:t>
            </a:r>
            <a:endParaRPr lang="en-US" sz="1300" dirty="0">
              <a:solidFill>
                <a:srgbClr val="AACDE0"/>
              </a:solidFill>
              <a:latin typeface="Calibri" pitchFamily="34" charset="0"/>
              <a:ea typeface="Calibri" pitchFamily="34" charset="-122"/>
              <a:cs typeface="Calibri" pitchFamily="34" charset="-120"/>
            </a:endParaRPr>
          </a:p>
        </p:txBody>
      </p:sp>
      <p:pic>
        <p:nvPicPr>
          <p:cNvPr id="1028" name="Picture 4" descr="NOVA FCT">
            <a:extLst>
              <a:ext uri="{FF2B5EF4-FFF2-40B4-BE49-F238E27FC236}">
                <a16:creationId xmlns:a16="http://schemas.microsoft.com/office/drawing/2014/main" id="{5ED66EE5-003F-1ED4-2274-3871AE979CE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22933" b="35200"/>
          <a:stretch/>
        </p:blipFill>
        <p:spPr bwMode="auto">
          <a:xfrm>
            <a:off x="5362525" y="-739257"/>
            <a:ext cx="1188684" cy="493776"/>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Quais os principais tipos de Pokémon que existem no anime e filmes  animados? - Olhar Digital">
            <a:extLst>
              <a:ext uri="{FF2B5EF4-FFF2-40B4-BE49-F238E27FC236}">
                <a16:creationId xmlns:a16="http://schemas.microsoft.com/office/drawing/2014/main" id="{BDDC356B-1E1B-DE14-ECB6-15D03218B5CE}"/>
              </a:ext>
            </a:extLst>
          </p:cNvPr>
          <p:cNvPicPr>
            <a:picLocks noChangeAspect="1" noChangeArrowheads="1"/>
          </p:cNvPicPr>
          <p:nvPr/>
        </p:nvPicPr>
        <p:blipFill>
          <a:blip r:embed="rId4">
            <a:extLst>
              <a:ext uri="{BEBA8EAE-BF5A-486C-A8C5-ECC9F3942E4B}">
                <a14:imgProps xmlns:a14="http://schemas.microsoft.com/office/drawing/2010/main">
                  <a14:imgLayer r:embed="rId5">
                    <a14:imgEffect>
                      <a14:backgroundRemoval t="10000" b="98750" l="4375" r="97773">
                        <a14:foregroundMark x1="6016" y1="58819" x2="5938" y2="87500"/>
                        <a14:foregroundMark x1="5938" y1="87500" x2="9609" y2="99236"/>
                        <a14:foregroundMark x1="9609" y1="99236" x2="18633" y2="94514"/>
                        <a14:foregroundMark x1="18633" y1="94514" x2="25547" y2="95972"/>
                        <a14:foregroundMark x1="25547" y1="95972" x2="20391" y2="85556"/>
                        <a14:foregroundMark x1="20391" y1="85556" x2="18516" y2="75208"/>
                        <a14:foregroundMark x1="18516" y1="75208" x2="20156" y2="60972"/>
                        <a14:foregroundMark x1="20156" y1="60972" x2="10469" y2="66250"/>
                        <a14:foregroundMark x1="10469" y1="66250" x2="11719" y2="82361"/>
                        <a14:foregroundMark x1="11719" y1="82361" x2="13750" y2="72292"/>
                        <a14:foregroundMark x1="5469" y1="57569" x2="5039" y2="79722"/>
                        <a14:foregroundMark x1="5039" y1="79722" x2="4414" y2="83889"/>
                        <a14:foregroundMark x1="7070" y1="95069" x2="8008" y2="98403"/>
                        <a14:foregroundMark x1="63594" y1="97639" x2="67852" y2="98819"/>
                        <a14:foregroundMark x1="16250" y1="73264" x2="16797" y2="77292"/>
                        <a14:foregroundMark x1="96133" y1="50278" x2="97031" y2="63264"/>
                        <a14:foregroundMark x1="97031" y1="63264" x2="94492" y2="76597"/>
                        <a14:foregroundMark x1="94492" y1="76597" x2="90391" y2="83333"/>
                        <a14:foregroundMark x1="90391" y1="83333" x2="86914" y2="85833"/>
                        <a14:foregroundMark x1="95859" y1="50278" x2="97546" y2="63683"/>
                        <a14:foregroundMark x1="96841" y1="69371" x2="94141" y2="80625"/>
                        <a14:foregroundMark x1="97461" y1="67292" x2="96406" y2="75139"/>
                        <a14:foregroundMark x1="96680" y1="40278" x2="96680" y2="45069"/>
                        <a14:backgroundMark x1="97617" y1="63681" x2="97695" y2="71875"/>
                      </a14:backgroundRemoval>
                    </a14:imgEffect>
                  </a14:imgLayer>
                </a14:imgProps>
              </a:ext>
              <a:ext uri="{28A0092B-C50C-407E-A947-70E740481C1C}">
                <a14:useLocalDpi xmlns:a14="http://schemas.microsoft.com/office/drawing/2010/main" val="0"/>
              </a:ext>
            </a:extLst>
          </a:blip>
          <a:srcRect/>
          <a:stretch>
            <a:fillRect/>
          </a:stretch>
        </p:blipFill>
        <p:spPr bwMode="auto">
          <a:xfrm>
            <a:off x="2917953" y="1645921"/>
            <a:ext cx="6226048" cy="3502152"/>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8" descr="NOSSA™ | NOVA School of Science &amp; Technology">
            <a:extLst>
              <a:ext uri="{FF2B5EF4-FFF2-40B4-BE49-F238E27FC236}">
                <a16:creationId xmlns:a16="http://schemas.microsoft.com/office/drawing/2014/main" id="{B5430560-568D-49E1-F0CD-C48B87341529}"/>
              </a:ext>
            </a:extLst>
          </p:cNvPr>
          <p:cNvPicPr>
            <a:picLocks noChangeAspect="1" noChangeArrowheads="1"/>
          </p:cNvPicPr>
          <p:nvPr/>
        </p:nvPicPr>
        <p:blipFill rotWithShape="1">
          <a:blip r:embed="rId6">
            <a:extLst>
              <a:ext uri="{BEBA8EAE-BF5A-486C-A8C5-ECC9F3942E4B}">
                <a14:imgProps xmlns:a14="http://schemas.microsoft.com/office/drawing/2010/main">
                  <a14:imgLayer r:embed="rId7">
                    <a14:imgEffect>
                      <a14:backgroundRemoval t="28056" b="59722" l="28750" r="70625">
                        <a14:foregroundMark x1="28750" y1="38889" x2="29375" y2="52778"/>
                        <a14:foregroundMark x1="66406" y1="39167" x2="64844" y2="49722"/>
                        <a14:foregroundMark x1="69063" y1="45278" x2="70781" y2="50833"/>
                        <a14:foregroundMark x1="38750" y1="54444" x2="46094" y2="59722"/>
                        <a14:foregroundMark x1="46094" y1="59722" x2="50938" y2="55000"/>
                        <a14:foregroundMark x1="51250" y1="33889" x2="42188" y2="30833"/>
                        <a14:foregroundMark x1="42188" y1="30833" x2="38281" y2="35000"/>
                        <a14:foregroundMark x1="51875" y1="36944" x2="55313" y2="41111"/>
                      </a14:backgroundRemoval>
                    </a14:imgEffect>
                  </a14:imgLayer>
                </a14:imgProps>
              </a:ext>
              <a:ext uri="{28A0092B-C50C-407E-A947-70E740481C1C}">
                <a14:useLocalDpi xmlns:a14="http://schemas.microsoft.com/office/drawing/2010/main" val="0"/>
              </a:ext>
            </a:extLst>
          </a:blip>
          <a:srcRect l="24369" t="25133" r="26983" b="39200"/>
          <a:stretch>
            <a:fillRect/>
          </a:stretch>
        </p:blipFill>
        <p:spPr bwMode="auto">
          <a:xfrm>
            <a:off x="7838728" y="83266"/>
            <a:ext cx="1250407" cy="51566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B2A"/>
        </a:solidFill>
        <a:effectLst/>
      </p:bgPr>
    </p:bg>
    <p:spTree>
      <p:nvGrpSpPr>
        <p:cNvPr id="1" name=""/>
        <p:cNvGrpSpPr/>
        <p:nvPr/>
      </p:nvGrpSpPr>
      <p:grpSpPr>
        <a:xfrm>
          <a:off x="0" y="0"/>
          <a:ext cx="0" cy="0"/>
          <a:chOff x="0" y="0"/>
          <a:chExt cx="0" cy="0"/>
        </a:xfrm>
      </p:grpSpPr>
      <p:sp>
        <p:nvSpPr>
          <p:cNvPr id="3" name="Text 1"/>
          <p:cNvSpPr/>
          <p:nvPr/>
        </p:nvSpPr>
        <p:spPr>
          <a:xfrm>
            <a:off x="457200" y="109728"/>
            <a:ext cx="7772400" cy="530352"/>
          </a:xfrm>
          <a:prstGeom prst="rect">
            <a:avLst/>
          </a:prstGeom>
          <a:noFill/>
          <a:ln/>
        </p:spPr>
        <p:txBody>
          <a:bodyPr wrap="square" lIns="0" tIns="0" rIns="0" bIns="0" rtlCol="0" anchor="ctr"/>
          <a:lstStyle/>
          <a:p>
            <a:pPr marL="0" indent="0">
              <a:buNone/>
            </a:pPr>
            <a:r>
              <a:rPr lang="en-US" sz="2200" b="1" dirty="0">
                <a:solidFill>
                  <a:srgbClr val="FFFFFF"/>
                </a:solidFill>
                <a:latin typeface="Trebuchet MS" pitchFamily="34" charset="0"/>
                <a:ea typeface="Trebuchet MS" pitchFamily="34" charset="-122"/>
                <a:cs typeface="Trebuchet MS" pitchFamily="34" charset="-120"/>
              </a:rPr>
              <a:t>What We Cover</a:t>
            </a:r>
            <a:endParaRPr lang="en-US" sz="2200" dirty="0"/>
          </a:p>
        </p:txBody>
      </p:sp>
      <p:sp>
        <p:nvSpPr>
          <p:cNvPr id="4" name="Shape 2"/>
          <p:cNvSpPr/>
          <p:nvPr/>
        </p:nvSpPr>
        <p:spPr>
          <a:xfrm>
            <a:off x="365760" y="822960"/>
            <a:ext cx="4160520" cy="1691640"/>
          </a:xfrm>
          <a:prstGeom prst="rect">
            <a:avLst/>
          </a:prstGeom>
          <a:solidFill>
            <a:srgbClr val="1C3A52"/>
          </a:solidFill>
          <a:ln w="6350">
            <a:solidFill>
              <a:srgbClr val="112233"/>
            </a:solidFill>
            <a:prstDash val="solid"/>
          </a:ln>
          <a:effectLst>
            <a:outerShdw blurRad="101600" dist="38100" dir="8100000" algn="bl" rotWithShape="0">
              <a:srgbClr val="000000">
                <a:alpha val="10000"/>
              </a:srgbClr>
            </a:outerShdw>
          </a:effectLst>
        </p:spPr>
        <p:txBody>
          <a:bodyPr/>
          <a:lstStyle/>
          <a:p>
            <a:endParaRPr lang="pt-PT"/>
          </a:p>
        </p:txBody>
      </p:sp>
      <p:sp>
        <p:nvSpPr>
          <p:cNvPr id="5" name="Shape 3"/>
          <p:cNvSpPr/>
          <p:nvPr/>
        </p:nvSpPr>
        <p:spPr>
          <a:xfrm>
            <a:off x="365760" y="822960"/>
            <a:ext cx="82296" cy="1691640"/>
          </a:xfrm>
          <a:prstGeom prst="rect">
            <a:avLst/>
          </a:prstGeom>
          <a:solidFill>
            <a:srgbClr val="00A896"/>
          </a:solidFill>
          <a:ln w="12700">
            <a:solidFill>
              <a:srgbClr val="00A896"/>
            </a:solidFill>
            <a:prstDash val="solid"/>
          </a:ln>
        </p:spPr>
        <p:txBody>
          <a:bodyPr/>
          <a:lstStyle/>
          <a:p>
            <a:endParaRPr lang="pt-PT"/>
          </a:p>
        </p:txBody>
      </p:sp>
      <p:sp>
        <p:nvSpPr>
          <p:cNvPr id="6" name="Text 4"/>
          <p:cNvSpPr/>
          <p:nvPr/>
        </p:nvSpPr>
        <p:spPr>
          <a:xfrm>
            <a:off x="521208" y="932688"/>
            <a:ext cx="475488" cy="475488"/>
          </a:xfrm>
          <a:prstGeom prst="rect">
            <a:avLst/>
          </a:prstGeom>
          <a:noFill/>
          <a:ln/>
        </p:spPr>
        <p:txBody>
          <a:bodyPr wrap="square" lIns="0" tIns="0" rIns="0" bIns="0" rtlCol="0" anchor="ctr"/>
          <a:lstStyle/>
          <a:p>
            <a:pPr marL="0" indent="0">
              <a:buNone/>
            </a:pPr>
            <a:r>
              <a:rPr lang="en-US" sz="2200" b="1" dirty="0">
                <a:solidFill>
                  <a:srgbClr val="00A896"/>
                </a:solidFill>
                <a:latin typeface="Trebuchet MS" pitchFamily="34" charset="0"/>
                <a:ea typeface="Trebuchet MS" pitchFamily="34" charset="-122"/>
                <a:cs typeface="Trebuchet MS" pitchFamily="34" charset="-120"/>
              </a:rPr>
              <a:t>1</a:t>
            </a:r>
            <a:endParaRPr lang="en-US" sz="2200" dirty="0"/>
          </a:p>
        </p:txBody>
      </p:sp>
      <p:sp>
        <p:nvSpPr>
          <p:cNvPr id="9" name="Text 7"/>
          <p:cNvSpPr/>
          <p:nvPr/>
        </p:nvSpPr>
        <p:spPr>
          <a:xfrm>
            <a:off x="1051560" y="932688"/>
            <a:ext cx="3200400" cy="411480"/>
          </a:xfrm>
          <a:prstGeom prst="rect">
            <a:avLst/>
          </a:prstGeom>
          <a:noFill/>
          <a:ln/>
        </p:spPr>
        <p:txBody>
          <a:bodyPr wrap="square" lIns="0" tIns="0" rIns="0" bIns="0" rtlCol="0" anchor="ctr"/>
          <a:lstStyle/>
          <a:p>
            <a:pPr marL="0" indent="0">
              <a:buNone/>
            </a:pPr>
            <a:r>
              <a:rPr lang="en-US" sz="1400" b="1" dirty="0">
                <a:solidFill>
                  <a:srgbClr val="FFFFFF"/>
                </a:solidFill>
                <a:latin typeface="Trebuchet MS" pitchFamily="34" charset="0"/>
                <a:ea typeface="Trebuchet MS" pitchFamily="34" charset="-122"/>
                <a:cs typeface="Trebuchet MS" pitchFamily="34" charset="-120"/>
              </a:rPr>
              <a:t>Model Development</a:t>
            </a:r>
            <a:endParaRPr lang="en-US" sz="1400" dirty="0"/>
          </a:p>
        </p:txBody>
      </p:sp>
      <p:sp>
        <p:nvSpPr>
          <p:cNvPr id="10" name="Text 8"/>
          <p:cNvSpPr/>
          <p:nvPr/>
        </p:nvSpPr>
        <p:spPr>
          <a:xfrm>
            <a:off x="1027176" y="1389888"/>
            <a:ext cx="3480816" cy="822960"/>
          </a:xfrm>
          <a:prstGeom prst="rect">
            <a:avLst/>
          </a:prstGeom>
          <a:noFill/>
          <a:ln/>
        </p:spPr>
        <p:txBody>
          <a:bodyPr wrap="square" lIns="0" tIns="0" rIns="0" bIns="0" rtlCol="0" anchor="ctr"/>
          <a:lstStyle/>
          <a:p>
            <a:pPr marL="0" indent="0">
              <a:buNone/>
            </a:pPr>
            <a:r>
              <a:rPr lang="en-US" sz="1400" dirty="0">
                <a:solidFill>
                  <a:srgbClr val="7AADCC"/>
                </a:solidFill>
                <a:latin typeface="Calibri" pitchFamily="34" charset="0"/>
                <a:ea typeface="Calibri" pitchFamily="34" charset="-122"/>
                <a:cs typeface="Calibri" pitchFamily="34" charset="-120"/>
              </a:rPr>
              <a:t>Architectures  ·  class imbalance  ·  pixel stats  ·  t-SNE</a:t>
            </a:r>
            <a:endParaRPr lang="en-US" sz="1400" dirty="0"/>
          </a:p>
        </p:txBody>
      </p:sp>
      <p:sp>
        <p:nvSpPr>
          <p:cNvPr id="11" name="Shape 9"/>
          <p:cNvSpPr/>
          <p:nvPr/>
        </p:nvSpPr>
        <p:spPr>
          <a:xfrm>
            <a:off x="4754880" y="822960"/>
            <a:ext cx="4160520" cy="1691640"/>
          </a:xfrm>
          <a:prstGeom prst="rect">
            <a:avLst/>
          </a:prstGeom>
          <a:solidFill>
            <a:srgbClr val="1C3A52"/>
          </a:solidFill>
          <a:ln w="6350">
            <a:solidFill>
              <a:srgbClr val="112233"/>
            </a:solidFill>
            <a:prstDash val="solid"/>
          </a:ln>
          <a:effectLst>
            <a:outerShdw blurRad="101600" dist="38100" dir="8100000" algn="bl" rotWithShape="0">
              <a:srgbClr val="000000">
                <a:alpha val="10000"/>
              </a:srgbClr>
            </a:outerShdw>
          </a:effectLst>
        </p:spPr>
        <p:txBody>
          <a:bodyPr/>
          <a:lstStyle/>
          <a:p>
            <a:endParaRPr lang="pt-PT"/>
          </a:p>
        </p:txBody>
      </p:sp>
      <p:sp>
        <p:nvSpPr>
          <p:cNvPr id="12" name="Shape 10"/>
          <p:cNvSpPr/>
          <p:nvPr/>
        </p:nvSpPr>
        <p:spPr>
          <a:xfrm>
            <a:off x="4754880" y="822960"/>
            <a:ext cx="82296" cy="1691640"/>
          </a:xfrm>
          <a:prstGeom prst="rect">
            <a:avLst/>
          </a:prstGeom>
          <a:solidFill>
            <a:srgbClr val="00A896"/>
          </a:solidFill>
          <a:ln w="12700">
            <a:solidFill>
              <a:srgbClr val="00A896"/>
            </a:solidFill>
            <a:prstDash val="solid"/>
          </a:ln>
        </p:spPr>
        <p:txBody>
          <a:bodyPr/>
          <a:lstStyle/>
          <a:p>
            <a:endParaRPr lang="pt-PT"/>
          </a:p>
        </p:txBody>
      </p:sp>
      <p:sp>
        <p:nvSpPr>
          <p:cNvPr id="13" name="Text 11"/>
          <p:cNvSpPr/>
          <p:nvPr/>
        </p:nvSpPr>
        <p:spPr>
          <a:xfrm>
            <a:off x="4910328" y="932688"/>
            <a:ext cx="475488" cy="475488"/>
          </a:xfrm>
          <a:prstGeom prst="rect">
            <a:avLst/>
          </a:prstGeom>
          <a:noFill/>
          <a:ln/>
        </p:spPr>
        <p:txBody>
          <a:bodyPr wrap="square" lIns="0" tIns="0" rIns="0" bIns="0" rtlCol="0" anchor="ctr"/>
          <a:lstStyle/>
          <a:p>
            <a:pPr marL="0" indent="0">
              <a:buNone/>
            </a:pPr>
            <a:r>
              <a:rPr lang="en-US" sz="2200" b="1" dirty="0">
                <a:solidFill>
                  <a:srgbClr val="00A896"/>
                </a:solidFill>
                <a:latin typeface="Trebuchet MS" pitchFamily="34" charset="0"/>
                <a:ea typeface="Trebuchet MS" pitchFamily="34" charset="-122"/>
                <a:cs typeface="Trebuchet MS" pitchFamily="34" charset="-120"/>
              </a:rPr>
              <a:t>2</a:t>
            </a:r>
            <a:endParaRPr lang="en-US" sz="2200" dirty="0"/>
          </a:p>
        </p:txBody>
      </p:sp>
      <p:sp>
        <p:nvSpPr>
          <p:cNvPr id="16" name="Text 14"/>
          <p:cNvSpPr/>
          <p:nvPr/>
        </p:nvSpPr>
        <p:spPr>
          <a:xfrm>
            <a:off x="5440680" y="932688"/>
            <a:ext cx="3200400" cy="411480"/>
          </a:xfrm>
          <a:prstGeom prst="rect">
            <a:avLst/>
          </a:prstGeom>
          <a:noFill/>
          <a:ln/>
        </p:spPr>
        <p:txBody>
          <a:bodyPr wrap="square" lIns="0" tIns="0" rIns="0" bIns="0" rtlCol="0" anchor="ctr"/>
          <a:lstStyle/>
          <a:p>
            <a:pPr marL="0" indent="0">
              <a:buNone/>
            </a:pPr>
            <a:r>
              <a:rPr lang="en-US" sz="1400" b="1" dirty="0">
                <a:solidFill>
                  <a:srgbClr val="FFFFFF"/>
                </a:solidFill>
                <a:latin typeface="Trebuchet MS" pitchFamily="34" charset="0"/>
                <a:ea typeface="Trebuchet MS" pitchFamily="34" charset="-122"/>
                <a:cs typeface="Trebuchet MS" pitchFamily="34" charset="-120"/>
              </a:rPr>
              <a:t>Model Development</a:t>
            </a:r>
            <a:endParaRPr lang="en-US" sz="1400" dirty="0"/>
          </a:p>
        </p:txBody>
      </p:sp>
      <p:sp>
        <p:nvSpPr>
          <p:cNvPr id="17" name="Text 15"/>
          <p:cNvSpPr/>
          <p:nvPr/>
        </p:nvSpPr>
        <p:spPr>
          <a:xfrm>
            <a:off x="5416296" y="1389888"/>
            <a:ext cx="3480816" cy="822960"/>
          </a:xfrm>
          <a:prstGeom prst="rect">
            <a:avLst/>
          </a:prstGeom>
          <a:noFill/>
          <a:ln/>
        </p:spPr>
        <p:txBody>
          <a:bodyPr wrap="square" lIns="0" tIns="0" rIns="0" bIns="0" rtlCol="0" anchor="ctr"/>
          <a:lstStyle/>
          <a:p>
            <a:pPr marL="0" indent="0">
              <a:buNone/>
            </a:pPr>
            <a:r>
              <a:rPr lang="en-US" sz="1400" dirty="0">
                <a:solidFill>
                  <a:srgbClr val="7AADCC"/>
                </a:solidFill>
                <a:latin typeface="Calibri" pitchFamily="34" charset="0"/>
                <a:ea typeface="Calibri" pitchFamily="34" charset="-122"/>
                <a:cs typeface="Calibri" pitchFamily="34" charset="-120"/>
              </a:rPr>
              <a:t>Architecture  ·  19 experiments  ·  regularisation</a:t>
            </a:r>
            <a:endParaRPr lang="en-US" sz="1400" dirty="0"/>
          </a:p>
        </p:txBody>
      </p:sp>
      <p:sp>
        <p:nvSpPr>
          <p:cNvPr id="18" name="Shape 16"/>
          <p:cNvSpPr/>
          <p:nvPr/>
        </p:nvSpPr>
        <p:spPr>
          <a:xfrm>
            <a:off x="365760" y="2788920"/>
            <a:ext cx="4160520" cy="1691640"/>
          </a:xfrm>
          <a:prstGeom prst="rect">
            <a:avLst/>
          </a:prstGeom>
          <a:solidFill>
            <a:srgbClr val="1C3A52"/>
          </a:solidFill>
          <a:ln w="6350">
            <a:solidFill>
              <a:srgbClr val="112233"/>
            </a:solidFill>
            <a:prstDash val="solid"/>
          </a:ln>
          <a:effectLst>
            <a:outerShdw blurRad="101600" dist="38100" dir="8100000" algn="bl" rotWithShape="0">
              <a:srgbClr val="000000">
                <a:alpha val="10000"/>
              </a:srgbClr>
            </a:outerShdw>
          </a:effectLst>
        </p:spPr>
        <p:txBody>
          <a:bodyPr/>
          <a:lstStyle/>
          <a:p>
            <a:endParaRPr lang="pt-PT"/>
          </a:p>
        </p:txBody>
      </p:sp>
      <p:sp>
        <p:nvSpPr>
          <p:cNvPr id="19" name="Shape 17"/>
          <p:cNvSpPr/>
          <p:nvPr/>
        </p:nvSpPr>
        <p:spPr>
          <a:xfrm>
            <a:off x="365760" y="2788920"/>
            <a:ext cx="82296" cy="1691640"/>
          </a:xfrm>
          <a:prstGeom prst="rect">
            <a:avLst/>
          </a:prstGeom>
          <a:solidFill>
            <a:srgbClr val="00A896"/>
          </a:solidFill>
          <a:ln w="12700">
            <a:solidFill>
              <a:srgbClr val="00A896"/>
            </a:solidFill>
            <a:prstDash val="solid"/>
          </a:ln>
        </p:spPr>
        <p:txBody>
          <a:bodyPr/>
          <a:lstStyle/>
          <a:p>
            <a:endParaRPr lang="pt-PT"/>
          </a:p>
        </p:txBody>
      </p:sp>
      <p:sp>
        <p:nvSpPr>
          <p:cNvPr id="20" name="Text 18"/>
          <p:cNvSpPr/>
          <p:nvPr/>
        </p:nvSpPr>
        <p:spPr>
          <a:xfrm>
            <a:off x="521208" y="2898648"/>
            <a:ext cx="475488" cy="475488"/>
          </a:xfrm>
          <a:prstGeom prst="rect">
            <a:avLst/>
          </a:prstGeom>
          <a:noFill/>
          <a:ln/>
        </p:spPr>
        <p:txBody>
          <a:bodyPr wrap="square" lIns="0" tIns="0" rIns="0" bIns="0" rtlCol="0" anchor="ctr"/>
          <a:lstStyle/>
          <a:p>
            <a:pPr marL="0" indent="0">
              <a:buNone/>
            </a:pPr>
            <a:r>
              <a:rPr lang="en-US" sz="2200" b="1" dirty="0">
                <a:solidFill>
                  <a:srgbClr val="00A896"/>
                </a:solidFill>
                <a:latin typeface="Trebuchet MS" pitchFamily="34" charset="0"/>
                <a:ea typeface="Trebuchet MS" pitchFamily="34" charset="-122"/>
                <a:cs typeface="Trebuchet MS" pitchFamily="34" charset="-120"/>
              </a:rPr>
              <a:t>3</a:t>
            </a:r>
            <a:endParaRPr lang="en-US" sz="2200" dirty="0"/>
          </a:p>
        </p:txBody>
      </p:sp>
      <p:sp>
        <p:nvSpPr>
          <p:cNvPr id="23" name="Text 21"/>
          <p:cNvSpPr/>
          <p:nvPr/>
        </p:nvSpPr>
        <p:spPr>
          <a:xfrm>
            <a:off x="1051560" y="2898648"/>
            <a:ext cx="3200400" cy="411480"/>
          </a:xfrm>
          <a:prstGeom prst="rect">
            <a:avLst/>
          </a:prstGeom>
          <a:noFill/>
          <a:ln/>
        </p:spPr>
        <p:txBody>
          <a:bodyPr wrap="square" lIns="0" tIns="0" rIns="0" bIns="0" rtlCol="0" anchor="ctr"/>
          <a:lstStyle/>
          <a:p>
            <a:pPr marL="0" indent="0">
              <a:buNone/>
            </a:pPr>
            <a:r>
              <a:rPr lang="en-US" sz="1400" b="1" dirty="0">
                <a:solidFill>
                  <a:srgbClr val="FFFFFF"/>
                </a:solidFill>
                <a:latin typeface="Trebuchet MS" pitchFamily="34" charset="0"/>
                <a:ea typeface="Trebuchet MS" pitchFamily="34" charset="-122"/>
                <a:cs typeface="Trebuchet MS" pitchFamily="34" charset="-120"/>
              </a:rPr>
              <a:t>Training Efficiency</a:t>
            </a:r>
            <a:endParaRPr lang="en-US" sz="1400" dirty="0"/>
          </a:p>
        </p:txBody>
      </p:sp>
      <p:sp>
        <p:nvSpPr>
          <p:cNvPr id="24" name="Text 22"/>
          <p:cNvSpPr/>
          <p:nvPr/>
        </p:nvSpPr>
        <p:spPr>
          <a:xfrm>
            <a:off x="1027176" y="3355848"/>
            <a:ext cx="3480816" cy="822960"/>
          </a:xfrm>
          <a:prstGeom prst="rect">
            <a:avLst/>
          </a:prstGeom>
          <a:noFill/>
          <a:ln/>
        </p:spPr>
        <p:txBody>
          <a:bodyPr wrap="square" lIns="0" tIns="0" rIns="0" bIns="0" rtlCol="0" anchor="ctr"/>
          <a:lstStyle/>
          <a:p>
            <a:pPr marL="0" indent="0">
              <a:buNone/>
            </a:pPr>
            <a:r>
              <a:rPr lang="en-US" sz="1400" dirty="0">
                <a:solidFill>
                  <a:srgbClr val="7AADCC"/>
                </a:solidFill>
                <a:latin typeface="Calibri" pitchFamily="34" charset="0"/>
                <a:ea typeface="Calibri" pitchFamily="34" charset="-122"/>
                <a:cs typeface="Calibri" pitchFamily="34" charset="-120"/>
              </a:rPr>
              <a:t>Early stopping  ·  GPU budget  ·  checkpointing</a:t>
            </a:r>
            <a:endParaRPr lang="en-US" sz="1400" dirty="0"/>
          </a:p>
        </p:txBody>
      </p:sp>
      <p:sp>
        <p:nvSpPr>
          <p:cNvPr id="25" name="Shape 23"/>
          <p:cNvSpPr/>
          <p:nvPr/>
        </p:nvSpPr>
        <p:spPr>
          <a:xfrm>
            <a:off x="4754880" y="2788920"/>
            <a:ext cx="4160520" cy="1691640"/>
          </a:xfrm>
          <a:prstGeom prst="rect">
            <a:avLst/>
          </a:prstGeom>
          <a:solidFill>
            <a:srgbClr val="1C3A52"/>
          </a:solidFill>
          <a:ln w="6350">
            <a:solidFill>
              <a:srgbClr val="112233"/>
            </a:solidFill>
            <a:prstDash val="solid"/>
          </a:ln>
          <a:effectLst>
            <a:outerShdw blurRad="101600" dist="38100" dir="8100000" algn="bl" rotWithShape="0">
              <a:srgbClr val="000000">
                <a:alpha val="10000"/>
              </a:srgbClr>
            </a:outerShdw>
          </a:effectLst>
        </p:spPr>
        <p:txBody>
          <a:bodyPr/>
          <a:lstStyle/>
          <a:p>
            <a:endParaRPr lang="pt-PT"/>
          </a:p>
        </p:txBody>
      </p:sp>
      <p:sp>
        <p:nvSpPr>
          <p:cNvPr id="26" name="Shape 24"/>
          <p:cNvSpPr/>
          <p:nvPr/>
        </p:nvSpPr>
        <p:spPr>
          <a:xfrm>
            <a:off x="4754880" y="2788920"/>
            <a:ext cx="82296" cy="1691640"/>
          </a:xfrm>
          <a:prstGeom prst="rect">
            <a:avLst/>
          </a:prstGeom>
          <a:solidFill>
            <a:srgbClr val="00A896"/>
          </a:solidFill>
          <a:ln w="12700">
            <a:solidFill>
              <a:srgbClr val="00A896"/>
            </a:solidFill>
            <a:prstDash val="solid"/>
          </a:ln>
        </p:spPr>
        <p:txBody>
          <a:bodyPr/>
          <a:lstStyle/>
          <a:p>
            <a:endParaRPr lang="pt-PT"/>
          </a:p>
        </p:txBody>
      </p:sp>
      <p:sp>
        <p:nvSpPr>
          <p:cNvPr id="27" name="Text 25"/>
          <p:cNvSpPr/>
          <p:nvPr/>
        </p:nvSpPr>
        <p:spPr>
          <a:xfrm>
            <a:off x="4910328" y="2898648"/>
            <a:ext cx="475488" cy="475488"/>
          </a:xfrm>
          <a:prstGeom prst="rect">
            <a:avLst/>
          </a:prstGeom>
          <a:noFill/>
          <a:ln/>
        </p:spPr>
        <p:txBody>
          <a:bodyPr wrap="square" lIns="0" tIns="0" rIns="0" bIns="0" rtlCol="0" anchor="ctr"/>
          <a:lstStyle/>
          <a:p>
            <a:pPr marL="0" indent="0">
              <a:buNone/>
            </a:pPr>
            <a:r>
              <a:rPr lang="en-US" sz="2200" b="1" dirty="0">
                <a:solidFill>
                  <a:srgbClr val="00A896"/>
                </a:solidFill>
                <a:latin typeface="Trebuchet MS" pitchFamily="34" charset="0"/>
                <a:ea typeface="Trebuchet MS" pitchFamily="34" charset="-122"/>
                <a:cs typeface="Trebuchet MS" pitchFamily="34" charset="-120"/>
              </a:rPr>
              <a:t>4</a:t>
            </a:r>
            <a:endParaRPr lang="en-US" sz="2200" dirty="0"/>
          </a:p>
        </p:txBody>
      </p:sp>
      <p:sp>
        <p:nvSpPr>
          <p:cNvPr id="30" name="Text 28"/>
          <p:cNvSpPr/>
          <p:nvPr/>
        </p:nvSpPr>
        <p:spPr>
          <a:xfrm>
            <a:off x="5440680" y="2898648"/>
            <a:ext cx="3200400" cy="411480"/>
          </a:xfrm>
          <a:prstGeom prst="rect">
            <a:avLst/>
          </a:prstGeom>
          <a:noFill/>
          <a:ln/>
        </p:spPr>
        <p:txBody>
          <a:bodyPr wrap="square" lIns="0" tIns="0" rIns="0" bIns="0" rtlCol="0" anchor="ctr"/>
          <a:lstStyle/>
          <a:p>
            <a:pPr marL="0" indent="0">
              <a:buNone/>
            </a:pPr>
            <a:r>
              <a:rPr lang="en-US" sz="1400" b="1" dirty="0">
                <a:solidFill>
                  <a:srgbClr val="FFFFFF"/>
                </a:solidFill>
                <a:latin typeface="Trebuchet MS" pitchFamily="34" charset="0"/>
                <a:ea typeface="Trebuchet MS" pitchFamily="34" charset="-122"/>
                <a:cs typeface="Trebuchet MS" pitchFamily="34" charset="-120"/>
              </a:rPr>
              <a:t>Performance Evaluation</a:t>
            </a:r>
            <a:endParaRPr lang="en-US" sz="1400" dirty="0"/>
          </a:p>
        </p:txBody>
      </p:sp>
      <p:sp>
        <p:nvSpPr>
          <p:cNvPr id="31" name="Text 29"/>
          <p:cNvSpPr/>
          <p:nvPr/>
        </p:nvSpPr>
        <p:spPr>
          <a:xfrm>
            <a:off x="5416295" y="3355848"/>
            <a:ext cx="3674195" cy="822960"/>
          </a:xfrm>
          <a:prstGeom prst="rect">
            <a:avLst/>
          </a:prstGeom>
          <a:noFill/>
          <a:ln/>
        </p:spPr>
        <p:txBody>
          <a:bodyPr wrap="square" lIns="0" tIns="0" rIns="0" bIns="0" rtlCol="0" anchor="ctr"/>
          <a:lstStyle/>
          <a:p>
            <a:pPr marL="0" indent="0">
              <a:buNone/>
            </a:pPr>
            <a:r>
              <a:rPr lang="en-US" sz="1400" dirty="0">
                <a:solidFill>
                  <a:srgbClr val="7AADCC"/>
                </a:solidFill>
                <a:latin typeface="Calibri" pitchFamily="34" charset="0"/>
                <a:ea typeface="Calibri" pitchFamily="34" charset="-122"/>
                <a:cs typeface="Calibri" pitchFamily="34" charset="-120"/>
              </a:rPr>
              <a:t>Macro-F1  ·  Per-class  ·  Confusion Matrix</a:t>
            </a:r>
            <a:endParaRPr lang="en-US" sz="1400" dirty="0"/>
          </a:p>
        </p:txBody>
      </p:sp>
      <p:pic>
        <p:nvPicPr>
          <p:cNvPr id="7" name="Picture 8" descr="NOSSA™ | NOVA School of Science &amp; Technology">
            <a:extLst>
              <a:ext uri="{FF2B5EF4-FFF2-40B4-BE49-F238E27FC236}">
                <a16:creationId xmlns:a16="http://schemas.microsoft.com/office/drawing/2014/main" id="{468AEAC2-1FE2-5767-8EC3-4A82ADED1E0D}"/>
              </a:ext>
            </a:extLst>
          </p:cNvPr>
          <p:cNvPicPr>
            <a:picLocks noChangeAspect="1" noChangeArrowheads="1"/>
          </p:cNvPicPr>
          <p:nvPr/>
        </p:nvPicPr>
        <p:blipFill rotWithShape="1">
          <a:blip r:embed="rId3">
            <a:extLst>
              <a:ext uri="{BEBA8EAE-BF5A-486C-A8C5-ECC9F3942E4B}">
                <a14:imgProps xmlns:a14="http://schemas.microsoft.com/office/drawing/2010/main">
                  <a14:imgLayer r:embed="rId4">
                    <a14:imgEffect>
                      <a14:backgroundRemoval t="28056" b="59722" l="28750" r="70625">
                        <a14:foregroundMark x1="28750" y1="38889" x2="29375" y2="52778"/>
                        <a14:foregroundMark x1="66406" y1="39167" x2="64844" y2="49722"/>
                        <a14:foregroundMark x1="69063" y1="45278" x2="70781" y2="50833"/>
                        <a14:foregroundMark x1="38750" y1="54444" x2="46094" y2="59722"/>
                        <a14:foregroundMark x1="46094" y1="59722" x2="50938" y2="55000"/>
                        <a14:foregroundMark x1="51250" y1="33889" x2="42188" y2="30833"/>
                        <a14:foregroundMark x1="42188" y1="30833" x2="38281" y2="35000"/>
                        <a14:foregroundMark x1="51875" y1="36944" x2="55313" y2="41111"/>
                      </a14:backgroundRemoval>
                    </a14:imgEffect>
                  </a14:imgLayer>
                </a14:imgProps>
              </a:ext>
              <a:ext uri="{28A0092B-C50C-407E-A947-70E740481C1C}">
                <a14:useLocalDpi xmlns:a14="http://schemas.microsoft.com/office/drawing/2010/main" val="0"/>
              </a:ext>
            </a:extLst>
          </a:blip>
          <a:srcRect l="24369" t="25133" r="26983" b="39200"/>
          <a:stretch>
            <a:fillRect/>
          </a:stretch>
        </p:blipFill>
        <p:spPr bwMode="auto">
          <a:xfrm>
            <a:off x="8002953" y="23445"/>
            <a:ext cx="1023658" cy="42215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EBF93C-6E0A-CA71-E33C-F276EAFECB81}"/>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CC9B429E-9543-9656-705B-B803BA1310D0}"/>
              </a:ext>
            </a:extLst>
          </p:cNvPr>
          <p:cNvSpPr/>
          <p:nvPr/>
        </p:nvSpPr>
        <p:spPr>
          <a:xfrm>
            <a:off x="6217920" y="-822960"/>
            <a:ext cx="4754880" cy="4754880"/>
          </a:xfrm>
          <a:prstGeom prst="ellipse">
            <a:avLst/>
          </a:prstGeom>
          <a:solidFill>
            <a:srgbClr val="1C3A52">
              <a:alpha val="62000"/>
            </a:srgbClr>
          </a:solidFill>
          <a:ln w="12700">
            <a:solidFill>
              <a:srgbClr val="1C3A52"/>
            </a:solidFill>
            <a:prstDash val="solid"/>
          </a:ln>
        </p:spPr>
        <p:txBody>
          <a:bodyPr/>
          <a:lstStyle/>
          <a:p>
            <a:endParaRPr lang="pt-PT"/>
          </a:p>
        </p:txBody>
      </p:sp>
      <p:sp>
        <p:nvSpPr>
          <p:cNvPr id="3" name="Shape 1">
            <a:extLst>
              <a:ext uri="{FF2B5EF4-FFF2-40B4-BE49-F238E27FC236}">
                <a16:creationId xmlns:a16="http://schemas.microsoft.com/office/drawing/2014/main" id="{63CAD504-519F-DC95-8B70-70BC476FCD2A}"/>
              </a:ext>
            </a:extLst>
          </p:cNvPr>
          <p:cNvSpPr/>
          <p:nvPr/>
        </p:nvSpPr>
        <p:spPr>
          <a:xfrm>
            <a:off x="7315200" y="2377440"/>
            <a:ext cx="2743200" cy="2743200"/>
          </a:xfrm>
          <a:prstGeom prst="ellipse">
            <a:avLst/>
          </a:prstGeom>
          <a:solidFill>
            <a:srgbClr val="00A896">
              <a:alpha val="45000"/>
            </a:srgbClr>
          </a:solidFill>
          <a:ln w="12700">
            <a:solidFill>
              <a:srgbClr val="00A896"/>
            </a:solidFill>
            <a:prstDash val="solid"/>
          </a:ln>
        </p:spPr>
        <p:txBody>
          <a:bodyPr/>
          <a:lstStyle/>
          <a:p>
            <a:endParaRPr lang="pt-PT"/>
          </a:p>
        </p:txBody>
      </p:sp>
      <p:pic>
        <p:nvPicPr>
          <p:cNvPr id="1028" name="Picture 4" descr="NOVA FCT">
            <a:extLst>
              <a:ext uri="{FF2B5EF4-FFF2-40B4-BE49-F238E27FC236}">
                <a16:creationId xmlns:a16="http://schemas.microsoft.com/office/drawing/2014/main" id="{76079A80-E769-2EC2-F0D0-19126503B99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22933" b="35200"/>
          <a:stretch/>
        </p:blipFill>
        <p:spPr bwMode="auto">
          <a:xfrm>
            <a:off x="5362525" y="-739257"/>
            <a:ext cx="1188684" cy="493776"/>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Quais os principais tipos de Pokémon que existem no anime e filmes  animados? - Olhar Digital">
            <a:extLst>
              <a:ext uri="{FF2B5EF4-FFF2-40B4-BE49-F238E27FC236}">
                <a16:creationId xmlns:a16="http://schemas.microsoft.com/office/drawing/2014/main" id="{4434559A-786D-D1DD-16DF-DF333FBAF593}"/>
              </a:ext>
            </a:extLst>
          </p:cNvPr>
          <p:cNvPicPr>
            <a:picLocks noChangeAspect="1" noChangeArrowheads="1"/>
          </p:cNvPicPr>
          <p:nvPr/>
        </p:nvPicPr>
        <p:blipFill>
          <a:blip r:embed="rId4">
            <a:extLst>
              <a:ext uri="{BEBA8EAE-BF5A-486C-A8C5-ECC9F3942E4B}">
                <a14:imgProps xmlns:a14="http://schemas.microsoft.com/office/drawing/2010/main">
                  <a14:imgLayer r:embed="rId5">
                    <a14:imgEffect>
                      <a14:backgroundRemoval t="10000" b="98750" l="4375" r="97773">
                        <a14:foregroundMark x1="6016" y1="58819" x2="5938" y2="87500"/>
                        <a14:foregroundMark x1="5938" y1="87500" x2="9609" y2="99236"/>
                        <a14:foregroundMark x1="9609" y1="99236" x2="18633" y2="94514"/>
                        <a14:foregroundMark x1="18633" y1="94514" x2="25547" y2="95972"/>
                        <a14:foregroundMark x1="25547" y1="95972" x2="20391" y2="85556"/>
                        <a14:foregroundMark x1="20391" y1="85556" x2="18516" y2="75208"/>
                        <a14:foregroundMark x1="18516" y1="75208" x2="20156" y2="60972"/>
                        <a14:foregroundMark x1="20156" y1="60972" x2="10469" y2="66250"/>
                        <a14:foregroundMark x1="10469" y1="66250" x2="11719" y2="82361"/>
                        <a14:foregroundMark x1="11719" y1="82361" x2="13750" y2="72292"/>
                        <a14:foregroundMark x1="5469" y1="57569" x2="5039" y2="79722"/>
                        <a14:foregroundMark x1="5039" y1="79722" x2="4414" y2="83889"/>
                        <a14:foregroundMark x1="7070" y1="95069" x2="8008" y2="98403"/>
                        <a14:foregroundMark x1="63594" y1="97639" x2="67852" y2="98819"/>
                        <a14:foregroundMark x1="16250" y1="73264" x2="16797" y2="77292"/>
                        <a14:foregroundMark x1="96133" y1="50278" x2="97031" y2="63264"/>
                        <a14:foregroundMark x1="97031" y1="63264" x2="94492" y2="76597"/>
                        <a14:foregroundMark x1="94492" y1="76597" x2="90391" y2="83333"/>
                        <a14:foregroundMark x1="90391" y1="83333" x2="86914" y2="85833"/>
                        <a14:foregroundMark x1="95859" y1="50278" x2="97546" y2="63683"/>
                        <a14:foregroundMark x1="96841" y1="69371" x2="94141" y2="80625"/>
                        <a14:foregroundMark x1="97461" y1="67292" x2="96406" y2="75139"/>
                        <a14:foregroundMark x1="96680" y1="40278" x2="96680" y2="45069"/>
                        <a14:backgroundMark x1="97617" y1="63681" x2="97695" y2="71875"/>
                      </a14:backgroundRemoval>
                    </a14:imgEffect>
                  </a14:imgLayer>
                </a14:imgProps>
              </a:ext>
              <a:ext uri="{28A0092B-C50C-407E-A947-70E740481C1C}">
                <a14:useLocalDpi xmlns:a14="http://schemas.microsoft.com/office/drawing/2010/main" val="0"/>
              </a:ext>
            </a:extLst>
          </a:blip>
          <a:srcRect/>
          <a:stretch>
            <a:fillRect/>
          </a:stretch>
        </p:blipFill>
        <p:spPr bwMode="auto">
          <a:xfrm>
            <a:off x="2917953" y="1645921"/>
            <a:ext cx="6226048" cy="3502152"/>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8" descr="NOSSA™ | NOVA School of Science &amp; Technology">
            <a:extLst>
              <a:ext uri="{FF2B5EF4-FFF2-40B4-BE49-F238E27FC236}">
                <a16:creationId xmlns:a16="http://schemas.microsoft.com/office/drawing/2014/main" id="{28CD9547-9756-F2C6-1D40-B1706E1C56A6}"/>
              </a:ext>
            </a:extLst>
          </p:cNvPr>
          <p:cNvPicPr>
            <a:picLocks noChangeAspect="1" noChangeArrowheads="1"/>
          </p:cNvPicPr>
          <p:nvPr/>
        </p:nvPicPr>
        <p:blipFill rotWithShape="1">
          <a:blip r:embed="rId6">
            <a:extLst>
              <a:ext uri="{BEBA8EAE-BF5A-486C-A8C5-ECC9F3942E4B}">
                <a14:imgProps xmlns:a14="http://schemas.microsoft.com/office/drawing/2010/main">
                  <a14:imgLayer r:embed="rId7">
                    <a14:imgEffect>
                      <a14:backgroundRemoval t="28056" b="59722" l="28750" r="70625">
                        <a14:foregroundMark x1="28750" y1="38889" x2="29375" y2="52778"/>
                        <a14:foregroundMark x1="66406" y1="39167" x2="64844" y2="49722"/>
                        <a14:foregroundMark x1="69063" y1="45278" x2="70781" y2="50833"/>
                        <a14:foregroundMark x1="38750" y1="54444" x2="46094" y2="59722"/>
                        <a14:foregroundMark x1="46094" y1="59722" x2="50938" y2="55000"/>
                        <a14:foregroundMark x1="51250" y1="33889" x2="42188" y2="30833"/>
                        <a14:foregroundMark x1="42188" y1="30833" x2="38281" y2="35000"/>
                        <a14:foregroundMark x1="51875" y1="36944" x2="55313" y2="41111"/>
                      </a14:backgroundRemoval>
                    </a14:imgEffect>
                  </a14:imgLayer>
                </a14:imgProps>
              </a:ext>
              <a:ext uri="{28A0092B-C50C-407E-A947-70E740481C1C}">
                <a14:useLocalDpi xmlns:a14="http://schemas.microsoft.com/office/drawing/2010/main" val="0"/>
              </a:ext>
            </a:extLst>
          </a:blip>
          <a:srcRect l="24369" t="25133" r="26983" b="39200"/>
          <a:stretch>
            <a:fillRect/>
          </a:stretch>
        </p:blipFill>
        <p:spPr bwMode="auto">
          <a:xfrm>
            <a:off x="7838728" y="83266"/>
            <a:ext cx="1250407" cy="515666"/>
          </a:xfrm>
          <a:prstGeom prst="rect">
            <a:avLst/>
          </a:prstGeom>
          <a:noFill/>
          <a:extLst>
            <a:ext uri="{909E8E84-426E-40DD-AFC4-6F175D3DCCD1}">
              <a14:hiddenFill xmlns:a14="http://schemas.microsoft.com/office/drawing/2010/main">
                <a:solidFill>
                  <a:srgbClr val="FFFFFF"/>
                </a:solidFill>
              </a14:hiddenFill>
            </a:ext>
          </a:extLst>
        </p:spPr>
      </p:pic>
      <p:sp>
        <p:nvSpPr>
          <p:cNvPr id="13" name="Text 4">
            <a:extLst>
              <a:ext uri="{FF2B5EF4-FFF2-40B4-BE49-F238E27FC236}">
                <a16:creationId xmlns:a16="http://schemas.microsoft.com/office/drawing/2014/main" id="{126CB09D-0BFD-09CC-0B52-045D8A1DF192}"/>
              </a:ext>
            </a:extLst>
          </p:cNvPr>
          <p:cNvSpPr/>
          <p:nvPr/>
        </p:nvSpPr>
        <p:spPr>
          <a:xfrm>
            <a:off x="1274249" y="1161287"/>
            <a:ext cx="6400800" cy="822960"/>
          </a:xfrm>
          <a:prstGeom prst="rect">
            <a:avLst/>
          </a:prstGeom>
          <a:noFill/>
          <a:ln/>
        </p:spPr>
        <p:txBody>
          <a:bodyPr wrap="square" lIns="0" tIns="0" rIns="0" bIns="0" rtlCol="0" anchor="ctr"/>
          <a:lstStyle/>
          <a:p>
            <a:pPr marL="0" indent="0">
              <a:buNone/>
            </a:pPr>
            <a:r>
              <a:rPr lang="en-US" sz="3000" b="1" dirty="0">
                <a:solidFill>
                  <a:srgbClr val="FFFFFF"/>
                </a:solidFill>
                <a:latin typeface="Trebuchet MS" pitchFamily="34" charset="0"/>
                <a:ea typeface="Trebuchet MS" pitchFamily="34" charset="-122"/>
                <a:cs typeface="Trebuchet MS" pitchFamily="34" charset="-120"/>
              </a:rPr>
              <a:t>Model Development</a:t>
            </a:r>
          </a:p>
        </p:txBody>
      </p:sp>
      <p:sp>
        <p:nvSpPr>
          <p:cNvPr id="14" name="Rectangle: Rounded Corners 13">
            <a:extLst>
              <a:ext uri="{FF2B5EF4-FFF2-40B4-BE49-F238E27FC236}">
                <a16:creationId xmlns:a16="http://schemas.microsoft.com/office/drawing/2014/main" id="{F1208A27-ACDC-2F0D-389D-D639A2AE77BA}"/>
              </a:ext>
            </a:extLst>
          </p:cNvPr>
          <p:cNvSpPr/>
          <p:nvPr/>
        </p:nvSpPr>
        <p:spPr>
          <a:xfrm>
            <a:off x="192727" y="1015139"/>
            <a:ext cx="966372" cy="969108"/>
          </a:xfrm>
          <a:prstGeom prst="roundRect">
            <a:avLst/>
          </a:prstGeom>
          <a:scene3d>
            <a:camera prst="orthographicFront"/>
            <a:lightRig rig="threePt" dir="t"/>
          </a:scene3d>
          <a:sp3d>
            <a:bevelT/>
          </a:sp3d>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3200" b="1" dirty="0"/>
              <a:t>1</a:t>
            </a:r>
            <a:endParaRPr lang="pt-PT" b="1" dirty="0"/>
          </a:p>
        </p:txBody>
      </p:sp>
      <p:cxnSp>
        <p:nvCxnSpPr>
          <p:cNvPr id="16" name="Straight Connector 15">
            <a:extLst>
              <a:ext uri="{FF2B5EF4-FFF2-40B4-BE49-F238E27FC236}">
                <a16:creationId xmlns:a16="http://schemas.microsoft.com/office/drawing/2014/main" id="{87E16401-53BD-06FB-8BD7-0FAEF5EF5329}"/>
              </a:ext>
            </a:extLst>
          </p:cNvPr>
          <p:cNvCxnSpPr/>
          <p:nvPr/>
        </p:nvCxnSpPr>
        <p:spPr>
          <a:xfrm>
            <a:off x="1305169" y="1856154"/>
            <a:ext cx="4822093" cy="0"/>
          </a:xfrm>
          <a:prstGeom prst="line">
            <a:avLst/>
          </a:prstGeom>
          <a:ln w="28575"/>
          <a:scene3d>
            <a:camera prst="orthographicFront"/>
            <a:lightRig rig="threePt" dir="t"/>
          </a:scene3d>
          <a:sp3d>
            <a:bevelT/>
          </a:sp3d>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20494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4F7F9"/>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0A896"/>
          </a:solidFill>
          <a:ln w="12700">
            <a:solidFill>
              <a:srgbClr val="00A896"/>
            </a:solidFill>
            <a:prstDash val="solid"/>
          </a:ln>
        </p:spPr>
        <p:txBody>
          <a:bodyPr/>
          <a:lstStyle/>
          <a:p>
            <a:endParaRPr lang="pt-PT"/>
          </a:p>
        </p:txBody>
      </p:sp>
      <p:sp>
        <p:nvSpPr>
          <p:cNvPr id="3" name="Text 1"/>
          <p:cNvSpPr/>
          <p:nvPr/>
        </p:nvSpPr>
        <p:spPr>
          <a:xfrm>
            <a:off x="457200" y="109728"/>
            <a:ext cx="7772400" cy="530352"/>
          </a:xfrm>
          <a:prstGeom prst="rect">
            <a:avLst/>
          </a:prstGeom>
          <a:noFill/>
          <a:ln/>
        </p:spPr>
        <p:txBody>
          <a:bodyPr wrap="square" lIns="0" tIns="0" rIns="0" bIns="0" rtlCol="0" anchor="ctr"/>
          <a:lstStyle/>
          <a:p>
            <a:pPr marL="0" indent="0">
              <a:buNone/>
            </a:pPr>
            <a:r>
              <a:rPr lang="en-US" sz="2200" b="1" dirty="0">
                <a:solidFill>
                  <a:srgbClr val="0D1B2A"/>
                </a:solidFill>
                <a:latin typeface="Trebuchet MS" pitchFamily="34" charset="0"/>
                <a:ea typeface="Trebuchet MS" pitchFamily="34" charset="-122"/>
                <a:cs typeface="Trebuchet MS" pitchFamily="34" charset="-120"/>
              </a:rPr>
              <a:t>The Dataset at a Glance</a:t>
            </a:r>
            <a:endParaRPr lang="en-US" sz="2200" dirty="0"/>
          </a:p>
        </p:txBody>
      </p:sp>
      <p:sp>
        <p:nvSpPr>
          <p:cNvPr id="4" name="Shape 2"/>
          <p:cNvSpPr/>
          <p:nvPr/>
        </p:nvSpPr>
        <p:spPr>
          <a:xfrm>
            <a:off x="7863840" y="109728"/>
            <a:ext cx="1097280" cy="301752"/>
          </a:xfrm>
          <a:prstGeom prst="rect">
            <a:avLst/>
          </a:prstGeom>
          <a:solidFill>
            <a:srgbClr val="1C3A52"/>
          </a:solidFill>
          <a:ln w="12700">
            <a:solidFill>
              <a:srgbClr val="1C3A52"/>
            </a:solidFill>
            <a:prstDash val="solid"/>
          </a:ln>
        </p:spPr>
        <p:txBody>
          <a:bodyPr/>
          <a:lstStyle/>
          <a:p>
            <a:endParaRPr lang="pt-PT"/>
          </a:p>
        </p:txBody>
      </p:sp>
      <p:sp>
        <p:nvSpPr>
          <p:cNvPr id="5" name="Text 3"/>
          <p:cNvSpPr/>
          <p:nvPr/>
        </p:nvSpPr>
        <p:spPr>
          <a:xfrm>
            <a:off x="7863840" y="109728"/>
            <a:ext cx="1097280" cy="301752"/>
          </a:xfrm>
          <a:prstGeom prst="rect">
            <a:avLst/>
          </a:prstGeom>
          <a:noFill/>
          <a:ln/>
        </p:spPr>
        <p:txBody>
          <a:bodyPr wrap="square" lIns="0" tIns="0" rIns="0" bIns="0" rtlCol="0" anchor="ctr"/>
          <a:lstStyle/>
          <a:p>
            <a:pPr marL="0" indent="0" algn="ctr">
              <a:buNone/>
            </a:pPr>
            <a:r>
              <a:rPr lang="en-US" sz="1000" b="1" dirty="0">
                <a:solidFill>
                  <a:srgbClr val="FFFFFF"/>
                </a:solidFill>
              </a:rPr>
              <a:t>EDA</a:t>
            </a:r>
            <a:endParaRPr lang="en-US" sz="1000" dirty="0"/>
          </a:p>
        </p:txBody>
      </p:sp>
      <p:sp>
        <p:nvSpPr>
          <p:cNvPr id="6" name="Shape 4"/>
          <p:cNvSpPr/>
          <p:nvPr/>
        </p:nvSpPr>
        <p:spPr>
          <a:xfrm>
            <a:off x="365760" y="777240"/>
            <a:ext cx="2011680" cy="1005840"/>
          </a:xfrm>
          <a:prstGeom prst="rect">
            <a:avLst/>
          </a:prstGeom>
          <a:solidFill>
            <a:srgbClr val="FFFFFF"/>
          </a:solidFill>
          <a:ln w="6350">
            <a:solidFill>
              <a:srgbClr val="D8E4EC"/>
            </a:solidFill>
            <a:prstDash val="solid"/>
          </a:ln>
          <a:effectLst>
            <a:outerShdw blurRad="101600" dist="38100" dir="8100000" algn="bl" rotWithShape="0">
              <a:srgbClr val="000000">
                <a:alpha val="10000"/>
              </a:srgbClr>
            </a:outerShdw>
          </a:effectLst>
        </p:spPr>
        <p:txBody>
          <a:bodyPr/>
          <a:lstStyle/>
          <a:p>
            <a:endParaRPr lang="pt-PT"/>
          </a:p>
        </p:txBody>
      </p:sp>
      <p:sp>
        <p:nvSpPr>
          <p:cNvPr id="7" name="Text 5"/>
          <p:cNvSpPr/>
          <p:nvPr/>
        </p:nvSpPr>
        <p:spPr>
          <a:xfrm>
            <a:off x="365760" y="822960"/>
            <a:ext cx="2011680" cy="530352"/>
          </a:xfrm>
          <a:prstGeom prst="rect">
            <a:avLst/>
          </a:prstGeom>
          <a:noFill/>
          <a:ln/>
        </p:spPr>
        <p:txBody>
          <a:bodyPr wrap="square" lIns="0" tIns="0" rIns="0" bIns="0" rtlCol="0" anchor="ctr"/>
          <a:lstStyle/>
          <a:p>
            <a:pPr marL="0" indent="0" algn="ctr">
              <a:buNone/>
            </a:pPr>
            <a:r>
              <a:rPr lang="en-US" sz="2800" b="1" dirty="0">
                <a:solidFill>
                  <a:srgbClr val="00A896"/>
                </a:solidFill>
                <a:latin typeface="Trebuchet MS" pitchFamily="34" charset="0"/>
                <a:ea typeface="Trebuchet MS" pitchFamily="34" charset="-122"/>
                <a:cs typeface="Trebuchet MS" pitchFamily="34" charset="-120"/>
              </a:rPr>
              <a:t>3 600</a:t>
            </a:r>
            <a:endParaRPr lang="en-US" sz="2800" dirty="0"/>
          </a:p>
        </p:txBody>
      </p:sp>
      <p:sp>
        <p:nvSpPr>
          <p:cNvPr id="8" name="Text 6"/>
          <p:cNvSpPr/>
          <p:nvPr/>
        </p:nvSpPr>
        <p:spPr>
          <a:xfrm>
            <a:off x="365760" y="1389888"/>
            <a:ext cx="2011680" cy="301752"/>
          </a:xfrm>
          <a:prstGeom prst="rect">
            <a:avLst/>
          </a:prstGeom>
          <a:noFill/>
          <a:ln/>
        </p:spPr>
        <p:txBody>
          <a:bodyPr wrap="square" lIns="0" tIns="0" rIns="0" bIns="0" rtlCol="0" anchor="ctr"/>
          <a:lstStyle/>
          <a:p>
            <a:pPr marL="0" indent="0" algn="ctr">
              <a:buNone/>
            </a:pPr>
            <a:r>
              <a:rPr lang="en-US" sz="1100" dirty="0">
                <a:solidFill>
                  <a:srgbClr val="3D5A73"/>
                </a:solidFill>
                <a:latin typeface="Calibri" pitchFamily="34" charset="0"/>
                <a:ea typeface="Calibri" pitchFamily="34" charset="-122"/>
                <a:cs typeface="Calibri" pitchFamily="34" charset="-120"/>
              </a:rPr>
              <a:t>training images</a:t>
            </a:r>
            <a:endParaRPr lang="en-US" sz="1100" dirty="0"/>
          </a:p>
        </p:txBody>
      </p:sp>
      <p:sp>
        <p:nvSpPr>
          <p:cNvPr id="9" name="Shape 7"/>
          <p:cNvSpPr/>
          <p:nvPr/>
        </p:nvSpPr>
        <p:spPr>
          <a:xfrm>
            <a:off x="2560320" y="777240"/>
            <a:ext cx="2011680" cy="1005840"/>
          </a:xfrm>
          <a:prstGeom prst="rect">
            <a:avLst/>
          </a:prstGeom>
          <a:solidFill>
            <a:srgbClr val="FFFFFF"/>
          </a:solidFill>
          <a:ln w="6350">
            <a:solidFill>
              <a:srgbClr val="D8E4EC"/>
            </a:solidFill>
            <a:prstDash val="solid"/>
          </a:ln>
          <a:effectLst>
            <a:outerShdw blurRad="101600" dist="38100" dir="8100000" algn="bl" rotWithShape="0">
              <a:srgbClr val="000000">
                <a:alpha val="10000"/>
              </a:srgbClr>
            </a:outerShdw>
          </a:effectLst>
        </p:spPr>
        <p:txBody>
          <a:bodyPr/>
          <a:lstStyle/>
          <a:p>
            <a:endParaRPr lang="pt-PT"/>
          </a:p>
        </p:txBody>
      </p:sp>
      <p:sp>
        <p:nvSpPr>
          <p:cNvPr id="10" name="Text 8"/>
          <p:cNvSpPr/>
          <p:nvPr/>
        </p:nvSpPr>
        <p:spPr>
          <a:xfrm>
            <a:off x="2560320" y="822960"/>
            <a:ext cx="2011680" cy="530352"/>
          </a:xfrm>
          <a:prstGeom prst="rect">
            <a:avLst/>
          </a:prstGeom>
          <a:noFill/>
          <a:ln/>
        </p:spPr>
        <p:txBody>
          <a:bodyPr wrap="square" lIns="0" tIns="0" rIns="0" bIns="0" rtlCol="0" anchor="ctr"/>
          <a:lstStyle/>
          <a:p>
            <a:pPr marL="0" indent="0" algn="ctr">
              <a:buNone/>
            </a:pPr>
            <a:r>
              <a:rPr lang="en-US" sz="2800" b="1" dirty="0">
                <a:solidFill>
                  <a:srgbClr val="00A896"/>
                </a:solidFill>
                <a:latin typeface="Trebuchet MS" pitchFamily="34" charset="0"/>
                <a:ea typeface="Trebuchet MS" pitchFamily="34" charset="-122"/>
                <a:cs typeface="Trebuchet MS" pitchFamily="34" charset="-120"/>
              </a:rPr>
              <a:t>900</a:t>
            </a:r>
            <a:endParaRPr lang="en-US" sz="2800" dirty="0"/>
          </a:p>
        </p:txBody>
      </p:sp>
      <p:sp>
        <p:nvSpPr>
          <p:cNvPr id="11" name="Text 9"/>
          <p:cNvSpPr/>
          <p:nvPr/>
        </p:nvSpPr>
        <p:spPr>
          <a:xfrm>
            <a:off x="2560320" y="1389888"/>
            <a:ext cx="2011680" cy="301752"/>
          </a:xfrm>
          <a:prstGeom prst="rect">
            <a:avLst/>
          </a:prstGeom>
          <a:noFill/>
          <a:ln/>
        </p:spPr>
        <p:txBody>
          <a:bodyPr wrap="square" lIns="0" tIns="0" rIns="0" bIns="0" rtlCol="0" anchor="ctr"/>
          <a:lstStyle/>
          <a:p>
            <a:pPr marL="0" indent="0" algn="ctr">
              <a:buNone/>
            </a:pPr>
            <a:r>
              <a:rPr lang="en-US" sz="1100" dirty="0">
                <a:solidFill>
                  <a:srgbClr val="3D5A73"/>
                </a:solidFill>
                <a:latin typeface="Calibri" pitchFamily="34" charset="0"/>
                <a:ea typeface="Calibri" pitchFamily="34" charset="-122"/>
                <a:cs typeface="Calibri" pitchFamily="34" charset="-120"/>
              </a:rPr>
              <a:t>test images</a:t>
            </a:r>
            <a:endParaRPr lang="en-US" sz="1100" dirty="0"/>
          </a:p>
        </p:txBody>
      </p:sp>
      <p:sp>
        <p:nvSpPr>
          <p:cNvPr id="12" name="Shape 10"/>
          <p:cNvSpPr/>
          <p:nvPr/>
        </p:nvSpPr>
        <p:spPr>
          <a:xfrm>
            <a:off x="4754880" y="777240"/>
            <a:ext cx="2011680" cy="1005840"/>
          </a:xfrm>
          <a:prstGeom prst="rect">
            <a:avLst/>
          </a:prstGeom>
          <a:solidFill>
            <a:srgbClr val="FFFFFF"/>
          </a:solidFill>
          <a:ln w="6350">
            <a:solidFill>
              <a:srgbClr val="D8E4EC"/>
            </a:solidFill>
            <a:prstDash val="solid"/>
          </a:ln>
          <a:effectLst>
            <a:outerShdw blurRad="101600" dist="38100" dir="8100000" algn="bl" rotWithShape="0">
              <a:srgbClr val="000000">
                <a:alpha val="10000"/>
              </a:srgbClr>
            </a:outerShdw>
          </a:effectLst>
        </p:spPr>
        <p:txBody>
          <a:bodyPr/>
          <a:lstStyle/>
          <a:p>
            <a:endParaRPr lang="pt-PT"/>
          </a:p>
        </p:txBody>
      </p:sp>
      <p:sp>
        <p:nvSpPr>
          <p:cNvPr id="13" name="Text 11"/>
          <p:cNvSpPr/>
          <p:nvPr/>
        </p:nvSpPr>
        <p:spPr>
          <a:xfrm>
            <a:off x="4754880" y="822960"/>
            <a:ext cx="2011680" cy="530352"/>
          </a:xfrm>
          <a:prstGeom prst="rect">
            <a:avLst/>
          </a:prstGeom>
          <a:noFill/>
          <a:ln/>
        </p:spPr>
        <p:txBody>
          <a:bodyPr wrap="square" lIns="0" tIns="0" rIns="0" bIns="0" rtlCol="0" anchor="ctr"/>
          <a:lstStyle/>
          <a:p>
            <a:pPr marL="0" indent="0" algn="ctr">
              <a:buNone/>
            </a:pPr>
            <a:r>
              <a:rPr lang="en-US" sz="2800" b="1" dirty="0">
                <a:solidFill>
                  <a:srgbClr val="00A896"/>
                </a:solidFill>
                <a:latin typeface="Trebuchet MS" pitchFamily="34" charset="0"/>
                <a:ea typeface="Trebuchet MS" pitchFamily="34" charset="-122"/>
                <a:cs typeface="Trebuchet MS" pitchFamily="34" charset="-120"/>
              </a:rPr>
              <a:t>9</a:t>
            </a:r>
            <a:endParaRPr lang="en-US" sz="2800" dirty="0"/>
          </a:p>
        </p:txBody>
      </p:sp>
      <p:sp>
        <p:nvSpPr>
          <p:cNvPr id="14" name="Text 12"/>
          <p:cNvSpPr/>
          <p:nvPr/>
        </p:nvSpPr>
        <p:spPr>
          <a:xfrm>
            <a:off x="4754880" y="1389888"/>
            <a:ext cx="2011680" cy="301752"/>
          </a:xfrm>
          <a:prstGeom prst="rect">
            <a:avLst/>
          </a:prstGeom>
          <a:noFill/>
          <a:ln/>
        </p:spPr>
        <p:txBody>
          <a:bodyPr wrap="square" lIns="0" tIns="0" rIns="0" bIns="0" rtlCol="0" anchor="ctr"/>
          <a:lstStyle/>
          <a:p>
            <a:pPr marL="0" indent="0" algn="ctr">
              <a:buNone/>
            </a:pPr>
            <a:r>
              <a:rPr lang="en-US" sz="1100" dirty="0">
                <a:solidFill>
                  <a:srgbClr val="3D5A73"/>
                </a:solidFill>
                <a:latin typeface="Calibri" pitchFamily="34" charset="0"/>
                <a:ea typeface="Calibri" pitchFamily="34" charset="-122"/>
                <a:cs typeface="Calibri" pitchFamily="34" charset="-120"/>
              </a:rPr>
              <a:t>Pokémon types</a:t>
            </a:r>
            <a:endParaRPr lang="en-US" sz="1100" dirty="0"/>
          </a:p>
        </p:txBody>
      </p:sp>
      <p:sp>
        <p:nvSpPr>
          <p:cNvPr id="15" name="Shape 13"/>
          <p:cNvSpPr/>
          <p:nvPr/>
        </p:nvSpPr>
        <p:spPr>
          <a:xfrm>
            <a:off x="6949440" y="777240"/>
            <a:ext cx="2011680" cy="1005840"/>
          </a:xfrm>
          <a:prstGeom prst="rect">
            <a:avLst/>
          </a:prstGeom>
          <a:solidFill>
            <a:srgbClr val="FFFFFF"/>
          </a:solidFill>
          <a:ln w="6350">
            <a:solidFill>
              <a:srgbClr val="D8E4EC"/>
            </a:solidFill>
            <a:prstDash val="solid"/>
          </a:ln>
          <a:effectLst>
            <a:outerShdw blurRad="101600" dist="38100" dir="8100000" algn="bl" rotWithShape="0">
              <a:srgbClr val="000000">
                <a:alpha val="10000"/>
              </a:srgbClr>
            </a:outerShdw>
          </a:effectLst>
        </p:spPr>
        <p:txBody>
          <a:bodyPr/>
          <a:lstStyle/>
          <a:p>
            <a:endParaRPr lang="pt-PT"/>
          </a:p>
        </p:txBody>
      </p:sp>
      <p:sp>
        <p:nvSpPr>
          <p:cNvPr id="16" name="Text 14"/>
          <p:cNvSpPr/>
          <p:nvPr/>
        </p:nvSpPr>
        <p:spPr>
          <a:xfrm>
            <a:off x="6949440" y="822960"/>
            <a:ext cx="2011680" cy="530352"/>
          </a:xfrm>
          <a:prstGeom prst="rect">
            <a:avLst/>
          </a:prstGeom>
          <a:noFill/>
          <a:ln/>
        </p:spPr>
        <p:txBody>
          <a:bodyPr wrap="square" lIns="0" tIns="0" rIns="0" bIns="0" rtlCol="0" anchor="ctr"/>
          <a:lstStyle/>
          <a:p>
            <a:pPr marL="0" indent="0" algn="ctr">
              <a:buNone/>
            </a:pPr>
            <a:r>
              <a:rPr lang="en-US" sz="2800" b="1" dirty="0">
                <a:solidFill>
                  <a:srgbClr val="3D5A73"/>
                </a:solidFill>
                <a:latin typeface="Trebuchet MS" pitchFamily="34" charset="0"/>
                <a:ea typeface="Trebuchet MS" pitchFamily="34" charset="-122"/>
                <a:cs typeface="Trebuchet MS" pitchFamily="34" charset="-120"/>
              </a:rPr>
              <a:t>64x64</a:t>
            </a:r>
            <a:endParaRPr lang="en-US" sz="2800" dirty="0"/>
          </a:p>
        </p:txBody>
      </p:sp>
      <p:sp>
        <p:nvSpPr>
          <p:cNvPr id="17" name="Text 15"/>
          <p:cNvSpPr/>
          <p:nvPr/>
        </p:nvSpPr>
        <p:spPr>
          <a:xfrm>
            <a:off x="6949440" y="1389888"/>
            <a:ext cx="2011680" cy="301752"/>
          </a:xfrm>
          <a:prstGeom prst="rect">
            <a:avLst/>
          </a:prstGeom>
          <a:noFill/>
          <a:ln/>
        </p:spPr>
        <p:txBody>
          <a:bodyPr wrap="square" lIns="0" tIns="0" rIns="0" bIns="0" rtlCol="0" anchor="ctr"/>
          <a:lstStyle/>
          <a:p>
            <a:pPr marL="0" indent="0" algn="ctr">
              <a:buNone/>
            </a:pPr>
            <a:r>
              <a:rPr lang="en-US" sz="1100" dirty="0">
                <a:solidFill>
                  <a:srgbClr val="3D5A73"/>
                </a:solidFill>
                <a:latin typeface="Calibri" pitchFamily="34" charset="0"/>
                <a:ea typeface="Calibri" pitchFamily="34" charset="-122"/>
                <a:cs typeface="Calibri" pitchFamily="34" charset="-120"/>
              </a:rPr>
              <a:t>px resolution</a:t>
            </a:r>
            <a:endParaRPr lang="en-US" sz="1100" dirty="0"/>
          </a:p>
        </p:txBody>
      </p:sp>
      <p:graphicFrame>
        <p:nvGraphicFramePr>
          <p:cNvPr id="18" name="Table 0"/>
          <p:cNvGraphicFramePr>
            <a:graphicFrameLocks noGrp="1"/>
          </p:cNvGraphicFramePr>
          <p:nvPr>
            <p:extLst>
              <p:ext uri="{D42A27DB-BD31-4B8C-83A1-F6EECF244321}">
                <p14:modId xmlns:p14="http://schemas.microsoft.com/office/powerpoint/2010/main" val="1345690298"/>
              </p:ext>
            </p:extLst>
          </p:nvPr>
        </p:nvGraphicFramePr>
        <p:xfrm>
          <a:off x="365760" y="1920240"/>
          <a:ext cx="4114800" cy="2834640"/>
        </p:xfrm>
        <a:graphic>
          <a:graphicData uri="http://schemas.openxmlformats.org/drawingml/2006/table">
            <a:tbl>
              <a:tblPr/>
              <a:tblGrid>
                <a:gridCol w="155448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tblGrid>
              <a:tr h="283464">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Class</a:t>
                      </a:r>
                      <a:endParaRPr lang="en-US" sz="1200" dirty="0">
                        <a:latin typeface="Calibri" charset="0"/>
                        <a:ea typeface="Calibri" charset="0"/>
                        <a:cs typeface="Calibri" charset="0"/>
                      </a:endParaRPr>
                    </a:p>
                  </a:txBody>
                  <a:tcPr>
                    <a:lnL w="6350" cap="flat" cmpd="sng" algn="ctr">
                      <a:solidFill>
                        <a:srgbClr val="D8E4EC"/>
                      </a:solidFill>
                      <a:prstDash val="solid"/>
                      <a:round/>
                      <a:headEnd type="none" w="med" len="med"/>
                      <a:tailEnd type="none" w="med" len="med"/>
                    </a:lnL>
                    <a:lnR w="6350" cap="flat" cmpd="sng" algn="ctr">
                      <a:solidFill>
                        <a:srgbClr val="D8E4EC"/>
                      </a:solidFill>
                      <a:prstDash val="solid"/>
                      <a:round/>
                      <a:headEnd type="none" w="med" len="med"/>
                      <a:tailEnd type="none" w="med" len="med"/>
                    </a:lnR>
                    <a:lnT w="6350" cap="flat" cmpd="sng" algn="ctr">
                      <a:solidFill>
                        <a:srgbClr val="D8E4EC"/>
                      </a:solidFill>
                      <a:prstDash val="solid"/>
                      <a:round/>
                      <a:headEnd type="none" w="med" len="med"/>
                      <a:tailEnd type="none" w="med" len="med"/>
                    </a:lnT>
                    <a:lnB w="6350" cap="flat" cmpd="sng" algn="ctr">
                      <a:solidFill>
                        <a:srgbClr val="D8E4EC"/>
                      </a:solidFill>
                      <a:prstDash val="solid"/>
                      <a:round/>
                      <a:headEnd type="none" w="med" len="med"/>
                      <a:tailEnd type="none" w="med" len="med"/>
                    </a:lnB>
                    <a:solidFill>
                      <a:srgbClr val="0D1B2A"/>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Count</a:t>
                      </a:r>
                      <a:endParaRPr lang="en-US" sz="1200" dirty="0">
                        <a:latin typeface="Calibri" charset="0"/>
                        <a:ea typeface="Calibri" charset="0"/>
                        <a:cs typeface="Calibri" charset="0"/>
                      </a:endParaRPr>
                    </a:p>
                  </a:txBody>
                  <a:tcPr>
                    <a:lnL w="6350" cap="flat" cmpd="sng" algn="ctr">
                      <a:solidFill>
                        <a:srgbClr val="D8E4EC"/>
                      </a:solidFill>
                      <a:prstDash val="solid"/>
                      <a:round/>
                      <a:headEnd type="none" w="med" len="med"/>
                      <a:tailEnd type="none" w="med" len="med"/>
                    </a:lnL>
                    <a:lnR w="6350" cap="flat" cmpd="sng" algn="ctr">
                      <a:solidFill>
                        <a:srgbClr val="D8E4EC"/>
                      </a:solidFill>
                      <a:prstDash val="solid"/>
                      <a:round/>
                      <a:headEnd type="none" w="med" len="med"/>
                      <a:tailEnd type="none" w="med" len="med"/>
                    </a:lnR>
                    <a:lnT w="6350" cap="flat" cmpd="sng" algn="ctr">
                      <a:solidFill>
                        <a:srgbClr val="D8E4EC"/>
                      </a:solidFill>
                      <a:prstDash val="solid"/>
                      <a:round/>
                      <a:headEnd type="none" w="med" len="med"/>
                      <a:tailEnd type="none" w="med" len="med"/>
                    </a:lnT>
                    <a:lnB w="6350" cap="flat" cmpd="sng" algn="ctr">
                      <a:solidFill>
                        <a:srgbClr val="D8E4EC"/>
                      </a:solidFill>
                      <a:prstDash val="solid"/>
                      <a:round/>
                      <a:headEnd type="none" w="med" len="med"/>
                      <a:tailEnd type="none" w="med" len="med"/>
                    </a:lnB>
                    <a:solidFill>
                      <a:srgbClr val="0D1B2A"/>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 train</a:t>
                      </a:r>
                      <a:endParaRPr lang="en-US" sz="1200" dirty="0">
                        <a:latin typeface="Calibri" charset="0"/>
                        <a:ea typeface="Calibri" charset="0"/>
                        <a:cs typeface="Calibri" charset="0"/>
                      </a:endParaRPr>
                    </a:p>
                  </a:txBody>
                  <a:tcPr>
                    <a:lnL w="6350" cap="flat" cmpd="sng" algn="ctr">
                      <a:solidFill>
                        <a:srgbClr val="D8E4EC"/>
                      </a:solidFill>
                      <a:prstDash val="solid"/>
                      <a:round/>
                      <a:headEnd type="none" w="med" len="med"/>
                      <a:tailEnd type="none" w="med" len="med"/>
                    </a:lnL>
                    <a:lnR w="6350" cap="flat" cmpd="sng" algn="ctr">
                      <a:solidFill>
                        <a:srgbClr val="D8E4EC"/>
                      </a:solidFill>
                      <a:prstDash val="solid"/>
                      <a:round/>
                      <a:headEnd type="none" w="med" len="med"/>
                      <a:tailEnd type="none" w="med" len="med"/>
                    </a:lnR>
                    <a:lnT w="6350" cap="flat" cmpd="sng" algn="ctr">
                      <a:solidFill>
                        <a:srgbClr val="D8E4EC"/>
                      </a:solidFill>
                      <a:prstDash val="solid"/>
                      <a:round/>
                      <a:headEnd type="none" w="med" len="med"/>
                      <a:tailEnd type="none" w="med" len="med"/>
                    </a:lnT>
                    <a:lnB w="6350" cap="flat" cmpd="sng" algn="ctr">
                      <a:solidFill>
                        <a:srgbClr val="D8E4EC"/>
                      </a:solidFill>
                      <a:prstDash val="solid"/>
                      <a:round/>
                      <a:headEnd type="none" w="med" len="med"/>
                      <a:tailEnd type="none" w="med" len="med"/>
                    </a:lnB>
                    <a:solidFill>
                      <a:srgbClr val="0D1B2A"/>
                    </a:solidFill>
                  </a:tcPr>
                </a:tc>
                <a:extLst>
                  <a:ext uri="{0D108BD9-81ED-4DB2-BD59-A6C34878D82A}">
                    <a16:rowId xmlns:a16="http://schemas.microsoft.com/office/drawing/2014/main" val="10000"/>
                  </a:ext>
                </a:extLst>
              </a:tr>
              <a:tr h="283464">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Water</a:t>
                      </a:r>
                      <a:endParaRPr lang="en-US" sz="1200" dirty="0">
                        <a:latin typeface="Calibri" charset="0"/>
                        <a:ea typeface="Calibri" charset="0"/>
                        <a:cs typeface="Calibri" charset="0"/>
                      </a:endParaRPr>
                    </a:p>
                  </a:txBody>
                  <a:tcPr>
                    <a:lnL w="6350" cap="flat" cmpd="sng" algn="ctr">
                      <a:solidFill>
                        <a:srgbClr val="D8E4EC"/>
                      </a:solidFill>
                      <a:prstDash val="solid"/>
                      <a:round/>
                      <a:headEnd type="none" w="med" len="med"/>
                      <a:tailEnd type="none" w="med" len="med"/>
                    </a:lnL>
                    <a:lnR w="6350" cap="flat" cmpd="sng" algn="ctr">
                      <a:solidFill>
                        <a:srgbClr val="D8E4EC"/>
                      </a:solidFill>
                      <a:prstDash val="solid"/>
                      <a:round/>
                      <a:headEnd type="none" w="med" len="med"/>
                      <a:tailEnd type="none" w="med" len="med"/>
                    </a:lnR>
                    <a:lnT w="6350" cap="flat" cmpd="sng" algn="ctr">
                      <a:solidFill>
                        <a:srgbClr val="D8E4EC"/>
                      </a:solidFill>
                      <a:prstDash val="solid"/>
                      <a:round/>
                      <a:headEnd type="none" w="med" len="med"/>
                      <a:tailEnd type="none" w="med" len="med"/>
                    </a:lnT>
                    <a:lnB w="6350" cap="flat" cmpd="sng" algn="ctr">
                      <a:solidFill>
                        <a:srgbClr val="D8E4EC"/>
                      </a:solidFill>
                      <a:prstDash val="solid"/>
                      <a:round/>
                      <a:headEnd type="none" w="med" len="med"/>
                      <a:tailEnd type="none" w="med" len="med"/>
                    </a:lnB>
                  </a:tcPr>
                </a:tc>
                <a:tc>
                  <a:txBody>
                    <a:bodyPr/>
                    <a:lstStyle/>
                    <a:p>
                      <a:pPr marL="0" indent="0" algn="ctr">
                        <a:buNone/>
                      </a:pPr>
                      <a:r>
                        <a:rPr lang="en-US" sz="1200" b="1" dirty="0">
                          <a:solidFill>
                            <a:srgbClr val="E97C35"/>
                          </a:solidFill>
                          <a:latin typeface="Calibri" pitchFamily="34" charset="0"/>
                          <a:ea typeface="Calibri" pitchFamily="34" charset="-122"/>
                          <a:cs typeface="Calibri" pitchFamily="34" charset="-120"/>
                        </a:rPr>
                        <a:t>674</a:t>
                      </a:r>
                      <a:endParaRPr lang="en-US" sz="1200" dirty="0">
                        <a:latin typeface="Calibri" charset="0"/>
                        <a:ea typeface="Calibri" charset="0"/>
                        <a:cs typeface="Calibri" charset="0"/>
                      </a:endParaRPr>
                    </a:p>
                  </a:txBody>
                  <a:tcPr>
                    <a:lnL w="6350" cap="flat" cmpd="sng" algn="ctr">
                      <a:solidFill>
                        <a:srgbClr val="D8E4EC"/>
                      </a:solidFill>
                      <a:prstDash val="solid"/>
                      <a:round/>
                      <a:headEnd type="none" w="med" len="med"/>
                      <a:tailEnd type="none" w="med" len="med"/>
                    </a:lnL>
                    <a:lnR w="6350" cap="flat" cmpd="sng" algn="ctr">
                      <a:solidFill>
                        <a:srgbClr val="D8E4EC"/>
                      </a:solidFill>
                      <a:prstDash val="solid"/>
                      <a:round/>
                      <a:headEnd type="none" w="med" len="med"/>
                      <a:tailEnd type="none" w="med" len="med"/>
                    </a:lnR>
                    <a:lnT w="6350" cap="flat" cmpd="sng" algn="ctr">
                      <a:solidFill>
                        <a:srgbClr val="D8E4EC"/>
                      </a:solidFill>
                      <a:prstDash val="solid"/>
                      <a:round/>
                      <a:headEnd type="none" w="med" len="med"/>
                      <a:tailEnd type="none" w="med" len="med"/>
                    </a:lnT>
                    <a:lnB w="6350" cap="flat" cmpd="sng" algn="ctr">
                      <a:solidFill>
                        <a:srgbClr val="D8E4EC"/>
                      </a:solidFill>
                      <a:prstDash val="solid"/>
                      <a:round/>
                      <a:headEnd type="none" w="med" len="med"/>
                      <a:tailEnd type="none" w="med" len="med"/>
                    </a:lnB>
                  </a:tcPr>
                </a:tc>
                <a:tc>
                  <a:txBody>
                    <a:bodyPr/>
                    <a:lstStyle/>
                    <a:p>
                      <a:pPr marL="0" indent="0" algn="ctr">
                        <a:buNone/>
                      </a:pPr>
                      <a:r>
                        <a:rPr lang="en-US" sz="1050" dirty="0">
                          <a:solidFill>
                            <a:srgbClr val="E97C35"/>
                          </a:solidFill>
                          <a:latin typeface="Calibri" pitchFamily="34" charset="0"/>
                          <a:ea typeface="Calibri" pitchFamily="34" charset="-122"/>
                          <a:cs typeface="Calibri" pitchFamily="34" charset="-120"/>
                        </a:rPr>
                        <a:t>18.7% ▲</a:t>
                      </a:r>
                      <a:endParaRPr lang="en-US" sz="1050" dirty="0">
                        <a:latin typeface="Calibri" charset="0"/>
                        <a:ea typeface="Calibri" charset="0"/>
                        <a:cs typeface="Calibri" charset="0"/>
                      </a:endParaRPr>
                    </a:p>
                  </a:txBody>
                  <a:tcPr>
                    <a:lnL w="6350" cap="flat" cmpd="sng" algn="ctr">
                      <a:solidFill>
                        <a:srgbClr val="D8E4EC"/>
                      </a:solidFill>
                      <a:prstDash val="solid"/>
                      <a:round/>
                      <a:headEnd type="none" w="med" len="med"/>
                      <a:tailEnd type="none" w="med" len="med"/>
                    </a:lnL>
                    <a:lnR w="6350" cap="flat" cmpd="sng" algn="ctr">
                      <a:solidFill>
                        <a:srgbClr val="D8E4EC"/>
                      </a:solidFill>
                      <a:prstDash val="solid"/>
                      <a:round/>
                      <a:headEnd type="none" w="med" len="med"/>
                      <a:tailEnd type="none" w="med" len="med"/>
                    </a:lnR>
                    <a:lnT w="6350" cap="flat" cmpd="sng" algn="ctr">
                      <a:solidFill>
                        <a:srgbClr val="D8E4EC"/>
                      </a:solidFill>
                      <a:prstDash val="solid"/>
                      <a:round/>
                      <a:headEnd type="none" w="med" len="med"/>
                      <a:tailEnd type="none" w="med" len="med"/>
                    </a:lnT>
                    <a:lnB w="6350" cap="flat" cmpd="sng" algn="ctr">
                      <a:solidFill>
                        <a:srgbClr val="D8E4EC"/>
                      </a:solidFill>
                      <a:prstDash val="solid"/>
                      <a:round/>
                      <a:headEnd type="none" w="med" len="med"/>
                      <a:tailEnd type="none" w="med" len="med"/>
                    </a:lnB>
                  </a:tcPr>
                </a:tc>
                <a:extLst>
                  <a:ext uri="{0D108BD9-81ED-4DB2-BD59-A6C34878D82A}">
                    <a16:rowId xmlns:a16="http://schemas.microsoft.com/office/drawing/2014/main" val="10001"/>
                  </a:ext>
                </a:extLst>
              </a:tr>
              <a:tr h="283464">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Normal</a:t>
                      </a:r>
                      <a:endParaRPr lang="en-US" sz="1200" dirty="0">
                        <a:latin typeface="Calibri" charset="0"/>
                        <a:ea typeface="Calibri" charset="0"/>
                        <a:cs typeface="Calibri" charset="0"/>
                      </a:endParaRPr>
                    </a:p>
                  </a:txBody>
                  <a:tcPr>
                    <a:lnL w="6350" cap="flat" cmpd="sng" algn="ctr">
                      <a:solidFill>
                        <a:srgbClr val="D8E4EC"/>
                      </a:solidFill>
                      <a:prstDash val="solid"/>
                      <a:round/>
                      <a:headEnd type="none" w="med" len="med"/>
                      <a:tailEnd type="none" w="med" len="med"/>
                    </a:lnL>
                    <a:lnR w="6350" cap="flat" cmpd="sng" algn="ctr">
                      <a:solidFill>
                        <a:srgbClr val="D8E4EC"/>
                      </a:solidFill>
                      <a:prstDash val="solid"/>
                      <a:round/>
                      <a:headEnd type="none" w="med" len="med"/>
                      <a:tailEnd type="none" w="med" len="med"/>
                    </a:lnR>
                    <a:lnT w="6350" cap="flat" cmpd="sng" algn="ctr">
                      <a:solidFill>
                        <a:srgbClr val="D8E4EC"/>
                      </a:solidFill>
                      <a:prstDash val="solid"/>
                      <a:round/>
                      <a:headEnd type="none" w="med" len="med"/>
                      <a:tailEnd type="none" w="med" len="med"/>
                    </a:lnT>
                    <a:lnB w="6350" cap="flat" cmpd="sng" algn="ctr">
                      <a:solidFill>
                        <a:srgbClr val="D8E4EC"/>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606</a:t>
                      </a:r>
                      <a:endParaRPr lang="en-US" sz="1200" dirty="0">
                        <a:latin typeface="Calibri" charset="0"/>
                        <a:ea typeface="Calibri" charset="0"/>
                        <a:cs typeface="Calibri" charset="0"/>
                      </a:endParaRPr>
                    </a:p>
                  </a:txBody>
                  <a:tcPr>
                    <a:lnL w="6350" cap="flat" cmpd="sng" algn="ctr">
                      <a:solidFill>
                        <a:srgbClr val="D8E4EC"/>
                      </a:solidFill>
                      <a:prstDash val="solid"/>
                      <a:round/>
                      <a:headEnd type="none" w="med" len="med"/>
                      <a:tailEnd type="none" w="med" len="med"/>
                    </a:lnL>
                    <a:lnR w="6350" cap="flat" cmpd="sng" algn="ctr">
                      <a:solidFill>
                        <a:srgbClr val="D8E4EC"/>
                      </a:solidFill>
                      <a:prstDash val="solid"/>
                      <a:round/>
                      <a:headEnd type="none" w="med" len="med"/>
                      <a:tailEnd type="none" w="med" len="med"/>
                    </a:lnR>
                    <a:lnT w="6350" cap="flat" cmpd="sng" algn="ctr">
                      <a:solidFill>
                        <a:srgbClr val="D8E4EC"/>
                      </a:solidFill>
                      <a:prstDash val="solid"/>
                      <a:round/>
                      <a:headEnd type="none" w="med" len="med"/>
                      <a:tailEnd type="none" w="med" len="med"/>
                    </a:lnT>
                    <a:lnB w="6350" cap="flat" cmpd="sng" algn="ctr">
                      <a:solidFill>
                        <a:srgbClr val="D8E4EC"/>
                      </a:solidFill>
                      <a:prstDash val="solid"/>
                      <a:round/>
                      <a:headEnd type="none" w="med" len="med"/>
                      <a:tailEnd type="none" w="med" len="med"/>
                    </a:lnB>
                  </a:tcPr>
                </a:tc>
                <a:tc>
                  <a:txBody>
                    <a:bodyPr/>
                    <a:lstStyle/>
                    <a:p>
                      <a:pPr marL="0" indent="0" algn="ctr">
                        <a:buNone/>
                      </a:pPr>
                      <a:r>
                        <a:rPr lang="en-US" sz="1050" dirty="0">
                          <a:solidFill>
                            <a:srgbClr val="3D5A73"/>
                          </a:solidFill>
                          <a:latin typeface="Calibri" pitchFamily="34" charset="0"/>
                          <a:ea typeface="Calibri" pitchFamily="34" charset="-122"/>
                          <a:cs typeface="Calibri" pitchFamily="34" charset="-120"/>
                        </a:rPr>
                        <a:t>16.8%</a:t>
                      </a:r>
                      <a:endParaRPr lang="en-US" sz="1050" dirty="0">
                        <a:latin typeface="Calibri" charset="0"/>
                        <a:ea typeface="Calibri" charset="0"/>
                        <a:cs typeface="Calibri" charset="0"/>
                      </a:endParaRPr>
                    </a:p>
                  </a:txBody>
                  <a:tcPr>
                    <a:lnL w="6350" cap="flat" cmpd="sng" algn="ctr">
                      <a:solidFill>
                        <a:srgbClr val="D8E4EC"/>
                      </a:solidFill>
                      <a:prstDash val="solid"/>
                      <a:round/>
                      <a:headEnd type="none" w="med" len="med"/>
                      <a:tailEnd type="none" w="med" len="med"/>
                    </a:lnL>
                    <a:lnR w="6350" cap="flat" cmpd="sng" algn="ctr">
                      <a:solidFill>
                        <a:srgbClr val="D8E4EC"/>
                      </a:solidFill>
                      <a:prstDash val="solid"/>
                      <a:round/>
                      <a:headEnd type="none" w="med" len="med"/>
                      <a:tailEnd type="none" w="med" len="med"/>
                    </a:lnR>
                    <a:lnT w="6350" cap="flat" cmpd="sng" algn="ctr">
                      <a:solidFill>
                        <a:srgbClr val="D8E4EC"/>
                      </a:solidFill>
                      <a:prstDash val="solid"/>
                      <a:round/>
                      <a:headEnd type="none" w="med" len="med"/>
                      <a:tailEnd type="none" w="med" len="med"/>
                    </a:lnT>
                    <a:lnB w="6350" cap="flat" cmpd="sng" algn="ctr">
                      <a:solidFill>
                        <a:srgbClr val="D8E4EC"/>
                      </a:solidFill>
                      <a:prstDash val="solid"/>
                      <a:round/>
                      <a:headEnd type="none" w="med" len="med"/>
                      <a:tailEnd type="none" w="med" len="med"/>
                    </a:lnB>
                  </a:tcPr>
                </a:tc>
                <a:extLst>
                  <a:ext uri="{0D108BD9-81ED-4DB2-BD59-A6C34878D82A}">
                    <a16:rowId xmlns:a16="http://schemas.microsoft.com/office/drawing/2014/main" val="10002"/>
                  </a:ext>
                </a:extLst>
              </a:tr>
              <a:tr h="283464">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Poison</a:t>
                      </a:r>
                      <a:endParaRPr lang="en-US" sz="1200" dirty="0">
                        <a:latin typeface="Calibri" charset="0"/>
                        <a:ea typeface="Calibri" charset="0"/>
                        <a:cs typeface="Calibri" charset="0"/>
                      </a:endParaRPr>
                    </a:p>
                  </a:txBody>
                  <a:tcPr>
                    <a:lnL w="6350" cap="flat" cmpd="sng" algn="ctr">
                      <a:solidFill>
                        <a:srgbClr val="D8E4EC"/>
                      </a:solidFill>
                      <a:prstDash val="solid"/>
                      <a:round/>
                      <a:headEnd type="none" w="med" len="med"/>
                      <a:tailEnd type="none" w="med" len="med"/>
                    </a:lnL>
                    <a:lnR w="6350" cap="flat" cmpd="sng" algn="ctr">
                      <a:solidFill>
                        <a:srgbClr val="D8E4EC"/>
                      </a:solidFill>
                      <a:prstDash val="solid"/>
                      <a:round/>
                      <a:headEnd type="none" w="med" len="med"/>
                      <a:tailEnd type="none" w="med" len="med"/>
                    </a:lnR>
                    <a:lnT w="6350" cap="flat" cmpd="sng" algn="ctr">
                      <a:solidFill>
                        <a:srgbClr val="D8E4EC"/>
                      </a:solidFill>
                      <a:prstDash val="solid"/>
                      <a:round/>
                      <a:headEnd type="none" w="med" len="med"/>
                      <a:tailEnd type="none" w="med" len="med"/>
                    </a:lnT>
                    <a:lnB w="6350" cap="flat" cmpd="sng" algn="ctr">
                      <a:solidFill>
                        <a:srgbClr val="D8E4EC"/>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467</a:t>
                      </a:r>
                      <a:endParaRPr lang="en-US" sz="1200" dirty="0">
                        <a:latin typeface="Calibri" charset="0"/>
                        <a:ea typeface="Calibri" charset="0"/>
                        <a:cs typeface="Calibri" charset="0"/>
                      </a:endParaRPr>
                    </a:p>
                  </a:txBody>
                  <a:tcPr>
                    <a:lnL w="6350" cap="flat" cmpd="sng" algn="ctr">
                      <a:solidFill>
                        <a:srgbClr val="D8E4EC"/>
                      </a:solidFill>
                      <a:prstDash val="solid"/>
                      <a:round/>
                      <a:headEnd type="none" w="med" len="med"/>
                      <a:tailEnd type="none" w="med" len="med"/>
                    </a:lnL>
                    <a:lnR w="6350" cap="flat" cmpd="sng" algn="ctr">
                      <a:solidFill>
                        <a:srgbClr val="D8E4EC"/>
                      </a:solidFill>
                      <a:prstDash val="solid"/>
                      <a:round/>
                      <a:headEnd type="none" w="med" len="med"/>
                      <a:tailEnd type="none" w="med" len="med"/>
                    </a:lnR>
                    <a:lnT w="6350" cap="flat" cmpd="sng" algn="ctr">
                      <a:solidFill>
                        <a:srgbClr val="D8E4EC"/>
                      </a:solidFill>
                      <a:prstDash val="solid"/>
                      <a:round/>
                      <a:headEnd type="none" w="med" len="med"/>
                      <a:tailEnd type="none" w="med" len="med"/>
                    </a:lnT>
                    <a:lnB w="6350" cap="flat" cmpd="sng" algn="ctr">
                      <a:solidFill>
                        <a:srgbClr val="D8E4EC"/>
                      </a:solidFill>
                      <a:prstDash val="solid"/>
                      <a:round/>
                      <a:headEnd type="none" w="med" len="med"/>
                      <a:tailEnd type="none" w="med" len="med"/>
                    </a:lnB>
                  </a:tcPr>
                </a:tc>
                <a:tc>
                  <a:txBody>
                    <a:bodyPr/>
                    <a:lstStyle/>
                    <a:p>
                      <a:pPr marL="0" indent="0" algn="ctr">
                        <a:buNone/>
                      </a:pPr>
                      <a:r>
                        <a:rPr lang="en-US" sz="1050" dirty="0">
                          <a:solidFill>
                            <a:srgbClr val="3D5A73"/>
                          </a:solidFill>
                          <a:latin typeface="Calibri" pitchFamily="34" charset="0"/>
                          <a:ea typeface="Calibri" pitchFamily="34" charset="-122"/>
                          <a:cs typeface="Calibri" pitchFamily="34" charset="-120"/>
                        </a:rPr>
                        <a:t>13.0%</a:t>
                      </a:r>
                      <a:endParaRPr lang="en-US" sz="1050" dirty="0">
                        <a:latin typeface="Calibri" charset="0"/>
                        <a:ea typeface="Calibri" charset="0"/>
                        <a:cs typeface="Calibri" charset="0"/>
                      </a:endParaRPr>
                    </a:p>
                  </a:txBody>
                  <a:tcPr>
                    <a:lnL w="6350" cap="flat" cmpd="sng" algn="ctr">
                      <a:solidFill>
                        <a:srgbClr val="D8E4EC"/>
                      </a:solidFill>
                      <a:prstDash val="solid"/>
                      <a:round/>
                      <a:headEnd type="none" w="med" len="med"/>
                      <a:tailEnd type="none" w="med" len="med"/>
                    </a:lnL>
                    <a:lnR w="6350" cap="flat" cmpd="sng" algn="ctr">
                      <a:solidFill>
                        <a:srgbClr val="D8E4EC"/>
                      </a:solidFill>
                      <a:prstDash val="solid"/>
                      <a:round/>
                      <a:headEnd type="none" w="med" len="med"/>
                      <a:tailEnd type="none" w="med" len="med"/>
                    </a:lnR>
                    <a:lnT w="6350" cap="flat" cmpd="sng" algn="ctr">
                      <a:solidFill>
                        <a:srgbClr val="D8E4EC"/>
                      </a:solidFill>
                      <a:prstDash val="solid"/>
                      <a:round/>
                      <a:headEnd type="none" w="med" len="med"/>
                      <a:tailEnd type="none" w="med" len="med"/>
                    </a:lnT>
                    <a:lnB w="6350" cap="flat" cmpd="sng" algn="ctr">
                      <a:solidFill>
                        <a:srgbClr val="D8E4EC"/>
                      </a:solidFill>
                      <a:prstDash val="solid"/>
                      <a:round/>
                      <a:headEnd type="none" w="med" len="med"/>
                      <a:tailEnd type="none" w="med" len="med"/>
                    </a:lnB>
                  </a:tcPr>
                </a:tc>
                <a:extLst>
                  <a:ext uri="{0D108BD9-81ED-4DB2-BD59-A6C34878D82A}">
                    <a16:rowId xmlns:a16="http://schemas.microsoft.com/office/drawing/2014/main" val="10003"/>
                  </a:ext>
                </a:extLst>
              </a:tr>
              <a:tr h="283464">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Fire</a:t>
                      </a:r>
                      <a:endParaRPr lang="en-US" sz="1200" dirty="0">
                        <a:latin typeface="Calibri" charset="0"/>
                        <a:ea typeface="Calibri" charset="0"/>
                        <a:cs typeface="Calibri" charset="0"/>
                      </a:endParaRPr>
                    </a:p>
                  </a:txBody>
                  <a:tcPr>
                    <a:lnL w="6350" cap="flat" cmpd="sng" algn="ctr">
                      <a:solidFill>
                        <a:srgbClr val="D8E4EC"/>
                      </a:solidFill>
                      <a:prstDash val="solid"/>
                      <a:round/>
                      <a:headEnd type="none" w="med" len="med"/>
                      <a:tailEnd type="none" w="med" len="med"/>
                    </a:lnL>
                    <a:lnR w="6350" cap="flat" cmpd="sng" algn="ctr">
                      <a:solidFill>
                        <a:srgbClr val="D8E4EC"/>
                      </a:solidFill>
                      <a:prstDash val="solid"/>
                      <a:round/>
                      <a:headEnd type="none" w="med" len="med"/>
                      <a:tailEnd type="none" w="med" len="med"/>
                    </a:lnR>
                    <a:lnT w="6350" cap="flat" cmpd="sng" algn="ctr">
                      <a:solidFill>
                        <a:srgbClr val="D8E4EC"/>
                      </a:solidFill>
                      <a:prstDash val="solid"/>
                      <a:round/>
                      <a:headEnd type="none" w="med" len="med"/>
                      <a:tailEnd type="none" w="med" len="med"/>
                    </a:lnT>
                    <a:lnB w="6350" cap="flat" cmpd="sng" algn="ctr">
                      <a:solidFill>
                        <a:srgbClr val="D8E4EC"/>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381</a:t>
                      </a:r>
                      <a:endParaRPr lang="en-US" sz="1200" dirty="0">
                        <a:latin typeface="Calibri" charset="0"/>
                        <a:ea typeface="Calibri" charset="0"/>
                        <a:cs typeface="Calibri" charset="0"/>
                      </a:endParaRPr>
                    </a:p>
                  </a:txBody>
                  <a:tcPr>
                    <a:lnL w="6350" cap="flat" cmpd="sng" algn="ctr">
                      <a:solidFill>
                        <a:srgbClr val="D8E4EC"/>
                      </a:solidFill>
                      <a:prstDash val="solid"/>
                      <a:round/>
                      <a:headEnd type="none" w="med" len="med"/>
                      <a:tailEnd type="none" w="med" len="med"/>
                    </a:lnL>
                    <a:lnR w="6350" cap="flat" cmpd="sng" algn="ctr">
                      <a:solidFill>
                        <a:srgbClr val="D8E4EC"/>
                      </a:solidFill>
                      <a:prstDash val="solid"/>
                      <a:round/>
                      <a:headEnd type="none" w="med" len="med"/>
                      <a:tailEnd type="none" w="med" len="med"/>
                    </a:lnR>
                    <a:lnT w="6350" cap="flat" cmpd="sng" algn="ctr">
                      <a:solidFill>
                        <a:srgbClr val="D8E4EC"/>
                      </a:solidFill>
                      <a:prstDash val="solid"/>
                      <a:round/>
                      <a:headEnd type="none" w="med" len="med"/>
                      <a:tailEnd type="none" w="med" len="med"/>
                    </a:lnT>
                    <a:lnB w="6350" cap="flat" cmpd="sng" algn="ctr">
                      <a:solidFill>
                        <a:srgbClr val="D8E4EC"/>
                      </a:solidFill>
                      <a:prstDash val="solid"/>
                      <a:round/>
                      <a:headEnd type="none" w="med" len="med"/>
                      <a:tailEnd type="none" w="med" len="med"/>
                    </a:lnB>
                  </a:tcPr>
                </a:tc>
                <a:tc>
                  <a:txBody>
                    <a:bodyPr/>
                    <a:lstStyle/>
                    <a:p>
                      <a:pPr marL="0" indent="0" algn="ctr">
                        <a:buNone/>
                      </a:pPr>
                      <a:r>
                        <a:rPr lang="en-US" sz="1050" dirty="0">
                          <a:solidFill>
                            <a:srgbClr val="3D5A73"/>
                          </a:solidFill>
                          <a:latin typeface="Calibri" pitchFamily="34" charset="0"/>
                          <a:ea typeface="Calibri" pitchFamily="34" charset="-122"/>
                          <a:cs typeface="Calibri" pitchFamily="34" charset="-120"/>
                        </a:rPr>
                        <a:t>10.6%</a:t>
                      </a:r>
                      <a:endParaRPr lang="en-US" sz="1050" dirty="0">
                        <a:latin typeface="Calibri" charset="0"/>
                        <a:ea typeface="Calibri" charset="0"/>
                        <a:cs typeface="Calibri" charset="0"/>
                      </a:endParaRPr>
                    </a:p>
                  </a:txBody>
                  <a:tcPr>
                    <a:lnL w="6350" cap="flat" cmpd="sng" algn="ctr">
                      <a:solidFill>
                        <a:srgbClr val="D8E4EC"/>
                      </a:solidFill>
                      <a:prstDash val="solid"/>
                      <a:round/>
                      <a:headEnd type="none" w="med" len="med"/>
                      <a:tailEnd type="none" w="med" len="med"/>
                    </a:lnL>
                    <a:lnR w="6350" cap="flat" cmpd="sng" algn="ctr">
                      <a:solidFill>
                        <a:srgbClr val="D8E4EC"/>
                      </a:solidFill>
                      <a:prstDash val="solid"/>
                      <a:round/>
                      <a:headEnd type="none" w="med" len="med"/>
                      <a:tailEnd type="none" w="med" len="med"/>
                    </a:lnR>
                    <a:lnT w="6350" cap="flat" cmpd="sng" algn="ctr">
                      <a:solidFill>
                        <a:srgbClr val="D8E4EC"/>
                      </a:solidFill>
                      <a:prstDash val="solid"/>
                      <a:round/>
                      <a:headEnd type="none" w="med" len="med"/>
                      <a:tailEnd type="none" w="med" len="med"/>
                    </a:lnT>
                    <a:lnB w="6350" cap="flat" cmpd="sng" algn="ctr">
                      <a:solidFill>
                        <a:srgbClr val="D8E4EC"/>
                      </a:solidFill>
                      <a:prstDash val="solid"/>
                      <a:round/>
                      <a:headEnd type="none" w="med" len="med"/>
                      <a:tailEnd type="none" w="med" len="med"/>
                    </a:lnB>
                  </a:tcPr>
                </a:tc>
                <a:extLst>
                  <a:ext uri="{0D108BD9-81ED-4DB2-BD59-A6C34878D82A}">
                    <a16:rowId xmlns:a16="http://schemas.microsoft.com/office/drawing/2014/main" val="10004"/>
                  </a:ext>
                </a:extLst>
              </a:tr>
              <a:tr h="283464">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Bug</a:t>
                      </a:r>
                      <a:endParaRPr lang="en-US" sz="1200" dirty="0">
                        <a:latin typeface="Calibri" charset="0"/>
                        <a:ea typeface="Calibri" charset="0"/>
                        <a:cs typeface="Calibri" charset="0"/>
                      </a:endParaRPr>
                    </a:p>
                  </a:txBody>
                  <a:tcPr>
                    <a:lnL w="6350" cap="flat" cmpd="sng" algn="ctr">
                      <a:solidFill>
                        <a:srgbClr val="D8E4EC"/>
                      </a:solidFill>
                      <a:prstDash val="solid"/>
                      <a:round/>
                      <a:headEnd type="none" w="med" len="med"/>
                      <a:tailEnd type="none" w="med" len="med"/>
                    </a:lnL>
                    <a:lnR w="6350" cap="flat" cmpd="sng" algn="ctr">
                      <a:solidFill>
                        <a:srgbClr val="D8E4EC"/>
                      </a:solidFill>
                      <a:prstDash val="solid"/>
                      <a:round/>
                      <a:headEnd type="none" w="med" len="med"/>
                      <a:tailEnd type="none" w="med" len="med"/>
                    </a:lnR>
                    <a:lnT w="6350" cap="flat" cmpd="sng" algn="ctr">
                      <a:solidFill>
                        <a:srgbClr val="D8E4EC"/>
                      </a:solidFill>
                      <a:prstDash val="solid"/>
                      <a:round/>
                      <a:headEnd type="none" w="med" len="med"/>
                      <a:tailEnd type="none" w="med" len="med"/>
                    </a:lnT>
                    <a:lnB w="6350" cap="flat" cmpd="sng" algn="ctr">
                      <a:solidFill>
                        <a:srgbClr val="D8E4EC"/>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374</a:t>
                      </a:r>
                      <a:endParaRPr lang="en-US" sz="1200" dirty="0">
                        <a:latin typeface="Calibri" charset="0"/>
                        <a:ea typeface="Calibri" charset="0"/>
                        <a:cs typeface="Calibri" charset="0"/>
                      </a:endParaRPr>
                    </a:p>
                  </a:txBody>
                  <a:tcPr>
                    <a:lnL w="6350" cap="flat" cmpd="sng" algn="ctr">
                      <a:solidFill>
                        <a:srgbClr val="D8E4EC"/>
                      </a:solidFill>
                      <a:prstDash val="solid"/>
                      <a:round/>
                      <a:headEnd type="none" w="med" len="med"/>
                      <a:tailEnd type="none" w="med" len="med"/>
                    </a:lnL>
                    <a:lnR w="6350" cap="flat" cmpd="sng" algn="ctr">
                      <a:solidFill>
                        <a:srgbClr val="D8E4EC"/>
                      </a:solidFill>
                      <a:prstDash val="solid"/>
                      <a:round/>
                      <a:headEnd type="none" w="med" len="med"/>
                      <a:tailEnd type="none" w="med" len="med"/>
                    </a:lnR>
                    <a:lnT w="6350" cap="flat" cmpd="sng" algn="ctr">
                      <a:solidFill>
                        <a:srgbClr val="D8E4EC"/>
                      </a:solidFill>
                      <a:prstDash val="solid"/>
                      <a:round/>
                      <a:headEnd type="none" w="med" len="med"/>
                      <a:tailEnd type="none" w="med" len="med"/>
                    </a:lnT>
                    <a:lnB w="6350" cap="flat" cmpd="sng" algn="ctr">
                      <a:solidFill>
                        <a:srgbClr val="D8E4EC"/>
                      </a:solidFill>
                      <a:prstDash val="solid"/>
                      <a:round/>
                      <a:headEnd type="none" w="med" len="med"/>
                      <a:tailEnd type="none" w="med" len="med"/>
                    </a:lnB>
                  </a:tcPr>
                </a:tc>
                <a:tc>
                  <a:txBody>
                    <a:bodyPr/>
                    <a:lstStyle/>
                    <a:p>
                      <a:pPr marL="0" indent="0" algn="ctr">
                        <a:buNone/>
                      </a:pPr>
                      <a:r>
                        <a:rPr lang="en-US" sz="1050" dirty="0">
                          <a:solidFill>
                            <a:srgbClr val="3D5A73"/>
                          </a:solidFill>
                          <a:latin typeface="Calibri" pitchFamily="34" charset="0"/>
                          <a:ea typeface="Calibri" pitchFamily="34" charset="-122"/>
                          <a:cs typeface="Calibri" pitchFamily="34" charset="-120"/>
                        </a:rPr>
                        <a:t>10.4%</a:t>
                      </a:r>
                      <a:endParaRPr lang="en-US" sz="1050" dirty="0">
                        <a:latin typeface="Calibri" charset="0"/>
                        <a:ea typeface="Calibri" charset="0"/>
                        <a:cs typeface="Calibri" charset="0"/>
                      </a:endParaRPr>
                    </a:p>
                  </a:txBody>
                  <a:tcPr>
                    <a:lnL w="6350" cap="flat" cmpd="sng" algn="ctr">
                      <a:solidFill>
                        <a:srgbClr val="D8E4EC"/>
                      </a:solidFill>
                      <a:prstDash val="solid"/>
                      <a:round/>
                      <a:headEnd type="none" w="med" len="med"/>
                      <a:tailEnd type="none" w="med" len="med"/>
                    </a:lnL>
                    <a:lnR w="6350" cap="flat" cmpd="sng" algn="ctr">
                      <a:solidFill>
                        <a:srgbClr val="D8E4EC"/>
                      </a:solidFill>
                      <a:prstDash val="solid"/>
                      <a:round/>
                      <a:headEnd type="none" w="med" len="med"/>
                      <a:tailEnd type="none" w="med" len="med"/>
                    </a:lnR>
                    <a:lnT w="6350" cap="flat" cmpd="sng" algn="ctr">
                      <a:solidFill>
                        <a:srgbClr val="D8E4EC"/>
                      </a:solidFill>
                      <a:prstDash val="solid"/>
                      <a:round/>
                      <a:headEnd type="none" w="med" len="med"/>
                      <a:tailEnd type="none" w="med" len="med"/>
                    </a:lnT>
                    <a:lnB w="6350" cap="flat" cmpd="sng" algn="ctr">
                      <a:solidFill>
                        <a:srgbClr val="D8E4EC"/>
                      </a:solidFill>
                      <a:prstDash val="solid"/>
                      <a:round/>
                      <a:headEnd type="none" w="med" len="med"/>
                      <a:tailEnd type="none" w="med" len="med"/>
                    </a:lnB>
                  </a:tcPr>
                </a:tc>
                <a:extLst>
                  <a:ext uri="{0D108BD9-81ED-4DB2-BD59-A6C34878D82A}">
                    <a16:rowId xmlns:a16="http://schemas.microsoft.com/office/drawing/2014/main" val="10005"/>
                  </a:ext>
                </a:extLst>
              </a:tr>
              <a:tr h="283464">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Grass</a:t>
                      </a:r>
                      <a:endParaRPr lang="en-US" sz="1200" dirty="0">
                        <a:latin typeface="Calibri" charset="0"/>
                        <a:ea typeface="Calibri" charset="0"/>
                        <a:cs typeface="Calibri" charset="0"/>
                      </a:endParaRPr>
                    </a:p>
                  </a:txBody>
                  <a:tcPr>
                    <a:lnL w="6350" cap="flat" cmpd="sng" algn="ctr">
                      <a:solidFill>
                        <a:srgbClr val="D8E4EC"/>
                      </a:solidFill>
                      <a:prstDash val="solid"/>
                      <a:round/>
                      <a:headEnd type="none" w="med" len="med"/>
                      <a:tailEnd type="none" w="med" len="med"/>
                    </a:lnL>
                    <a:lnR w="6350" cap="flat" cmpd="sng" algn="ctr">
                      <a:solidFill>
                        <a:srgbClr val="D8E4EC"/>
                      </a:solidFill>
                      <a:prstDash val="solid"/>
                      <a:round/>
                      <a:headEnd type="none" w="med" len="med"/>
                      <a:tailEnd type="none" w="med" len="med"/>
                    </a:lnR>
                    <a:lnT w="6350" cap="flat" cmpd="sng" algn="ctr">
                      <a:solidFill>
                        <a:srgbClr val="D8E4EC"/>
                      </a:solidFill>
                      <a:prstDash val="solid"/>
                      <a:round/>
                      <a:headEnd type="none" w="med" len="med"/>
                      <a:tailEnd type="none" w="med" len="med"/>
                    </a:lnT>
                    <a:lnB w="6350" cap="flat" cmpd="sng" algn="ctr">
                      <a:solidFill>
                        <a:srgbClr val="D8E4EC"/>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299</a:t>
                      </a:r>
                      <a:endParaRPr lang="en-US" sz="1200" dirty="0">
                        <a:latin typeface="Calibri" charset="0"/>
                        <a:ea typeface="Calibri" charset="0"/>
                        <a:cs typeface="Calibri" charset="0"/>
                      </a:endParaRPr>
                    </a:p>
                  </a:txBody>
                  <a:tcPr>
                    <a:lnL w="6350" cap="flat" cmpd="sng" algn="ctr">
                      <a:solidFill>
                        <a:srgbClr val="D8E4EC"/>
                      </a:solidFill>
                      <a:prstDash val="solid"/>
                      <a:round/>
                      <a:headEnd type="none" w="med" len="med"/>
                      <a:tailEnd type="none" w="med" len="med"/>
                    </a:lnL>
                    <a:lnR w="6350" cap="flat" cmpd="sng" algn="ctr">
                      <a:solidFill>
                        <a:srgbClr val="D8E4EC"/>
                      </a:solidFill>
                      <a:prstDash val="solid"/>
                      <a:round/>
                      <a:headEnd type="none" w="med" len="med"/>
                      <a:tailEnd type="none" w="med" len="med"/>
                    </a:lnR>
                    <a:lnT w="6350" cap="flat" cmpd="sng" algn="ctr">
                      <a:solidFill>
                        <a:srgbClr val="D8E4EC"/>
                      </a:solidFill>
                      <a:prstDash val="solid"/>
                      <a:round/>
                      <a:headEnd type="none" w="med" len="med"/>
                      <a:tailEnd type="none" w="med" len="med"/>
                    </a:lnT>
                    <a:lnB w="6350" cap="flat" cmpd="sng" algn="ctr">
                      <a:solidFill>
                        <a:srgbClr val="D8E4EC"/>
                      </a:solidFill>
                      <a:prstDash val="solid"/>
                      <a:round/>
                      <a:headEnd type="none" w="med" len="med"/>
                      <a:tailEnd type="none" w="med" len="med"/>
                    </a:lnB>
                  </a:tcPr>
                </a:tc>
                <a:tc>
                  <a:txBody>
                    <a:bodyPr/>
                    <a:lstStyle/>
                    <a:p>
                      <a:pPr marL="0" indent="0" algn="ctr">
                        <a:buNone/>
                      </a:pPr>
                      <a:r>
                        <a:rPr lang="en-US" sz="1050" dirty="0">
                          <a:solidFill>
                            <a:srgbClr val="3D5A73"/>
                          </a:solidFill>
                          <a:latin typeface="Calibri" pitchFamily="34" charset="0"/>
                          <a:ea typeface="Calibri" pitchFamily="34" charset="-122"/>
                          <a:cs typeface="Calibri" pitchFamily="34" charset="-120"/>
                        </a:rPr>
                        <a:t>8.3%</a:t>
                      </a:r>
                      <a:endParaRPr lang="en-US" sz="1050" dirty="0">
                        <a:latin typeface="Calibri" charset="0"/>
                        <a:ea typeface="Calibri" charset="0"/>
                        <a:cs typeface="Calibri" charset="0"/>
                      </a:endParaRPr>
                    </a:p>
                  </a:txBody>
                  <a:tcPr>
                    <a:lnL w="6350" cap="flat" cmpd="sng" algn="ctr">
                      <a:solidFill>
                        <a:srgbClr val="D8E4EC"/>
                      </a:solidFill>
                      <a:prstDash val="solid"/>
                      <a:round/>
                      <a:headEnd type="none" w="med" len="med"/>
                      <a:tailEnd type="none" w="med" len="med"/>
                    </a:lnL>
                    <a:lnR w="6350" cap="flat" cmpd="sng" algn="ctr">
                      <a:solidFill>
                        <a:srgbClr val="D8E4EC"/>
                      </a:solidFill>
                      <a:prstDash val="solid"/>
                      <a:round/>
                      <a:headEnd type="none" w="med" len="med"/>
                      <a:tailEnd type="none" w="med" len="med"/>
                    </a:lnR>
                    <a:lnT w="6350" cap="flat" cmpd="sng" algn="ctr">
                      <a:solidFill>
                        <a:srgbClr val="D8E4EC"/>
                      </a:solidFill>
                      <a:prstDash val="solid"/>
                      <a:round/>
                      <a:headEnd type="none" w="med" len="med"/>
                      <a:tailEnd type="none" w="med" len="med"/>
                    </a:lnT>
                    <a:lnB w="6350" cap="flat" cmpd="sng" algn="ctr">
                      <a:solidFill>
                        <a:srgbClr val="D8E4EC"/>
                      </a:solidFill>
                      <a:prstDash val="solid"/>
                      <a:round/>
                      <a:headEnd type="none" w="med" len="med"/>
                      <a:tailEnd type="none" w="med" len="med"/>
                    </a:lnB>
                  </a:tcPr>
                </a:tc>
                <a:extLst>
                  <a:ext uri="{0D108BD9-81ED-4DB2-BD59-A6C34878D82A}">
                    <a16:rowId xmlns:a16="http://schemas.microsoft.com/office/drawing/2014/main" val="10006"/>
                  </a:ext>
                </a:extLst>
              </a:tr>
              <a:tr h="283464">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Fighting</a:t>
                      </a:r>
                      <a:endParaRPr lang="en-US" sz="1200" dirty="0">
                        <a:latin typeface="Calibri" charset="0"/>
                        <a:ea typeface="Calibri" charset="0"/>
                        <a:cs typeface="Calibri" charset="0"/>
                      </a:endParaRPr>
                    </a:p>
                  </a:txBody>
                  <a:tcPr>
                    <a:lnL w="6350" cap="flat" cmpd="sng" algn="ctr">
                      <a:solidFill>
                        <a:srgbClr val="D8E4EC"/>
                      </a:solidFill>
                      <a:prstDash val="solid"/>
                      <a:round/>
                      <a:headEnd type="none" w="med" len="med"/>
                      <a:tailEnd type="none" w="med" len="med"/>
                    </a:lnL>
                    <a:lnR w="6350" cap="flat" cmpd="sng" algn="ctr">
                      <a:solidFill>
                        <a:srgbClr val="D8E4EC"/>
                      </a:solidFill>
                      <a:prstDash val="solid"/>
                      <a:round/>
                      <a:headEnd type="none" w="med" len="med"/>
                      <a:tailEnd type="none" w="med" len="med"/>
                    </a:lnR>
                    <a:lnT w="6350" cap="flat" cmpd="sng" algn="ctr">
                      <a:solidFill>
                        <a:srgbClr val="D8E4EC"/>
                      </a:solidFill>
                      <a:prstDash val="solid"/>
                      <a:round/>
                      <a:headEnd type="none" w="med" len="med"/>
                      <a:tailEnd type="none" w="med" len="med"/>
                    </a:lnT>
                    <a:lnB w="6350" cap="flat" cmpd="sng" algn="ctr">
                      <a:solidFill>
                        <a:srgbClr val="D8E4EC"/>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291</a:t>
                      </a:r>
                      <a:endParaRPr lang="en-US" sz="1200" dirty="0">
                        <a:latin typeface="Calibri" charset="0"/>
                        <a:ea typeface="Calibri" charset="0"/>
                        <a:cs typeface="Calibri" charset="0"/>
                      </a:endParaRPr>
                    </a:p>
                  </a:txBody>
                  <a:tcPr>
                    <a:lnL w="6350" cap="flat" cmpd="sng" algn="ctr">
                      <a:solidFill>
                        <a:srgbClr val="D8E4EC"/>
                      </a:solidFill>
                      <a:prstDash val="solid"/>
                      <a:round/>
                      <a:headEnd type="none" w="med" len="med"/>
                      <a:tailEnd type="none" w="med" len="med"/>
                    </a:lnL>
                    <a:lnR w="6350" cap="flat" cmpd="sng" algn="ctr">
                      <a:solidFill>
                        <a:srgbClr val="D8E4EC"/>
                      </a:solidFill>
                      <a:prstDash val="solid"/>
                      <a:round/>
                      <a:headEnd type="none" w="med" len="med"/>
                      <a:tailEnd type="none" w="med" len="med"/>
                    </a:lnR>
                    <a:lnT w="6350" cap="flat" cmpd="sng" algn="ctr">
                      <a:solidFill>
                        <a:srgbClr val="D8E4EC"/>
                      </a:solidFill>
                      <a:prstDash val="solid"/>
                      <a:round/>
                      <a:headEnd type="none" w="med" len="med"/>
                      <a:tailEnd type="none" w="med" len="med"/>
                    </a:lnT>
                    <a:lnB w="6350" cap="flat" cmpd="sng" algn="ctr">
                      <a:solidFill>
                        <a:srgbClr val="D8E4EC"/>
                      </a:solidFill>
                      <a:prstDash val="solid"/>
                      <a:round/>
                      <a:headEnd type="none" w="med" len="med"/>
                      <a:tailEnd type="none" w="med" len="med"/>
                    </a:lnB>
                  </a:tcPr>
                </a:tc>
                <a:tc>
                  <a:txBody>
                    <a:bodyPr/>
                    <a:lstStyle/>
                    <a:p>
                      <a:pPr marL="0" indent="0" algn="ctr">
                        <a:buNone/>
                      </a:pPr>
                      <a:r>
                        <a:rPr lang="en-US" sz="1050" dirty="0">
                          <a:solidFill>
                            <a:srgbClr val="3D5A73"/>
                          </a:solidFill>
                          <a:latin typeface="Calibri" pitchFamily="34" charset="0"/>
                          <a:ea typeface="Calibri" pitchFamily="34" charset="-122"/>
                          <a:cs typeface="Calibri" pitchFamily="34" charset="-120"/>
                        </a:rPr>
                        <a:t>8.1%</a:t>
                      </a:r>
                      <a:endParaRPr lang="en-US" sz="1050" dirty="0">
                        <a:latin typeface="Calibri" charset="0"/>
                        <a:ea typeface="Calibri" charset="0"/>
                        <a:cs typeface="Calibri" charset="0"/>
                      </a:endParaRPr>
                    </a:p>
                  </a:txBody>
                  <a:tcPr>
                    <a:lnL w="6350" cap="flat" cmpd="sng" algn="ctr">
                      <a:solidFill>
                        <a:srgbClr val="D8E4EC"/>
                      </a:solidFill>
                      <a:prstDash val="solid"/>
                      <a:round/>
                      <a:headEnd type="none" w="med" len="med"/>
                      <a:tailEnd type="none" w="med" len="med"/>
                    </a:lnL>
                    <a:lnR w="6350" cap="flat" cmpd="sng" algn="ctr">
                      <a:solidFill>
                        <a:srgbClr val="D8E4EC"/>
                      </a:solidFill>
                      <a:prstDash val="solid"/>
                      <a:round/>
                      <a:headEnd type="none" w="med" len="med"/>
                      <a:tailEnd type="none" w="med" len="med"/>
                    </a:lnR>
                    <a:lnT w="6350" cap="flat" cmpd="sng" algn="ctr">
                      <a:solidFill>
                        <a:srgbClr val="D8E4EC"/>
                      </a:solidFill>
                      <a:prstDash val="solid"/>
                      <a:round/>
                      <a:headEnd type="none" w="med" len="med"/>
                      <a:tailEnd type="none" w="med" len="med"/>
                    </a:lnT>
                    <a:lnB w="6350" cap="flat" cmpd="sng" algn="ctr">
                      <a:solidFill>
                        <a:srgbClr val="D8E4EC"/>
                      </a:solidFill>
                      <a:prstDash val="solid"/>
                      <a:round/>
                      <a:headEnd type="none" w="med" len="med"/>
                      <a:tailEnd type="none" w="med" len="med"/>
                    </a:lnB>
                  </a:tcPr>
                </a:tc>
                <a:extLst>
                  <a:ext uri="{0D108BD9-81ED-4DB2-BD59-A6C34878D82A}">
                    <a16:rowId xmlns:a16="http://schemas.microsoft.com/office/drawing/2014/main" val="10007"/>
                  </a:ext>
                </a:extLst>
              </a:tr>
              <a:tr h="283464">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Rock</a:t>
                      </a:r>
                      <a:endParaRPr lang="en-US" sz="1200" dirty="0">
                        <a:latin typeface="Calibri" charset="0"/>
                        <a:ea typeface="Calibri" charset="0"/>
                        <a:cs typeface="Calibri" charset="0"/>
                      </a:endParaRPr>
                    </a:p>
                  </a:txBody>
                  <a:tcPr>
                    <a:lnL w="6350" cap="flat" cmpd="sng" algn="ctr">
                      <a:solidFill>
                        <a:srgbClr val="D8E4EC"/>
                      </a:solidFill>
                      <a:prstDash val="solid"/>
                      <a:round/>
                      <a:headEnd type="none" w="med" len="med"/>
                      <a:tailEnd type="none" w="med" len="med"/>
                    </a:lnL>
                    <a:lnR w="6350" cap="flat" cmpd="sng" algn="ctr">
                      <a:solidFill>
                        <a:srgbClr val="D8E4EC"/>
                      </a:solidFill>
                      <a:prstDash val="solid"/>
                      <a:round/>
                      <a:headEnd type="none" w="med" len="med"/>
                      <a:tailEnd type="none" w="med" len="med"/>
                    </a:lnR>
                    <a:lnT w="6350" cap="flat" cmpd="sng" algn="ctr">
                      <a:solidFill>
                        <a:srgbClr val="D8E4EC"/>
                      </a:solidFill>
                      <a:prstDash val="solid"/>
                      <a:round/>
                      <a:headEnd type="none" w="med" len="med"/>
                      <a:tailEnd type="none" w="med" len="med"/>
                    </a:lnT>
                    <a:lnB w="6350" cap="flat" cmpd="sng" algn="ctr">
                      <a:solidFill>
                        <a:srgbClr val="D8E4EC"/>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264</a:t>
                      </a:r>
                      <a:endParaRPr lang="en-US" sz="1200" dirty="0">
                        <a:latin typeface="Calibri" charset="0"/>
                        <a:ea typeface="Calibri" charset="0"/>
                        <a:cs typeface="Calibri" charset="0"/>
                      </a:endParaRPr>
                    </a:p>
                  </a:txBody>
                  <a:tcPr>
                    <a:lnL w="6350" cap="flat" cmpd="sng" algn="ctr">
                      <a:solidFill>
                        <a:srgbClr val="D8E4EC"/>
                      </a:solidFill>
                      <a:prstDash val="solid"/>
                      <a:round/>
                      <a:headEnd type="none" w="med" len="med"/>
                      <a:tailEnd type="none" w="med" len="med"/>
                    </a:lnL>
                    <a:lnR w="6350" cap="flat" cmpd="sng" algn="ctr">
                      <a:solidFill>
                        <a:srgbClr val="D8E4EC"/>
                      </a:solidFill>
                      <a:prstDash val="solid"/>
                      <a:round/>
                      <a:headEnd type="none" w="med" len="med"/>
                      <a:tailEnd type="none" w="med" len="med"/>
                    </a:lnR>
                    <a:lnT w="6350" cap="flat" cmpd="sng" algn="ctr">
                      <a:solidFill>
                        <a:srgbClr val="D8E4EC"/>
                      </a:solidFill>
                      <a:prstDash val="solid"/>
                      <a:round/>
                      <a:headEnd type="none" w="med" len="med"/>
                      <a:tailEnd type="none" w="med" len="med"/>
                    </a:lnT>
                    <a:lnB w="6350" cap="flat" cmpd="sng" algn="ctr">
                      <a:solidFill>
                        <a:srgbClr val="D8E4EC"/>
                      </a:solidFill>
                      <a:prstDash val="solid"/>
                      <a:round/>
                      <a:headEnd type="none" w="med" len="med"/>
                      <a:tailEnd type="none" w="med" len="med"/>
                    </a:lnB>
                  </a:tcPr>
                </a:tc>
                <a:tc>
                  <a:txBody>
                    <a:bodyPr/>
                    <a:lstStyle/>
                    <a:p>
                      <a:pPr marL="0" indent="0" algn="ctr">
                        <a:buNone/>
                      </a:pPr>
                      <a:r>
                        <a:rPr lang="en-US" sz="1050" dirty="0">
                          <a:solidFill>
                            <a:srgbClr val="3D5A73"/>
                          </a:solidFill>
                          <a:latin typeface="Calibri" pitchFamily="34" charset="0"/>
                          <a:ea typeface="Calibri" pitchFamily="34" charset="-122"/>
                          <a:cs typeface="Calibri" pitchFamily="34" charset="-120"/>
                        </a:rPr>
                        <a:t>7.3%</a:t>
                      </a:r>
                      <a:endParaRPr lang="en-US" sz="1050" dirty="0">
                        <a:latin typeface="Calibri" charset="0"/>
                        <a:ea typeface="Calibri" charset="0"/>
                        <a:cs typeface="Calibri" charset="0"/>
                      </a:endParaRPr>
                    </a:p>
                  </a:txBody>
                  <a:tcPr>
                    <a:lnL w="6350" cap="flat" cmpd="sng" algn="ctr">
                      <a:solidFill>
                        <a:srgbClr val="D8E4EC"/>
                      </a:solidFill>
                      <a:prstDash val="solid"/>
                      <a:round/>
                      <a:headEnd type="none" w="med" len="med"/>
                      <a:tailEnd type="none" w="med" len="med"/>
                    </a:lnL>
                    <a:lnR w="6350" cap="flat" cmpd="sng" algn="ctr">
                      <a:solidFill>
                        <a:srgbClr val="D8E4EC"/>
                      </a:solidFill>
                      <a:prstDash val="solid"/>
                      <a:round/>
                      <a:headEnd type="none" w="med" len="med"/>
                      <a:tailEnd type="none" w="med" len="med"/>
                    </a:lnR>
                    <a:lnT w="6350" cap="flat" cmpd="sng" algn="ctr">
                      <a:solidFill>
                        <a:srgbClr val="D8E4EC"/>
                      </a:solidFill>
                      <a:prstDash val="solid"/>
                      <a:round/>
                      <a:headEnd type="none" w="med" len="med"/>
                      <a:tailEnd type="none" w="med" len="med"/>
                    </a:lnT>
                    <a:lnB w="6350" cap="flat" cmpd="sng" algn="ctr">
                      <a:solidFill>
                        <a:srgbClr val="D8E4EC"/>
                      </a:solidFill>
                      <a:prstDash val="solid"/>
                      <a:round/>
                      <a:headEnd type="none" w="med" len="med"/>
                      <a:tailEnd type="none" w="med" len="med"/>
                    </a:lnB>
                  </a:tcPr>
                </a:tc>
                <a:extLst>
                  <a:ext uri="{0D108BD9-81ED-4DB2-BD59-A6C34878D82A}">
                    <a16:rowId xmlns:a16="http://schemas.microsoft.com/office/drawing/2014/main" val="10008"/>
                  </a:ext>
                </a:extLst>
              </a:tr>
              <a:tr h="283464">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Ground</a:t>
                      </a:r>
                      <a:endParaRPr lang="en-US" sz="1200" dirty="0">
                        <a:latin typeface="Calibri" charset="0"/>
                        <a:ea typeface="Calibri" charset="0"/>
                        <a:cs typeface="Calibri" charset="0"/>
                      </a:endParaRPr>
                    </a:p>
                  </a:txBody>
                  <a:tcPr>
                    <a:lnL w="6350" cap="flat" cmpd="sng" algn="ctr">
                      <a:solidFill>
                        <a:srgbClr val="D8E4EC"/>
                      </a:solidFill>
                      <a:prstDash val="solid"/>
                      <a:round/>
                      <a:headEnd type="none" w="med" len="med"/>
                      <a:tailEnd type="none" w="med" len="med"/>
                    </a:lnL>
                    <a:lnR w="6350" cap="flat" cmpd="sng" algn="ctr">
                      <a:solidFill>
                        <a:srgbClr val="D8E4EC"/>
                      </a:solidFill>
                      <a:prstDash val="solid"/>
                      <a:round/>
                      <a:headEnd type="none" w="med" len="med"/>
                      <a:tailEnd type="none" w="med" len="med"/>
                    </a:lnR>
                    <a:lnT w="6350" cap="flat" cmpd="sng" algn="ctr">
                      <a:solidFill>
                        <a:srgbClr val="D8E4EC"/>
                      </a:solidFill>
                      <a:prstDash val="solid"/>
                      <a:round/>
                      <a:headEnd type="none" w="med" len="med"/>
                      <a:tailEnd type="none" w="med" len="med"/>
                    </a:lnT>
                    <a:lnB w="6350" cap="flat" cmpd="sng" algn="ctr">
                      <a:solidFill>
                        <a:srgbClr val="D8E4EC"/>
                      </a:solidFill>
                      <a:prstDash val="solid"/>
                      <a:round/>
                      <a:headEnd type="none" w="med" len="med"/>
                      <a:tailEnd type="none" w="med" len="med"/>
                    </a:lnB>
                  </a:tcPr>
                </a:tc>
                <a:tc>
                  <a:txBody>
                    <a:bodyPr/>
                    <a:lstStyle/>
                    <a:p>
                      <a:pPr marL="0" indent="0" algn="ctr">
                        <a:buNone/>
                      </a:pPr>
                      <a:r>
                        <a:rPr lang="en-US" sz="1200" b="1" dirty="0">
                          <a:solidFill>
                            <a:srgbClr val="E74C3C"/>
                          </a:solidFill>
                          <a:latin typeface="Calibri" pitchFamily="34" charset="0"/>
                          <a:ea typeface="Calibri" pitchFamily="34" charset="-122"/>
                          <a:cs typeface="Calibri" pitchFamily="34" charset="-120"/>
                        </a:rPr>
                        <a:t>244</a:t>
                      </a:r>
                      <a:endParaRPr lang="en-US" sz="1200" dirty="0">
                        <a:latin typeface="Calibri" charset="0"/>
                        <a:ea typeface="Calibri" charset="0"/>
                        <a:cs typeface="Calibri" charset="0"/>
                      </a:endParaRPr>
                    </a:p>
                  </a:txBody>
                  <a:tcPr>
                    <a:lnL w="6350" cap="flat" cmpd="sng" algn="ctr">
                      <a:solidFill>
                        <a:srgbClr val="D8E4EC"/>
                      </a:solidFill>
                      <a:prstDash val="solid"/>
                      <a:round/>
                      <a:headEnd type="none" w="med" len="med"/>
                      <a:tailEnd type="none" w="med" len="med"/>
                    </a:lnL>
                    <a:lnR w="6350" cap="flat" cmpd="sng" algn="ctr">
                      <a:solidFill>
                        <a:srgbClr val="D8E4EC"/>
                      </a:solidFill>
                      <a:prstDash val="solid"/>
                      <a:round/>
                      <a:headEnd type="none" w="med" len="med"/>
                      <a:tailEnd type="none" w="med" len="med"/>
                    </a:lnR>
                    <a:lnT w="6350" cap="flat" cmpd="sng" algn="ctr">
                      <a:solidFill>
                        <a:srgbClr val="D8E4EC"/>
                      </a:solidFill>
                      <a:prstDash val="solid"/>
                      <a:round/>
                      <a:headEnd type="none" w="med" len="med"/>
                      <a:tailEnd type="none" w="med" len="med"/>
                    </a:lnT>
                    <a:lnB w="6350" cap="flat" cmpd="sng" algn="ctr">
                      <a:solidFill>
                        <a:srgbClr val="D8E4EC"/>
                      </a:solidFill>
                      <a:prstDash val="solid"/>
                      <a:round/>
                      <a:headEnd type="none" w="med" len="med"/>
                      <a:tailEnd type="none" w="med" len="med"/>
                    </a:lnB>
                  </a:tcPr>
                </a:tc>
                <a:tc>
                  <a:txBody>
                    <a:bodyPr/>
                    <a:lstStyle/>
                    <a:p>
                      <a:pPr marL="0" indent="0" algn="ctr">
                        <a:buNone/>
                      </a:pPr>
                      <a:r>
                        <a:rPr lang="en-US" sz="1050" dirty="0">
                          <a:solidFill>
                            <a:srgbClr val="E74C3C"/>
                          </a:solidFill>
                          <a:latin typeface="Calibri" pitchFamily="34" charset="0"/>
                          <a:ea typeface="Calibri" pitchFamily="34" charset="-122"/>
                          <a:cs typeface="Calibri" pitchFamily="34" charset="-120"/>
                        </a:rPr>
                        <a:t>6.8% ▼</a:t>
                      </a:r>
                      <a:endParaRPr lang="en-US" sz="1050" dirty="0">
                        <a:latin typeface="Calibri" charset="0"/>
                        <a:ea typeface="Calibri" charset="0"/>
                        <a:cs typeface="Calibri" charset="0"/>
                      </a:endParaRPr>
                    </a:p>
                  </a:txBody>
                  <a:tcPr>
                    <a:lnL w="6350" cap="flat" cmpd="sng" algn="ctr">
                      <a:solidFill>
                        <a:srgbClr val="D8E4EC"/>
                      </a:solidFill>
                      <a:prstDash val="solid"/>
                      <a:round/>
                      <a:headEnd type="none" w="med" len="med"/>
                      <a:tailEnd type="none" w="med" len="med"/>
                    </a:lnL>
                    <a:lnR w="6350" cap="flat" cmpd="sng" algn="ctr">
                      <a:solidFill>
                        <a:srgbClr val="D8E4EC"/>
                      </a:solidFill>
                      <a:prstDash val="solid"/>
                      <a:round/>
                      <a:headEnd type="none" w="med" len="med"/>
                      <a:tailEnd type="none" w="med" len="med"/>
                    </a:lnR>
                    <a:lnT w="6350" cap="flat" cmpd="sng" algn="ctr">
                      <a:solidFill>
                        <a:srgbClr val="D8E4EC"/>
                      </a:solidFill>
                      <a:prstDash val="solid"/>
                      <a:round/>
                      <a:headEnd type="none" w="med" len="med"/>
                      <a:tailEnd type="none" w="med" len="med"/>
                    </a:lnT>
                    <a:lnB w="6350" cap="flat" cmpd="sng" algn="ctr">
                      <a:solidFill>
                        <a:srgbClr val="D8E4EC"/>
                      </a:solidFill>
                      <a:prstDash val="solid"/>
                      <a:round/>
                      <a:headEnd type="none" w="med" len="med"/>
                      <a:tailEnd type="none" w="med" len="med"/>
                    </a:lnB>
                  </a:tcPr>
                </a:tc>
                <a:extLst>
                  <a:ext uri="{0D108BD9-81ED-4DB2-BD59-A6C34878D82A}">
                    <a16:rowId xmlns:a16="http://schemas.microsoft.com/office/drawing/2014/main" val="10009"/>
                  </a:ext>
                </a:extLst>
              </a:tr>
            </a:tbl>
          </a:graphicData>
        </a:graphic>
      </p:graphicFrame>
      <p:sp>
        <p:nvSpPr>
          <p:cNvPr id="19" name="Shape 16"/>
          <p:cNvSpPr/>
          <p:nvPr/>
        </p:nvSpPr>
        <p:spPr>
          <a:xfrm>
            <a:off x="4709160" y="1920240"/>
            <a:ext cx="4114800" cy="1325880"/>
          </a:xfrm>
          <a:prstGeom prst="rect">
            <a:avLst/>
          </a:prstGeom>
          <a:solidFill>
            <a:srgbClr val="FFF8E1"/>
          </a:solidFill>
          <a:ln w="10160">
            <a:solidFill>
              <a:srgbClr val="FFD54F"/>
            </a:solidFill>
            <a:prstDash val="solid"/>
          </a:ln>
        </p:spPr>
        <p:txBody>
          <a:bodyPr/>
          <a:lstStyle/>
          <a:p>
            <a:endParaRPr lang="pt-PT"/>
          </a:p>
        </p:txBody>
      </p:sp>
      <p:sp>
        <p:nvSpPr>
          <p:cNvPr id="20" name="Shape 17"/>
          <p:cNvSpPr/>
          <p:nvPr/>
        </p:nvSpPr>
        <p:spPr>
          <a:xfrm>
            <a:off x="4709160" y="1920239"/>
            <a:ext cx="82296" cy="1325879"/>
          </a:xfrm>
          <a:prstGeom prst="rect">
            <a:avLst/>
          </a:prstGeom>
          <a:solidFill>
            <a:srgbClr val="E97C35"/>
          </a:solidFill>
          <a:ln w="12700">
            <a:solidFill>
              <a:srgbClr val="E97C35"/>
            </a:solidFill>
            <a:prstDash val="solid"/>
          </a:ln>
        </p:spPr>
        <p:txBody>
          <a:bodyPr/>
          <a:lstStyle/>
          <a:p>
            <a:endParaRPr lang="pt-PT"/>
          </a:p>
        </p:txBody>
      </p:sp>
      <p:sp>
        <p:nvSpPr>
          <p:cNvPr id="21" name="Text 18"/>
          <p:cNvSpPr/>
          <p:nvPr/>
        </p:nvSpPr>
        <p:spPr>
          <a:xfrm>
            <a:off x="4846320" y="1965960"/>
            <a:ext cx="3840480" cy="347472"/>
          </a:xfrm>
          <a:prstGeom prst="rect">
            <a:avLst/>
          </a:prstGeom>
          <a:noFill/>
          <a:ln/>
        </p:spPr>
        <p:txBody>
          <a:bodyPr wrap="square" lIns="0" tIns="0" rIns="0" bIns="0" rtlCol="0" anchor="ctr"/>
          <a:lstStyle/>
          <a:p>
            <a:pPr marL="0" indent="0">
              <a:buNone/>
            </a:pPr>
            <a:r>
              <a:rPr lang="en-US" sz="1300" b="1" dirty="0">
                <a:solidFill>
                  <a:srgbClr val="E97C35"/>
                </a:solidFill>
                <a:latin typeface="Trebuchet MS" pitchFamily="34" charset="0"/>
                <a:ea typeface="Trebuchet MS" pitchFamily="34" charset="-122"/>
                <a:cs typeface="Trebuchet MS" pitchFamily="34" charset="-120"/>
              </a:rPr>
              <a:t>Imbalance ratio: 2.76x</a:t>
            </a:r>
            <a:endParaRPr lang="en-US" sz="1300" dirty="0"/>
          </a:p>
        </p:txBody>
      </p:sp>
      <p:sp>
        <p:nvSpPr>
          <p:cNvPr id="22" name="Text 19"/>
          <p:cNvSpPr/>
          <p:nvPr/>
        </p:nvSpPr>
        <p:spPr>
          <a:xfrm>
            <a:off x="4846320" y="2340864"/>
            <a:ext cx="3840480" cy="713232"/>
          </a:xfrm>
          <a:prstGeom prst="rect">
            <a:avLst/>
          </a:prstGeom>
          <a:noFill/>
          <a:ln/>
        </p:spPr>
        <p:txBody>
          <a:bodyPr wrap="square" lIns="0" tIns="0" rIns="0" bIns="0" rtlCol="0" anchor="ctr"/>
          <a:lstStyle/>
          <a:p>
            <a:pPr marL="0" indent="0">
              <a:buNone/>
            </a:pPr>
            <a:r>
              <a:rPr lang="en-US" sz="1100" b="1" dirty="0">
                <a:solidFill>
                  <a:srgbClr val="1A2B3C"/>
                </a:solidFill>
                <a:latin typeface="Calibri" pitchFamily="34" charset="0"/>
                <a:ea typeface="Calibri" pitchFamily="34" charset="-122"/>
                <a:cs typeface="Calibri" pitchFamily="34" charset="-120"/>
              </a:rPr>
              <a:t>Implications: </a:t>
            </a:r>
          </a:p>
          <a:p>
            <a:pPr marL="171450" indent="-171450">
              <a:buFont typeface="Arial" panose="020B0604020202020204" pitchFamily="34" charset="0"/>
              <a:buChar char="•"/>
            </a:pPr>
            <a:r>
              <a:rPr lang="en-US" sz="1100" dirty="0">
                <a:solidFill>
                  <a:srgbClr val="1A2B3C"/>
                </a:solidFill>
                <a:latin typeface="Calibri" pitchFamily="34" charset="0"/>
                <a:ea typeface="Calibri" pitchFamily="34" charset="-122"/>
                <a:cs typeface="Calibri" pitchFamily="34" charset="-120"/>
              </a:rPr>
              <a:t>Predicting "Water" every time </a:t>
            </a:r>
          </a:p>
          <a:p>
            <a:pPr marL="628650" lvl="1" indent="-171450">
              <a:buFont typeface="Arial" panose="020B0604020202020204" pitchFamily="34" charset="0"/>
              <a:buChar char="•"/>
            </a:pPr>
            <a:r>
              <a:rPr lang="en-US" sz="1100" dirty="0">
                <a:solidFill>
                  <a:srgbClr val="1A2B3C"/>
                </a:solidFill>
                <a:latin typeface="Calibri" pitchFamily="34" charset="0"/>
                <a:ea typeface="Calibri" pitchFamily="34" charset="-122"/>
                <a:cs typeface="Calibri" pitchFamily="34" charset="-120"/>
              </a:rPr>
              <a:t>gives 18.7% accuracy </a:t>
            </a:r>
          </a:p>
          <a:p>
            <a:pPr marL="628650" lvl="1" indent="-171450">
              <a:buFont typeface="Arial" panose="020B0604020202020204" pitchFamily="34" charset="0"/>
              <a:buChar char="•"/>
            </a:pPr>
            <a:r>
              <a:rPr lang="en-US" sz="1100" dirty="0">
                <a:solidFill>
                  <a:srgbClr val="1A2B3C"/>
                </a:solidFill>
                <a:latin typeface="Calibri" pitchFamily="34" charset="0"/>
                <a:ea typeface="Calibri" pitchFamily="34" charset="-122"/>
                <a:cs typeface="Calibri" pitchFamily="34" charset="-120"/>
              </a:rPr>
              <a:t>but macro-F1 = 0.021 </a:t>
            </a:r>
          </a:p>
          <a:p>
            <a:pPr marL="171450" indent="-171450">
              <a:buFont typeface="Arial" panose="020B0604020202020204" pitchFamily="34" charset="0"/>
              <a:buChar char="•"/>
            </a:pPr>
            <a:r>
              <a:rPr lang="en-US" sz="1100" dirty="0">
                <a:solidFill>
                  <a:srgbClr val="1A2B3C"/>
                </a:solidFill>
                <a:latin typeface="Calibri" pitchFamily="34" charset="0"/>
                <a:ea typeface="Calibri" pitchFamily="34" charset="-122"/>
                <a:cs typeface="Calibri" pitchFamily="34" charset="-120"/>
              </a:rPr>
              <a:t>So accuracy hides the real failure on minority classes.</a:t>
            </a:r>
            <a:endParaRPr lang="en-US" sz="1100" dirty="0"/>
          </a:p>
        </p:txBody>
      </p:sp>
      <p:sp>
        <p:nvSpPr>
          <p:cNvPr id="23" name="Shape 20"/>
          <p:cNvSpPr/>
          <p:nvPr/>
        </p:nvSpPr>
        <p:spPr>
          <a:xfrm>
            <a:off x="4709160" y="3383280"/>
            <a:ext cx="4114800" cy="1463040"/>
          </a:xfrm>
          <a:prstGeom prst="rect">
            <a:avLst/>
          </a:prstGeom>
          <a:solidFill>
            <a:srgbClr val="FFFFFF"/>
          </a:solidFill>
          <a:ln w="6350">
            <a:solidFill>
              <a:srgbClr val="D8E4EC"/>
            </a:solidFill>
            <a:prstDash val="solid"/>
          </a:ln>
          <a:effectLst>
            <a:outerShdw blurRad="101600" dist="38100" dir="8100000" algn="bl" rotWithShape="0">
              <a:srgbClr val="000000">
                <a:alpha val="10000"/>
              </a:srgbClr>
            </a:outerShdw>
          </a:effectLst>
        </p:spPr>
        <p:txBody>
          <a:bodyPr/>
          <a:lstStyle/>
          <a:p>
            <a:endParaRPr lang="pt-PT"/>
          </a:p>
        </p:txBody>
      </p:sp>
      <p:sp>
        <p:nvSpPr>
          <p:cNvPr id="24" name="Shape 21"/>
          <p:cNvSpPr/>
          <p:nvPr/>
        </p:nvSpPr>
        <p:spPr>
          <a:xfrm>
            <a:off x="4709160" y="3246120"/>
            <a:ext cx="82296" cy="1600200"/>
          </a:xfrm>
          <a:prstGeom prst="rect">
            <a:avLst/>
          </a:prstGeom>
          <a:solidFill>
            <a:srgbClr val="00A896"/>
          </a:solidFill>
          <a:ln w="12700">
            <a:solidFill>
              <a:srgbClr val="00A896"/>
            </a:solidFill>
            <a:prstDash val="solid"/>
          </a:ln>
        </p:spPr>
        <p:txBody>
          <a:bodyPr/>
          <a:lstStyle/>
          <a:p>
            <a:endParaRPr lang="pt-PT"/>
          </a:p>
        </p:txBody>
      </p:sp>
      <p:sp>
        <p:nvSpPr>
          <p:cNvPr id="25" name="Text 22"/>
          <p:cNvSpPr/>
          <p:nvPr/>
        </p:nvSpPr>
        <p:spPr>
          <a:xfrm>
            <a:off x="4846320" y="3483864"/>
            <a:ext cx="3840480" cy="329184"/>
          </a:xfrm>
          <a:prstGeom prst="rect">
            <a:avLst/>
          </a:prstGeom>
          <a:noFill/>
          <a:ln/>
        </p:spPr>
        <p:txBody>
          <a:bodyPr wrap="square" lIns="0" tIns="0" rIns="0" bIns="0" rtlCol="0" anchor="ctr"/>
          <a:lstStyle/>
          <a:p>
            <a:pPr marL="0" indent="0">
              <a:buNone/>
            </a:pPr>
            <a:r>
              <a:rPr lang="en-US" sz="1300" b="1" dirty="0">
                <a:solidFill>
                  <a:srgbClr val="0D1B2A"/>
                </a:solidFill>
                <a:latin typeface="Trebuchet MS" pitchFamily="34" charset="0"/>
                <a:ea typeface="Trebuchet MS" pitchFamily="34" charset="-122"/>
                <a:cs typeface="Trebuchet MS" pitchFamily="34" charset="-120"/>
              </a:rPr>
              <a:t>Solution:</a:t>
            </a:r>
          </a:p>
        </p:txBody>
      </p:sp>
      <p:sp>
        <p:nvSpPr>
          <p:cNvPr id="26" name="Text 23"/>
          <p:cNvSpPr/>
          <p:nvPr/>
        </p:nvSpPr>
        <p:spPr>
          <a:xfrm>
            <a:off x="5638059" y="3330114"/>
            <a:ext cx="3840480" cy="1115568"/>
          </a:xfrm>
          <a:prstGeom prst="rect">
            <a:avLst/>
          </a:prstGeom>
          <a:noFill/>
          <a:ln/>
        </p:spPr>
        <p:txBody>
          <a:bodyPr wrap="square" rtlCol="0" anchor="ctr"/>
          <a:lstStyle/>
          <a:p>
            <a:pPr>
              <a:buSzPct val="100000"/>
            </a:pPr>
            <a:r>
              <a:rPr lang="en-US" sz="1200" b="1" u="sng" dirty="0">
                <a:solidFill>
                  <a:srgbClr val="0D1B2A"/>
                </a:solidFill>
                <a:latin typeface="Trebuchet MS" pitchFamily="34" charset="0"/>
                <a:ea typeface="Trebuchet MS" pitchFamily="34" charset="-122"/>
                <a:cs typeface="Trebuchet MS" pitchFamily="34" charset="-120"/>
              </a:rPr>
              <a:t>macro-averaged F1</a:t>
            </a:r>
            <a:endParaRPr lang="en-US" sz="1200" u="sng" dirty="0"/>
          </a:p>
          <a:p>
            <a:pPr>
              <a:buSzPct val="100000"/>
            </a:pPr>
            <a:endParaRPr lang="en-US" sz="1100" dirty="0">
              <a:solidFill>
                <a:srgbClr val="1A2B3C"/>
              </a:solidFill>
              <a:latin typeface="Calibri" pitchFamily="34" charset="0"/>
              <a:ea typeface="Calibri" pitchFamily="34" charset="-122"/>
              <a:cs typeface="Calibri" pitchFamily="34" charset="-120"/>
            </a:endParaRPr>
          </a:p>
          <a:p>
            <a:pPr>
              <a:buSzPct val="100000"/>
            </a:pPr>
            <a:r>
              <a:rPr lang="en-US" sz="1100" dirty="0">
                <a:solidFill>
                  <a:srgbClr val="1A2B3C"/>
                </a:solidFill>
                <a:latin typeface="Calibri" pitchFamily="34" charset="0"/>
                <a:ea typeface="Calibri" pitchFamily="34" charset="-122"/>
                <a:cs typeface="Calibri" pitchFamily="34" charset="-120"/>
              </a:rPr>
              <a:t>Weights all 9 classes equally</a:t>
            </a:r>
          </a:p>
          <a:p>
            <a:pPr>
              <a:buSzPct val="100000"/>
            </a:pPr>
            <a:r>
              <a:rPr lang="en-US" sz="1100" dirty="0">
                <a:solidFill>
                  <a:srgbClr val="1A2B3C"/>
                </a:solidFill>
                <a:latin typeface="Calibri" pitchFamily="34" charset="0"/>
                <a:ea typeface="Calibri" pitchFamily="34" charset="-122"/>
                <a:cs typeface="Calibri" pitchFamily="34" charset="-120"/>
              </a:rPr>
              <a:t>No advantage for majority classes</a:t>
            </a:r>
            <a:endParaRPr lang="en-US" sz="1100" dirty="0"/>
          </a:p>
        </p:txBody>
      </p:sp>
      <p:sp>
        <p:nvSpPr>
          <p:cNvPr id="30" name="Shape 2">
            <a:extLst>
              <a:ext uri="{FF2B5EF4-FFF2-40B4-BE49-F238E27FC236}">
                <a16:creationId xmlns:a16="http://schemas.microsoft.com/office/drawing/2014/main" id="{1E90EFAE-8972-B0E0-CBA7-CDEF2DB59607}"/>
              </a:ext>
            </a:extLst>
          </p:cNvPr>
          <p:cNvSpPr/>
          <p:nvPr/>
        </p:nvSpPr>
        <p:spPr>
          <a:xfrm>
            <a:off x="7498079" y="82296"/>
            <a:ext cx="1557633" cy="329184"/>
          </a:xfrm>
          <a:prstGeom prst="rect">
            <a:avLst/>
          </a:prstGeom>
          <a:solidFill>
            <a:srgbClr val="1C3A52"/>
          </a:solidFill>
          <a:ln w="12700">
            <a:solidFill>
              <a:srgbClr val="1C3A52"/>
            </a:solidFill>
            <a:prstDash val="solid"/>
          </a:ln>
        </p:spPr>
        <p:txBody>
          <a:bodyPr/>
          <a:lstStyle/>
          <a:p>
            <a:pPr algn="ctr"/>
            <a:r>
              <a:rPr lang="en-US" b="1" dirty="0"/>
              <a:t>EDA</a:t>
            </a:r>
            <a:endParaRPr lang="pt-PT" b="1" dirty="0"/>
          </a:p>
        </p:txBody>
      </p:sp>
      <p:sp>
        <p:nvSpPr>
          <p:cNvPr id="27" name="Rectangle: Rounded Corners 26">
            <a:extLst>
              <a:ext uri="{FF2B5EF4-FFF2-40B4-BE49-F238E27FC236}">
                <a16:creationId xmlns:a16="http://schemas.microsoft.com/office/drawing/2014/main" id="{2A144D38-9B3B-674D-9016-6CF8AF967FB9}"/>
              </a:ext>
            </a:extLst>
          </p:cNvPr>
          <p:cNvSpPr/>
          <p:nvPr/>
        </p:nvSpPr>
        <p:spPr>
          <a:xfrm>
            <a:off x="7088176" y="4253"/>
            <a:ext cx="470123" cy="470912"/>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2800" b="1" dirty="0"/>
              <a:t>1</a:t>
            </a:r>
            <a:endParaRPr lang="pt-PT" sz="1600" b="1" dirty="0"/>
          </a:p>
        </p:txBody>
      </p:sp>
      <p:sp>
        <p:nvSpPr>
          <p:cNvPr id="28" name="TextBox 27">
            <a:extLst>
              <a:ext uri="{FF2B5EF4-FFF2-40B4-BE49-F238E27FC236}">
                <a16:creationId xmlns:a16="http://schemas.microsoft.com/office/drawing/2014/main" id="{00A481E2-A33B-89CB-9618-FA80712A9EAF}"/>
              </a:ext>
            </a:extLst>
          </p:cNvPr>
          <p:cNvSpPr txBox="1"/>
          <p:nvPr/>
        </p:nvSpPr>
        <p:spPr>
          <a:xfrm>
            <a:off x="78154" y="2095937"/>
            <a:ext cx="2173165" cy="2657266"/>
          </a:xfrm>
          <a:prstGeom prst="rect">
            <a:avLst/>
          </a:prstGeom>
          <a:noFill/>
        </p:spPr>
        <p:txBody>
          <a:bodyPr wrap="square">
            <a:spAutoFit/>
          </a:bodyPr>
          <a:lstStyle/>
          <a:p>
            <a:pPr>
              <a:lnSpc>
                <a:spcPct val="150000"/>
              </a:lnSpc>
            </a:pPr>
            <a:r>
              <a:rPr lang="pt-PT" sz="1250" dirty="0">
                <a:solidFill>
                  <a:schemeClr val="bg1"/>
                </a:solidFill>
                <a:latin typeface="Consolas" panose="020B0609020204030204" pitchFamily="49" charset="0"/>
              </a:rPr>
              <a:t>💧</a:t>
            </a:r>
          </a:p>
          <a:p>
            <a:pPr>
              <a:lnSpc>
                <a:spcPct val="150000"/>
              </a:lnSpc>
            </a:pPr>
            <a:r>
              <a:rPr lang="pt-PT" sz="1250" dirty="0">
                <a:solidFill>
                  <a:schemeClr val="bg1"/>
                </a:solidFill>
                <a:latin typeface="Consolas" panose="020B0609020204030204" pitchFamily="49" charset="0"/>
              </a:rPr>
              <a:t>😐</a:t>
            </a:r>
          </a:p>
          <a:p>
            <a:pPr>
              <a:lnSpc>
                <a:spcPct val="150000"/>
              </a:lnSpc>
            </a:pPr>
            <a:r>
              <a:rPr lang="pt-PT" sz="1250" dirty="0">
                <a:solidFill>
                  <a:schemeClr val="bg1"/>
                </a:solidFill>
                <a:latin typeface="Consolas" panose="020B0609020204030204" pitchFamily="49" charset="0"/>
              </a:rPr>
              <a:t>☠️</a:t>
            </a:r>
          </a:p>
          <a:p>
            <a:pPr>
              <a:lnSpc>
                <a:spcPct val="150000"/>
              </a:lnSpc>
            </a:pPr>
            <a:r>
              <a:rPr lang="pt-PT" sz="1250" dirty="0">
                <a:solidFill>
                  <a:schemeClr val="bg1"/>
                </a:solidFill>
                <a:latin typeface="Consolas" panose="020B0609020204030204" pitchFamily="49" charset="0"/>
              </a:rPr>
              <a:t>🔥</a:t>
            </a:r>
          </a:p>
          <a:p>
            <a:pPr>
              <a:lnSpc>
                <a:spcPct val="150000"/>
              </a:lnSpc>
            </a:pPr>
            <a:r>
              <a:rPr lang="pt-PT" sz="1250" dirty="0">
                <a:solidFill>
                  <a:schemeClr val="bg1"/>
                </a:solidFill>
                <a:latin typeface="Consolas" panose="020B0609020204030204" pitchFamily="49" charset="0"/>
              </a:rPr>
              <a:t>🐛</a:t>
            </a:r>
          </a:p>
          <a:p>
            <a:pPr>
              <a:lnSpc>
                <a:spcPct val="150000"/>
              </a:lnSpc>
            </a:pPr>
            <a:r>
              <a:rPr lang="pt-PT" sz="1250" dirty="0">
                <a:solidFill>
                  <a:schemeClr val="bg1"/>
                </a:solidFill>
                <a:latin typeface="Consolas" panose="020B0609020204030204" pitchFamily="49" charset="0"/>
              </a:rPr>
              <a:t>🌿</a:t>
            </a:r>
          </a:p>
          <a:p>
            <a:pPr>
              <a:lnSpc>
                <a:spcPct val="150000"/>
              </a:lnSpc>
            </a:pPr>
            <a:r>
              <a:rPr lang="pt-PT" sz="1250" dirty="0">
                <a:solidFill>
                  <a:schemeClr val="bg1"/>
                </a:solidFill>
                <a:latin typeface="Consolas" panose="020B0609020204030204" pitchFamily="49" charset="0"/>
              </a:rPr>
              <a:t>⚔️</a:t>
            </a:r>
          </a:p>
          <a:p>
            <a:pPr>
              <a:lnSpc>
                <a:spcPct val="150000"/>
              </a:lnSpc>
              <a:buNone/>
            </a:pPr>
            <a:r>
              <a:rPr lang="pt-PT" sz="1250" dirty="0">
                <a:solidFill>
                  <a:schemeClr val="bg1"/>
                </a:solidFill>
                <a:latin typeface="Consolas" panose="020B0609020204030204" pitchFamily="49" charset="0"/>
              </a:rPr>
              <a:t>🗿</a:t>
            </a:r>
            <a:endParaRPr lang="pt-PT" sz="1250" b="0" dirty="0">
              <a:solidFill>
                <a:schemeClr val="bg1"/>
              </a:solidFill>
              <a:effectLst/>
              <a:latin typeface="Consolas" panose="020B0609020204030204" pitchFamily="49" charset="0"/>
            </a:endParaRPr>
          </a:p>
          <a:p>
            <a:pPr>
              <a:lnSpc>
                <a:spcPct val="150000"/>
              </a:lnSpc>
            </a:pPr>
            <a:r>
              <a:rPr lang="pt-PT" sz="1250" dirty="0">
                <a:solidFill>
                  <a:schemeClr val="bg1"/>
                </a:solidFill>
                <a:latin typeface="Consolas" panose="020B0609020204030204" pitchFamily="49" charset="0"/>
              </a:rPr>
              <a: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4F7F9"/>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0A896"/>
          </a:solidFill>
          <a:ln w="12700">
            <a:solidFill>
              <a:srgbClr val="00A896"/>
            </a:solidFill>
            <a:prstDash val="solid"/>
          </a:ln>
        </p:spPr>
        <p:txBody>
          <a:bodyPr/>
          <a:lstStyle/>
          <a:p>
            <a:endParaRPr lang="pt-PT"/>
          </a:p>
        </p:txBody>
      </p:sp>
      <p:sp>
        <p:nvSpPr>
          <p:cNvPr id="3" name="Text 1"/>
          <p:cNvSpPr/>
          <p:nvPr/>
        </p:nvSpPr>
        <p:spPr>
          <a:xfrm>
            <a:off x="457200" y="109728"/>
            <a:ext cx="7772400" cy="530352"/>
          </a:xfrm>
          <a:prstGeom prst="rect">
            <a:avLst/>
          </a:prstGeom>
          <a:noFill/>
          <a:ln/>
        </p:spPr>
        <p:txBody>
          <a:bodyPr wrap="square" lIns="0" tIns="0" rIns="0" bIns="0" rtlCol="0" anchor="ctr"/>
          <a:lstStyle/>
          <a:p>
            <a:pPr marL="0" indent="0">
              <a:buNone/>
            </a:pPr>
            <a:r>
              <a:rPr lang="en-US" sz="2200" b="1" dirty="0">
                <a:solidFill>
                  <a:srgbClr val="0D1B2A"/>
                </a:solidFill>
                <a:latin typeface="Trebuchet MS" pitchFamily="34" charset="0"/>
                <a:ea typeface="Trebuchet MS" pitchFamily="34" charset="-122"/>
                <a:cs typeface="Trebuchet MS" pitchFamily="34" charset="-120"/>
              </a:rPr>
              <a:t>Class Imbalance — Visual Overview</a:t>
            </a:r>
            <a:endParaRPr lang="en-US" sz="2200" dirty="0"/>
          </a:p>
        </p:txBody>
      </p:sp>
      <p:sp>
        <p:nvSpPr>
          <p:cNvPr id="4" name="Shape 2"/>
          <p:cNvSpPr/>
          <p:nvPr/>
        </p:nvSpPr>
        <p:spPr>
          <a:xfrm>
            <a:off x="7863840" y="109728"/>
            <a:ext cx="1097280" cy="301752"/>
          </a:xfrm>
          <a:prstGeom prst="rect">
            <a:avLst/>
          </a:prstGeom>
          <a:solidFill>
            <a:srgbClr val="1C3A52"/>
          </a:solidFill>
          <a:ln w="12700">
            <a:solidFill>
              <a:srgbClr val="1C3A52"/>
            </a:solidFill>
            <a:prstDash val="solid"/>
          </a:ln>
        </p:spPr>
        <p:txBody>
          <a:bodyPr/>
          <a:lstStyle/>
          <a:p>
            <a:endParaRPr lang="pt-PT"/>
          </a:p>
        </p:txBody>
      </p:sp>
      <p:sp>
        <p:nvSpPr>
          <p:cNvPr id="5" name="Text 3"/>
          <p:cNvSpPr/>
          <p:nvPr/>
        </p:nvSpPr>
        <p:spPr>
          <a:xfrm>
            <a:off x="7863840" y="109728"/>
            <a:ext cx="1097280" cy="301752"/>
          </a:xfrm>
          <a:prstGeom prst="rect">
            <a:avLst/>
          </a:prstGeom>
          <a:noFill/>
          <a:ln/>
        </p:spPr>
        <p:txBody>
          <a:bodyPr wrap="square" lIns="0" tIns="0" rIns="0" bIns="0" rtlCol="0" anchor="ctr"/>
          <a:lstStyle/>
          <a:p>
            <a:pPr marL="0" indent="0" algn="ctr">
              <a:buNone/>
            </a:pPr>
            <a:r>
              <a:rPr lang="en-US" sz="1000" b="1" dirty="0">
                <a:solidFill>
                  <a:srgbClr val="FFFFFF"/>
                </a:solidFill>
              </a:rPr>
              <a:t>EDA</a:t>
            </a:r>
            <a:endParaRPr lang="en-US" sz="1000" dirty="0"/>
          </a:p>
        </p:txBody>
      </p:sp>
      <p:sp>
        <p:nvSpPr>
          <p:cNvPr id="6" name="Text 4"/>
          <p:cNvSpPr/>
          <p:nvPr/>
        </p:nvSpPr>
        <p:spPr>
          <a:xfrm>
            <a:off x="365760" y="749808"/>
            <a:ext cx="4572000" cy="256032"/>
          </a:xfrm>
          <a:prstGeom prst="rect">
            <a:avLst/>
          </a:prstGeom>
          <a:noFill/>
          <a:ln/>
        </p:spPr>
        <p:txBody>
          <a:bodyPr wrap="square" lIns="0" tIns="0" rIns="0" bIns="0" rtlCol="0" anchor="ctr"/>
          <a:lstStyle/>
          <a:p>
            <a:pPr marL="0" indent="0">
              <a:buNone/>
            </a:pPr>
            <a:r>
              <a:rPr lang="en-US" sz="1200" b="1" dirty="0">
                <a:solidFill>
                  <a:srgbClr val="3D5A73"/>
                </a:solidFill>
                <a:latin typeface="Calibri" pitchFamily="34" charset="0"/>
                <a:ea typeface="Calibri" pitchFamily="34" charset="-122"/>
                <a:cs typeface="Calibri" pitchFamily="34" charset="-120"/>
              </a:rPr>
              <a:t>Class distribution (train set)</a:t>
            </a:r>
            <a:endParaRPr lang="en-US" sz="1200" dirty="0"/>
          </a:p>
        </p:txBody>
      </p:sp>
      <p:sp>
        <p:nvSpPr>
          <p:cNvPr id="8" name="Shape 5"/>
          <p:cNvSpPr/>
          <p:nvPr/>
        </p:nvSpPr>
        <p:spPr>
          <a:xfrm>
            <a:off x="5257800" y="709227"/>
            <a:ext cx="3611880" cy="896112"/>
          </a:xfrm>
          <a:prstGeom prst="rect">
            <a:avLst/>
          </a:prstGeom>
          <a:solidFill>
            <a:srgbClr val="FFFFFF"/>
          </a:solidFill>
          <a:ln w="6350">
            <a:solidFill>
              <a:srgbClr val="D8E4EC"/>
            </a:solidFill>
            <a:prstDash val="solid"/>
          </a:ln>
          <a:effectLst>
            <a:outerShdw blurRad="101600" dist="38100" dir="8100000" algn="bl" rotWithShape="0">
              <a:srgbClr val="000000">
                <a:alpha val="10000"/>
              </a:srgbClr>
            </a:outerShdw>
          </a:effectLst>
        </p:spPr>
        <p:txBody>
          <a:bodyPr/>
          <a:lstStyle/>
          <a:p>
            <a:endParaRPr lang="pt-PT"/>
          </a:p>
        </p:txBody>
      </p:sp>
      <p:sp>
        <p:nvSpPr>
          <p:cNvPr id="9" name="Shape 6"/>
          <p:cNvSpPr/>
          <p:nvPr/>
        </p:nvSpPr>
        <p:spPr>
          <a:xfrm>
            <a:off x="5257800" y="709227"/>
            <a:ext cx="73152" cy="896112"/>
          </a:xfrm>
          <a:prstGeom prst="rect">
            <a:avLst/>
          </a:prstGeom>
          <a:solidFill>
            <a:srgbClr val="E97C35"/>
          </a:solidFill>
          <a:ln w="12700">
            <a:solidFill>
              <a:srgbClr val="E97C35"/>
            </a:solidFill>
            <a:prstDash val="solid"/>
          </a:ln>
        </p:spPr>
        <p:txBody>
          <a:bodyPr/>
          <a:lstStyle/>
          <a:p>
            <a:endParaRPr lang="pt-PT"/>
          </a:p>
        </p:txBody>
      </p:sp>
      <p:sp>
        <p:nvSpPr>
          <p:cNvPr id="10" name="Text 7"/>
          <p:cNvSpPr/>
          <p:nvPr/>
        </p:nvSpPr>
        <p:spPr>
          <a:xfrm>
            <a:off x="5394960" y="745803"/>
            <a:ext cx="1463040" cy="457200"/>
          </a:xfrm>
          <a:prstGeom prst="rect">
            <a:avLst/>
          </a:prstGeom>
          <a:noFill/>
          <a:ln/>
        </p:spPr>
        <p:txBody>
          <a:bodyPr wrap="square" lIns="0" tIns="0" rIns="0" bIns="0" rtlCol="0" anchor="ctr"/>
          <a:lstStyle/>
          <a:p>
            <a:pPr marL="0" indent="0">
              <a:buNone/>
            </a:pPr>
            <a:r>
              <a:rPr lang="en-US" sz="2400" b="1" dirty="0">
                <a:solidFill>
                  <a:srgbClr val="E97C35"/>
                </a:solidFill>
                <a:latin typeface="Trebuchet MS" pitchFamily="34" charset="0"/>
                <a:ea typeface="Trebuchet MS" pitchFamily="34" charset="-122"/>
                <a:cs typeface="Trebuchet MS" pitchFamily="34" charset="-120"/>
              </a:rPr>
              <a:t>2.76×</a:t>
            </a:r>
            <a:endParaRPr lang="en-US" sz="2400" dirty="0"/>
          </a:p>
        </p:txBody>
      </p:sp>
      <p:sp>
        <p:nvSpPr>
          <p:cNvPr id="11" name="Text 8"/>
          <p:cNvSpPr/>
          <p:nvPr/>
        </p:nvSpPr>
        <p:spPr>
          <a:xfrm>
            <a:off x="5394960" y="1221291"/>
            <a:ext cx="3337560" cy="292608"/>
          </a:xfrm>
          <a:prstGeom prst="rect">
            <a:avLst/>
          </a:prstGeom>
          <a:noFill/>
          <a:ln/>
        </p:spPr>
        <p:txBody>
          <a:bodyPr wrap="square" lIns="0" tIns="0" rIns="0" bIns="0" rtlCol="0" anchor="ctr"/>
          <a:lstStyle/>
          <a:p>
            <a:pPr marL="0" indent="0">
              <a:buNone/>
            </a:pPr>
            <a:r>
              <a:rPr lang="en-US" sz="1400" dirty="0">
                <a:solidFill>
                  <a:srgbClr val="3D5A73"/>
                </a:solidFill>
                <a:latin typeface="Calibri" pitchFamily="34" charset="0"/>
                <a:ea typeface="Calibri" pitchFamily="34" charset="-122"/>
                <a:cs typeface="Calibri" pitchFamily="34" charset="-120"/>
              </a:rPr>
              <a:t>Water / Ground imbalance ratio</a:t>
            </a:r>
            <a:endParaRPr lang="en-US" sz="1400" dirty="0"/>
          </a:p>
        </p:txBody>
      </p:sp>
      <p:sp>
        <p:nvSpPr>
          <p:cNvPr id="12" name="Shape 9"/>
          <p:cNvSpPr/>
          <p:nvPr/>
        </p:nvSpPr>
        <p:spPr>
          <a:xfrm>
            <a:off x="5257800" y="1801746"/>
            <a:ext cx="3611880" cy="896112"/>
          </a:xfrm>
          <a:prstGeom prst="rect">
            <a:avLst/>
          </a:prstGeom>
          <a:solidFill>
            <a:srgbClr val="FFFFFF"/>
          </a:solidFill>
          <a:ln w="6350">
            <a:solidFill>
              <a:srgbClr val="D8E4EC"/>
            </a:solidFill>
            <a:prstDash val="solid"/>
          </a:ln>
          <a:effectLst>
            <a:outerShdw blurRad="101600" dist="38100" dir="8100000" algn="bl" rotWithShape="0">
              <a:srgbClr val="000000">
                <a:alpha val="10000"/>
              </a:srgbClr>
            </a:outerShdw>
          </a:effectLst>
        </p:spPr>
        <p:txBody>
          <a:bodyPr/>
          <a:lstStyle/>
          <a:p>
            <a:endParaRPr lang="pt-PT"/>
          </a:p>
        </p:txBody>
      </p:sp>
      <p:sp>
        <p:nvSpPr>
          <p:cNvPr id="13" name="Shape 10"/>
          <p:cNvSpPr/>
          <p:nvPr/>
        </p:nvSpPr>
        <p:spPr>
          <a:xfrm>
            <a:off x="5257800" y="1801746"/>
            <a:ext cx="73152" cy="896112"/>
          </a:xfrm>
          <a:prstGeom prst="rect">
            <a:avLst/>
          </a:prstGeom>
          <a:solidFill>
            <a:srgbClr val="E97C35"/>
          </a:solidFill>
          <a:ln w="12700">
            <a:solidFill>
              <a:srgbClr val="E97C35"/>
            </a:solidFill>
            <a:prstDash val="solid"/>
          </a:ln>
        </p:spPr>
        <p:txBody>
          <a:bodyPr/>
          <a:lstStyle/>
          <a:p>
            <a:endParaRPr lang="pt-PT"/>
          </a:p>
        </p:txBody>
      </p:sp>
      <p:sp>
        <p:nvSpPr>
          <p:cNvPr id="14" name="Text 11"/>
          <p:cNvSpPr/>
          <p:nvPr/>
        </p:nvSpPr>
        <p:spPr>
          <a:xfrm>
            <a:off x="5394960" y="1838322"/>
            <a:ext cx="1463040" cy="457200"/>
          </a:xfrm>
          <a:prstGeom prst="rect">
            <a:avLst/>
          </a:prstGeom>
          <a:noFill/>
          <a:ln/>
        </p:spPr>
        <p:txBody>
          <a:bodyPr wrap="square" lIns="0" tIns="0" rIns="0" bIns="0" rtlCol="0" anchor="ctr"/>
          <a:lstStyle/>
          <a:p>
            <a:pPr marL="0" indent="0">
              <a:buNone/>
            </a:pPr>
            <a:r>
              <a:rPr lang="en-US" sz="2400" b="1" dirty="0">
                <a:solidFill>
                  <a:srgbClr val="E97C35"/>
                </a:solidFill>
                <a:latin typeface="Trebuchet MS" pitchFamily="34" charset="0"/>
                <a:ea typeface="Trebuchet MS" pitchFamily="34" charset="-122"/>
                <a:cs typeface="Trebuchet MS" pitchFamily="34" charset="-120"/>
              </a:rPr>
              <a:t>18.7%</a:t>
            </a:r>
            <a:endParaRPr lang="en-US" sz="2400" dirty="0"/>
          </a:p>
        </p:txBody>
      </p:sp>
      <p:sp>
        <p:nvSpPr>
          <p:cNvPr id="15" name="Text 12"/>
          <p:cNvSpPr/>
          <p:nvPr/>
        </p:nvSpPr>
        <p:spPr>
          <a:xfrm>
            <a:off x="5394960" y="2313810"/>
            <a:ext cx="3337560" cy="292608"/>
          </a:xfrm>
          <a:prstGeom prst="rect">
            <a:avLst/>
          </a:prstGeom>
          <a:noFill/>
          <a:ln/>
        </p:spPr>
        <p:txBody>
          <a:bodyPr wrap="square" lIns="0" tIns="0" rIns="0" bIns="0" rtlCol="0" anchor="ctr"/>
          <a:lstStyle/>
          <a:p>
            <a:pPr marL="0" indent="0">
              <a:buNone/>
            </a:pPr>
            <a:r>
              <a:rPr lang="en-US" sz="1400" dirty="0">
                <a:solidFill>
                  <a:srgbClr val="3D5A73"/>
                </a:solidFill>
                <a:latin typeface="Calibri" pitchFamily="34" charset="0"/>
                <a:ea typeface="Calibri" pitchFamily="34" charset="-122"/>
                <a:cs typeface="Calibri" pitchFamily="34" charset="-120"/>
              </a:rPr>
              <a:t>Water  (most common class)</a:t>
            </a:r>
            <a:endParaRPr lang="en-US" sz="1400" dirty="0"/>
          </a:p>
        </p:txBody>
      </p:sp>
      <p:sp>
        <p:nvSpPr>
          <p:cNvPr id="16" name="Shape 13"/>
          <p:cNvSpPr/>
          <p:nvPr/>
        </p:nvSpPr>
        <p:spPr>
          <a:xfrm>
            <a:off x="5257800" y="2894265"/>
            <a:ext cx="3611880" cy="896112"/>
          </a:xfrm>
          <a:prstGeom prst="rect">
            <a:avLst/>
          </a:prstGeom>
          <a:solidFill>
            <a:srgbClr val="FFFFFF"/>
          </a:solidFill>
          <a:ln w="6350">
            <a:solidFill>
              <a:srgbClr val="D8E4EC"/>
            </a:solidFill>
            <a:prstDash val="solid"/>
          </a:ln>
          <a:effectLst>
            <a:outerShdw blurRad="101600" dist="38100" dir="8100000" algn="bl" rotWithShape="0">
              <a:srgbClr val="000000">
                <a:alpha val="10000"/>
              </a:srgbClr>
            </a:outerShdw>
          </a:effectLst>
        </p:spPr>
        <p:txBody>
          <a:bodyPr/>
          <a:lstStyle/>
          <a:p>
            <a:endParaRPr lang="pt-PT"/>
          </a:p>
        </p:txBody>
      </p:sp>
      <p:sp>
        <p:nvSpPr>
          <p:cNvPr id="17" name="Shape 14"/>
          <p:cNvSpPr/>
          <p:nvPr/>
        </p:nvSpPr>
        <p:spPr>
          <a:xfrm>
            <a:off x="5257800" y="2894265"/>
            <a:ext cx="73152" cy="896112"/>
          </a:xfrm>
          <a:prstGeom prst="rect">
            <a:avLst/>
          </a:prstGeom>
          <a:solidFill>
            <a:srgbClr val="E74C3C"/>
          </a:solidFill>
          <a:ln w="12700">
            <a:solidFill>
              <a:srgbClr val="E74C3C"/>
            </a:solidFill>
            <a:prstDash val="solid"/>
          </a:ln>
        </p:spPr>
        <p:txBody>
          <a:bodyPr/>
          <a:lstStyle/>
          <a:p>
            <a:endParaRPr lang="pt-PT"/>
          </a:p>
        </p:txBody>
      </p:sp>
      <p:sp>
        <p:nvSpPr>
          <p:cNvPr id="18" name="Text 15"/>
          <p:cNvSpPr/>
          <p:nvPr/>
        </p:nvSpPr>
        <p:spPr>
          <a:xfrm>
            <a:off x="5394960" y="2930841"/>
            <a:ext cx="1463040" cy="457200"/>
          </a:xfrm>
          <a:prstGeom prst="rect">
            <a:avLst/>
          </a:prstGeom>
          <a:noFill/>
          <a:ln/>
        </p:spPr>
        <p:txBody>
          <a:bodyPr wrap="square" lIns="0" tIns="0" rIns="0" bIns="0" rtlCol="0" anchor="ctr"/>
          <a:lstStyle/>
          <a:p>
            <a:pPr marL="0" indent="0">
              <a:buNone/>
            </a:pPr>
            <a:r>
              <a:rPr lang="en-US" sz="2400" b="1" dirty="0">
                <a:solidFill>
                  <a:srgbClr val="E74C3C"/>
                </a:solidFill>
                <a:latin typeface="Trebuchet MS" pitchFamily="34" charset="0"/>
                <a:ea typeface="Trebuchet MS" pitchFamily="34" charset="-122"/>
                <a:cs typeface="Trebuchet MS" pitchFamily="34" charset="-120"/>
              </a:rPr>
              <a:t>6.8%</a:t>
            </a:r>
            <a:endParaRPr lang="en-US" sz="2400" dirty="0"/>
          </a:p>
        </p:txBody>
      </p:sp>
      <p:sp>
        <p:nvSpPr>
          <p:cNvPr id="19" name="Text 16"/>
          <p:cNvSpPr/>
          <p:nvPr/>
        </p:nvSpPr>
        <p:spPr>
          <a:xfrm>
            <a:off x="5394960" y="3406329"/>
            <a:ext cx="3337560" cy="292608"/>
          </a:xfrm>
          <a:prstGeom prst="rect">
            <a:avLst/>
          </a:prstGeom>
          <a:noFill/>
          <a:ln/>
        </p:spPr>
        <p:txBody>
          <a:bodyPr wrap="square" lIns="0" tIns="0" rIns="0" bIns="0" rtlCol="0" anchor="ctr"/>
          <a:lstStyle/>
          <a:p>
            <a:pPr marL="0" indent="0">
              <a:buNone/>
            </a:pPr>
            <a:r>
              <a:rPr lang="en-US" sz="1400" dirty="0">
                <a:solidFill>
                  <a:srgbClr val="3D5A73"/>
                </a:solidFill>
                <a:latin typeface="Calibri" pitchFamily="34" charset="0"/>
                <a:ea typeface="Calibri" pitchFamily="34" charset="-122"/>
                <a:cs typeface="Calibri" pitchFamily="34" charset="-120"/>
              </a:rPr>
              <a:t>Ground (rarest class)</a:t>
            </a:r>
            <a:endParaRPr lang="en-US" sz="1400" dirty="0"/>
          </a:p>
        </p:txBody>
      </p:sp>
      <p:sp>
        <p:nvSpPr>
          <p:cNvPr id="20" name="Shape 17"/>
          <p:cNvSpPr/>
          <p:nvPr/>
        </p:nvSpPr>
        <p:spPr>
          <a:xfrm>
            <a:off x="5257800" y="3986784"/>
            <a:ext cx="3611880" cy="896112"/>
          </a:xfrm>
          <a:prstGeom prst="rect">
            <a:avLst/>
          </a:prstGeom>
          <a:solidFill>
            <a:srgbClr val="FFFFFF"/>
          </a:solidFill>
          <a:ln w="6350">
            <a:solidFill>
              <a:srgbClr val="D8E4EC"/>
            </a:solidFill>
            <a:prstDash val="solid"/>
          </a:ln>
          <a:effectLst>
            <a:outerShdw blurRad="101600" dist="38100" dir="8100000" algn="bl" rotWithShape="0">
              <a:srgbClr val="000000">
                <a:alpha val="10000"/>
              </a:srgbClr>
            </a:outerShdw>
          </a:effectLst>
        </p:spPr>
        <p:txBody>
          <a:bodyPr/>
          <a:lstStyle/>
          <a:p>
            <a:endParaRPr lang="pt-PT"/>
          </a:p>
        </p:txBody>
      </p:sp>
      <p:sp>
        <p:nvSpPr>
          <p:cNvPr id="21" name="Shape 18"/>
          <p:cNvSpPr/>
          <p:nvPr/>
        </p:nvSpPr>
        <p:spPr>
          <a:xfrm>
            <a:off x="5257800" y="3986784"/>
            <a:ext cx="73152" cy="896112"/>
          </a:xfrm>
          <a:prstGeom prst="rect">
            <a:avLst/>
          </a:prstGeom>
          <a:solidFill>
            <a:srgbClr val="E74C3C"/>
          </a:solidFill>
          <a:ln w="12700">
            <a:solidFill>
              <a:srgbClr val="E74C3C"/>
            </a:solidFill>
            <a:prstDash val="solid"/>
          </a:ln>
        </p:spPr>
        <p:txBody>
          <a:bodyPr/>
          <a:lstStyle/>
          <a:p>
            <a:endParaRPr lang="pt-PT"/>
          </a:p>
        </p:txBody>
      </p:sp>
      <p:sp>
        <p:nvSpPr>
          <p:cNvPr id="22" name="Text 19"/>
          <p:cNvSpPr/>
          <p:nvPr/>
        </p:nvSpPr>
        <p:spPr>
          <a:xfrm>
            <a:off x="5394960" y="4023360"/>
            <a:ext cx="1463040" cy="457200"/>
          </a:xfrm>
          <a:prstGeom prst="rect">
            <a:avLst/>
          </a:prstGeom>
          <a:noFill/>
          <a:ln/>
        </p:spPr>
        <p:txBody>
          <a:bodyPr wrap="square" lIns="0" tIns="0" rIns="0" bIns="0" rtlCol="0" anchor="ctr"/>
          <a:lstStyle/>
          <a:p>
            <a:pPr marL="0" indent="0">
              <a:buNone/>
            </a:pPr>
            <a:r>
              <a:rPr lang="en-US" sz="2400" b="1" dirty="0">
                <a:solidFill>
                  <a:srgbClr val="E74C3C"/>
                </a:solidFill>
                <a:latin typeface="Trebuchet MS" pitchFamily="34" charset="0"/>
                <a:ea typeface="Trebuchet MS" pitchFamily="34" charset="-122"/>
                <a:cs typeface="Trebuchet MS" pitchFamily="34" charset="-120"/>
              </a:rPr>
              <a:t>0.021</a:t>
            </a:r>
            <a:endParaRPr lang="en-US" sz="2400" dirty="0"/>
          </a:p>
        </p:txBody>
      </p:sp>
      <p:sp>
        <p:nvSpPr>
          <p:cNvPr id="23" name="Text 20"/>
          <p:cNvSpPr/>
          <p:nvPr/>
        </p:nvSpPr>
        <p:spPr>
          <a:xfrm>
            <a:off x="5394960" y="4498848"/>
            <a:ext cx="3337560" cy="292608"/>
          </a:xfrm>
          <a:prstGeom prst="rect">
            <a:avLst/>
          </a:prstGeom>
          <a:noFill/>
          <a:ln/>
        </p:spPr>
        <p:txBody>
          <a:bodyPr wrap="square" lIns="0" tIns="0" rIns="0" bIns="0" rtlCol="0" anchor="ctr"/>
          <a:lstStyle/>
          <a:p>
            <a:pPr marL="0" indent="0">
              <a:buNone/>
            </a:pPr>
            <a:r>
              <a:rPr lang="en-US" sz="1400" dirty="0">
                <a:solidFill>
                  <a:srgbClr val="3D5A73"/>
                </a:solidFill>
                <a:latin typeface="Calibri" pitchFamily="34" charset="0"/>
                <a:ea typeface="Calibri" pitchFamily="34" charset="-122"/>
                <a:cs typeface="Calibri" pitchFamily="34" charset="-120"/>
              </a:rPr>
              <a:t>Naive baseline: always predict Water</a:t>
            </a:r>
            <a:endParaRPr lang="en-US" sz="1400" dirty="0"/>
          </a:p>
        </p:txBody>
      </p:sp>
      <p:sp>
        <p:nvSpPr>
          <p:cNvPr id="24" name="Shape 21"/>
          <p:cNvSpPr/>
          <p:nvPr/>
        </p:nvSpPr>
        <p:spPr>
          <a:xfrm>
            <a:off x="274320" y="3749040"/>
            <a:ext cx="4754880" cy="1188720"/>
          </a:xfrm>
          <a:prstGeom prst="rect">
            <a:avLst/>
          </a:prstGeom>
          <a:solidFill>
            <a:srgbClr val="E8F8F5"/>
          </a:solidFill>
          <a:ln w="8890">
            <a:solidFill>
              <a:srgbClr val="00A896"/>
            </a:solidFill>
            <a:prstDash val="solid"/>
          </a:ln>
        </p:spPr>
        <p:txBody>
          <a:bodyPr/>
          <a:lstStyle/>
          <a:p>
            <a:endParaRPr lang="pt-PT"/>
          </a:p>
        </p:txBody>
      </p:sp>
      <p:sp>
        <p:nvSpPr>
          <p:cNvPr id="25" name="Shape 22"/>
          <p:cNvSpPr/>
          <p:nvPr/>
        </p:nvSpPr>
        <p:spPr>
          <a:xfrm>
            <a:off x="274320" y="3749040"/>
            <a:ext cx="82296" cy="1188720"/>
          </a:xfrm>
          <a:prstGeom prst="rect">
            <a:avLst/>
          </a:prstGeom>
          <a:solidFill>
            <a:srgbClr val="00A896"/>
          </a:solidFill>
          <a:ln w="12700">
            <a:solidFill>
              <a:srgbClr val="00A896"/>
            </a:solidFill>
            <a:prstDash val="solid"/>
          </a:ln>
        </p:spPr>
        <p:txBody>
          <a:bodyPr/>
          <a:lstStyle/>
          <a:p>
            <a:endParaRPr lang="pt-PT"/>
          </a:p>
        </p:txBody>
      </p:sp>
      <p:sp>
        <p:nvSpPr>
          <p:cNvPr id="26" name="Text 23"/>
          <p:cNvSpPr/>
          <p:nvPr/>
        </p:nvSpPr>
        <p:spPr>
          <a:xfrm>
            <a:off x="411480" y="3794760"/>
            <a:ext cx="4480560" cy="320040"/>
          </a:xfrm>
          <a:prstGeom prst="rect">
            <a:avLst/>
          </a:prstGeom>
          <a:noFill/>
          <a:ln/>
        </p:spPr>
        <p:txBody>
          <a:bodyPr wrap="square" lIns="0" tIns="0" rIns="0" bIns="0" rtlCol="0" anchor="ctr"/>
          <a:lstStyle/>
          <a:p>
            <a:pPr marL="0" indent="0">
              <a:buNone/>
            </a:pPr>
            <a:r>
              <a:rPr lang="en-US" sz="1200" b="1" dirty="0">
                <a:solidFill>
                  <a:srgbClr val="0D1B2A"/>
                </a:solidFill>
                <a:latin typeface="Trebuchet MS" pitchFamily="34" charset="0"/>
                <a:ea typeface="Trebuchet MS" pitchFamily="34" charset="-122"/>
                <a:cs typeface="Trebuchet MS" pitchFamily="34" charset="-120"/>
              </a:rPr>
              <a:t>Our mitigation strategy</a:t>
            </a:r>
            <a:endParaRPr lang="en-US" sz="1200" dirty="0"/>
          </a:p>
        </p:txBody>
      </p:sp>
      <p:sp>
        <p:nvSpPr>
          <p:cNvPr id="27" name="Text 24"/>
          <p:cNvSpPr/>
          <p:nvPr/>
        </p:nvSpPr>
        <p:spPr>
          <a:xfrm>
            <a:off x="411480" y="4142232"/>
            <a:ext cx="4480560" cy="749808"/>
          </a:xfrm>
          <a:prstGeom prst="rect">
            <a:avLst/>
          </a:prstGeom>
          <a:noFill/>
          <a:ln/>
        </p:spPr>
        <p:txBody>
          <a:bodyPr wrap="square" rtlCol="0" anchor="ctr"/>
          <a:lstStyle/>
          <a:p>
            <a:pPr>
              <a:buSzPct val="100000"/>
            </a:pPr>
            <a:r>
              <a:rPr lang="en-US" sz="1400" dirty="0">
                <a:solidFill>
                  <a:srgbClr val="1A2B3C"/>
                </a:solidFill>
                <a:latin typeface="Calibri" pitchFamily="34" charset="0"/>
                <a:ea typeface="Calibri" pitchFamily="34" charset="-122"/>
                <a:cs typeface="Calibri" pitchFamily="34" charset="-120"/>
              </a:rPr>
              <a:t>- Inverse-frequency class weights in </a:t>
            </a:r>
            <a:r>
              <a:rPr lang="en-US" sz="1400" dirty="0" err="1">
                <a:solidFill>
                  <a:srgbClr val="1A2B3C"/>
                </a:solidFill>
                <a:latin typeface="Calibri" pitchFamily="34" charset="0"/>
                <a:ea typeface="Calibri" pitchFamily="34" charset="-122"/>
                <a:cs typeface="Calibri" pitchFamily="34" charset="-120"/>
              </a:rPr>
              <a:t>CrossEntropyLoss</a:t>
            </a:r>
            <a:endParaRPr lang="en-US" sz="1400" dirty="0">
              <a:solidFill>
                <a:schemeClr val="bg2"/>
              </a:solidFill>
              <a:latin typeface="Calibri" pitchFamily="34" charset="0"/>
              <a:ea typeface="Calibri" pitchFamily="34" charset="-122"/>
              <a:cs typeface="Calibri" pitchFamily="34" charset="-120"/>
            </a:endParaRPr>
          </a:p>
          <a:p>
            <a:pPr>
              <a:buSzPct val="100000"/>
            </a:pPr>
            <a:r>
              <a:rPr lang="en-US" sz="1400" dirty="0">
                <a:solidFill>
                  <a:schemeClr val="bg2"/>
                </a:solidFill>
              </a:rPr>
              <a:t>	Used in experiments like B, C, D, F, G, J, L, R, S,</a:t>
            </a:r>
          </a:p>
          <a:p>
            <a:pPr>
              <a:buSzPct val="100000"/>
            </a:pPr>
            <a:r>
              <a:rPr lang="en-US" sz="1400" dirty="0">
                <a:solidFill>
                  <a:srgbClr val="1A2B3C"/>
                </a:solidFill>
                <a:latin typeface="Calibri" pitchFamily="34" charset="0"/>
                <a:ea typeface="Calibri" pitchFamily="34" charset="-122"/>
                <a:cs typeface="Calibri" pitchFamily="34" charset="-120"/>
              </a:rPr>
              <a:t>- </a:t>
            </a:r>
            <a:r>
              <a:rPr lang="en-US" sz="1400" dirty="0" err="1">
                <a:solidFill>
                  <a:srgbClr val="1A2B3C"/>
                </a:solidFill>
                <a:latin typeface="Calibri" pitchFamily="34" charset="0"/>
                <a:ea typeface="Calibri" pitchFamily="34" charset="-122"/>
                <a:cs typeface="Calibri" pitchFamily="34" charset="-120"/>
              </a:rPr>
              <a:t>WeightedRandomSampler</a:t>
            </a:r>
            <a:endParaRPr lang="en-US" sz="1400" dirty="0">
              <a:solidFill>
                <a:schemeClr val="bg2"/>
              </a:solidFill>
              <a:latin typeface="Calibri" pitchFamily="34" charset="0"/>
              <a:ea typeface="Calibri" pitchFamily="34" charset="-122"/>
              <a:cs typeface="Calibri" pitchFamily="34" charset="-120"/>
            </a:endParaRPr>
          </a:p>
          <a:p>
            <a:pPr>
              <a:buSzPct val="100000"/>
            </a:pPr>
            <a:r>
              <a:rPr lang="en-US" sz="1400" dirty="0">
                <a:solidFill>
                  <a:schemeClr val="bg2"/>
                </a:solidFill>
              </a:rPr>
              <a:t>	Used in experiments like E, M, O, Q, </a:t>
            </a:r>
          </a:p>
        </p:txBody>
      </p:sp>
      <p:sp>
        <p:nvSpPr>
          <p:cNvPr id="28" name="Shape 2">
            <a:extLst>
              <a:ext uri="{FF2B5EF4-FFF2-40B4-BE49-F238E27FC236}">
                <a16:creationId xmlns:a16="http://schemas.microsoft.com/office/drawing/2014/main" id="{05C42555-70F1-1667-11E5-0D78797B3D3B}"/>
              </a:ext>
            </a:extLst>
          </p:cNvPr>
          <p:cNvSpPr/>
          <p:nvPr/>
        </p:nvSpPr>
        <p:spPr>
          <a:xfrm>
            <a:off x="7498079" y="82296"/>
            <a:ext cx="1557633" cy="329184"/>
          </a:xfrm>
          <a:prstGeom prst="rect">
            <a:avLst/>
          </a:prstGeom>
          <a:solidFill>
            <a:srgbClr val="1C3A52"/>
          </a:solidFill>
          <a:ln w="12700">
            <a:solidFill>
              <a:srgbClr val="1C3A52"/>
            </a:solidFill>
            <a:prstDash val="solid"/>
          </a:ln>
        </p:spPr>
        <p:txBody>
          <a:bodyPr/>
          <a:lstStyle/>
          <a:p>
            <a:pPr algn="ctr"/>
            <a:r>
              <a:rPr lang="en-US" b="1" dirty="0"/>
              <a:t>EDA</a:t>
            </a:r>
            <a:endParaRPr lang="pt-PT" b="1" dirty="0"/>
          </a:p>
        </p:txBody>
      </p:sp>
      <p:sp>
        <p:nvSpPr>
          <p:cNvPr id="29" name="Rectangle: Rounded Corners 28">
            <a:extLst>
              <a:ext uri="{FF2B5EF4-FFF2-40B4-BE49-F238E27FC236}">
                <a16:creationId xmlns:a16="http://schemas.microsoft.com/office/drawing/2014/main" id="{EC620A0D-26D8-6CF4-1950-740F67C04A69}"/>
              </a:ext>
            </a:extLst>
          </p:cNvPr>
          <p:cNvSpPr/>
          <p:nvPr/>
        </p:nvSpPr>
        <p:spPr>
          <a:xfrm>
            <a:off x="7088176" y="4253"/>
            <a:ext cx="470123" cy="470912"/>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2800" b="1" dirty="0"/>
              <a:t>1</a:t>
            </a:r>
            <a:endParaRPr lang="pt-PT" sz="1600" b="1" dirty="0"/>
          </a:p>
        </p:txBody>
      </p:sp>
      <p:pic>
        <p:nvPicPr>
          <p:cNvPr id="31" name="Picture 30">
            <a:extLst>
              <a:ext uri="{FF2B5EF4-FFF2-40B4-BE49-F238E27FC236}">
                <a16:creationId xmlns:a16="http://schemas.microsoft.com/office/drawing/2014/main" id="{90D6123E-BBEF-E8BC-24FD-E57574C72F62}"/>
              </a:ext>
            </a:extLst>
          </p:cNvPr>
          <p:cNvPicPr>
            <a:picLocks noChangeAspect="1"/>
          </p:cNvPicPr>
          <p:nvPr/>
        </p:nvPicPr>
        <p:blipFill>
          <a:blip r:embed="rId3"/>
          <a:stretch>
            <a:fillRect/>
          </a:stretch>
        </p:blipFill>
        <p:spPr>
          <a:xfrm>
            <a:off x="274320" y="666471"/>
            <a:ext cx="4754880" cy="2955464"/>
          </a:xfrm>
          <a:prstGeom prst="rect">
            <a:avLst/>
          </a:prstGeom>
          <a:effectLst>
            <a:outerShdw blurRad="50800" dist="38100" dir="5400000" algn="t" rotWithShape="0">
              <a:prstClr val="black">
                <a:alpha val="40000"/>
              </a:prstClr>
            </a:outerShdw>
          </a:effectLst>
        </p:spPr>
      </p:pic>
      <p:sp>
        <p:nvSpPr>
          <p:cNvPr id="32" name="TextBox 31">
            <a:extLst>
              <a:ext uri="{FF2B5EF4-FFF2-40B4-BE49-F238E27FC236}">
                <a16:creationId xmlns:a16="http://schemas.microsoft.com/office/drawing/2014/main" id="{1C23FBE8-B458-276C-5AB6-17273D18538A}"/>
              </a:ext>
            </a:extLst>
          </p:cNvPr>
          <p:cNvSpPr txBox="1"/>
          <p:nvPr/>
        </p:nvSpPr>
        <p:spPr>
          <a:xfrm>
            <a:off x="-54802" y="859932"/>
            <a:ext cx="2173165" cy="2349489"/>
          </a:xfrm>
          <a:prstGeom prst="rect">
            <a:avLst/>
          </a:prstGeom>
          <a:noFill/>
        </p:spPr>
        <p:txBody>
          <a:bodyPr wrap="square">
            <a:spAutoFit/>
          </a:bodyPr>
          <a:lstStyle/>
          <a:p>
            <a:pPr>
              <a:lnSpc>
                <a:spcPct val="150000"/>
              </a:lnSpc>
            </a:pPr>
            <a:r>
              <a:rPr lang="pt-PT" sz="1100" dirty="0">
                <a:solidFill>
                  <a:schemeClr val="bg1"/>
                </a:solidFill>
                <a:latin typeface="Consolas" panose="020B0609020204030204" pitchFamily="49" charset="0"/>
              </a:rPr>
              <a:t>💧</a:t>
            </a:r>
          </a:p>
          <a:p>
            <a:pPr>
              <a:lnSpc>
                <a:spcPct val="150000"/>
              </a:lnSpc>
            </a:pPr>
            <a:r>
              <a:rPr lang="pt-PT" sz="1100" dirty="0">
                <a:solidFill>
                  <a:schemeClr val="bg1"/>
                </a:solidFill>
                <a:latin typeface="Consolas" panose="020B0609020204030204" pitchFamily="49" charset="0"/>
              </a:rPr>
              <a:t>😐</a:t>
            </a:r>
          </a:p>
          <a:p>
            <a:pPr>
              <a:lnSpc>
                <a:spcPct val="150000"/>
              </a:lnSpc>
            </a:pPr>
            <a:r>
              <a:rPr lang="pt-PT" sz="1100" dirty="0">
                <a:solidFill>
                  <a:schemeClr val="bg1"/>
                </a:solidFill>
                <a:latin typeface="Consolas" panose="020B0609020204030204" pitchFamily="49" charset="0"/>
              </a:rPr>
              <a:t>☠️</a:t>
            </a:r>
          </a:p>
          <a:p>
            <a:pPr>
              <a:lnSpc>
                <a:spcPct val="150000"/>
              </a:lnSpc>
            </a:pPr>
            <a:r>
              <a:rPr lang="pt-PT" sz="1100" dirty="0">
                <a:solidFill>
                  <a:schemeClr val="bg1"/>
                </a:solidFill>
                <a:latin typeface="Consolas" panose="020B0609020204030204" pitchFamily="49" charset="0"/>
              </a:rPr>
              <a:t>🔥</a:t>
            </a:r>
          </a:p>
          <a:p>
            <a:pPr>
              <a:lnSpc>
                <a:spcPct val="150000"/>
              </a:lnSpc>
            </a:pPr>
            <a:r>
              <a:rPr lang="pt-PT" sz="1100" dirty="0">
                <a:solidFill>
                  <a:schemeClr val="bg1"/>
                </a:solidFill>
                <a:latin typeface="Consolas" panose="020B0609020204030204" pitchFamily="49" charset="0"/>
              </a:rPr>
              <a:t>🐛</a:t>
            </a:r>
          </a:p>
          <a:p>
            <a:pPr>
              <a:lnSpc>
                <a:spcPct val="150000"/>
              </a:lnSpc>
            </a:pPr>
            <a:r>
              <a:rPr lang="pt-PT" sz="1100" dirty="0">
                <a:solidFill>
                  <a:schemeClr val="bg1"/>
                </a:solidFill>
                <a:latin typeface="Consolas" panose="020B0609020204030204" pitchFamily="49" charset="0"/>
              </a:rPr>
              <a:t>🌿</a:t>
            </a:r>
          </a:p>
          <a:p>
            <a:pPr>
              <a:lnSpc>
                <a:spcPct val="150000"/>
              </a:lnSpc>
            </a:pPr>
            <a:r>
              <a:rPr lang="pt-PT" sz="1100" dirty="0">
                <a:solidFill>
                  <a:schemeClr val="bg1"/>
                </a:solidFill>
                <a:latin typeface="Consolas" panose="020B0609020204030204" pitchFamily="49" charset="0"/>
              </a:rPr>
              <a:t>⚔️</a:t>
            </a:r>
          </a:p>
          <a:p>
            <a:pPr>
              <a:lnSpc>
                <a:spcPct val="150000"/>
              </a:lnSpc>
              <a:buNone/>
            </a:pPr>
            <a:r>
              <a:rPr lang="pt-PT" sz="1100" dirty="0">
                <a:solidFill>
                  <a:schemeClr val="bg1"/>
                </a:solidFill>
                <a:latin typeface="Consolas" panose="020B0609020204030204" pitchFamily="49" charset="0"/>
              </a:rPr>
              <a:t>🗿</a:t>
            </a:r>
            <a:endParaRPr lang="pt-PT" sz="1100" b="0" dirty="0">
              <a:solidFill>
                <a:schemeClr val="bg1"/>
              </a:solidFill>
              <a:effectLst/>
              <a:latin typeface="Consolas" panose="020B0609020204030204" pitchFamily="49" charset="0"/>
            </a:endParaRPr>
          </a:p>
          <a:p>
            <a:pPr>
              <a:lnSpc>
                <a:spcPct val="150000"/>
              </a:lnSpc>
            </a:pPr>
            <a:r>
              <a:rPr lang="pt-PT" sz="1100" dirty="0">
                <a:solidFill>
                  <a:schemeClr val="bg1"/>
                </a:solidFill>
                <a:latin typeface="Consolas" panose="020B0609020204030204" pitchFamily="49" charset="0"/>
              </a:rPr>
              <a: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4F7F9"/>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0A896"/>
          </a:solidFill>
          <a:ln w="12700">
            <a:solidFill>
              <a:srgbClr val="00A896"/>
            </a:solidFill>
            <a:prstDash val="solid"/>
          </a:ln>
        </p:spPr>
        <p:txBody>
          <a:bodyPr/>
          <a:lstStyle/>
          <a:p>
            <a:endParaRPr lang="pt-PT"/>
          </a:p>
        </p:txBody>
      </p:sp>
      <p:sp>
        <p:nvSpPr>
          <p:cNvPr id="3" name="Text 1"/>
          <p:cNvSpPr/>
          <p:nvPr/>
        </p:nvSpPr>
        <p:spPr>
          <a:xfrm>
            <a:off x="457200" y="109728"/>
            <a:ext cx="7772400" cy="530352"/>
          </a:xfrm>
          <a:prstGeom prst="rect">
            <a:avLst/>
          </a:prstGeom>
          <a:noFill/>
          <a:ln/>
        </p:spPr>
        <p:txBody>
          <a:bodyPr wrap="square" lIns="0" tIns="0" rIns="0" bIns="0" rtlCol="0" anchor="ctr"/>
          <a:lstStyle/>
          <a:p>
            <a:pPr marL="0" indent="0">
              <a:buNone/>
            </a:pPr>
            <a:r>
              <a:rPr lang="en-US" sz="2200" b="1" dirty="0">
                <a:solidFill>
                  <a:srgbClr val="0D1B2A"/>
                </a:solidFill>
                <a:latin typeface="Trebuchet MS" pitchFamily="34" charset="0"/>
                <a:ea typeface="Trebuchet MS" pitchFamily="34" charset="-122"/>
                <a:cs typeface="Trebuchet MS" pitchFamily="34" charset="-120"/>
              </a:rPr>
              <a:t>What the Data Looks Like</a:t>
            </a:r>
            <a:endParaRPr lang="en-US" sz="2200" dirty="0"/>
          </a:p>
        </p:txBody>
      </p:sp>
      <p:sp>
        <p:nvSpPr>
          <p:cNvPr id="4" name="Shape 2"/>
          <p:cNvSpPr/>
          <p:nvPr/>
        </p:nvSpPr>
        <p:spPr>
          <a:xfrm>
            <a:off x="7863840" y="109728"/>
            <a:ext cx="1097280" cy="301752"/>
          </a:xfrm>
          <a:prstGeom prst="rect">
            <a:avLst/>
          </a:prstGeom>
          <a:solidFill>
            <a:srgbClr val="1C3A52"/>
          </a:solidFill>
          <a:ln w="12700">
            <a:solidFill>
              <a:srgbClr val="1C3A52"/>
            </a:solidFill>
            <a:prstDash val="solid"/>
          </a:ln>
        </p:spPr>
        <p:txBody>
          <a:bodyPr/>
          <a:lstStyle/>
          <a:p>
            <a:endParaRPr lang="pt-PT"/>
          </a:p>
        </p:txBody>
      </p:sp>
      <p:sp>
        <p:nvSpPr>
          <p:cNvPr id="5" name="Text 3"/>
          <p:cNvSpPr/>
          <p:nvPr/>
        </p:nvSpPr>
        <p:spPr>
          <a:xfrm>
            <a:off x="7863840" y="109728"/>
            <a:ext cx="1097280" cy="301752"/>
          </a:xfrm>
          <a:prstGeom prst="rect">
            <a:avLst/>
          </a:prstGeom>
          <a:noFill/>
          <a:ln/>
        </p:spPr>
        <p:txBody>
          <a:bodyPr wrap="square" lIns="0" tIns="0" rIns="0" bIns="0" rtlCol="0" anchor="ctr"/>
          <a:lstStyle/>
          <a:p>
            <a:pPr marL="0" indent="0" algn="ctr">
              <a:buNone/>
            </a:pPr>
            <a:r>
              <a:rPr lang="en-US" sz="1000" b="1" dirty="0">
                <a:solidFill>
                  <a:srgbClr val="FFFFFF"/>
                </a:solidFill>
              </a:rPr>
              <a:t>EDA</a:t>
            </a:r>
            <a:endParaRPr lang="en-US" sz="1000" dirty="0"/>
          </a:p>
        </p:txBody>
      </p:sp>
      <p:sp>
        <p:nvSpPr>
          <p:cNvPr id="6" name="Text 4"/>
          <p:cNvSpPr/>
          <p:nvPr/>
        </p:nvSpPr>
        <p:spPr>
          <a:xfrm>
            <a:off x="134112" y="615676"/>
            <a:ext cx="8412480" cy="256032"/>
          </a:xfrm>
          <a:prstGeom prst="rect">
            <a:avLst/>
          </a:prstGeom>
          <a:noFill/>
          <a:ln/>
        </p:spPr>
        <p:txBody>
          <a:bodyPr wrap="square" lIns="0" tIns="0" rIns="0" bIns="0" rtlCol="0" anchor="ctr"/>
          <a:lstStyle/>
          <a:p>
            <a:pPr marL="0" indent="0">
              <a:buNone/>
            </a:pPr>
            <a:r>
              <a:rPr lang="en-US" sz="1200" b="1" dirty="0">
                <a:solidFill>
                  <a:srgbClr val="3D5A73"/>
                </a:solidFill>
                <a:latin typeface="Calibri" pitchFamily="34" charset="0"/>
                <a:ea typeface="Calibri" pitchFamily="34" charset="-122"/>
                <a:cs typeface="Calibri" pitchFamily="34" charset="-120"/>
              </a:rPr>
              <a:t>4 samples per class (</a:t>
            </a:r>
            <a:r>
              <a:rPr lang="en-US" sz="1200" b="1" dirty="0" err="1">
                <a:solidFill>
                  <a:srgbClr val="3D5A73"/>
                </a:solidFill>
                <a:latin typeface="Calibri" pitchFamily="34" charset="0"/>
                <a:ea typeface="Calibri" pitchFamily="34" charset="-122"/>
                <a:cs typeface="Calibri" pitchFamily="34" charset="-120"/>
              </a:rPr>
              <a:t>pokemons</a:t>
            </a:r>
            <a:r>
              <a:rPr lang="en-US" sz="1200" b="1" dirty="0">
                <a:solidFill>
                  <a:srgbClr val="3D5A73"/>
                </a:solidFill>
                <a:latin typeface="Calibri" pitchFamily="34" charset="0"/>
                <a:ea typeface="Calibri" pitchFamily="34" charset="-122"/>
                <a:cs typeface="Calibri" pitchFamily="34" charset="-120"/>
              </a:rPr>
              <a:t> overlaid on real-world backgrounds)  »»»</a:t>
            </a:r>
            <a:endParaRPr lang="en-US" sz="1200" b="1" dirty="0"/>
          </a:p>
        </p:txBody>
      </p:sp>
      <p:sp>
        <p:nvSpPr>
          <p:cNvPr id="8" name="Shape 5"/>
          <p:cNvSpPr/>
          <p:nvPr/>
        </p:nvSpPr>
        <p:spPr>
          <a:xfrm>
            <a:off x="347472" y="960120"/>
            <a:ext cx="4114800" cy="886968"/>
          </a:xfrm>
          <a:prstGeom prst="rect">
            <a:avLst/>
          </a:prstGeom>
          <a:solidFill>
            <a:srgbClr val="FFFFFF"/>
          </a:solidFill>
          <a:ln w="6350">
            <a:solidFill>
              <a:srgbClr val="D8E4EC"/>
            </a:solidFill>
            <a:prstDash val="solid"/>
          </a:ln>
          <a:effectLst>
            <a:outerShdw blurRad="101600" dist="38100" dir="8100000" algn="bl" rotWithShape="0">
              <a:srgbClr val="000000">
                <a:alpha val="10000"/>
              </a:srgbClr>
            </a:outerShdw>
          </a:effectLst>
        </p:spPr>
        <p:txBody>
          <a:bodyPr/>
          <a:lstStyle/>
          <a:p>
            <a:endParaRPr lang="pt-PT"/>
          </a:p>
        </p:txBody>
      </p:sp>
      <p:sp>
        <p:nvSpPr>
          <p:cNvPr id="9" name="Shape 6"/>
          <p:cNvSpPr/>
          <p:nvPr/>
        </p:nvSpPr>
        <p:spPr>
          <a:xfrm>
            <a:off x="347472" y="960120"/>
            <a:ext cx="73152" cy="886968"/>
          </a:xfrm>
          <a:prstGeom prst="rect">
            <a:avLst/>
          </a:prstGeom>
          <a:solidFill>
            <a:srgbClr val="27AE60"/>
          </a:solidFill>
          <a:ln w="12700">
            <a:solidFill>
              <a:srgbClr val="27AE60"/>
            </a:solidFill>
            <a:prstDash val="solid"/>
          </a:ln>
        </p:spPr>
        <p:txBody>
          <a:bodyPr/>
          <a:lstStyle/>
          <a:p>
            <a:endParaRPr lang="pt-PT"/>
          </a:p>
        </p:txBody>
      </p:sp>
      <p:sp>
        <p:nvSpPr>
          <p:cNvPr id="10" name="Text 7"/>
          <p:cNvSpPr/>
          <p:nvPr/>
        </p:nvSpPr>
        <p:spPr>
          <a:xfrm>
            <a:off x="484632" y="1005840"/>
            <a:ext cx="3840480" cy="292608"/>
          </a:xfrm>
          <a:prstGeom prst="rect">
            <a:avLst/>
          </a:prstGeom>
          <a:noFill/>
          <a:ln/>
        </p:spPr>
        <p:txBody>
          <a:bodyPr wrap="square" lIns="0" tIns="0" rIns="0" bIns="0" rtlCol="0" anchor="ctr"/>
          <a:lstStyle/>
          <a:p>
            <a:pPr marL="0" indent="0">
              <a:buNone/>
            </a:pPr>
            <a:r>
              <a:rPr lang="en-US" sz="1200" b="1" dirty="0">
                <a:solidFill>
                  <a:srgbClr val="0D1B2A"/>
                </a:solidFill>
                <a:latin typeface="Trebuchet MS" pitchFamily="34" charset="0"/>
                <a:ea typeface="Trebuchet MS" pitchFamily="34" charset="-122"/>
                <a:cs typeface="Trebuchet MS" pitchFamily="34" charset="-120"/>
              </a:rPr>
              <a:t>Bug vs Grass</a:t>
            </a:r>
            <a:endParaRPr lang="en-US" sz="1200" dirty="0"/>
          </a:p>
        </p:txBody>
      </p:sp>
      <p:sp>
        <p:nvSpPr>
          <p:cNvPr id="11" name="Text 8"/>
          <p:cNvSpPr/>
          <p:nvPr/>
        </p:nvSpPr>
        <p:spPr>
          <a:xfrm>
            <a:off x="484632" y="1325880"/>
            <a:ext cx="3840480" cy="457200"/>
          </a:xfrm>
          <a:prstGeom prst="rect">
            <a:avLst/>
          </a:prstGeom>
          <a:noFill/>
          <a:ln/>
        </p:spPr>
        <p:txBody>
          <a:bodyPr wrap="square" lIns="0" tIns="0" rIns="0" bIns="0" rtlCol="0" anchor="ctr"/>
          <a:lstStyle/>
          <a:p>
            <a:pPr marL="0" indent="0">
              <a:buNone/>
            </a:pPr>
            <a:r>
              <a:rPr lang="en-US" sz="1200" dirty="0">
                <a:solidFill>
                  <a:srgbClr val="3D5A73"/>
                </a:solidFill>
                <a:latin typeface="Calibri" pitchFamily="34" charset="0"/>
                <a:ea typeface="Calibri" pitchFamily="34" charset="-122"/>
                <a:cs typeface="Calibri" pitchFamily="34" charset="-120"/>
              </a:rPr>
              <a:t>Both dominated by green/yellow tones </a:t>
            </a:r>
          </a:p>
          <a:p>
            <a:pPr marL="0" indent="0">
              <a:buNone/>
            </a:pPr>
            <a:r>
              <a:rPr lang="en-US" sz="1200" dirty="0">
                <a:solidFill>
                  <a:srgbClr val="3D5A73"/>
                </a:solidFill>
                <a:latin typeface="Calibri" pitchFamily="34" charset="0"/>
                <a:ea typeface="Calibri" pitchFamily="34" charset="-122"/>
                <a:cs typeface="Calibri" pitchFamily="34" charset="-120"/>
              </a:rPr>
              <a:t>» color histograms overlap heavily</a:t>
            </a:r>
            <a:endParaRPr lang="en-US" sz="1200" dirty="0"/>
          </a:p>
        </p:txBody>
      </p:sp>
      <p:sp>
        <p:nvSpPr>
          <p:cNvPr id="12" name="Shape 9"/>
          <p:cNvSpPr/>
          <p:nvPr/>
        </p:nvSpPr>
        <p:spPr>
          <a:xfrm>
            <a:off x="347472" y="1984248"/>
            <a:ext cx="4114800" cy="886968"/>
          </a:xfrm>
          <a:prstGeom prst="rect">
            <a:avLst/>
          </a:prstGeom>
          <a:solidFill>
            <a:srgbClr val="FFFFFF"/>
          </a:solidFill>
          <a:ln w="6350">
            <a:solidFill>
              <a:srgbClr val="D8E4EC"/>
            </a:solidFill>
            <a:prstDash val="solid"/>
          </a:ln>
          <a:effectLst>
            <a:outerShdw blurRad="101600" dist="38100" dir="8100000" algn="bl" rotWithShape="0">
              <a:srgbClr val="000000">
                <a:alpha val="10000"/>
              </a:srgbClr>
            </a:outerShdw>
          </a:effectLst>
        </p:spPr>
        <p:txBody>
          <a:bodyPr/>
          <a:lstStyle/>
          <a:p>
            <a:endParaRPr lang="pt-PT"/>
          </a:p>
        </p:txBody>
      </p:sp>
      <p:sp>
        <p:nvSpPr>
          <p:cNvPr id="13" name="Shape 10"/>
          <p:cNvSpPr/>
          <p:nvPr/>
        </p:nvSpPr>
        <p:spPr>
          <a:xfrm>
            <a:off x="347472" y="1984248"/>
            <a:ext cx="73152" cy="886968"/>
          </a:xfrm>
          <a:prstGeom prst="rect">
            <a:avLst/>
          </a:prstGeom>
          <a:solidFill>
            <a:srgbClr val="3D5A73"/>
          </a:solidFill>
          <a:ln w="12700">
            <a:solidFill>
              <a:srgbClr val="3D5A73"/>
            </a:solidFill>
            <a:prstDash val="solid"/>
          </a:ln>
        </p:spPr>
        <p:txBody>
          <a:bodyPr/>
          <a:lstStyle/>
          <a:p>
            <a:endParaRPr lang="pt-PT"/>
          </a:p>
        </p:txBody>
      </p:sp>
      <p:sp>
        <p:nvSpPr>
          <p:cNvPr id="14" name="Text 11"/>
          <p:cNvSpPr/>
          <p:nvPr/>
        </p:nvSpPr>
        <p:spPr>
          <a:xfrm>
            <a:off x="484632" y="2029968"/>
            <a:ext cx="3840480" cy="292608"/>
          </a:xfrm>
          <a:prstGeom prst="rect">
            <a:avLst/>
          </a:prstGeom>
          <a:noFill/>
          <a:ln/>
        </p:spPr>
        <p:txBody>
          <a:bodyPr wrap="square" lIns="0" tIns="0" rIns="0" bIns="0" rtlCol="0" anchor="ctr"/>
          <a:lstStyle/>
          <a:p>
            <a:pPr marL="0" indent="0">
              <a:buNone/>
            </a:pPr>
            <a:r>
              <a:rPr lang="en-US" sz="1200" b="1" dirty="0">
                <a:solidFill>
                  <a:srgbClr val="0D1B2A"/>
                </a:solidFill>
                <a:latin typeface="Trebuchet MS" pitchFamily="34" charset="0"/>
                <a:ea typeface="Trebuchet MS" pitchFamily="34" charset="-122"/>
                <a:cs typeface="Trebuchet MS" pitchFamily="34" charset="-120"/>
              </a:rPr>
              <a:t>Fighting vs Normal</a:t>
            </a:r>
            <a:endParaRPr lang="en-US" sz="1200" dirty="0"/>
          </a:p>
        </p:txBody>
      </p:sp>
      <p:sp>
        <p:nvSpPr>
          <p:cNvPr id="15" name="Text 12"/>
          <p:cNvSpPr/>
          <p:nvPr/>
        </p:nvSpPr>
        <p:spPr>
          <a:xfrm>
            <a:off x="484632" y="2350008"/>
            <a:ext cx="3840480" cy="457200"/>
          </a:xfrm>
          <a:prstGeom prst="rect">
            <a:avLst/>
          </a:prstGeom>
          <a:noFill/>
          <a:ln/>
        </p:spPr>
        <p:txBody>
          <a:bodyPr wrap="square" lIns="0" tIns="0" rIns="0" bIns="0" rtlCol="0" anchor="ctr"/>
          <a:lstStyle/>
          <a:p>
            <a:r>
              <a:rPr lang="en-US" sz="1200" dirty="0">
                <a:solidFill>
                  <a:srgbClr val="3D5A73"/>
                </a:solidFill>
                <a:latin typeface="Calibri" pitchFamily="34" charset="0"/>
                <a:ea typeface="Calibri" pitchFamily="34" charset="-122"/>
                <a:cs typeface="Calibri" pitchFamily="34" charset="-120"/>
              </a:rPr>
              <a:t>Both dominated by brown tones </a:t>
            </a:r>
          </a:p>
          <a:p>
            <a:r>
              <a:rPr lang="en-US" sz="1200" dirty="0">
                <a:solidFill>
                  <a:srgbClr val="3D5A73"/>
                </a:solidFill>
                <a:latin typeface="Calibri" pitchFamily="34" charset="0"/>
                <a:ea typeface="Calibri" pitchFamily="34" charset="-122"/>
                <a:cs typeface="Calibri" pitchFamily="34" charset="-120"/>
              </a:rPr>
              <a:t>» color histograms overlap heavily</a:t>
            </a:r>
            <a:endParaRPr lang="en-US" sz="1200" dirty="0"/>
          </a:p>
        </p:txBody>
      </p:sp>
      <p:sp>
        <p:nvSpPr>
          <p:cNvPr id="16" name="Shape 13"/>
          <p:cNvSpPr/>
          <p:nvPr/>
        </p:nvSpPr>
        <p:spPr>
          <a:xfrm>
            <a:off x="347472" y="3008376"/>
            <a:ext cx="4114800" cy="886968"/>
          </a:xfrm>
          <a:prstGeom prst="rect">
            <a:avLst/>
          </a:prstGeom>
          <a:solidFill>
            <a:srgbClr val="FFFFFF"/>
          </a:solidFill>
          <a:ln w="6350">
            <a:solidFill>
              <a:srgbClr val="D8E4EC"/>
            </a:solidFill>
            <a:prstDash val="solid"/>
          </a:ln>
          <a:effectLst>
            <a:outerShdw blurRad="101600" dist="38100" dir="8100000" algn="bl" rotWithShape="0">
              <a:srgbClr val="000000">
                <a:alpha val="10000"/>
              </a:srgbClr>
            </a:outerShdw>
          </a:effectLst>
        </p:spPr>
        <p:txBody>
          <a:bodyPr/>
          <a:lstStyle/>
          <a:p>
            <a:endParaRPr lang="pt-PT"/>
          </a:p>
        </p:txBody>
      </p:sp>
      <p:sp>
        <p:nvSpPr>
          <p:cNvPr id="17" name="Shape 14"/>
          <p:cNvSpPr/>
          <p:nvPr/>
        </p:nvSpPr>
        <p:spPr>
          <a:xfrm>
            <a:off x="347472" y="3008376"/>
            <a:ext cx="73152" cy="886968"/>
          </a:xfrm>
          <a:prstGeom prst="rect">
            <a:avLst/>
          </a:prstGeom>
          <a:solidFill>
            <a:srgbClr val="E97C35"/>
          </a:solidFill>
          <a:ln w="12700">
            <a:solidFill>
              <a:srgbClr val="E97C35"/>
            </a:solidFill>
            <a:prstDash val="solid"/>
          </a:ln>
        </p:spPr>
        <p:txBody>
          <a:bodyPr/>
          <a:lstStyle/>
          <a:p>
            <a:endParaRPr lang="pt-PT"/>
          </a:p>
        </p:txBody>
      </p:sp>
      <p:sp>
        <p:nvSpPr>
          <p:cNvPr id="18" name="Text 15"/>
          <p:cNvSpPr/>
          <p:nvPr/>
        </p:nvSpPr>
        <p:spPr>
          <a:xfrm>
            <a:off x="484632" y="3054096"/>
            <a:ext cx="3840480" cy="292608"/>
          </a:xfrm>
          <a:prstGeom prst="rect">
            <a:avLst/>
          </a:prstGeom>
          <a:noFill/>
          <a:ln/>
        </p:spPr>
        <p:txBody>
          <a:bodyPr wrap="square" lIns="0" tIns="0" rIns="0" bIns="0" rtlCol="0" anchor="ctr"/>
          <a:lstStyle/>
          <a:p>
            <a:pPr marL="0" indent="0">
              <a:buNone/>
            </a:pPr>
            <a:r>
              <a:rPr lang="en-US" sz="1200" b="1" dirty="0">
                <a:solidFill>
                  <a:srgbClr val="0D1B2A"/>
                </a:solidFill>
                <a:latin typeface="Trebuchet MS" pitchFamily="34" charset="0"/>
                <a:ea typeface="Trebuchet MS" pitchFamily="34" charset="-122"/>
                <a:cs typeface="Trebuchet MS" pitchFamily="34" charset="-120"/>
              </a:rPr>
              <a:t>Rock vs Ground</a:t>
            </a:r>
            <a:endParaRPr lang="en-US" sz="1200" dirty="0"/>
          </a:p>
        </p:txBody>
      </p:sp>
      <p:sp>
        <p:nvSpPr>
          <p:cNvPr id="19" name="Text 16"/>
          <p:cNvSpPr/>
          <p:nvPr/>
        </p:nvSpPr>
        <p:spPr>
          <a:xfrm>
            <a:off x="484632" y="3374136"/>
            <a:ext cx="3840480" cy="457200"/>
          </a:xfrm>
          <a:prstGeom prst="rect">
            <a:avLst/>
          </a:prstGeom>
          <a:noFill/>
          <a:ln/>
        </p:spPr>
        <p:txBody>
          <a:bodyPr wrap="square" lIns="0" tIns="0" rIns="0" bIns="0" rtlCol="0" anchor="ctr"/>
          <a:lstStyle/>
          <a:p>
            <a:pPr marL="0" indent="0">
              <a:buNone/>
            </a:pPr>
            <a:r>
              <a:rPr lang="en-US" sz="1200" dirty="0">
                <a:solidFill>
                  <a:srgbClr val="3D5A73"/>
                </a:solidFill>
                <a:latin typeface="Calibri" pitchFamily="34" charset="0"/>
                <a:ea typeface="Calibri" pitchFamily="34" charset="-122"/>
                <a:cs typeface="Calibri" pitchFamily="34" charset="-120"/>
              </a:rPr>
              <a:t>Brown/grey palettes </a:t>
            </a:r>
          </a:p>
          <a:p>
            <a:pPr marL="0" indent="0">
              <a:buNone/>
            </a:pPr>
            <a:r>
              <a:rPr lang="en-US" sz="1200" dirty="0">
                <a:solidFill>
                  <a:srgbClr val="3D5A73"/>
                </a:solidFill>
                <a:latin typeface="Calibri" pitchFamily="34" charset="0"/>
                <a:ea typeface="Calibri" pitchFamily="34" charset="-122"/>
                <a:cs typeface="Calibri" pitchFamily="34" charset="-120"/>
              </a:rPr>
              <a:t>» hardest confusion pair in our results</a:t>
            </a:r>
            <a:endParaRPr lang="en-US" sz="1200" dirty="0"/>
          </a:p>
        </p:txBody>
      </p:sp>
      <p:sp>
        <p:nvSpPr>
          <p:cNvPr id="20" name="Shape 17"/>
          <p:cNvSpPr/>
          <p:nvPr/>
        </p:nvSpPr>
        <p:spPr>
          <a:xfrm>
            <a:off x="347472" y="4032504"/>
            <a:ext cx="4114800" cy="886968"/>
          </a:xfrm>
          <a:prstGeom prst="rect">
            <a:avLst/>
          </a:prstGeom>
          <a:solidFill>
            <a:srgbClr val="FFFFFF"/>
          </a:solidFill>
          <a:ln w="6350">
            <a:solidFill>
              <a:srgbClr val="D8E4EC"/>
            </a:solidFill>
            <a:prstDash val="solid"/>
          </a:ln>
          <a:effectLst>
            <a:outerShdw blurRad="101600" dist="38100" dir="8100000" algn="bl" rotWithShape="0">
              <a:srgbClr val="000000">
                <a:alpha val="10000"/>
              </a:srgbClr>
            </a:outerShdw>
          </a:effectLst>
        </p:spPr>
        <p:txBody>
          <a:bodyPr/>
          <a:lstStyle/>
          <a:p>
            <a:endParaRPr lang="pt-PT"/>
          </a:p>
        </p:txBody>
      </p:sp>
      <p:sp>
        <p:nvSpPr>
          <p:cNvPr id="21" name="Shape 18"/>
          <p:cNvSpPr/>
          <p:nvPr/>
        </p:nvSpPr>
        <p:spPr>
          <a:xfrm>
            <a:off x="347472" y="4032504"/>
            <a:ext cx="73152" cy="886968"/>
          </a:xfrm>
          <a:prstGeom prst="rect">
            <a:avLst/>
          </a:prstGeom>
          <a:solidFill>
            <a:srgbClr val="E74C3C"/>
          </a:solidFill>
          <a:ln w="12700">
            <a:solidFill>
              <a:srgbClr val="E74C3C"/>
            </a:solidFill>
            <a:prstDash val="solid"/>
          </a:ln>
        </p:spPr>
        <p:txBody>
          <a:bodyPr/>
          <a:lstStyle/>
          <a:p>
            <a:endParaRPr lang="pt-PT"/>
          </a:p>
        </p:txBody>
      </p:sp>
      <p:sp>
        <p:nvSpPr>
          <p:cNvPr id="22" name="Text 19"/>
          <p:cNvSpPr/>
          <p:nvPr/>
        </p:nvSpPr>
        <p:spPr>
          <a:xfrm>
            <a:off x="484632" y="4078224"/>
            <a:ext cx="3840480" cy="292608"/>
          </a:xfrm>
          <a:prstGeom prst="rect">
            <a:avLst/>
          </a:prstGeom>
          <a:noFill/>
          <a:ln/>
        </p:spPr>
        <p:txBody>
          <a:bodyPr wrap="square" lIns="0" tIns="0" rIns="0" bIns="0" rtlCol="0" anchor="ctr"/>
          <a:lstStyle/>
          <a:p>
            <a:pPr marL="0" indent="0">
              <a:buNone/>
            </a:pPr>
            <a:r>
              <a:rPr lang="en-US" sz="1200" b="1" dirty="0">
                <a:solidFill>
                  <a:srgbClr val="0D1B2A"/>
                </a:solidFill>
                <a:latin typeface="Trebuchet MS" pitchFamily="34" charset="0"/>
                <a:ea typeface="Trebuchet MS" pitchFamily="34" charset="-122"/>
                <a:cs typeface="Trebuchet MS" pitchFamily="34" charset="-120"/>
              </a:rPr>
              <a:t>Real backgrounds</a:t>
            </a:r>
            <a:endParaRPr lang="en-US" sz="1200" dirty="0"/>
          </a:p>
        </p:txBody>
      </p:sp>
      <p:sp>
        <p:nvSpPr>
          <p:cNvPr id="23" name="Text 20"/>
          <p:cNvSpPr/>
          <p:nvPr/>
        </p:nvSpPr>
        <p:spPr>
          <a:xfrm>
            <a:off x="484632" y="4398264"/>
            <a:ext cx="3840480" cy="457200"/>
          </a:xfrm>
          <a:prstGeom prst="rect">
            <a:avLst/>
          </a:prstGeom>
          <a:noFill/>
          <a:ln/>
        </p:spPr>
        <p:txBody>
          <a:bodyPr wrap="square" lIns="0" tIns="0" rIns="0" bIns="0" rtlCol="0" anchor="ctr"/>
          <a:lstStyle/>
          <a:p>
            <a:pPr marL="0" indent="0">
              <a:buNone/>
            </a:pPr>
            <a:r>
              <a:rPr lang="en-US" sz="1200" dirty="0">
                <a:solidFill>
                  <a:srgbClr val="3D5A73"/>
                </a:solidFill>
                <a:latin typeface="Calibri" pitchFamily="34" charset="0"/>
                <a:ea typeface="Calibri" pitchFamily="34" charset="-122"/>
                <a:cs typeface="Calibri" pitchFamily="34" charset="-120"/>
              </a:rPr>
              <a:t>Sprites on street photos </a:t>
            </a:r>
          </a:p>
          <a:p>
            <a:pPr marL="0" indent="0">
              <a:buNone/>
            </a:pPr>
            <a:r>
              <a:rPr lang="en-US" sz="1200" dirty="0">
                <a:solidFill>
                  <a:srgbClr val="3D5A73"/>
                </a:solidFill>
                <a:latin typeface="Calibri" pitchFamily="34" charset="0"/>
                <a:ea typeface="Calibri" pitchFamily="34" charset="-122"/>
                <a:cs typeface="Calibri" pitchFamily="34" charset="-120"/>
              </a:rPr>
              <a:t>» random background noise adds pixel variability</a:t>
            </a:r>
            <a:endParaRPr lang="en-US" sz="1200" dirty="0"/>
          </a:p>
        </p:txBody>
      </p:sp>
      <p:sp>
        <p:nvSpPr>
          <p:cNvPr id="24" name="Shape 2">
            <a:extLst>
              <a:ext uri="{FF2B5EF4-FFF2-40B4-BE49-F238E27FC236}">
                <a16:creationId xmlns:a16="http://schemas.microsoft.com/office/drawing/2014/main" id="{2F97FC88-A779-E46F-BB54-4E97E9A34943}"/>
              </a:ext>
            </a:extLst>
          </p:cNvPr>
          <p:cNvSpPr/>
          <p:nvPr/>
        </p:nvSpPr>
        <p:spPr>
          <a:xfrm>
            <a:off x="7498079" y="82296"/>
            <a:ext cx="1557633" cy="329184"/>
          </a:xfrm>
          <a:prstGeom prst="rect">
            <a:avLst/>
          </a:prstGeom>
          <a:solidFill>
            <a:srgbClr val="1C3A52"/>
          </a:solidFill>
          <a:ln w="12700">
            <a:solidFill>
              <a:srgbClr val="1C3A52"/>
            </a:solidFill>
            <a:prstDash val="solid"/>
          </a:ln>
        </p:spPr>
        <p:txBody>
          <a:bodyPr/>
          <a:lstStyle/>
          <a:p>
            <a:pPr algn="ctr"/>
            <a:r>
              <a:rPr lang="en-US" b="1" dirty="0"/>
              <a:t>EDA</a:t>
            </a:r>
            <a:endParaRPr lang="pt-PT" b="1" dirty="0"/>
          </a:p>
        </p:txBody>
      </p:sp>
      <p:pic>
        <p:nvPicPr>
          <p:cNvPr id="27" name="Picture 26">
            <a:extLst>
              <a:ext uri="{FF2B5EF4-FFF2-40B4-BE49-F238E27FC236}">
                <a16:creationId xmlns:a16="http://schemas.microsoft.com/office/drawing/2014/main" id="{0B8A0DFE-3DE1-15D9-A237-72DB73AEBD07}"/>
              </a:ext>
            </a:extLst>
          </p:cNvPr>
          <p:cNvPicPr>
            <a:picLocks noChangeAspect="1"/>
          </p:cNvPicPr>
          <p:nvPr/>
        </p:nvPicPr>
        <p:blipFill>
          <a:blip r:embed="rId3"/>
          <a:stretch>
            <a:fillRect/>
          </a:stretch>
        </p:blipFill>
        <p:spPr>
          <a:xfrm>
            <a:off x="4803648" y="301667"/>
            <a:ext cx="2372972" cy="4826763"/>
          </a:xfrm>
          <a:prstGeom prst="rect">
            <a:avLst/>
          </a:prstGeom>
        </p:spPr>
      </p:pic>
      <p:sp>
        <p:nvSpPr>
          <p:cNvPr id="29" name="TextBox 28">
            <a:extLst>
              <a:ext uri="{FF2B5EF4-FFF2-40B4-BE49-F238E27FC236}">
                <a16:creationId xmlns:a16="http://schemas.microsoft.com/office/drawing/2014/main" id="{224F8F92-0060-1C99-43D7-5A8A01C5F7FD}"/>
              </a:ext>
            </a:extLst>
          </p:cNvPr>
          <p:cNvSpPr txBox="1"/>
          <p:nvPr/>
        </p:nvSpPr>
        <p:spPr>
          <a:xfrm>
            <a:off x="7114195" y="588305"/>
            <a:ext cx="2173165" cy="4593758"/>
          </a:xfrm>
          <a:prstGeom prst="rect">
            <a:avLst/>
          </a:prstGeom>
          <a:noFill/>
        </p:spPr>
        <p:txBody>
          <a:bodyPr wrap="square">
            <a:spAutoFit/>
          </a:bodyPr>
          <a:lstStyle/>
          <a:p>
            <a:pPr>
              <a:lnSpc>
                <a:spcPts val="1425"/>
              </a:lnSpc>
            </a:pPr>
            <a:r>
              <a:rPr lang="pt-PT" dirty="0">
                <a:solidFill>
                  <a:schemeClr val="bg1"/>
                </a:solidFill>
                <a:latin typeface="Bierstadt" panose="020B0004020202020204" pitchFamily="34" charset="0"/>
              </a:rPr>
              <a:t>🐛 Bug</a:t>
            </a:r>
          </a:p>
          <a:p>
            <a:pPr>
              <a:lnSpc>
                <a:spcPts val="1425"/>
              </a:lnSpc>
            </a:pPr>
            <a:r>
              <a:rPr lang="pt-PT" dirty="0">
                <a:solidFill>
                  <a:schemeClr val="bg1"/>
                </a:solidFill>
                <a:latin typeface="Bierstadt" panose="020B0004020202020204" pitchFamily="34" charset="0"/>
              </a:rPr>
              <a:t> </a:t>
            </a:r>
          </a:p>
          <a:p>
            <a:pPr>
              <a:lnSpc>
                <a:spcPts val="1425"/>
              </a:lnSpc>
            </a:pPr>
            <a:endParaRPr lang="pt-PT" dirty="0">
              <a:solidFill>
                <a:schemeClr val="bg1"/>
              </a:solidFill>
              <a:latin typeface="Bierstadt" panose="020B0004020202020204" pitchFamily="34" charset="0"/>
            </a:endParaRPr>
          </a:p>
          <a:p>
            <a:pPr>
              <a:lnSpc>
                <a:spcPts val="1425"/>
              </a:lnSpc>
            </a:pPr>
            <a:r>
              <a:rPr lang="pt-PT" dirty="0">
                <a:solidFill>
                  <a:schemeClr val="bg1"/>
                </a:solidFill>
                <a:latin typeface="Bierstadt" panose="020B0004020202020204" pitchFamily="34" charset="0"/>
              </a:rPr>
              <a:t>⚔️ </a:t>
            </a:r>
            <a:r>
              <a:rPr lang="pt-PT" dirty="0" err="1">
                <a:solidFill>
                  <a:schemeClr val="bg1"/>
                </a:solidFill>
                <a:latin typeface="Bierstadt" panose="020B0004020202020204" pitchFamily="34" charset="0"/>
              </a:rPr>
              <a:t>Fighting</a:t>
            </a:r>
            <a:endParaRPr lang="pt-PT" dirty="0">
              <a:solidFill>
                <a:schemeClr val="bg1"/>
              </a:solidFill>
              <a:latin typeface="Bierstadt" panose="020B0004020202020204" pitchFamily="34" charset="0"/>
            </a:endParaRPr>
          </a:p>
          <a:p>
            <a:pPr>
              <a:lnSpc>
                <a:spcPts val="1425"/>
              </a:lnSpc>
              <a:buNone/>
            </a:pPr>
            <a:endParaRPr lang="pt-PT" b="0" dirty="0">
              <a:solidFill>
                <a:schemeClr val="bg1"/>
              </a:solidFill>
              <a:effectLst/>
              <a:latin typeface="Bierstadt" panose="020B0004020202020204" pitchFamily="34" charset="0"/>
            </a:endParaRPr>
          </a:p>
          <a:p>
            <a:pPr>
              <a:lnSpc>
                <a:spcPts val="1425"/>
              </a:lnSpc>
              <a:buNone/>
            </a:pPr>
            <a:endParaRPr lang="pt-PT" sz="4000" b="0" dirty="0">
              <a:solidFill>
                <a:schemeClr val="bg1"/>
              </a:solidFill>
              <a:effectLst/>
              <a:latin typeface="Bierstadt" panose="020B0004020202020204" pitchFamily="34" charset="0"/>
            </a:endParaRPr>
          </a:p>
          <a:p>
            <a:pPr>
              <a:lnSpc>
                <a:spcPts val="1425"/>
              </a:lnSpc>
              <a:buNone/>
            </a:pPr>
            <a:r>
              <a:rPr lang="pt-PT" b="0" dirty="0">
                <a:solidFill>
                  <a:schemeClr val="bg1"/>
                </a:solidFill>
                <a:effectLst/>
                <a:latin typeface="Bierstadt" panose="020B0004020202020204" pitchFamily="34" charset="0"/>
              </a:rPr>
              <a:t>🔥 </a:t>
            </a:r>
            <a:r>
              <a:rPr lang="pt-PT" b="0" dirty="0" err="1">
                <a:solidFill>
                  <a:schemeClr val="bg1"/>
                </a:solidFill>
                <a:effectLst/>
                <a:latin typeface="Bierstadt" panose="020B0004020202020204" pitchFamily="34" charset="0"/>
              </a:rPr>
              <a:t>Fire</a:t>
            </a:r>
            <a:endParaRPr lang="pt-PT" b="0" dirty="0">
              <a:solidFill>
                <a:schemeClr val="bg1"/>
              </a:solidFill>
              <a:effectLst/>
              <a:latin typeface="Bierstadt" panose="020B0004020202020204" pitchFamily="34" charset="0"/>
            </a:endParaRPr>
          </a:p>
          <a:p>
            <a:pPr>
              <a:lnSpc>
                <a:spcPts val="1425"/>
              </a:lnSpc>
              <a:buNone/>
            </a:pPr>
            <a:endParaRPr lang="pt-PT" b="0" dirty="0">
              <a:solidFill>
                <a:schemeClr val="bg1"/>
              </a:solidFill>
              <a:effectLst/>
              <a:latin typeface="Bierstadt" panose="020B0004020202020204" pitchFamily="34" charset="0"/>
            </a:endParaRPr>
          </a:p>
          <a:p>
            <a:pPr>
              <a:lnSpc>
                <a:spcPts val="1425"/>
              </a:lnSpc>
            </a:pPr>
            <a:endParaRPr lang="pt-PT" dirty="0">
              <a:solidFill>
                <a:schemeClr val="bg1"/>
              </a:solidFill>
              <a:latin typeface="Bierstadt" panose="020B0004020202020204" pitchFamily="34" charset="0"/>
            </a:endParaRPr>
          </a:p>
          <a:p>
            <a:pPr>
              <a:lnSpc>
                <a:spcPts val="1425"/>
              </a:lnSpc>
            </a:pPr>
            <a:r>
              <a:rPr lang="pt-PT" dirty="0">
                <a:solidFill>
                  <a:schemeClr val="bg1"/>
                </a:solidFill>
                <a:latin typeface="Bierstadt" panose="020B0004020202020204" pitchFamily="34" charset="0"/>
              </a:rPr>
              <a:t>🌿 </a:t>
            </a:r>
            <a:r>
              <a:rPr lang="pt-PT" dirty="0" err="1">
                <a:solidFill>
                  <a:schemeClr val="bg1"/>
                </a:solidFill>
                <a:latin typeface="Bierstadt" panose="020B0004020202020204" pitchFamily="34" charset="0"/>
              </a:rPr>
              <a:t>Grass</a:t>
            </a:r>
            <a:r>
              <a:rPr lang="pt-PT" dirty="0">
                <a:solidFill>
                  <a:schemeClr val="bg1"/>
                </a:solidFill>
                <a:latin typeface="Bierstadt" panose="020B0004020202020204" pitchFamily="34" charset="0"/>
              </a:rPr>
              <a:t> </a:t>
            </a:r>
          </a:p>
          <a:p>
            <a:pPr>
              <a:lnSpc>
                <a:spcPts val="1425"/>
              </a:lnSpc>
              <a:buNone/>
            </a:pPr>
            <a:endParaRPr lang="pt-PT" b="0" dirty="0">
              <a:solidFill>
                <a:schemeClr val="bg1"/>
              </a:solidFill>
              <a:effectLst/>
              <a:latin typeface="Bierstadt" panose="020B0004020202020204" pitchFamily="34" charset="0"/>
            </a:endParaRPr>
          </a:p>
          <a:p>
            <a:pPr>
              <a:lnSpc>
                <a:spcPts val="1425"/>
              </a:lnSpc>
            </a:pPr>
            <a:endParaRPr lang="pt-PT" dirty="0">
              <a:solidFill>
                <a:schemeClr val="bg1"/>
              </a:solidFill>
              <a:latin typeface="Bierstadt" panose="020B0004020202020204" pitchFamily="34" charset="0"/>
            </a:endParaRPr>
          </a:p>
          <a:p>
            <a:pPr>
              <a:lnSpc>
                <a:spcPts val="1425"/>
              </a:lnSpc>
            </a:pPr>
            <a:r>
              <a:rPr lang="pt-PT" dirty="0">
                <a:solidFill>
                  <a:schemeClr val="bg1"/>
                </a:solidFill>
                <a:latin typeface="Bierstadt" panose="020B0004020202020204" pitchFamily="34" charset="0"/>
              </a:rPr>
              <a:t>🌍 </a:t>
            </a:r>
            <a:r>
              <a:rPr lang="pt-PT" dirty="0" err="1">
                <a:solidFill>
                  <a:schemeClr val="bg1"/>
                </a:solidFill>
                <a:latin typeface="Bierstadt" panose="020B0004020202020204" pitchFamily="34" charset="0"/>
              </a:rPr>
              <a:t>Ground</a:t>
            </a:r>
            <a:endParaRPr lang="pt-PT" dirty="0">
              <a:solidFill>
                <a:schemeClr val="bg1"/>
              </a:solidFill>
              <a:latin typeface="Bierstadt" panose="020B0004020202020204" pitchFamily="34" charset="0"/>
            </a:endParaRPr>
          </a:p>
          <a:p>
            <a:pPr>
              <a:lnSpc>
                <a:spcPts val="1425"/>
              </a:lnSpc>
              <a:buNone/>
            </a:pPr>
            <a:endParaRPr lang="pt-PT" b="0" dirty="0">
              <a:solidFill>
                <a:schemeClr val="bg1"/>
              </a:solidFill>
              <a:effectLst/>
              <a:latin typeface="Bierstadt" panose="020B0004020202020204" pitchFamily="34" charset="0"/>
            </a:endParaRPr>
          </a:p>
          <a:p>
            <a:pPr>
              <a:lnSpc>
                <a:spcPts val="1425"/>
              </a:lnSpc>
              <a:buNone/>
            </a:pPr>
            <a:endParaRPr lang="pt-PT" b="0" dirty="0">
              <a:solidFill>
                <a:schemeClr val="bg1"/>
              </a:solidFill>
              <a:effectLst/>
              <a:latin typeface="Bierstadt" panose="020B0004020202020204" pitchFamily="34" charset="0"/>
            </a:endParaRPr>
          </a:p>
          <a:p>
            <a:pPr>
              <a:lnSpc>
                <a:spcPts val="1425"/>
              </a:lnSpc>
              <a:buNone/>
            </a:pPr>
            <a:r>
              <a:rPr lang="pt-PT" b="0" dirty="0">
                <a:solidFill>
                  <a:schemeClr val="bg1"/>
                </a:solidFill>
                <a:effectLst/>
                <a:latin typeface="Bierstadt" panose="020B0004020202020204" pitchFamily="34" charset="0"/>
              </a:rPr>
              <a:t>😐 Normal </a:t>
            </a:r>
          </a:p>
          <a:p>
            <a:pPr>
              <a:lnSpc>
                <a:spcPts val="1425"/>
              </a:lnSpc>
              <a:buNone/>
            </a:pPr>
            <a:endParaRPr lang="pt-PT" b="0" dirty="0">
              <a:solidFill>
                <a:schemeClr val="bg1"/>
              </a:solidFill>
              <a:effectLst/>
              <a:latin typeface="Bierstadt" panose="020B0004020202020204" pitchFamily="34" charset="0"/>
            </a:endParaRPr>
          </a:p>
          <a:p>
            <a:pPr>
              <a:lnSpc>
                <a:spcPts val="1425"/>
              </a:lnSpc>
              <a:buNone/>
            </a:pPr>
            <a:endParaRPr lang="pt-PT" dirty="0">
              <a:solidFill>
                <a:schemeClr val="bg1"/>
              </a:solidFill>
              <a:latin typeface="Bierstadt" panose="020B0004020202020204" pitchFamily="34" charset="0"/>
            </a:endParaRPr>
          </a:p>
          <a:p>
            <a:pPr>
              <a:lnSpc>
                <a:spcPts val="1425"/>
              </a:lnSpc>
              <a:buNone/>
            </a:pPr>
            <a:r>
              <a:rPr lang="pt-PT" dirty="0">
                <a:solidFill>
                  <a:schemeClr val="bg1"/>
                </a:solidFill>
                <a:latin typeface="Bierstadt" panose="020B0004020202020204" pitchFamily="34" charset="0"/>
              </a:rPr>
              <a:t>☠️ </a:t>
            </a:r>
            <a:r>
              <a:rPr lang="pt-PT" dirty="0" err="1">
                <a:solidFill>
                  <a:schemeClr val="bg1"/>
                </a:solidFill>
                <a:latin typeface="Bierstadt" panose="020B0004020202020204" pitchFamily="34" charset="0"/>
              </a:rPr>
              <a:t>Poison</a:t>
            </a:r>
            <a:endParaRPr lang="pt-PT" dirty="0">
              <a:solidFill>
                <a:schemeClr val="bg1"/>
              </a:solidFill>
              <a:latin typeface="Bierstadt" panose="020B0004020202020204" pitchFamily="34" charset="0"/>
            </a:endParaRPr>
          </a:p>
          <a:p>
            <a:pPr>
              <a:lnSpc>
                <a:spcPts val="1425"/>
              </a:lnSpc>
              <a:buNone/>
            </a:pPr>
            <a:endParaRPr lang="pt-PT" b="0" dirty="0">
              <a:solidFill>
                <a:schemeClr val="bg1"/>
              </a:solidFill>
              <a:effectLst/>
              <a:latin typeface="Bierstadt" panose="020B0004020202020204" pitchFamily="34" charset="0"/>
            </a:endParaRPr>
          </a:p>
          <a:p>
            <a:pPr>
              <a:lnSpc>
                <a:spcPts val="1425"/>
              </a:lnSpc>
              <a:buNone/>
            </a:pPr>
            <a:endParaRPr lang="pt-PT" b="0" dirty="0">
              <a:solidFill>
                <a:schemeClr val="bg1"/>
              </a:solidFill>
              <a:effectLst/>
              <a:latin typeface="Bierstadt" panose="020B0004020202020204" pitchFamily="34" charset="0"/>
            </a:endParaRPr>
          </a:p>
          <a:p>
            <a:pPr>
              <a:lnSpc>
                <a:spcPts val="1425"/>
              </a:lnSpc>
              <a:buNone/>
            </a:pPr>
            <a:r>
              <a:rPr lang="pt-PT" dirty="0">
                <a:solidFill>
                  <a:schemeClr val="bg1"/>
                </a:solidFill>
                <a:latin typeface="Bierstadt" panose="020B0004020202020204" pitchFamily="34" charset="0"/>
              </a:rPr>
              <a:t> 🗿	</a:t>
            </a:r>
            <a:r>
              <a:rPr lang="pt-PT" b="0" dirty="0">
                <a:solidFill>
                  <a:schemeClr val="bg1"/>
                </a:solidFill>
                <a:effectLst/>
                <a:latin typeface="Bierstadt" panose="020B0004020202020204" pitchFamily="34" charset="0"/>
              </a:rPr>
              <a:t>Rock</a:t>
            </a:r>
          </a:p>
          <a:p>
            <a:pPr>
              <a:lnSpc>
                <a:spcPts val="1425"/>
              </a:lnSpc>
              <a:buNone/>
            </a:pPr>
            <a:endParaRPr lang="pt-PT" dirty="0">
              <a:solidFill>
                <a:schemeClr val="bg1"/>
              </a:solidFill>
              <a:latin typeface="Bierstadt" panose="020B0004020202020204" pitchFamily="34" charset="0"/>
            </a:endParaRPr>
          </a:p>
          <a:p>
            <a:pPr>
              <a:lnSpc>
                <a:spcPts val="1425"/>
              </a:lnSpc>
            </a:pPr>
            <a:endParaRPr lang="pt-PT" dirty="0">
              <a:solidFill>
                <a:schemeClr val="bg1"/>
              </a:solidFill>
              <a:latin typeface="Bierstadt" panose="020B0004020202020204" pitchFamily="34" charset="0"/>
            </a:endParaRPr>
          </a:p>
          <a:p>
            <a:pPr>
              <a:lnSpc>
                <a:spcPts val="1425"/>
              </a:lnSpc>
            </a:pPr>
            <a:r>
              <a:rPr lang="pt-PT" dirty="0">
                <a:solidFill>
                  <a:schemeClr val="bg1"/>
                </a:solidFill>
                <a:latin typeface="Bierstadt" panose="020B0004020202020204" pitchFamily="34" charset="0"/>
              </a:rPr>
              <a:t> 💧 </a:t>
            </a:r>
            <a:r>
              <a:rPr lang="pt-PT" dirty="0" err="1">
                <a:solidFill>
                  <a:schemeClr val="bg1"/>
                </a:solidFill>
                <a:latin typeface="Bierstadt" panose="020B0004020202020204" pitchFamily="34" charset="0"/>
              </a:rPr>
              <a:t>Water</a:t>
            </a:r>
            <a:r>
              <a:rPr lang="pt-PT" dirty="0">
                <a:solidFill>
                  <a:schemeClr val="bg1"/>
                </a:solidFill>
                <a:latin typeface="Bierstadt" panose="020B0004020202020204" pitchFamily="34" charset="0"/>
              </a:rPr>
              <a:t> </a:t>
            </a:r>
            <a:r>
              <a:rPr lang="pt-PT" b="0" dirty="0">
                <a:solidFill>
                  <a:schemeClr val="bg1"/>
                </a:solidFill>
                <a:effectLst/>
                <a:latin typeface="Bierstadt" panose="020B0004020202020204" pitchFamily="34" charset="0"/>
              </a:rPr>
              <a:t> </a:t>
            </a:r>
          </a:p>
        </p:txBody>
      </p:sp>
      <p:sp>
        <p:nvSpPr>
          <p:cNvPr id="25" name="Rectangle: Rounded Corners 24">
            <a:extLst>
              <a:ext uri="{FF2B5EF4-FFF2-40B4-BE49-F238E27FC236}">
                <a16:creationId xmlns:a16="http://schemas.microsoft.com/office/drawing/2014/main" id="{81768029-3B54-F34F-8012-C0D24DD3DC66}"/>
              </a:ext>
            </a:extLst>
          </p:cNvPr>
          <p:cNvSpPr/>
          <p:nvPr/>
        </p:nvSpPr>
        <p:spPr>
          <a:xfrm>
            <a:off x="7088176" y="4253"/>
            <a:ext cx="470123" cy="470912"/>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2800" b="1" dirty="0"/>
              <a:t>1</a:t>
            </a:r>
            <a:endParaRPr lang="pt-PT" sz="1600" b="1"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4F7F9"/>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0A896"/>
          </a:solidFill>
          <a:ln w="12700">
            <a:solidFill>
              <a:srgbClr val="00A896"/>
            </a:solidFill>
            <a:prstDash val="solid"/>
          </a:ln>
        </p:spPr>
        <p:txBody>
          <a:bodyPr/>
          <a:lstStyle/>
          <a:p>
            <a:endParaRPr lang="pt-PT"/>
          </a:p>
        </p:txBody>
      </p:sp>
      <p:sp>
        <p:nvSpPr>
          <p:cNvPr id="3" name="Text 1"/>
          <p:cNvSpPr/>
          <p:nvPr/>
        </p:nvSpPr>
        <p:spPr>
          <a:xfrm>
            <a:off x="457200" y="109728"/>
            <a:ext cx="7772400" cy="530352"/>
          </a:xfrm>
          <a:prstGeom prst="rect">
            <a:avLst/>
          </a:prstGeom>
          <a:noFill/>
          <a:ln/>
        </p:spPr>
        <p:txBody>
          <a:bodyPr wrap="square" lIns="0" tIns="0" rIns="0" bIns="0" rtlCol="0" anchor="ctr"/>
          <a:lstStyle/>
          <a:p>
            <a:pPr marL="0" indent="0">
              <a:buNone/>
            </a:pPr>
            <a:r>
              <a:rPr lang="en-US" sz="2200" b="1" dirty="0">
                <a:solidFill>
                  <a:srgbClr val="0D1B2A"/>
                </a:solidFill>
                <a:latin typeface="Trebuchet MS" pitchFamily="34" charset="0"/>
                <a:ea typeface="Trebuchet MS" pitchFamily="34" charset="-122"/>
                <a:cs typeface="Trebuchet MS" pitchFamily="34" charset="-120"/>
              </a:rPr>
              <a:t>Average Image Per Class &amp; Pixel Statistics</a:t>
            </a:r>
            <a:endParaRPr lang="en-US" sz="2200" dirty="0"/>
          </a:p>
        </p:txBody>
      </p:sp>
      <p:sp>
        <p:nvSpPr>
          <p:cNvPr id="4" name="Shape 2"/>
          <p:cNvSpPr/>
          <p:nvPr/>
        </p:nvSpPr>
        <p:spPr>
          <a:xfrm>
            <a:off x="7863840" y="109728"/>
            <a:ext cx="1097280" cy="301752"/>
          </a:xfrm>
          <a:prstGeom prst="rect">
            <a:avLst/>
          </a:prstGeom>
          <a:solidFill>
            <a:srgbClr val="1C3A52"/>
          </a:solidFill>
          <a:ln w="12700">
            <a:solidFill>
              <a:srgbClr val="1C3A52"/>
            </a:solidFill>
            <a:prstDash val="solid"/>
          </a:ln>
        </p:spPr>
        <p:txBody>
          <a:bodyPr/>
          <a:lstStyle/>
          <a:p>
            <a:endParaRPr lang="pt-PT"/>
          </a:p>
        </p:txBody>
      </p:sp>
      <p:sp>
        <p:nvSpPr>
          <p:cNvPr id="5" name="Text 3"/>
          <p:cNvSpPr/>
          <p:nvPr/>
        </p:nvSpPr>
        <p:spPr>
          <a:xfrm>
            <a:off x="7863840" y="109728"/>
            <a:ext cx="1097280" cy="301752"/>
          </a:xfrm>
          <a:prstGeom prst="rect">
            <a:avLst/>
          </a:prstGeom>
          <a:noFill/>
          <a:ln/>
        </p:spPr>
        <p:txBody>
          <a:bodyPr wrap="square" lIns="0" tIns="0" rIns="0" bIns="0" rtlCol="0" anchor="ctr"/>
          <a:lstStyle/>
          <a:p>
            <a:pPr marL="0" indent="0" algn="ctr">
              <a:buNone/>
            </a:pPr>
            <a:r>
              <a:rPr lang="en-US" sz="1000" b="1" dirty="0">
                <a:solidFill>
                  <a:srgbClr val="FFFFFF"/>
                </a:solidFill>
              </a:rPr>
              <a:t>EDA</a:t>
            </a:r>
            <a:endParaRPr lang="en-US" sz="1000" dirty="0"/>
          </a:p>
        </p:txBody>
      </p:sp>
      <p:sp>
        <p:nvSpPr>
          <p:cNvPr id="6" name="Text 4"/>
          <p:cNvSpPr/>
          <p:nvPr/>
        </p:nvSpPr>
        <p:spPr>
          <a:xfrm>
            <a:off x="365760" y="749808"/>
            <a:ext cx="8412480" cy="256032"/>
          </a:xfrm>
          <a:prstGeom prst="rect">
            <a:avLst/>
          </a:prstGeom>
          <a:noFill/>
          <a:ln/>
        </p:spPr>
        <p:txBody>
          <a:bodyPr wrap="square" lIns="0" tIns="0" rIns="0" bIns="0" rtlCol="0" anchor="ctr"/>
          <a:lstStyle/>
          <a:p>
            <a:pPr marL="0" indent="0">
              <a:buNone/>
            </a:pPr>
            <a:r>
              <a:rPr lang="en-US" sz="1200" b="1" dirty="0">
                <a:solidFill>
                  <a:srgbClr val="3D5A73"/>
                </a:solidFill>
                <a:latin typeface="Calibri" pitchFamily="34" charset="0"/>
                <a:ea typeface="Calibri" pitchFamily="34" charset="-122"/>
                <a:cs typeface="Calibri" pitchFamily="34" charset="-120"/>
              </a:rPr>
              <a:t>Average image per class — blurriness reveals intra-class variance </a:t>
            </a:r>
            <a:r>
              <a:rPr lang="en-US" sz="1200" dirty="0">
                <a:solidFill>
                  <a:srgbClr val="3D5A73"/>
                </a:solidFill>
                <a:latin typeface="Calibri" pitchFamily="34" charset="0"/>
                <a:ea typeface="Calibri" pitchFamily="34" charset="-122"/>
                <a:cs typeface="Calibri" pitchFamily="34" charset="-120"/>
              </a:rPr>
              <a:t>(e.g.: we can expect that Fire will be more correctly identified)</a:t>
            </a:r>
            <a:endParaRPr lang="en-US" sz="1200" dirty="0"/>
          </a:p>
        </p:txBody>
      </p:sp>
      <p:pic>
        <p:nvPicPr>
          <p:cNvPr id="7" name="Image 0" descr="/mnt/user-data/uploads/plot_average_image_per_class.png"/>
          <p:cNvPicPr>
            <a:picLocks noChangeAspect="1"/>
          </p:cNvPicPr>
          <p:nvPr/>
        </p:nvPicPr>
        <p:blipFill>
          <a:blip r:embed="rId3"/>
          <a:stretch>
            <a:fillRect/>
          </a:stretch>
        </p:blipFill>
        <p:spPr>
          <a:xfrm>
            <a:off x="274320" y="1005840"/>
            <a:ext cx="8595360" cy="1417320"/>
          </a:xfrm>
          <a:prstGeom prst="rect">
            <a:avLst/>
          </a:prstGeom>
        </p:spPr>
      </p:pic>
      <p:sp>
        <p:nvSpPr>
          <p:cNvPr id="8" name="Text 5"/>
          <p:cNvSpPr/>
          <p:nvPr/>
        </p:nvSpPr>
        <p:spPr>
          <a:xfrm>
            <a:off x="365760" y="2578608"/>
            <a:ext cx="4572000" cy="256032"/>
          </a:xfrm>
          <a:prstGeom prst="rect">
            <a:avLst/>
          </a:prstGeom>
          <a:noFill/>
          <a:ln/>
        </p:spPr>
        <p:txBody>
          <a:bodyPr wrap="square" lIns="0" tIns="0" rIns="0" bIns="0" rtlCol="0" anchor="ctr"/>
          <a:lstStyle/>
          <a:p>
            <a:pPr marL="0" indent="0">
              <a:buNone/>
            </a:pPr>
            <a:r>
              <a:rPr lang="en-US" sz="1200" b="1" dirty="0">
                <a:solidFill>
                  <a:srgbClr val="3D5A73"/>
                </a:solidFill>
                <a:latin typeface="Calibri" pitchFamily="34" charset="0"/>
                <a:ea typeface="Calibri" pitchFamily="34" charset="-122"/>
                <a:cs typeface="Calibri" pitchFamily="34" charset="-120"/>
              </a:rPr>
              <a:t>Per-channel mean &amp; standard deviation (train split, no leakage)</a:t>
            </a:r>
            <a:endParaRPr lang="en-US" sz="1200" dirty="0"/>
          </a:p>
        </p:txBody>
      </p:sp>
      <p:pic>
        <p:nvPicPr>
          <p:cNvPr id="9" name="Image 1" descr="/mnt/user-data/uploads/plot_pixel_statistics.png"/>
          <p:cNvPicPr>
            <a:picLocks noChangeAspect="1"/>
          </p:cNvPicPr>
          <p:nvPr/>
        </p:nvPicPr>
        <p:blipFill>
          <a:blip r:embed="rId4"/>
          <a:stretch>
            <a:fillRect/>
          </a:stretch>
        </p:blipFill>
        <p:spPr>
          <a:xfrm>
            <a:off x="274320" y="2834640"/>
            <a:ext cx="4572000" cy="2103120"/>
          </a:xfrm>
          <a:prstGeom prst="rect">
            <a:avLst/>
          </a:prstGeom>
        </p:spPr>
      </p:pic>
      <p:graphicFrame>
        <p:nvGraphicFramePr>
          <p:cNvPr id="10" name="Table 0"/>
          <p:cNvGraphicFramePr>
            <a:graphicFrameLocks noGrp="1"/>
          </p:cNvGraphicFramePr>
          <p:nvPr>
            <p:extLst>
              <p:ext uri="{D42A27DB-BD31-4B8C-83A1-F6EECF244321}">
                <p14:modId xmlns:p14="http://schemas.microsoft.com/office/powerpoint/2010/main" val="2869798500"/>
              </p:ext>
            </p:extLst>
          </p:nvPr>
        </p:nvGraphicFramePr>
        <p:xfrm>
          <a:off x="5074920" y="2834640"/>
          <a:ext cx="3749040" cy="1316736"/>
        </p:xfrm>
        <a:graphic>
          <a:graphicData uri="http://schemas.openxmlformats.org/drawingml/2006/table">
            <a:tbl>
              <a:tblPr/>
              <a:tblGrid>
                <a:gridCol w="45720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gridCol w="1280160">
                  <a:extLst>
                    <a:ext uri="{9D8B030D-6E8A-4147-A177-3AD203B41FA5}">
                      <a16:colId xmlns:a16="http://schemas.microsoft.com/office/drawing/2014/main" val="20003"/>
                    </a:ext>
                  </a:extLst>
                </a:gridCol>
              </a:tblGrid>
              <a:tr h="329184">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Ch</a:t>
                      </a:r>
                      <a:endParaRPr lang="en-US" sz="1000" dirty="0">
                        <a:latin typeface="Calibri" charset="0"/>
                        <a:ea typeface="Calibri" charset="0"/>
                        <a:cs typeface="Calibri" charset="0"/>
                      </a:endParaRPr>
                    </a:p>
                  </a:txBody>
                  <a:tcPr>
                    <a:lnL w="6350" cap="flat" cmpd="sng" algn="ctr">
                      <a:solidFill>
                        <a:srgbClr val="D8E4EC"/>
                      </a:solidFill>
                      <a:prstDash val="solid"/>
                      <a:round/>
                      <a:headEnd type="none" w="med" len="med"/>
                      <a:tailEnd type="none" w="med" len="med"/>
                    </a:lnL>
                    <a:lnR w="6350" cap="flat" cmpd="sng" algn="ctr">
                      <a:solidFill>
                        <a:srgbClr val="D8E4EC"/>
                      </a:solidFill>
                      <a:prstDash val="solid"/>
                      <a:round/>
                      <a:headEnd type="none" w="med" len="med"/>
                      <a:tailEnd type="none" w="med" len="med"/>
                    </a:lnR>
                    <a:lnT w="6350" cap="flat" cmpd="sng" algn="ctr">
                      <a:solidFill>
                        <a:srgbClr val="D8E4EC"/>
                      </a:solidFill>
                      <a:prstDash val="solid"/>
                      <a:round/>
                      <a:headEnd type="none" w="med" len="med"/>
                      <a:tailEnd type="none" w="med" len="med"/>
                    </a:lnT>
                    <a:lnB w="6350" cap="flat" cmpd="sng" algn="ctr">
                      <a:solidFill>
                        <a:srgbClr val="D8E4EC"/>
                      </a:solidFill>
                      <a:prstDash val="solid"/>
                      <a:round/>
                      <a:headEnd type="none" w="med" len="med"/>
                      <a:tailEnd type="none" w="med" len="med"/>
                    </a:lnB>
                    <a:solidFill>
                      <a:srgbClr val="0D1B2A"/>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Mean</a:t>
                      </a:r>
                      <a:endParaRPr lang="en-US" sz="1000" dirty="0">
                        <a:latin typeface="Calibri" charset="0"/>
                        <a:ea typeface="Calibri" charset="0"/>
                        <a:cs typeface="Calibri" charset="0"/>
                      </a:endParaRPr>
                    </a:p>
                  </a:txBody>
                  <a:tcPr>
                    <a:lnL w="6350" cap="flat" cmpd="sng" algn="ctr">
                      <a:solidFill>
                        <a:srgbClr val="D8E4EC"/>
                      </a:solidFill>
                      <a:prstDash val="solid"/>
                      <a:round/>
                      <a:headEnd type="none" w="med" len="med"/>
                      <a:tailEnd type="none" w="med" len="med"/>
                    </a:lnL>
                    <a:lnR w="6350" cap="flat" cmpd="sng" algn="ctr">
                      <a:solidFill>
                        <a:srgbClr val="D8E4EC"/>
                      </a:solidFill>
                      <a:prstDash val="solid"/>
                      <a:round/>
                      <a:headEnd type="none" w="med" len="med"/>
                      <a:tailEnd type="none" w="med" len="med"/>
                    </a:lnR>
                    <a:lnT w="6350" cap="flat" cmpd="sng" algn="ctr">
                      <a:solidFill>
                        <a:srgbClr val="D8E4EC"/>
                      </a:solidFill>
                      <a:prstDash val="solid"/>
                      <a:round/>
                      <a:headEnd type="none" w="med" len="med"/>
                      <a:tailEnd type="none" w="med" len="med"/>
                    </a:lnT>
                    <a:lnB w="6350" cap="flat" cmpd="sng" algn="ctr">
                      <a:solidFill>
                        <a:srgbClr val="D8E4EC"/>
                      </a:solidFill>
                      <a:prstDash val="solid"/>
                      <a:round/>
                      <a:headEnd type="none" w="med" len="med"/>
                      <a:tailEnd type="none" w="med" len="med"/>
                    </a:lnB>
                    <a:solidFill>
                      <a:srgbClr val="0D1B2A"/>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Std</a:t>
                      </a:r>
                      <a:endParaRPr lang="en-US" sz="1000" dirty="0">
                        <a:latin typeface="Calibri" charset="0"/>
                        <a:ea typeface="Calibri" charset="0"/>
                        <a:cs typeface="Calibri" charset="0"/>
                      </a:endParaRPr>
                    </a:p>
                  </a:txBody>
                  <a:tcPr>
                    <a:lnL w="6350" cap="flat" cmpd="sng" algn="ctr">
                      <a:solidFill>
                        <a:srgbClr val="D8E4EC"/>
                      </a:solidFill>
                      <a:prstDash val="solid"/>
                      <a:round/>
                      <a:headEnd type="none" w="med" len="med"/>
                      <a:tailEnd type="none" w="med" len="med"/>
                    </a:lnL>
                    <a:lnR w="6350" cap="flat" cmpd="sng" algn="ctr">
                      <a:solidFill>
                        <a:srgbClr val="D8E4EC"/>
                      </a:solidFill>
                      <a:prstDash val="solid"/>
                      <a:round/>
                      <a:headEnd type="none" w="med" len="med"/>
                      <a:tailEnd type="none" w="med" len="med"/>
                    </a:lnR>
                    <a:lnT w="6350" cap="flat" cmpd="sng" algn="ctr">
                      <a:solidFill>
                        <a:srgbClr val="D8E4EC"/>
                      </a:solidFill>
                      <a:prstDash val="solid"/>
                      <a:round/>
                      <a:headEnd type="none" w="med" len="med"/>
                      <a:tailEnd type="none" w="med" len="med"/>
                    </a:lnT>
                    <a:lnB w="6350" cap="flat" cmpd="sng" algn="ctr">
                      <a:solidFill>
                        <a:srgbClr val="D8E4EC"/>
                      </a:solidFill>
                      <a:prstDash val="solid"/>
                      <a:round/>
                      <a:headEnd type="none" w="med" len="med"/>
                      <a:tailEnd type="none" w="med" len="med"/>
                    </a:lnB>
                    <a:solidFill>
                      <a:srgbClr val="0D1B2A"/>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ImageNet mean</a:t>
                      </a:r>
                      <a:endParaRPr lang="en-US" sz="1000" dirty="0">
                        <a:latin typeface="Calibri" charset="0"/>
                        <a:ea typeface="Calibri" charset="0"/>
                        <a:cs typeface="Calibri" charset="0"/>
                      </a:endParaRPr>
                    </a:p>
                  </a:txBody>
                  <a:tcPr>
                    <a:lnL w="6350" cap="flat" cmpd="sng" algn="ctr">
                      <a:solidFill>
                        <a:srgbClr val="D8E4EC"/>
                      </a:solidFill>
                      <a:prstDash val="solid"/>
                      <a:round/>
                      <a:headEnd type="none" w="med" len="med"/>
                      <a:tailEnd type="none" w="med" len="med"/>
                    </a:lnL>
                    <a:lnR w="6350" cap="flat" cmpd="sng" algn="ctr">
                      <a:solidFill>
                        <a:srgbClr val="D8E4EC"/>
                      </a:solidFill>
                      <a:prstDash val="solid"/>
                      <a:round/>
                      <a:headEnd type="none" w="med" len="med"/>
                      <a:tailEnd type="none" w="med" len="med"/>
                    </a:lnR>
                    <a:lnT w="6350" cap="flat" cmpd="sng" algn="ctr">
                      <a:solidFill>
                        <a:srgbClr val="D8E4EC"/>
                      </a:solidFill>
                      <a:prstDash val="solid"/>
                      <a:round/>
                      <a:headEnd type="none" w="med" len="med"/>
                      <a:tailEnd type="none" w="med" len="med"/>
                    </a:lnT>
                    <a:lnB w="6350" cap="flat" cmpd="sng" algn="ctr">
                      <a:solidFill>
                        <a:srgbClr val="D8E4EC"/>
                      </a:solidFill>
                      <a:prstDash val="solid"/>
                      <a:round/>
                      <a:headEnd type="none" w="med" len="med"/>
                      <a:tailEnd type="none" w="med" len="med"/>
                    </a:lnB>
                    <a:solidFill>
                      <a:srgbClr val="0D1B2A"/>
                    </a:solidFill>
                  </a:tcPr>
                </a:tc>
                <a:extLst>
                  <a:ext uri="{0D108BD9-81ED-4DB2-BD59-A6C34878D82A}">
                    <a16:rowId xmlns:a16="http://schemas.microsoft.com/office/drawing/2014/main" val="10000"/>
                  </a:ext>
                </a:extLst>
              </a:tr>
              <a:tr h="329184">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R</a:t>
                      </a:r>
                      <a:endParaRPr lang="en-US" sz="1100" dirty="0">
                        <a:latin typeface="Calibri" charset="0"/>
                        <a:ea typeface="Calibri" charset="0"/>
                        <a:cs typeface="Calibri" charset="0"/>
                      </a:endParaRPr>
                    </a:p>
                  </a:txBody>
                  <a:tcPr>
                    <a:lnL w="6350" cap="flat" cmpd="sng" algn="ctr">
                      <a:solidFill>
                        <a:srgbClr val="D8E4EC"/>
                      </a:solidFill>
                      <a:prstDash val="solid"/>
                      <a:round/>
                      <a:headEnd type="none" w="med" len="med"/>
                      <a:tailEnd type="none" w="med" len="med"/>
                    </a:lnL>
                    <a:lnR w="6350" cap="flat" cmpd="sng" algn="ctr">
                      <a:solidFill>
                        <a:srgbClr val="D8E4EC"/>
                      </a:solidFill>
                      <a:prstDash val="solid"/>
                      <a:round/>
                      <a:headEnd type="none" w="med" len="med"/>
                      <a:tailEnd type="none" w="med" len="med"/>
                    </a:lnR>
                    <a:lnT w="6350" cap="flat" cmpd="sng" algn="ctr">
                      <a:solidFill>
                        <a:srgbClr val="D8E4EC"/>
                      </a:solidFill>
                      <a:prstDash val="solid"/>
                      <a:round/>
                      <a:headEnd type="none" w="med" len="med"/>
                      <a:tailEnd type="none" w="med" len="med"/>
                    </a:lnT>
                    <a:lnB w="6350" cap="flat" cmpd="sng" algn="ctr">
                      <a:solidFill>
                        <a:srgbClr val="D8E4EC"/>
                      </a:solidFill>
                      <a:prstDash val="solid"/>
                      <a:round/>
                      <a:headEnd type="none" w="med" len="med"/>
                      <a:tailEnd type="none" w="med" len="med"/>
                    </a:lnB>
                  </a:tcPr>
                </a:tc>
                <a:tc>
                  <a:txBody>
                    <a:bodyPr/>
                    <a:lstStyle/>
                    <a:p>
                      <a:pPr marL="0" indent="0" algn="ctr">
                        <a:buNone/>
                      </a:pPr>
                      <a:r>
                        <a:rPr lang="en-US" sz="1100" dirty="0">
                          <a:solidFill>
                            <a:srgbClr val="000000"/>
                          </a:solidFill>
                          <a:latin typeface="Calibri" pitchFamily="34" charset="0"/>
                          <a:ea typeface="Calibri" pitchFamily="34" charset="-122"/>
                          <a:cs typeface="Calibri" pitchFamily="34" charset="-120"/>
                        </a:rPr>
                        <a:t>0.443</a:t>
                      </a:r>
                      <a:endParaRPr lang="en-US" sz="1100" dirty="0">
                        <a:latin typeface="Calibri" charset="0"/>
                        <a:ea typeface="Calibri" charset="0"/>
                        <a:cs typeface="Calibri" charset="0"/>
                      </a:endParaRPr>
                    </a:p>
                  </a:txBody>
                  <a:tcPr>
                    <a:lnL w="6350" cap="flat" cmpd="sng" algn="ctr">
                      <a:solidFill>
                        <a:srgbClr val="D8E4EC"/>
                      </a:solidFill>
                      <a:prstDash val="solid"/>
                      <a:round/>
                      <a:headEnd type="none" w="med" len="med"/>
                      <a:tailEnd type="none" w="med" len="med"/>
                    </a:lnL>
                    <a:lnR w="6350" cap="flat" cmpd="sng" algn="ctr">
                      <a:solidFill>
                        <a:srgbClr val="D8E4EC"/>
                      </a:solidFill>
                      <a:prstDash val="solid"/>
                      <a:round/>
                      <a:headEnd type="none" w="med" len="med"/>
                      <a:tailEnd type="none" w="med" len="med"/>
                    </a:lnR>
                    <a:lnT w="6350" cap="flat" cmpd="sng" algn="ctr">
                      <a:solidFill>
                        <a:srgbClr val="D8E4EC"/>
                      </a:solidFill>
                      <a:prstDash val="solid"/>
                      <a:round/>
                      <a:headEnd type="none" w="med" len="med"/>
                      <a:tailEnd type="none" w="med" len="med"/>
                    </a:lnT>
                    <a:lnB w="6350" cap="flat" cmpd="sng" algn="ctr">
                      <a:solidFill>
                        <a:srgbClr val="D8E4EC"/>
                      </a:solidFill>
                      <a:prstDash val="solid"/>
                      <a:round/>
                      <a:headEnd type="none" w="med" len="med"/>
                      <a:tailEnd type="none" w="med" len="med"/>
                    </a:lnB>
                  </a:tcPr>
                </a:tc>
                <a:tc>
                  <a:txBody>
                    <a:bodyPr/>
                    <a:lstStyle/>
                    <a:p>
                      <a:pPr marL="0" indent="0" algn="ctr">
                        <a:buNone/>
                      </a:pPr>
                      <a:r>
                        <a:rPr lang="en-US" sz="1100" dirty="0">
                          <a:solidFill>
                            <a:srgbClr val="000000"/>
                          </a:solidFill>
                          <a:latin typeface="Calibri" pitchFamily="34" charset="0"/>
                          <a:ea typeface="Calibri" pitchFamily="34" charset="-122"/>
                          <a:cs typeface="Calibri" pitchFamily="34" charset="-120"/>
                        </a:rPr>
                        <a:t>0.257</a:t>
                      </a:r>
                      <a:endParaRPr lang="en-US" sz="1100" dirty="0">
                        <a:latin typeface="Calibri" charset="0"/>
                        <a:ea typeface="Calibri" charset="0"/>
                        <a:cs typeface="Calibri" charset="0"/>
                      </a:endParaRPr>
                    </a:p>
                  </a:txBody>
                  <a:tcPr>
                    <a:lnL w="6350" cap="flat" cmpd="sng" algn="ctr">
                      <a:solidFill>
                        <a:srgbClr val="D8E4EC"/>
                      </a:solidFill>
                      <a:prstDash val="solid"/>
                      <a:round/>
                      <a:headEnd type="none" w="med" len="med"/>
                      <a:tailEnd type="none" w="med" len="med"/>
                    </a:lnL>
                    <a:lnR w="6350" cap="flat" cmpd="sng" algn="ctr">
                      <a:solidFill>
                        <a:srgbClr val="D8E4EC"/>
                      </a:solidFill>
                      <a:prstDash val="solid"/>
                      <a:round/>
                      <a:headEnd type="none" w="med" len="med"/>
                      <a:tailEnd type="none" w="med" len="med"/>
                    </a:lnR>
                    <a:lnT w="6350" cap="flat" cmpd="sng" algn="ctr">
                      <a:solidFill>
                        <a:srgbClr val="D8E4EC"/>
                      </a:solidFill>
                      <a:prstDash val="solid"/>
                      <a:round/>
                      <a:headEnd type="none" w="med" len="med"/>
                      <a:tailEnd type="none" w="med" len="med"/>
                    </a:lnT>
                    <a:lnB w="6350" cap="flat" cmpd="sng" algn="ctr">
                      <a:solidFill>
                        <a:srgbClr val="D8E4EC"/>
                      </a:solidFill>
                      <a:prstDash val="solid"/>
                      <a:round/>
                      <a:headEnd type="none" w="med" len="med"/>
                      <a:tailEnd type="none" w="med" len="med"/>
                    </a:lnB>
                  </a:tcPr>
                </a:tc>
                <a:tc>
                  <a:txBody>
                    <a:bodyPr/>
                    <a:lstStyle/>
                    <a:p>
                      <a:pPr marL="0" indent="0" algn="ctr">
                        <a:buNone/>
                      </a:pPr>
                      <a:r>
                        <a:rPr lang="en-US" sz="1000" b="1" dirty="0">
                          <a:solidFill>
                            <a:schemeClr val="bg2">
                              <a:lumMod val="75000"/>
                            </a:schemeClr>
                          </a:solidFill>
                          <a:latin typeface="Calibri" pitchFamily="34" charset="0"/>
                          <a:ea typeface="Calibri" pitchFamily="34" charset="-122"/>
                          <a:cs typeface="Calibri" pitchFamily="34" charset="-120"/>
                        </a:rPr>
                        <a:t>0.485</a:t>
                      </a:r>
                      <a:endParaRPr lang="en-US" sz="1000" b="1" dirty="0">
                        <a:solidFill>
                          <a:schemeClr val="bg2">
                            <a:lumMod val="75000"/>
                          </a:schemeClr>
                        </a:solidFill>
                        <a:latin typeface="Calibri" charset="0"/>
                        <a:ea typeface="Calibri" charset="0"/>
                        <a:cs typeface="Calibri" charset="0"/>
                      </a:endParaRPr>
                    </a:p>
                  </a:txBody>
                  <a:tcPr>
                    <a:lnL w="6350" cap="flat" cmpd="sng" algn="ctr">
                      <a:solidFill>
                        <a:srgbClr val="D8E4EC"/>
                      </a:solidFill>
                      <a:prstDash val="solid"/>
                      <a:round/>
                      <a:headEnd type="none" w="med" len="med"/>
                      <a:tailEnd type="none" w="med" len="med"/>
                    </a:lnL>
                    <a:lnR w="6350" cap="flat" cmpd="sng" algn="ctr">
                      <a:solidFill>
                        <a:srgbClr val="D8E4EC"/>
                      </a:solidFill>
                      <a:prstDash val="solid"/>
                      <a:round/>
                      <a:headEnd type="none" w="med" len="med"/>
                      <a:tailEnd type="none" w="med" len="med"/>
                    </a:lnR>
                    <a:lnT w="6350" cap="flat" cmpd="sng" algn="ctr">
                      <a:solidFill>
                        <a:srgbClr val="D8E4EC"/>
                      </a:solidFill>
                      <a:prstDash val="solid"/>
                      <a:round/>
                      <a:headEnd type="none" w="med" len="med"/>
                      <a:tailEnd type="none" w="med" len="med"/>
                    </a:lnT>
                    <a:lnB w="6350" cap="flat" cmpd="sng" algn="ctr">
                      <a:solidFill>
                        <a:srgbClr val="D8E4EC"/>
                      </a:solidFill>
                      <a:prstDash val="solid"/>
                      <a:round/>
                      <a:headEnd type="none" w="med" len="med"/>
                      <a:tailEnd type="none" w="med" len="med"/>
                    </a:lnB>
                  </a:tcPr>
                </a:tc>
                <a:extLst>
                  <a:ext uri="{0D108BD9-81ED-4DB2-BD59-A6C34878D82A}">
                    <a16:rowId xmlns:a16="http://schemas.microsoft.com/office/drawing/2014/main" val="10001"/>
                  </a:ext>
                </a:extLst>
              </a:tr>
              <a:tr h="329184">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G</a:t>
                      </a:r>
                      <a:endParaRPr lang="en-US" sz="1100" dirty="0">
                        <a:latin typeface="Calibri" charset="0"/>
                        <a:ea typeface="Calibri" charset="0"/>
                        <a:cs typeface="Calibri" charset="0"/>
                      </a:endParaRPr>
                    </a:p>
                  </a:txBody>
                  <a:tcPr>
                    <a:lnL w="6350" cap="flat" cmpd="sng" algn="ctr">
                      <a:solidFill>
                        <a:srgbClr val="D8E4EC"/>
                      </a:solidFill>
                      <a:prstDash val="solid"/>
                      <a:round/>
                      <a:headEnd type="none" w="med" len="med"/>
                      <a:tailEnd type="none" w="med" len="med"/>
                    </a:lnL>
                    <a:lnR w="6350" cap="flat" cmpd="sng" algn="ctr">
                      <a:solidFill>
                        <a:srgbClr val="D8E4EC"/>
                      </a:solidFill>
                      <a:prstDash val="solid"/>
                      <a:round/>
                      <a:headEnd type="none" w="med" len="med"/>
                      <a:tailEnd type="none" w="med" len="med"/>
                    </a:lnR>
                    <a:lnT w="6350" cap="flat" cmpd="sng" algn="ctr">
                      <a:solidFill>
                        <a:srgbClr val="D8E4EC"/>
                      </a:solidFill>
                      <a:prstDash val="solid"/>
                      <a:round/>
                      <a:headEnd type="none" w="med" len="med"/>
                      <a:tailEnd type="none" w="med" len="med"/>
                    </a:lnT>
                    <a:lnB w="6350" cap="flat" cmpd="sng" algn="ctr">
                      <a:solidFill>
                        <a:srgbClr val="D8E4EC"/>
                      </a:solidFill>
                      <a:prstDash val="solid"/>
                      <a:round/>
                      <a:headEnd type="none" w="med" len="med"/>
                      <a:tailEnd type="none" w="med" len="med"/>
                    </a:lnB>
                  </a:tcPr>
                </a:tc>
                <a:tc>
                  <a:txBody>
                    <a:bodyPr/>
                    <a:lstStyle/>
                    <a:p>
                      <a:pPr marL="0" indent="0" algn="ctr">
                        <a:buNone/>
                      </a:pPr>
                      <a:r>
                        <a:rPr lang="en-US" sz="1100" dirty="0">
                          <a:solidFill>
                            <a:srgbClr val="000000"/>
                          </a:solidFill>
                          <a:latin typeface="Calibri" pitchFamily="34" charset="0"/>
                          <a:ea typeface="Calibri" pitchFamily="34" charset="-122"/>
                          <a:cs typeface="Calibri" pitchFamily="34" charset="-120"/>
                        </a:rPr>
                        <a:t>0.445</a:t>
                      </a:r>
                      <a:endParaRPr lang="en-US" sz="1100" dirty="0">
                        <a:latin typeface="Calibri" charset="0"/>
                        <a:ea typeface="Calibri" charset="0"/>
                        <a:cs typeface="Calibri" charset="0"/>
                      </a:endParaRPr>
                    </a:p>
                  </a:txBody>
                  <a:tcPr>
                    <a:lnL w="6350" cap="flat" cmpd="sng" algn="ctr">
                      <a:solidFill>
                        <a:srgbClr val="D8E4EC"/>
                      </a:solidFill>
                      <a:prstDash val="solid"/>
                      <a:round/>
                      <a:headEnd type="none" w="med" len="med"/>
                      <a:tailEnd type="none" w="med" len="med"/>
                    </a:lnL>
                    <a:lnR w="6350" cap="flat" cmpd="sng" algn="ctr">
                      <a:solidFill>
                        <a:srgbClr val="D8E4EC"/>
                      </a:solidFill>
                      <a:prstDash val="solid"/>
                      <a:round/>
                      <a:headEnd type="none" w="med" len="med"/>
                      <a:tailEnd type="none" w="med" len="med"/>
                    </a:lnR>
                    <a:lnT w="6350" cap="flat" cmpd="sng" algn="ctr">
                      <a:solidFill>
                        <a:srgbClr val="D8E4EC"/>
                      </a:solidFill>
                      <a:prstDash val="solid"/>
                      <a:round/>
                      <a:headEnd type="none" w="med" len="med"/>
                      <a:tailEnd type="none" w="med" len="med"/>
                    </a:lnT>
                    <a:lnB w="6350" cap="flat" cmpd="sng" algn="ctr">
                      <a:solidFill>
                        <a:srgbClr val="D8E4EC"/>
                      </a:solidFill>
                      <a:prstDash val="solid"/>
                      <a:round/>
                      <a:headEnd type="none" w="med" len="med"/>
                      <a:tailEnd type="none" w="med" len="med"/>
                    </a:lnB>
                  </a:tcPr>
                </a:tc>
                <a:tc>
                  <a:txBody>
                    <a:bodyPr/>
                    <a:lstStyle/>
                    <a:p>
                      <a:pPr marL="0" indent="0" algn="ctr">
                        <a:buNone/>
                      </a:pPr>
                      <a:r>
                        <a:rPr lang="en-US" sz="1100" dirty="0">
                          <a:solidFill>
                            <a:srgbClr val="000000"/>
                          </a:solidFill>
                          <a:latin typeface="Calibri" pitchFamily="34" charset="0"/>
                          <a:ea typeface="Calibri" pitchFamily="34" charset="-122"/>
                          <a:cs typeface="Calibri" pitchFamily="34" charset="-120"/>
                        </a:rPr>
                        <a:t>0.246</a:t>
                      </a:r>
                      <a:endParaRPr lang="en-US" sz="1100" dirty="0">
                        <a:latin typeface="Calibri" charset="0"/>
                        <a:ea typeface="Calibri" charset="0"/>
                        <a:cs typeface="Calibri" charset="0"/>
                      </a:endParaRPr>
                    </a:p>
                  </a:txBody>
                  <a:tcPr>
                    <a:lnL w="6350" cap="flat" cmpd="sng" algn="ctr">
                      <a:solidFill>
                        <a:srgbClr val="D8E4EC"/>
                      </a:solidFill>
                      <a:prstDash val="solid"/>
                      <a:round/>
                      <a:headEnd type="none" w="med" len="med"/>
                      <a:tailEnd type="none" w="med" len="med"/>
                    </a:lnL>
                    <a:lnR w="6350" cap="flat" cmpd="sng" algn="ctr">
                      <a:solidFill>
                        <a:srgbClr val="D8E4EC"/>
                      </a:solidFill>
                      <a:prstDash val="solid"/>
                      <a:round/>
                      <a:headEnd type="none" w="med" len="med"/>
                      <a:tailEnd type="none" w="med" len="med"/>
                    </a:lnR>
                    <a:lnT w="6350" cap="flat" cmpd="sng" algn="ctr">
                      <a:solidFill>
                        <a:srgbClr val="D8E4EC"/>
                      </a:solidFill>
                      <a:prstDash val="solid"/>
                      <a:round/>
                      <a:headEnd type="none" w="med" len="med"/>
                      <a:tailEnd type="none" w="med" len="med"/>
                    </a:lnT>
                    <a:lnB w="6350" cap="flat" cmpd="sng" algn="ctr">
                      <a:solidFill>
                        <a:srgbClr val="D8E4EC"/>
                      </a:solidFill>
                      <a:prstDash val="solid"/>
                      <a:round/>
                      <a:headEnd type="none" w="med" len="med"/>
                      <a:tailEnd type="none" w="med" len="med"/>
                    </a:lnB>
                  </a:tcPr>
                </a:tc>
                <a:tc>
                  <a:txBody>
                    <a:bodyPr/>
                    <a:lstStyle/>
                    <a:p>
                      <a:pPr marL="0" indent="0" algn="ctr">
                        <a:buNone/>
                      </a:pPr>
                      <a:r>
                        <a:rPr lang="en-US" sz="1000" b="1" dirty="0">
                          <a:solidFill>
                            <a:schemeClr val="bg2">
                              <a:lumMod val="75000"/>
                            </a:schemeClr>
                          </a:solidFill>
                          <a:latin typeface="Calibri" pitchFamily="34" charset="0"/>
                          <a:ea typeface="Calibri" pitchFamily="34" charset="-122"/>
                          <a:cs typeface="Calibri" pitchFamily="34" charset="-120"/>
                        </a:rPr>
                        <a:t>0.456</a:t>
                      </a:r>
                      <a:endParaRPr lang="en-US" sz="1000" b="1" dirty="0">
                        <a:solidFill>
                          <a:schemeClr val="bg2">
                            <a:lumMod val="75000"/>
                          </a:schemeClr>
                        </a:solidFill>
                        <a:latin typeface="Calibri" charset="0"/>
                        <a:ea typeface="Calibri" charset="0"/>
                        <a:cs typeface="Calibri" charset="0"/>
                      </a:endParaRPr>
                    </a:p>
                  </a:txBody>
                  <a:tcPr>
                    <a:lnL w="6350" cap="flat" cmpd="sng" algn="ctr">
                      <a:solidFill>
                        <a:srgbClr val="D8E4EC"/>
                      </a:solidFill>
                      <a:prstDash val="solid"/>
                      <a:round/>
                      <a:headEnd type="none" w="med" len="med"/>
                      <a:tailEnd type="none" w="med" len="med"/>
                    </a:lnL>
                    <a:lnR w="6350" cap="flat" cmpd="sng" algn="ctr">
                      <a:solidFill>
                        <a:srgbClr val="D8E4EC"/>
                      </a:solidFill>
                      <a:prstDash val="solid"/>
                      <a:round/>
                      <a:headEnd type="none" w="med" len="med"/>
                      <a:tailEnd type="none" w="med" len="med"/>
                    </a:lnR>
                    <a:lnT w="6350" cap="flat" cmpd="sng" algn="ctr">
                      <a:solidFill>
                        <a:srgbClr val="D8E4EC"/>
                      </a:solidFill>
                      <a:prstDash val="solid"/>
                      <a:round/>
                      <a:headEnd type="none" w="med" len="med"/>
                      <a:tailEnd type="none" w="med" len="med"/>
                    </a:lnT>
                    <a:lnB w="6350" cap="flat" cmpd="sng" algn="ctr">
                      <a:solidFill>
                        <a:srgbClr val="D8E4EC"/>
                      </a:solidFill>
                      <a:prstDash val="solid"/>
                      <a:round/>
                      <a:headEnd type="none" w="med" len="med"/>
                      <a:tailEnd type="none" w="med" len="med"/>
                    </a:lnB>
                  </a:tcPr>
                </a:tc>
                <a:extLst>
                  <a:ext uri="{0D108BD9-81ED-4DB2-BD59-A6C34878D82A}">
                    <a16:rowId xmlns:a16="http://schemas.microsoft.com/office/drawing/2014/main" val="10002"/>
                  </a:ext>
                </a:extLst>
              </a:tr>
              <a:tr h="329184">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B</a:t>
                      </a:r>
                      <a:endParaRPr lang="en-US" sz="1100" dirty="0">
                        <a:latin typeface="Calibri" charset="0"/>
                        <a:ea typeface="Calibri" charset="0"/>
                        <a:cs typeface="Calibri" charset="0"/>
                      </a:endParaRPr>
                    </a:p>
                  </a:txBody>
                  <a:tcPr>
                    <a:lnL w="6350" cap="flat" cmpd="sng" algn="ctr">
                      <a:solidFill>
                        <a:srgbClr val="D8E4EC"/>
                      </a:solidFill>
                      <a:prstDash val="solid"/>
                      <a:round/>
                      <a:headEnd type="none" w="med" len="med"/>
                      <a:tailEnd type="none" w="med" len="med"/>
                    </a:lnL>
                    <a:lnR w="6350" cap="flat" cmpd="sng" algn="ctr">
                      <a:solidFill>
                        <a:srgbClr val="D8E4EC"/>
                      </a:solidFill>
                      <a:prstDash val="solid"/>
                      <a:round/>
                      <a:headEnd type="none" w="med" len="med"/>
                      <a:tailEnd type="none" w="med" len="med"/>
                    </a:lnR>
                    <a:lnT w="6350" cap="flat" cmpd="sng" algn="ctr">
                      <a:solidFill>
                        <a:srgbClr val="D8E4EC"/>
                      </a:solidFill>
                      <a:prstDash val="solid"/>
                      <a:round/>
                      <a:headEnd type="none" w="med" len="med"/>
                      <a:tailEnd type="none" w="med" len="med"/>
                    </a:lnT>
                    <a:lnB w="6350" cap="flat" cmpd="sng" algn="ctr">
                      <a:solidFill>
                        <a:srgbClr val="D8E4EC"/>
                      </a:solidFill>
                      <a:prstDash val="solid"/>
                      <a:round/>
                      <a:headEnd type="none" w="med" len="med"/>
                      <a:tailEnd type="none" w="med" len="med"/>
                    </a:lnB>
                  </a:tcPr>
                </a:tc>
                <a:tc>
                  <a:txBody>
                    <a:bodyPr/>
                    <a:lstStyle/>
                    <a:p>
                      <a:pPr marL="0" indent="0" algn="ctr">
                        <a:buNone/>
                      </a:pPr>
                      <a:r>
                        <a:rPr lang="en-US" sz="1100" dirty="0">
                          <a:solidFill>
                            <a:srgbClr val="000000"/>
                          </a:solidFill>
                          <a:latin typeface="Calibri" pitchFamily="34" charset="0"/>
                          <a:ea typeface="Calibri" pitchFamily="34" charset="-122"/>
                          <a:cs typeface="Calibri" pitchFamily="34" charset="-120"/>
                        </a:rPr>
                        <a:t>0.414</a:t>
                      </a:r>
                      <a:endParaRPr lang="en-US" sz="1100" dirty="0">
                        <a:latin typeface="Calibri" charset="0"/>
                        <a:ea typeface="Calibri" charset="0"/>
                        <a:cs typeface="Calibri" charset="0"/>
                      </a:endParaRPr>
                    </a:p>
                  </a:txBody>
                  <a:tcPr>
                    <a:lnL w="6350" cap="flat" cmpd="sng" algn="ctr">
                      <a:solidFill>
                        <a:srgbClr val="D8E4EC"/>
                      </a:solidFill>
                      <a:prstDash val="solid"/>
                      <a:round/>
                      <a:headEnd type="none" w="med" len="med"/>
                      <a:tailEnd type="none" w="med" len="med"/>
                    </a:lnL>
                    <a:lnR w="6350" cap="flat" cmpd="sng" algn="ctr">
                      <a:solidFill>
                        <a:srgbClr val="D8E4EC"/>
                      </a:solidFill>
                      <a:prstDash val="solid"/>
                      <a:round/>
                      <a:headEnd type="none" w="med" len="med"/>
                      <a:tailEnd type="none" w="med" len="med"/>
                    </a:lnR>
                    <a:lnT w="6350" cap="flat" cmpd="sng" algn="ctr">
                      <a:solidFill>
                        <a:srgbClr val="D8E4EC"/>
                      </a:solidFill>
                      <a:prstDash val="solid"/>
                      <a:round/>
                      <a:headEnd type="none" w="med" len="med"/>
                      <a:tailEnd type="none" w="med" len="med"/>
                    </a:lnT>
                    <a:lnB w="6350" cap="flat" cmpd="sng" algn="ctr">
                      <a:solidFill>
                        <a:srgbClr val="D8E4EC"/>
                      </a:solidFill>
                      <a:prstDash val="solid"/>
                      <a:round/>
                      <a:headEnd type="none" w="med" len="med"/>
                      <a:tailEnd type="none" w="med" len="med"/>
                    </a:lnB>
                  </a:tcPr>
                </a:tc>
                <a:tc>
                  <a:txBody>
                    <a:bodyPr/>
                    <a:lstStyle/>
                    <a:p>
                      <a:pPr marL="0" indent="0" algn="ctr">
                        <a:buNone/>
                      </a:pPr>
                      <a:r>
                        <a:rPr lang="en-US" sz="1100" dirty="0">
                          <a:solidFill>
                            <a:srgbClr val="000000"/>
                          </a:solidFill>
                          <a:latin typeface="Calibri" pitchFamily="34" charset="0"/>
                          <a:ea typeface="Calibri" pitchFamily="34" charset="-122"/>
                          <a:cs typeface="Calibri" pitchFamily="34" charset="-120"/>
                        </a:rPr>
                        <a:t>0.266</a:t>
                      </a:r>
                      <a:endParaRPr lang="en-US" sz="1100" dirty="0">
                        <a:latin typeface="Calibri" charset="0"/>
                        <a:ea typeface="Calibri" charset="0"/>
                        <a:cs typeface="Calibri" charset="0"/>
                      </a:endParaRPr>
                    </a:p>
                  </a:txBody>
                  <a:tcPr>
                    <a:lnL w="6350" cap="flat" cmpd="sng" algn="ctr">
                      <a:solidFill>
                        <a:srgbClr val="D8E4EC"/>
                      </a:solidFill>
                      <a:prstDash val="solid"/>
                      <a:round/>
                      <a:headEnd type="none" w="med" len="med"/>
                      <a:tailEnd type="none" w="med" len="med"/>
                    </a:lnL>
                    <a:lnR w="6350" cap="flat" cmpd="sng" algn="ctr">
                      <a:solidFill>
                        <a:srgbClr val="D8E4EC"/>
                      </a:solidFill>
                      <a:prstDash val="solid"/>
                      <a:round/>
                      <a:headEnd type="none" w="med" len="med"/>
                      <a:tailEnd type="none" w="med" len="med"/>
                    </a:lnR>
                    <a:lnT w="6350" cap="flat" cmpd="sng" algn="ctr">
                      <a:solidFill>
                        <a:srgbClr val="D8E4EC"/>
                      </a:solidFill>
                      <a:prstDash val="solid"/>
                      <a:round/>
                      <a:headEnd type="none" w="med" len="med"/>
                      <a:tailEnd type="none" w="med" len="med"/>
                    </a:lnT>
                    <a:lnB w="6350" cap="flat" cmpd="sng" algn="ctr">
                      <a:solidFill>
                        <a:srgbClr val="D8E4EC"/>
                      </a:solidFill>
                      <a:prstDash val="solid"/>
                      <a:round/>
                      <a:headEnd type="none" w="med" len="med"/>
                      <a:tailEnd type="none" w="med" len="med"/>
                    </a:lnB>
                  </a:tcPr>
                </a:tc>
                <a:tc>
                  <a:txBody>
                    <a:bodyPr/>
                    <a:lstStyle/>
                    <a:p>
                      <a:pPr marL="0" indent="0" algn="ctr">
                        <a:buNone/>
                      </a:pPr>
                      <a:r>
                        <a:rPr lang="en-US" sz="1000" b="1" dirty="0">
                          <a:solidFill>
                            <a:schemeClr val="bg2">
                              <a:lumMod val="75000"/>
                            </a:schemeClr>
                          </a:solidFill>
                          <a:latin typeface="Calibri" pitchFamily="34" charset="0"/>
                          <a:ea typeface="Calibri" pitchFamily="34" charset="-122"/>
                          <a:cs typeface="Calibri" pitchFamily="34" charset="-120"/>
                        </a:rPr>
                        <a:t>0.406</a:t>
                      </a:r>
                      <a:endParaRPr lang="en-US" sz="1000" b="1" dirty="0">
                        <a:solidFill>
                          <a:schemeClr val="bg2">
                            <a:lumMod val="75000"/>
                          </a:schemeClr>
                        </a:solidFill>
                        <a:latin typeface="Calibri" charset="0"/>
                        <a:ea typeface="Calibri" charset="0"/>
                        <a:cs typeface="Calibri" charset="0"/>
                      </a:endParaRPr>
                    </a:p>
                  </a:txBody>
                  <a:tcPr>
                    <a:lnL w="6350" cap="flat" cmpd="sng" algn="ctr">
                      <a:solidFill>
                        <a:srgbClr val="D8E4EC"/>
                      </a:solidFill>
                      <a:prstDash val="solid"/>
                      <a:round/>
                      <a:headEnd type="none" w="med" len="med"/>
                      <a:tailEnd type="none" w="med" len="med"/>
                    </a:lnL>
                    <a:lnR w="6350" cap="flat" cmpd="sng" algn="ctr">
                      <a:solidFill>
                        <a:srgbClr val="D8E4EC"/>
                      </a:solidFill>
                      <a:prstDash val="solid"/>
                      <a:round/>
                      <a:headEnd type="none" w="med" len="med"/>
                      <a:tailEnd type="none" w="med" len="med"/>
                    </a:lnR>
                    <a:lnT w="6350" cap="flat" cmpd="sng" algn="ctr">
                      <a:solidFill>
                        <a:srgbClr val="D8E4EC"/>
                      </a:solidFill>
                      <a:prstDash val="solid"/>
                      <a:round/>
                      <a:headEnd type="none" w="med" len="med"/>
                      <a:tailEnd type="none" w="med" len="med"/>
                    </a:lnT>
                    <a:lnB w="6350" cap="flat" cmpd="sng" algn="ctr">
                      <a:solidFill>
                        <a:srgbClr val="D8E4EC"/>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11" name="Shape 6"/>
          <p:cNvSpPr/>
          <p:nvPr/>
        </p:nvSpPr>
        <p:spPr>
          <a:xfrm>
            <a:off x="5074920" y="4315968"/>
            <a:ext cx="3749040" cy="621792"/>
          </a:xfrm>
          <a:prstGeom prst="rect">
            <a:avLst/>
          </a:prstGeom>
          <a:solidFill>
            <a:srgbClr val="E8F8F5"/>
          </a:solidFill>
          <a:ln w="7620">
            <a:solidFill>
              <a:srgbClr val="00A896"/>
            </a:solidFill>
            <a:prstDash val="solid"/>
          </a:ln>
        </p:spPr>
        <p:txBody>
          <a:bodyPr/>
          <a:lstStyle/>
          <a:p>
            <a:endParaRPr lang="pt-PT"/>
          </a:p>
        </p:txBody>
      </p:sp>
      <p:sp>
        <p:nvSpPr>
          <p:cNvPr id="12" name="Text 7"/>
          <p:cNvSpPr/>
          <p:nvPr/>
        </p:nvSpPr>
        <p:spPr>
          <a:xfrm>
            <a:off x="5136132" y="4335843"/>
            <a:ext cx="3749040" cy="576072"/>
          </a:xfrm>
          <a:prstGeom prst="rect">
            <a:avLst/>
          </a:prstGeom>
          <a:noFill/>
          <a:ln/>
        </p:spPr>
        <p:txBody>
          <a:bodyPr wrap="square" lIns="0" tIns="0" rIns="0" bIns="0" rtlCol="0" anchor="ctr"/>
          <a:lstStyle/>
          <a:p>
            <a:pPr marL="0" indent="0">
              <a:buNone/>
            </a:pPr>
            <a:r>
              <a:rPr lang="en-US" sz="1000" dirty="0">
                <a:solidFill>
                  <a:srgbClr val="1A2B3C"/>
                </a:solidFill>
                <a:latin typeface="Calibri" pitchFamily="34" charset="0"/>
                <a:ea typeface="Calibri" pitchFamily="34" charset="-122"/>
                <a:cs typeface="Calibri" pitchFamily="34" charset="-120"/>
              </a:rPr>
              <a:t>&lt; 0.05 difference on all channels between our data set and ImageNet </a:t>
            </a:r>
          </a:p>
          <a:p>
            <a:r>
              <a:rPr lang="en-US" sz="1000" dirty="0">
                <a:solidFill>
                  <a:srgbClr val="1A2B3C"/>
                </a:solidFill>
                <a:latin typeface="Calibri" pitchFamily="34" charset="0"/>
                <a:ea typeface="Calibri" pitchFamily="34" charset="-122"/>
                <a:cs typeface="Calibri" pitchFamily="34" charset="-120"/>
              </a:rPr>
              <a:t>   - Stats computed from train split only: no val leakage.</a:t>
            </a:r>
          </a:p>
          <a:p>
            <a:r>
              <a:rPr lang="en-US" sz="1000" dirty="0">
                <a:solidFill>
                  <a:srgbClr val="1A2B3C"/>
                </a:solidFill>
                <a:latin typeface="Calibri" pitchFamily="34" charset="0"/>
                <a:ea typeface="Calibri" pitchFamily="34" charset="-122"/>
                <a:cs typeface="Calibri" pitchFamily="34" charset="-120"/>
              </a:rPr>
              <a:t>   - ImageNet </a:t>
            </a:r>
            <a:r>
              <a:rPr lang="en-US" sz="1000" dirty="0" err="1">
                <a:solidFill>
                  <a:srgbClr val="1A2B3C"/>
                </a:solidFill>
                <a:latin typeface="Calibri" pitchFamily="34" charset="0"/>
                <a:ea typeface="Calibri" pitchFamily="34" charset="-122"/>
                <a:cs typeface="Calibri" pitchFamily="34" charset="-120"/>
              </a:rPr>
              <a:t>normalisation</a:t>
            </a:r>
            <a:r>
              <a:rPr lang="en-US" sz="1000" dirty="0">
                <a:solidFill>
                  <a:srgbClr val="1A2B3C"/>
                </a:solidFill>
                <a:latin typeface="Calibri" pitchFamily="34" charset="0"/>
                <a:ea typeface="Calibri" pitchFamily="34" charset="-122"/>
                <a:cs typeface="Calibri" pitchFamily="34" charset="-120"/>
              </a:rPr>
              <a:t> is acceptable, and possibly useful for task 3. </a:t>
            </a:r>
            <a:endParaRPr lang="en-US" sz="1000" dirty="0"/>
          </a:p>
        </p:txBody>
      </p:sp>
      <p:sp>
        <p:nvSpPr>
          <p:cNvPr id="13" name="Shape 2">
            <a:extLst>
              <a:ext uri="{FF2B5EF4-FFF2-40B4-BE49-F238E27FC236}">
                <a16:creationId xmlns:a16="http://schemas.microsoft.com/office/drawing/2014/main" id="{38A8D6A8-AD5B-DFFE-60A6-0C54690D0F66}"/>
              </a:ext>
            </a:extLst>
          </p:cNvPr>
          <p:cNvSpPr/>
          <p:nvPr/>
        </p:nvSpPr>
        <p:spPr>
          <a:xfrm>
            <a:off x="7498079" y="82296"/>
            <a:ext cx="1557633" cy="329184"/>
          </a:xfrm>
          <a:prstGeom prst="rect">
            <a:avLst/>
          </a:prstGeom>
          <a:solidFill>
            <a:srgbClr val="1C3A52"/>
          </a:solidFill>
          <a:ln w="12700">
            <a:solidFill>
              <a:srgbClr val="1C3A52"/>
            </a:solidFill>
            <a:prstDash val="solid"/>
          </a:ln>
        </p:spPr>
        <p:txBody>
          <a:bodyPr/>
          <a:lstStyle/>
          <a:p>
            <a:pPr algn="ctr"/>
            <a:r>
              <a:rPr lang="en-US" b="1" dirty="0"/>
              <a:t>EDA</a:t>
            </a:r>
            <a:endParaRPr lang="pt-PT" b="1" dirty="0"/>
          </a:p>
        </p:txBody>
      </p:sp>
      <p:sp>
        <p:nvSpPr>
          <p:cNvPr id="14" name="Rectangle: Rounded Corners 13">
            <a:extLst>
              <a:ext uri="{FF2B5EF4-FFF2-40B4-BE49-F238E27FC236}">
                <a16:creationId xmlns:a16="http://schemas.microsoft.com/office/drawing/2014/main" id="{99F783A6-E811-D1C2-14F7-FA91D7440BEB}"/>
              </a:ext>
            </a:extLst>
          </p:cNvPr>
          <p:cNvSpPr/>
          <p:nvPr/>
        </p:nvSpPr>
        <p:spPr>
          <a:xfrm>
            <a:off x="7088176" y="4253"/>
            <a:ext cx="470123" cy="470912"/>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2800" b="1" dirty="0"/>
              <a:t>1</a:t>
            </a:r>
            <a:endParaRPr lang="pt-PT" sz="1600" b="1" dirty="0"/>
          </a:p>
        </p:txBody>
      </p:sp>
      <p:sp>
        <p:nvSpPr>
          <p:cNvPr id="15" name="TextBox 14">
            <a:extLst>
              <a:ext uri="{FF2B5EF4-FFF2-40B4-BE49-F238E27FC236}">
                <a16:creationId xmlns:a16="http://schemas.microsoft.com/office/drawing/2014/main" id="{1F16FE53-248E-A4A6-82B9-ACD4A4EDEF7F}"/>
              </a:ext>
            </a:extLst>
          </p:cNvPr>
          <p:cNvSpPr txBox="1"/>
          <p:nvPr/>
        </p:nvSpPr>
        <p:spPr>
          <a:xfrm>
            <a:off x="306627" y="1033272"/>
            <a:ext cx="8517334" cy="262380"/>
          </a:xfrm>
          <a:prstGeom prst="rect">
            <a:avLst/>
          </a:prstGeom>
          <a:solidFill>
            <a:schemeClr val="tx1"/>
          </a:solidFill>
        </p:spPr>
        <p:txBody>
          <a:bodyPr wrap="square">
            <a:spAutoFit/>
          </a:bodyPr>
          <a:lstStyle/>
          <a:p>
            <a:pPr>
              <a:lnSpc>
                <a:spcPts val="1425"/>
              </a:lnSpc>
            </a:pPr>
            <a:r>
              <a:rPr lang="pt-PT" sz="1100" dirty="0">
                <a:solidFill>
                  <a:schemeClr val="bg1"/>
                </a:solidFill>
                <a:latin typeface="Berlin Sans FB" panose="020E0602020502020306" pitchFamily="34" charset="0"/>
              </a:rPr>
              <a:t>🐛 Bug	 ⚔️ </a:t>
            </a:r>
            <a:r>
              <a:rPr lang="pt-PT" sz="1100" dirty="0" err="1">
                <a:solidFill>
                  <a:schemeClr val="bg1"/>
                </a:solidFill>
                <a:latin typeface="Berlin Sans FB" panose="020E0602020502020306" pitchFamily="34" charset="0"/>
              </a:rPr>
              <a:t>Fighting</a:t>
            </a:r>
            <a:r>
              <a:rPr lang="pt-PT" sz="1100" dirty="0">
                <a:solidFill>
                  <a:schemeClr val="bg1"/>
                </a:solidFill>
                <a:latin typeface="Berlin Sans FB" panose="020E0602020502020306" pitchFamily="34" charset="0"/>
              </a:rPr>
              <a:t>	     </a:t>
            </a:r>
            <a:r>
              <a:rPr lang="pt-PT" sz="1100" b="0" dirty="0">
                <a:solidFill>
                  <a:schemeClr val="bg1"/>
                </a:solidFill>
                <a:effectLst/>
                <a:latin typeface="Berlin Sans FB" panose="020E0602020502020306" pitchFamily="34" charset="0"/>
              </a:rPr>
              <a:t>🔥 </a:t>
            </a:r>
            <a:r>
              <a:rPr lang="pt-PT" sz="1100" b="0" dirty="0" err="1">
                <a:solidFill>
                  <a:schemeClr val="bg1"/>
                </a:solidFill>
                <a:effectLst/>
                <a:latin typeface="Berlin Sans FB" panose="020E0602020502020306" pitchFamily="34" charset="0"/>
              </a:rPr>
              <a:t>Fire</a:t>
            </a:r>
            <a:r>
              <a:rPr lang="pt-PT" sz="1100" b="0" dirty="0">
                <a:solidFill>
                  <a:schemeClr val="bg1"/>
                </a:solidFill>
                <a:effectLst/>
                <a:latin typeface="Berlin Sans FB" panose="020E0602020502020306" pitchFamily="34" charset="0"/>
              </a:rPr>
              <a:t> 	    </a:t>
            </a:r>
            <a:r>
              <a:rPr lang="pt-PT" sz="1100" dirty="0">
                <a:solidFill>
                  <a:schemeClr val="bg1"/>
                </a:solidFill>
                <a:latin typeface="Berlin Sans FB" panose="020E0602020502020306" pitchFamily="34" charset="0"/>
              </a:rPr>
              <a:t>🌿 </a:t>
            </a:r>
            <a:r>
              <a:rPr lang="pt-PT" sz="1100" dirty="0" err="1">
                <a:solidFill>
                  <a:schemeClr val="bg1"/>
                </a:solidFill>
                <a:latin typeface="Berlin Sans FB" panose="020E0602020502020306" pitchFamily="34" charset="0"/>
              </a:rPr>
              <a:t>Grass</a:t>
            </a:r>
            <a:r>
              <a:rPr lang="pt-PT" sz="1100" dirty="0">
                <a:solidFill>
                  <a:schemeClr val="bg1"/>
                </a:solidFill>
                <a:latin typeface="Berlin Sans FB" panose="020E0602020502020306" pitchFamily="34" charset="0"/>
              </a:rPr>
              <a:t>            🌍 </a:t>
            </a:r>
            <a:r>
              <a:rPr lang="pt-PT" sz="1100" dirty="0" err="1">
                <a:solidFill>
                  <a:schemeClr val="bg1"/>
                </a:solidFill>
                <a:latin typeface="Berlin Sans FB" panose="020E0602020502020306" pitchFamily="34" charset="0"/>
              </a:rPr>
              <a:t>Ground</a:t>
            </a:r>
            <a:r>
              <a:rPr lang="pt-PT" sz="1100" dirty="0">
                <a:solidFill>
                  <a:schemeClr val="bg1"/>
                </a:solidFill>
                <a:latin typeface="Berlin Sans FB" panose="020E0602020502020306" pitchFamily="34" charset="0"/>
              </a:rPr>
              <a:t>        </a:t>
            </a:r>
            <a:r>
              <a:rPr lang="pt-PT" sz="1100" b="0" dirty="0">
                <a:solidFill>
                  <a:schemeClr val="bg1"/>
                </a:solidFill>
                <a:effectLst/>
                <a:latin typeface="Berlin Sans FB" panose="020E0602020502020306" pitchFamily="34" charset="0"/>
              </a:rPr>
              <a:t>😐 Normal         </a:t>
            </a:r>
            <a:r>
              <a:rPr lang="pt-PT" sz="1100" dirty="0">
                <a:solidFill>
                  <a:schemeClr val="bg1"/>
                </a:solidFill>
                <a:latin typeface="Berlin Sans FB" panose="020E0602020502020306" pitchFamily="34" charset="0"/>
              </a:rPr>
              <a:t>☠️ </a:t>
            </a:r>
            <a:r>
              <a:rPr lang="pt-PT" sz="1100" dirty="0" err="1">
                <a:solidFill>
                  <a:schemeClr val="bg1"/>
                </a:solidFill>
                <a:latin typeface="Berlin Sans FB" panose="020E0602020502020306" pitchFamily="34" charset="0"/>
              </a:rPr>
              <a:t>Poison</a:t>
            </a:r>
            <a:r>
              <a:rPr lang="pt-PT" sz="1100" dirty="0">
                <a:solidFill>
                  <a:schemeClr val="bg1"/>
                </a:solidFill>
                <a:latin typeface="Berlin Sans FB" panose="020E0602020502020306" pitchFamily="34" charset="0"/>
              </a:rPr>
              <a:t>           🗿 </a:t>
            </a:r>
            <a:r>
              <a:rPr lang="pt-PT" sz="1100" b="0" dirty="0">
                <a:solidFill>
                  <a:schemeClr val="bg1"/>
                </a:solidFill>
                <a:effectLst/>
                <a:latin typeface="Berlin Sans FB" panose="020E0602020502020306" pitchFamily="34" charset="0"/>
              </a:rPr>
              <a:t>Rock            </a:t>
            </a:r>
            <a:r>
              <a:rPr lang="pt-PT" sz="1100" dirty="0">
                <a:solidFill>
                  <a:schemeClr val="bg1"/>
                </a:solidFill>
                <a:latin typeface="Berlin Sans FB" panose="020E0602020502020306" pitchFamily="34" charset="0"/>
              </a:rPr>
              <a:t>💧 </a:t>
            </a:r>
            <a:r>
              <a:rPr lang="pt-PT" sz="1100" dirty="0" err="1">
                <a:solidFill>
                  <a:schemeClr val="bg1"/>
                </a:solidFill>
                <a:latin typeface="Berlin Sans FB" panose="020E0602020502020306" pitchFamily="34" charset="0"/>
              </a:rPr>
              <a:t>Water</a:t>
            </a:r>
            <a:endParaRPr lang="pt-PT" sz="1100" b="0" dirty="0">
              <a:solidFill>
                <a:schemeClr val="bg1"/>
              </a:solidFill>
              <a:effectLst/>
              <a:latin typeface="Berlin Sans FB" panose="020E0602020502020306"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4F7F9"/>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0A896"/>
          </a:solidFill>
          <a:ln w="12700">
            <a:solidFill>
              <a:srgbClr val="00A896"/>
            </a:solidFill>
            <a:prstDash val="solid"/>
          </a:ln>
        </p:spPr>
        <p:txBody>
          <a:bodyPr/>
          <a:lstStyle/>
          <a:p>
            <a:endParaRPr lang="pt-PT"/>
          </a:p>
        </p:txBody>
      </p:sp>
      <p:sp>
        <p:nvSpPr>
          <p:cNvPr id="3" name="Text 1"/>
          <p:cNvSpPr/>
          <p:nvPr/>
        </p:nvSpPr>
        <p:spPr>
          <a:xfrm>
            <a:off x="457200" y="109728"/>
            <a:ext cx="7772400" cy="530352"/>
          </a:xfrm>
          <a:prstGeom prst="rect">
            <a:avLst/>
          </a:prstGeom>
          <a:noFill/>
          <a:ln/>
        </p:spPr>
        <p:txBody>
          <a:bodyPr wrap="square" lIns="0" tIns="0" rIns="0" bIns="0" rtlCol="0" anchor="ctr"/>
          <a:lstStyle/>
          <a:p>
            <a:pPr marL="0" indent="0">
              <a:buNone/>
            </a:pPr>
            <a:r>
              <a:rPr lang="en-US" sz="2200" b="1" dirty="0">
                <a:solidFill>
                  <a:srgbClr val="0D1B2A"/>
                </a:solidFill>
                <a:latin typeface="Trebuchet MS" pitchFamily="34" charset="0"/>
                <a:ea typeface="Trebuchet MS" pitchFamily="34" charset="-122"/>
                <a:cs typeface="Trebuchet MS" pitchFamily="34" charset="-120"/>
              </a:rPr>
              <a:t>Pixel Intensity Distribution</a:t>
            </a:r>
            <a:endParaRPr lang="en-US" sz="2200" dirty="0"/>
          </a:p>
        </p:txBody>
      </p:sp>
      <p:sp>
        <p:nvSpPr>
          <p:cNvPr id="4" name="Shape 2"/>
          <p:cNvSpPr/>
          <p:nvPr/>
        </p:nvSpPr>
        <p:spPr>
          <a:xfrm>
            <a:off x="7863840" y="109728"/>
            <a:ext cx="1097280" cy="301752"/>
          </a:xfrm>
          <a:prstGeom prst="rect">
            <a:avLst/>
          </a:prstGeom>
          <a:solidFill>
            <a:srgbClr val="1C3A52"/>
          </a:solidFill>
          <a:ln w="12700">
            <a:solidFill>
              <a:srgbClr val="1C3A52"/>
            </a:solidFill>
            <a:prstDash val="solid"/>
          </a:ln>
        </p:spPr>
        <p:txBody>
          <a:bodyPr/>
          <a:lstStyle/>
          <a:p>
            <a:endParaRPr lang="pt-PT"/>
          </a:p>
        </p:txBody>
      </p:sp>
      <p:sp>
        <p:nvSpPr>
          <p:cNvPr id="5" name="Text 3"/>
          <p:cNvSpPr/>
          <p:nvPr/>
        </p:nvSpPr>
        <p:spPr>
          <a:xfrm>
            <a:off x="7863840" y="109728"/>
            <a:ext cx="1097280" cy="301752"/>
          </a:xfrm>
          <a:prstGeom prst="rect">
            <a:avLst/>
          </a:prstGeom>
          <a:noFill/>
          <a:ln/>
        </p:spPr>
        <p:txBody>
          <a:bodyPr wrap="square" lIns="0" tIns="0" rIns="0" bIns="0" rtlCol="0" anchor="ctr"/>
          <a:lstStyle/>
          <a:p>
            <a:pPr marL="0" indent="0" algn="ctr">
              <a:buNone/>
            </a:pPr>
            <a:r>
              <a:rPr lang="en-US" sz="1000" b="1" dirty="0">
                <a:solidFill>
                  <a:srgbClr val="FFFFFF"/>
                </a:solidFill>
              </a:rPr>
              <a:t>EDA</a:t>
            </a:r>
            <a:endParaRPr lang="en-US" sz="1000" dirty="0"/>
          </a:p>
        </p:txBody>
      </p:sp>
      <p:sp>
        <p:nvSpPr>
          <p:cNvPr id="7" name="Shape 4"/>
          <p:cNvSpPr/>
          <p:nvPr/>
        </p:nvSpPr>
        <p:spPr>
          <a:xfrm>
            <a:off x="5745897" y="703398"/>
            <a:ext cx="3154680" cy="1234440"/>
          </a:xfrm>
          <a:prstGeom prst="rect">
            <a:avLst/>
          </a:prstGeom>
          <a:solidFill>
            <a:srgbClr val="FFFFFF"/>
          </a:solidFill>
          <a:ln w="6350">
            <a:solidFill>
              <a:srgbClr val="D8E4EC"/>
            </a:solidFill>
            <a:prstDash val="solid"/>
          </a:ln>
          <a:effectLst>
            <a:outerShdw blurRad="101600" dist="38100" dir="8100000" algn="bl" rotWithShape="0">
              <a:srgbClr val="000000">
                <a:alpha val="10000"/>
              </a:srgbClr>
            </a:outerShdw>
          </a:effectLst>
        </p:spPr>
        <p:txBody>
          <a:bodyPr/>
          <a:lstStyle/>
          <a:p>
            <a:endParaRPr lang="pt-PT"/>
          </a:p>
        </p:txBody>
      </p:sp>
      <p:sp>
        <p:nvSpPr>
          <p:cNvPr id="8" name="Shape 5"/>
          <p:cNvSpPr/>
          <p:nvPr/>
        </p:nvSpPr>
        <p:spPr>
          <a:xfrm>
            <a:off x="5745897" y="703398"/>
            <a:ext cx="73152" cy="1234440"/>
          </a:xfrm>
          <a:prstGeom prst="rect">
            <a:avLst/>
          </a:prstGeom>
          <a:solidFill>
            <a:srgbClr val="00A896"/>
          </a:solidFill>
          <a:ln w="12700">
            <a:solidFill>
              <a:srgbClr val="00A896"/>
            </a:solidFill>
            <a:prstDash val="solid"/>
          </a:ln>
        </p:spPr>
        <p:txBody>
          <a:bodyPr/>
          <a:lstStyle/>
          <a:p>
            <a:endParaRPr lang="pt-PT"/>
          </a:p>
        </p:txBody>
      </p:sp>
      <p:sp>
        <p:nvSpPr>
          <p:cNvPr id="9" name="Text 6"/>
          <p:cNvSpPr/>
          <p:nvPr/>
        </p:nvSpPr>
        <p:spPr>
          <a:xfrm>
            <a:off x="5883057" y="758262"/>
            <a:ext cx="2834640" cy="320040"/>
          </a:xfrm>
          <a:prstGeom prst="rect">
            <a:avLst/>
          </a:prstGeom>
          <a:noFill/>
          <a:ln/>
        </p:spPr>
        <p:txBody>
          <a:bodyPr wrap="square" lIns="0" tIns="0" rIns="0" bIns="0" rtlCol="0" anchor="ctr"/>
          <a:lstStyle/>
          <a:p>
            <a:pPr marL="0" indent="0">
              <a:buNone/>
            </a:pPr>
            <a:r>
              <a:rPr lang="en-US" sz="1200" b="1" dirty="0">
                <a:solidFill>
                  <a:srgbClr val="0D1B2A"/>
                </a:solidFill>
                <a:latin typeface="Trebuchet MS" pitchFamily="34" charset="0"/>
                <a:ea typeface="Trebuchet MS" pitchFamily="34" charset="-122"/>
                <a:cs typeface="Trebuchet MS" pitchFamily="34" charset="-120"/>
              </a:rPr>
              <a:t>Bimodal distribution</a:t>
            </a:r>
            <a:endParaRPr lang="en-US" sz="1200" dirty="0"/>
          </a:p>
        </p:txBody>
      </p:sp>
      <p:sp>
        <p:nvSpPr>
          <p:cNvPr id="10" name="Text 7"/>
          <p:cNvSpPr/>
          <p:nvPr/>
        </p:nvSpPr>
        <p:spPr>
          <a:xfrm>
            <a:off x="5883057" y="1105734"/>
            <a:ext cx="2834640" cy="768096"/>
          </a:xfrm>
          <a:prstGeom prst="rect">
            <a:avLst/>
          </a:prstGeom>
          <a:noFill/>
          <a:ln/>
        </p:spPr>
        <p:txBody>
          <a:bodyPr wrap="square" lIns="0" tIns="0" rIns="0" bIns="0" rtlCol="0" anchor="ctr"/>
          <a:lstStyle/>
          <a:p>
            <a:pPr marL="0" indent="0">
              <a:buNone/>
            </a:pPr>
            <a:r>
              <a:rPr lang="en-US" sz="1200" dirty="0">
                <a:solidFill>
                  <a:srgbClr val="3D5A73"/>
                </a:solidFill>
                <a:latin typeface="Calibri" pitchFamily="34" charset="0"/>
                <a:ea typeface="Calibri" pitchFamily="34" charset="-122"/>
                <a:cs typeface="Calibri" pitchFamily="34" charset="-120"/>
              </a:rPr>
              <a:t>Two peaks: dark backgrounds (~50) and bright sprites (~200). Pokémon dataset is brighter overall than ImageNet.</a:t>
            </a:r>
            <a:endParaRPr lang="en-US" sz="1200" dirty="0"/>
          </a:p>
        </p:txBody>
      </p:sp>
      <p:sp>
        <p:nvSpPr>
          <p:cNvPr id="11" name="Shape 8"/>
          <p:cNvSpPr/>
          <p:nvPr/>
        </p:nvSpPr>
        <p:spPr>
          <a:xfrm>
            <a:off x="5745897" y="2093286"/>
            <a:ext cx="3154680" cy="2830927"/>
          </a:xfrm>
          <a:prstGeom prst="rect">
            <a:avLst/>
          </a:prstGeom>
          <a:solidFill>
            <a:srgbClr val="FFFFFF"/>
          </a:solidFill>
          <a:ln w="6350">
            <a:solidFill>
              <a:srgbClr val="D8E4EC"/>
            </a:solidFill>
            <a:prstDash val="solid"/>
          </a:ln>
          <a:effectLst>
            <a:outerShdw blurRad="101600" dist="38100" dir="8100000" algn="bl" rotWithShape="0">
              <a:srgbClr val="000000">
                <a:alpha val="10000"/>
              </a:srgbClr>
            </a:outerShdw>
          </a:effectLst>
        </p:spPr>
        <p:txBody>
          <a:bodyPr/>
          <a:lstStyle/>
          <a:p>
            <a:endParaRPr lang="pt-PT"/>
          </a:p>
        </p:txBody>
      </p:sp>
      <p:sp>
        <p:nvSpPr>
          <p:cNvPr id="12" name="Shape 9"/>
          <p:cNvSpPr/>
          <p:nvPr/>
        </p:nvSpPr>
        <p:spPr>
          <a:xfrm>
            <a:off x="5745897" y="2093286"/>
            <a:ext cx="73152" cy="2830927"/>
          </a:xfrm>
          <a:prstGeom prst="rect">
            <a:avLst/>
          </a:prstGeom>
          <a:solidFill>
            <a:srgbClr val="61B2E9"/>
          </a:solidFill>
          <a:ln w="12700">
            <a:noFill/>
            <a:prstDash val="solid"/>
          </a:ln>
        </p:spPr>
        <p:txBody>
          <a:bodyPr/>
          <a:lstStyle/>
          <a:p>
            <a:endParaRPr lang="pt-PT"/>
          </a:p>
        </p:txBody>
      </p:sp>
      <p:sp>
        <p:nvSpPr>
          <p:cNvPr id="13" name="Text 10"/>
          <p:cNvSpPr/>
          <p:nvPr/>
        </p:nvSpPr>
        <p:spPr>
          <a:xfrm>
            <a:off x="5883057" y="2148150"/>
            <a:ext cx="2834640" cy="320040"/>
          </a:xfrm>
          <a:prstGeom prst="rect">
            <a:avLst/>
          </a:prstGeom>
          <a:noFill/>
          <a:ln/>
        </p:spPr>
        <p:txBody>
          <a:bodyPr wrap="square" lIns="0" tIns="0" rIns="0" bIns="0" rtlCol="0" anchor="ctr"/>
          <a:lstStyle/>
          <a:p>
            <a:pPr marL="0" indent="0">
              <a:buNone/>
            </a:pPr>
            <a:r>
              <a:rPr lang="en-US" sz="1200" b="1" dirty="0">
                <a:solidFill>
                  <a:srgbClr val="0D1B2A"/>
                </a:solidFill>
                <a:latin typeface="Trebuchet MS" pitchFamily="34" charset="0"/>
                <a:ea typeface="Trebuchet MS" pitchFamily="34" charset="-122"/>
                <a:cs typeface="Trebuchet MS" pitchFamily="34" charset="-120"/>
              </a:rPr>
              <a:t>B channel prominent at high values</a:t>
            </a:r>
            <a:endParaRPr lang="en-US" sz="1200" dirty="0"/>
          </a:p>
        </p:txBody>
      </p:sp>
      <p:sp>
        <p:nvSpPr>
          <p:cNvPr id="14" name="Text 11"/>
          <p:cNvSpPr/>
          <p:nvPr/>
        </p:nvSpPr>
        <p:spPr>
          <a:xfrm>
            <a:off x="5883057" y="2308170"/>
            <a:ext cx="2834640" cy="768096"/>
          </a:xfrm>
          <a:prstGeom prst="rect">
            <a:avLst/>
          </a:prstGeom>
          <a:noFill/>
          <a:ln/>
        </p:spPr>
        <p:txBody>
          <a:bodyPr wrap="square" lIns="0" tIns="0" rIns="0" bIns="0" rtlCol="0" anchor="ctr"/>
          <a:lstStyle/>
          <a:p>
            <a:pPr marL="0" indent="0">
              <a:buNone/>
            </a:pPr>
            <a:r>
              <a:rPr lang="en-US" sz="1200" dirty="0">
                <a:solidFill>
                  <a:srgbClr val="3D5A73"/>
                </a:solidFill>
                <a:latin typeface="Calibri" pitchFamily="34" charset="0"/>
                <a:ea typeface="Calibri" pitchFamily="34" charset="-122"/>
                <a:cs typeface="Calibri" pitchFamily="34" charset="-120"/>
              </a:rPr>
              <a:t>Blue channel spikes above R and G near value 200  — confirms blue bias (Water...)</a:t>
            </a:r>
            <a:endParaRPr lang="en-US" sz="1200" dirty="0"/>
          </a:p>
        </p:txBody>
      </p:sp>
      <p:sp>
        <p:nvSpPr>
          <p:cNvPr id="19" name="Shape 2">
            <a:extLst>
              <a:ext uri="{FF2B5EF4-FFF2-40B4-BE49-F238E27FC236}">
                <a16:creationId xmlns:a16="http://schemas.microsoft.com/office/drawing/2014/main" id="{4A2F4858-2B4E-F60A-6464-8E5498DD17FC}"/>
              </a:ext>
            </a:extLst>
          </p:cNvPr>
          <p:cNvSpPr/>
          <p:nvPr/>
        </p:nvSpPr>
        <p:spPr>
          <a:xfrm>
            <a:off x="7498079" y="82296"/>
            <a:ext cx="1557633" cy="329184"/>
          </a:xfrm>
          <a:prstGeom prst="rect">
            <a:avLst/>
          </a:prstGeom>
          <a:solidFill>
            <a:srgbClr val="1C3A52"/>
          </a:solidFill>
          <a:ln w="12700">
            <a:solidFill>
              <a:srgbClr val="1C3A52"/>
            </a:solidFill>
            <a:prstDash val="solid"/>
          </a:ln>
        </p:spPr>
        <p:txBody>
          <a:bodyPr/>
          <a:lstStyle/>
          <a:p>
            <a:pPr algn="ctr"/>
            <a:r>
              <a:rPr lang="en-US" b="1" dirty="0"/>
              <a:t>EDA</a:t>
            </a:r>
            <a:endParaRPr lang="pt-PT" b="1" dirty="0"/>
          </a:p>
        </p:txBody>
      </p:sp>
      <p:sp>
        <p:nvSpPr>
          <p:cNvPr id="20" name="Rectangle: Rounded Corners 19">
            <a:extLst>
              <a:ext uri="{FF2B5EF4-FFF2-40B4-BE49-F238E27FC236}">
                <a16:creationId xmlns:a16="http://schemas.microsoft.com/office/drawing/2014/main" id="{35889E4C-B4E3-3E35-3D0F-D1AFC8C0B528}"/>
              </a:ext>
            </a:extLst>
          </p:cNvPr>
          <p:cNvSpPr/>
          <p:nvPr/>
        </p:nvSpPr>
        <p:spPr>
          <a:xfrm>
            <a:off x="7088176" y="4253"/>
            <a:ext cx="470123" cy="470912"/>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2800" b="1" dirty="0"/>
              <a:t>1</a:t>
            </a:r>
            <a:endParaRPr lang="pt-PT" sz="1600" b="1" dirty="0"/>
          </a:p>
        </p:txBody>
      </p:sp>
      <p:pic>
        <p:nvPicPr>
          <p:cNvPr id="22" name="Picture 21">
            <a:extLst>
              <a:ext uri="{FF2B5EF4-FFF2-40B4-BE49-F238E27FC236}">
                <a16:creationId xmlns:a16="http://schemas.microsoft.com/office/drawing/2014/main" id="{8B965BCC-D636-2C74-C6C9-87F68CA6EDA5}"/>
              </a:ext>
            </a:extLst>
          </p:cNvPr>
          <p:cNvPicPr>
            <a:picLocks noChangeAspect="1"/>
          </p:cNvPicPr>
          <p:nvPr/>
        </p:nvPicPr>
        <p:blipFill>
          <a:blip r:embed="rId3"/>
          <a:stretch>
            <a:fillRect/>
          </a:stretch>
        </p:blipFill>
        <p:spPr>
          <a:xfrm>
            <a:off x="266073" y="1307592"/>
            <a:ext cx="5357488" cy="2642049"/>
          </a:xfrm>
          <a:prstGeom prst="rect">
            <a:avLst/>
          </a:prstGeom>
        </p:spPr>
      </p:pic>
      <p:pic>
        <p:nvPicPr>
          <p:cNvPr id="24" name="Picture 23">
            <a:extLst>
              <a:ext uri="{FF2B5EF4-FFF2-40B4-BE49-F238E27FC236}">
                <a16:creationId xmlns:a16="http://schemas.microsoft.com/office/drawing/2014/main" id="{5AB13EB0-BECB-44AE-DE79-7DBAA15D8838}"/>
              </a:ext>
            </a:extLst>
          </p:cNvPr>
          <p:cNvPicPr>
            <a:picLocks noChangeAspect="1"/>
          </p:cNvPicPr>
          <p:nvPr/>
        </p:nvPicPr>
        <p:blipFill>
          <a:blip r:embed="rId4"/>
          <a:stretch>
            <a:fillRect/>
          </a:stretch>
        </p:blipFill>
        <p:spPr>
          <a:xfrm>
            <a:off x="5964577" y="2968738"/>
            <a:ext cx="2893314" cy="1798381"/>
          </a:xfrm>
          <a:prstGeom prst="rect">
            <a:avLst/>
          </a:prstGeom>
          <a:effectLst/>
        </p:spPr>
      </p:pic>
      <p:sp>
        <p:nvSpPr>
          <p:cNvPr id="25" name="TextBox 24">
            <a:extLst>
              <a:ext uri="{FF2B5EF4-FFF2-40B4-BE49-F238E27FC236}">
                <a16:creationId xmlns:a16="http://schemas.microsoft.com/office/drawing/2014/main" id="{E43B9399-FAD0-58DC-DB83-B20432D6A3A6}"/>
              </a:ext>
            </a:extLst>
          </p:cNvPr>
          <p:cNvSpPr txBox="1"/>
          <p:nvPr/>
        </p:nvSpPr>
        <p:spPr>
          <a:xfrm>
            <a:off x="5782474" y="3054265"/>
            <a:ext cx="2173165" cy="1528688"/>
          </a:xfrm>
          <a:prstGeom prst="rect">
            <a:avLst/>
          </a:prstGeom>
          <a:noFill/>
        </p:spPr>
        <p:txBody>
          <a:bodyPr wrap="square">
            <a:spAutoFit/>
          </a:bodyPr>
          <a:lstStyle/>
          <a:p>
            <a:pPr>
              <a:lnSpc>
                <a:spcPct val="150000"/>
              </a:lnSpc>
            </a:pPr>
            <a:r>
              <a:rPr lang="pt-PT" sz="700" dirty="0">
                <a:solidFill>
                  <a:schemeClr val="bg1"/>
                </a:solidFill>
                <a:latin typeface="Consolas" panose="020B0609020204030204" pitchFamily="49" charset="0"/>
              </a:rPr>
              <a:t>💧</a:t>
            </a:r>
          </a:p>
          <a:p>
            <a:pPr>
              <a:lnSpc>
                <a:spcPct val="150000"/>
              </a:lnSpc>
            </a:pPr>
            <a:r>
              <a:rPr lang="pt-PT" sz="700" dirty="0">
                <a:solidFill>
                  <a:schemeClr val="bg1"/>
                </a:solidFill>
                <a:latin typeface="Consolas" panose="020B0609020204030204" pitchFamily="49" charset="0"/>
              </a:rPr>
              <a:t>😐</a:t>
            </a:r>
          </a:p>
          <a:p>
            <a:pPr>
              <a:lnSpc>
                <a:spcPct val="150000"/>
              </a:lnSpc>
            </a:pPr>
            <a:r>
              <a:rPr lang="pt-PT" sz="700" dirty="0">
                <a:solidFill>
                  <a:schemeClr val="bg1"/>
                </a:solidFill>
                <a:latin typeface="Consolas" panose="020B0609020204030204" pitchFamily="49" charset="0"/>
              </a:rPr>
              <a:t>☠️</a:t>
            </a:r>
          </a:p>
          <a:p>
            <a:pPr>
              <a:lnSpc>
                <a:spcPct val="150000"/>
              </a:lnSpc>
            </a:pPr>
            <a:r>
              <a:rPr lang="pt-PT" sz="700" dirty="0">
                <a:solidFill>
                  <a:schemeClr val="bg1"/>
                </a:solidFill>
                <a:latin typeface="Consolas" panose="020B0609020204030204" pitchFamily="49" charset="0"/>
              </a:rPr>
              <a:t>🔥</a:t>
            </a:r>
          </a:p>
          <a:p>
            <a:pPr>
              <a:lnSpc>
                <a:spcPct val="150000"/>
              </a:lnSpc>
            </a:pPr>
            <a:r>
              <a:rPr lang="pt-PT" sz="700" dirty="0">
                <a:solidFill>
                  <a:schemeClr val="bg1"/>
                </a:solidFill>
                <a:latin typeface="Consolas" panose="020B0609020204030204" pitchFamily="49" charset="0"/>
              </a:rPr>
              <a:t>🐛</a:t>
            </a:r>
          </a:p>
          <a:p>
            <a:pPr>
              <a:lnSpc>
                <a:spcPct val="150000"/>
              </a:lnSpc>
            </a:pPr>
            <a:r>
              <a:rPr lang="pt-PT" sz="700" dirty="0">
                <a:solidFill>
                  <a:schemeClr val="bg1"/>
                </a:solidFill>
                <a:latin typeface="Consolas" panose="020B0609020204030204" pitchFamily="49" charset="0"/>
              </a:rPr>
              <a:t>🌿</a:t>
            </a:r>
          </a:p>
          <a:p>
            <a:pPr>
              <a:lnSpc>
                <a:spcPct val="150000"/>
              </a:lnSpc>
            </a:pPr>
            <a:r>
              <a:rPr lang="pt-PT" sz="700" dirty="0">
                <a:solidFill>
                  <a:schemeClr val="bg1"/>
                </a:solidFill>
                <a:latin typeface="Consolas" panose="020B0609020204030204" pitchFamily="49" charset="0"/>
              </a:rPr>
              <a:t>⚔️</a:t>
            </a:r>
          </a:p>
          <a:p>
            <a:pPr>
              <a:lnSpc>
                <a:spcPct val="150000"/>
              </a:lnSpc>
              <a:buNone/>
            </a:pPr>
            <a:r>
              <a:rPr lang="pt-PT" sz="700" b="0" dirty="0">
                <a:solidFill>
                  <a:schemeClr val="bg1"/>
                </a:solidFill>
                <a:effectLst/>
                <a:latin typeface="Consolas" panose="020B0609020204030204" pitchFamily="49" charset="0"/>
              </a:rPr>
              <a:t>🪨</a:t>
            </a:r>
          </a:p>
          <a:p>
            <a:pPr>
              <a:lnSpc>
                <a:spcPct val="150000"/>
              </a:lnSpc>
            </a:pPr>
            <a:r>
              <a:rPr lang="pt-PT" sz="700" dirty="0">
                <a:solidFill>
                  <a:schemeClr val="bg1"/>
                </a:solidFill>
                <a:latin typeface="Consolas" panose="020B0609020204030204" pitchFamily="49" charset="0"/>
              </a:rPr>
              <a: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4F7F9"/>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0A896"/>
          </a:solidFill>
          <a:ln w="12700">
            <a:solidFill>
              <a:srgbClr val="00A896"/>
            </a:solidFill>
            <a:prstDash val="solid"/>
          </a:ln>
        </p:spPr>
        <p:txBody>
          <a:bodyPr/>
          <a:lstStyle/>
          <a:p>
            <a:endParaRPr lang="pt-PT"/>
          </a:p>
        </p:txBody>
      </p:sp>
      <p:sp>
        <p:nvSpPr>
          <p:cNvPr id="3" name="Text 1"/>
          <p:cNvSpPr/>
          <p:nvPr/>
        </p:nvSpPr>
        <p:spPr>
          <a:xfrm>
            <a:off x="457200" y="109728"/>
            <a:ext cx="7772400" cy="530352"/>
          </a:xfrm>
          <a:prstGeom prst="rect">
            <a:avLst/>
          </a:prstGeom>
          <a:noFill/>
          <a:ln/>
        </p:spPr>
        <p:txBody>
          <a:bodyPr wrap="square" lIns="0" tIns="0" rIns="0" bIns="0" rtlCol="0" anchor="ctr"/>
          <a:lstStyle/>
          <a:p>
            <a:pPr marL="0" indent="0">
              <a:buNone/>
            </a:pPr>
            <a:r>
              <a:rPr lang="en-US" sz="2200" b="1" dirty="0">
                <a:solidFill>
                  <a:srgbClr val="0D1B2A"/>
                </a:solidFill>
                <a:latin typeface="Trebuchet MS" pitchFamily="34" charset="0"/>
                <a:ea typeface="Trebuchet MS" pitchFamily="34" charset="-122"/>
                <a:cs typeface="Trebuchet MS" pitchFamily="34" charset="-120"/>
              </a:rPr>
              <a:t>t-SNE: Can Flat Pixels Separate the 9 Classes?</a:t>
            </a:r>
            <a:endParaRPr lang="en-US" sz="2200" dirty="0"/>
          </a:p>
        </p:txBody>
      </p:sp>
      <p:sp>
        <p:nvSpPr>
          <p:cNvPr id="4" name="Shape 2"/>
          <p:cNvSpPr/>
          <p:nvPr/>
        </p:nvSpPr>
        <p:spPr>
          <a:xfrm>
            <a:off x="7863840" y="109728"/>
            <a:ext cx="1097280" cy="301752"/>
          </a:xfrm>
          <a:prstGeom prst="rect">
            <a:avLst/>
          </a:prstGeom>
          <a:solidFill>
            <a:srgbClr val="1C3A52"/>
          </a:solidFill>
          <a:ln w="12700">
            <a:solidFill>
              <a:srgbClr val="1C3A52"/>
            </a:solidFill>
            <a:prstDash val="solid"/>
          </a:ln>
        </p:spPr>
        <p:txBody>
          <a:bodyPr/>
          <a:lstStyle/>
          <a:p>
            <a:endParaRPr lang="pt-PT"/>
          </a:p>
        </p:txBody>
      </p:sp>
      <p:sp>
        <p:nvSpPr>
          <p:cNvPr id="5" name="Text 3"/>
          <p:cNvSpPr/>
          <p:nvPr/>
        </p:nvSpPr>
        <p:spPr>
          <a:xfrm>
            <a:off x="7863840" y="109728"/>
            <a:ext cx="1097280" cy="301752"/>
          </a:xfrm>
          <a:prstGeom prst="rect">
            <a:avLst/>
          </a:prstGeom>
          <a:noFill/>
          <a:ln/>
        </p:spPr>
        <p:txBody>
          <a:bodyPr wrap="square" lIns="0" tIns="0" rIns="0" bIns="0" rtlCol="0" anchor="ctr"/>
          <a:lstStyle/>
          <a:p>
            <a:pPr marL="0" indent="0" algn="ctr">
              <a:buNone/>
            </a:pPr>
            <a:r>
              <a:rPr lang="en-US" sz="1000" b="1" dirty="0">
                <a:solidFill>
                  <a:srgbClr val="FFFFFF"/>
                </a:solidFill>
              </a:rPr>
              <a:t>EDA</a:t>
            </a:r>
            <a:endParaRPr lang="en-US" sz="1000" dirty="0"/>
          </a:p>
        </p:txBody>
      </p:sp>
      <p:pic>
        <p:nvPicPr>
          <p:cNvPr id="6" name="Image 0" descr="/mnt/user-data/uploads/plot_pca_tsne.png"/>
          <p:cNvPicPr>
            <a:picLocks noChangeAspect="1"/>
          </p:cNvPicPr>
          <p:nvPr/>
        </p:nvPicPr>
        <p:blipFill>
          <a:blip r:embed="rId3"/>
          <a:stretch>
            <a:fillRect/>
          </a:stretch>
        </p:blipFill>
        <p:spPr>
          <a:xfrm>
            <a:off x="274320" y="749808"/>
            <a:ext cx="5029200" cy="4160520"/>
          </a:xfrm>
          <a:prstGeom prst="rect">
            <a:avLst/>
          </a:prstGeom>
        </p:spPr>
      </p:pic>
      <p:sp>
        <p:nvSpPr>
          <p:cNvPr id="7" name="Shape 4"/>
          <p:cNvSpPr/>
          <p:nvPr/>
        </p:nvSpPr>
        <p:spPr>
          <a:xfrm>
            <a:off x="5532120" y="1293876"/>
            <a:ext cx="3337560" cy="1444752"/>
          </a:xfrm>
          <a:prstGeom prst="rect">
            <a:avLst/>
          </a:prstGeom>
          <a:solidFill>
            <a:srgbClr val="FEE8E7"/>
          </a:solidFill>
          <a:ln w="7620">
            <a:solidFill>
              <a:srgbClr val="E74C3C"/>
            </a:solidFill>
            <a:prstDash val="solid"/>
          </a:ln>
        </p:spPr>
        <p:txBody>
          <a:bodyPr/>
          <a:lstStyle/>
          <a:p>
            <a:endParaRPr lang="pt-PT"/>
          </a:p>
        </p:txBody>
      </p:sp>
      <p:sp>
        <p:nvSpPr>
          <p:cNvPr id="8" name="Shape 5"/>
          <p:cNvSpPr/>
          <p:nvPr/>
        </p:nvSpPr>
        <p:spPr>
          <a:xfrm>
            <a:off x="5532120" y="1293876"/>
            <a:ext cx="73152" cy="1444752"/>
          </a:xfrm>
          <a:prstGeom prst="rect">
            <a:avLst/>
          </a:prstGeom>
          <a:solidFill>
            <a:srgbClr val="E74C3C"/>
          </a:solidFill>
          <a:ln w="12700">
            <a:solidFill>
              <a:srgbClr val="E74C3C"/>
            </a:solidFill>
            <a:prstDash val="solid"/>
          </a:ln>
        </p:spPr>
        <p:txBody>
          <a:bodyPr/>
          <a:lstStyle/>
          <a:p>
            <a:endParaRPr lang="pt-PT"/>
          </a:p>
        </p:txBody>
      </p:sp>
      <p:sp>
        <p:nvSpPr>
          <p:cNvPr id="9" name="Text 6"/>
          <p:cNvSpPr/>
          <p:nvPr/>
        </p:nvSpPr>
        <p:spPr>
          <a:xfrm>
            <a:off x="5669280" y="1348740"/>
            <a:ext cx="3108960" cy="347472"/>
          </a:xfrm>
          <a:prstGeom prst="rect">
            <a:avLst/>
          </a:prstGeom>
          <a:noFill/>
          <a:ln/>
        </p:spPr>
        <p:txBody>
          <a:bodyPr wrap="square" lIns="0" tIns="0" rIns="0" bIns="0" rtlCol="0" anchor="ctr"/>
          <a:lstStyle/>
          <a:p>
            <a:pPr marL="0" indent="0">
              <a:buNone/>
            </a:pPr>
            <a:r>
              <a:rPr lang="en-US" sz="1300" b="1" dirty="0">
                <a:solidFill>
                  <a:srgbClr val="E74C3C"/>
                </a:solidFill>
                <a:latin typeface="Trebuchet MS" pitchFamily="34" charset="0"/>
                <a:ea typeface="Trebuchet MS" pitchFamily="34" charset="-122"/>
                <a:cs typeface="Trebuchet MS" pitchFamily="34" charset="-120"/>
              </a:rPr>
              <a:t>No clean clusters</a:t>
            </a:r>
            <a:endParaRPr lang="en-US" sz="1300" dirty="0"/>
          </a:p>
        </p:txBody>
      </p:sp>
      <p:sp>
        <p:nvSpPr>
          <p:cNvPr id="10" name="Text 7"/>
          <p:cNvSpPr/>
          <p:nvPr/>
        </p:nvSpPr>
        <p:spPr>
          <a:xfrm>
            <a:off x="5669280" y="1714500"/>
            <a:ext cx="3108960" cy="950976"/>
          </a:xfrm>
          <a:prstGeom prst="rect">
            <a:avLst/>
          </a:prstGeom>
          <a:noFill/>
          <a:ln/>
        </p:spPr>
        <p:txBody>
          <a:bodyPr wrap="square" lIns="0" tIns="0" rIns="0" bIns="0" rtlCol="0" anchor="ctr"/>
          <a:lstStyle/>
          <a:p>
            <a:pPr marL="0" indent="0">
              <a:buNone/>
            </a:pPr>
            <a:r>
              <a:rPr lang="en-US" sz="1200" dirty="0">
                <a:solidFill>
                  <a:srgbClr val="1A2B3C"/>
                </a:solidFill>
                <a:latin typeface="Calibri" pitchFamily="34" charset="0"/>
                <a:ea typeface="Calibri" pitchFamily="34" charset="-122"/>
                <a:cs typeface="Calibri" pitchFamily="34" charset="-120"/>
              </a:rPr>
              <a:t>All 9 types heavily overlap in flat pixel space. </a:t>
            </a:r>
          </a:p>
          <a:p>
            <a:pPr marL="0" indent="0">
              <a:buNone/>
            </a:pPr>
            <a:r>
              <a:rPr lang="en-US" sz="1200" dirty="0">
                <a:solidFill>
                  <a:srgbClr val="1A2B3C"/>
                </a:solidFill>
                <a:latin typeface="Calibri" pitchFamily="34" charset="0"/>
                <a:ea typeface="Calibri" pitchFamily="34" charset="-122"/>
                <a:cs typeface="Calibri" pitchFamily="34" charset="-120"/>
              </a:rPr>
              <a:t>Even with PCA-50 preprocessing, classes are not linearly separable.</a:t>
            </a:r>
            <a:endParaRPr lang="en-US" sz="1200" dirty="0"/>
          </a:p>
        </p:txBody>
      </p:sp>
      <p:sp>
        <p:nvSpPr>
          <p:cNvPr id="15" name="Shape 12"/>
          <p:cNvSpPr/>
          <p:nvPr/>
        </p:nvSpPr>
        <p:spPr>
          <a:xfrm>
            <a:off x="5532120" y="3063240"/>
            <a:ext cx="3337560" cy="1115568"/>
          </a:xfrm>
          <a:prstGeom prst="rect">
            <a:avLst/>
          </a:prstGeom>
          <a:solidFill>
            <a:srgbClr val="FFF3E0"/>
          </a:solidFill>
          <a:ln w="7620">
            <a:solidFill>
              <a:srgbClr val="E97C35"/>
            </a:solidFill>
            <a:prstDash val="solid"/>
          </a:ln>
        </p:spPr>
        <p:txBody>
          <a:bodyPr/>
          <a:lstStyle/>
          <a:p>
            <a:endParaRPr lang="pt-PT"/>
          </a:p>
        </p:txBody>
      </p:sp>
      <p:sp>
        <p:nvSpPr>
          <p:cNvPr id="16" name="Shape 13"/>
          <p:cNvSpPr/>
          <p:nvPr/>
        </p:nvSpPr>
        <p:spPr>
          <a:xfrm>
            <a:off x="5532120" y="3063240"/>
            <a:ext cx="73152" cy="1115568"/>
          </a:xfrm>
          <a:prstGeom prst="rect">
            <a:avLst/>
          </a:prstGeom>
          <a:solidFill>
            <a:srgbClr val="E97C35"/>
          </a:solidFill>
          <a:ln w="12700">
            <a:solidFill>
              <a:srgbClr val="E97C35"/>
            </a:solidFill>
            <a:prstDash val="solid"/>
          </a:ln>
        </p:spPr>
        <p:txBody>
          <a:bodyPr/>
          <a:lstStyle/>
          <a:p>
            <a:endParaRPr lang="pt-PT"/>
          </a:p>
        </p:txBody>
      </p:sp>
      <p:sp>
        <p:nvSpPr>
          <p:cNvPr id="17" name="Text 14"/>
          <p:cNvSpPr/>
          <p:nvPr/>
        </p:nvSpPr>
        <p:spPr>
          <a:xfrm>
            <a:off x="5669280" y="3118104"/>
            <a:ext cx="3108960" cy="320040"/>
          </a:xfrm>
          <a:prstGeom prst="rect">
            <a:avLst/>
          </a:prstGeom>
          <a:noFill/>
          <a:ln/>
        </p:spPr>
        <p:txBody>
          <a:bodyPr wrap="square" lIns="0" tIns="0" rIns="0" bIns="0" rtlCol="0" anchor="ctr"/>
          <a:lstStyle/>
          <a:p>
            <a:pPr marL="0" indent="0">
              <a:buNone/>
            </a:pPr>
            <a:r>
              <a:rPr lang="en-US" sz="1200" b="1" dirty="0">
                <a:solidFill>
                  <a:srgbClr val="E97C35"/>
                </a:solidFill>
                <a:latin typeface="Trebuchet MS" pitchFamily="34" charset="0"/>
                <a:ea typeface="Trebuchet MS" pitchFamily="34" charset="-122"/>
                <a:cs typeface="Trebuchet MS" pitchFamily="34" charset="-120"/>
              </a:rPr>
              <a:t>Direct motivation for CNN</a:t>
            </a:r>
            <a:endParaRPr lang="en-US" sz="1200" dirty="0"/>
          </a:p>
        </p:txBody>
      </p:sp>
      <p:sp>
        <p:nvSpPr>
          <p:cNvPr id="18" name="Text 15"/>
          <p:cNvSpPr/>
          <p:nvPr/>
        </p:nvSpPr>
        <p:spPr>
          <a:xfrm>
            <a:off x="5669280" y="3465576"/>
            <a:ext cx="3108960" cy="667512"/>
          </a:xfrm>
          <a:prstGeom prst="rect">
            <a:avLst/>
          </a:prstGeom>
          <a:noFill/>
          <a:ln/>
        </p:spPr>
        <p:txBody>
          <a:bodyPr wrap="square" lIns="0" tIns="0" rIns="0" bIns="0" rtlCol="0" anchor="ctr"/>
          <a:lstStyle/>
          <a:p>
            <a:pPr marL="0" indent="0">
              <a:buNone/>
            </a:pPr>
            <a:r>
              <a:rPr lang="en-US" sz="1200" dirty="0">
                <a:solidFill>
                  <a:srgbClr val="1A2B3C"/>
                </a:solidFill>
                <a:latin typeface="Calibri" pitchFamily="34" charset="0"/>
                <a:ea typeface="Calibri" pitchFamily="34" charset="-122"/>
                <a:cs typeface="Calibri" pitchFamily="34" charset="-120"/>
              </a:rPr>
              <a:t>This scatter is exactly why MLP hits a ceiling. </a:t>
            </a:r>
          </a:p>
          <a:p>
            <a:pPr marL="0" indent="0">
              <a:buNone/>
            </a:pPr>
            <a:r>
              <a:rPr lang="en-US" sz="1200" dirty="0">
                <a:solidFill>
                  <a:srgbClr val="1A2B3C"/>
                </a:solidFill>
                <a:latin typeface="Calibri" pitchFamily="34" charset="0"/>
                <a:ea typeface="Calibri" pitchFamily="34" charset="-122"/>
                <a:cs typeface="Calibri" pitchFamily="34" charset="-120"/>
              </a:rPr>
              <a:t>CNN adds spatial inductive bias — learns position</a:t>
            </a:r>
          </a:p>
          <a:p>
            <a:pPr marL="0" indent="0">
              <a:buNone/>
            </a:pPr>
            <a:r>
              <a:rPr lang="en-US" sz="1200" dirty="0">
                <a:solidFill>
                  <a:srgbClr val="1A2B3C"/>
                </a:solidFill>
                <a:latin typeface="Calibri" pitchFamily="34" charset="0"/>
                <a:ea typeface="Calibri" pitchFamily="34" charset="-122"/>
                <a:cs typeface="Calibri" pitchFamily="34" charset="-120"/>
              </a:rPr>
              <a:t>   » MLP physically cannot.</a:t>
            </a:r>
            <a:endParaRPr lang="en-US" sz="1200" dirty="0"/>
          </a:p>
        </p:txBody>
      </p:sp>
      <p:sp>
        <p:nvSpPr>
          <p:cNvPr id="19" name="Shape 2">
            <a:extLst>
              <a:ext uri="{FF2B5EF4-FFF2-40B4-BE49-F238E27FC236}">
                <a16:creationId xmlns:a16="http://schemas.microsoft.com/office/drawing/2014/main" id="{AB033768-3A18-83DB-B141-476BA2907D25}"/>
              </a:ext>
            </a:extLst>
          </p:cNvPr>
          <p:cNvSpPr/>
          <p:nvPr/>
        </p:nvSpPr>
        <p:spPr>
          <a:xfrm>
            <a:off x="7498079" y="82296"/>
            <a:ext cx="1557633" cy="329184"/>
          </a:xfrm>
          <a:prstGeom prst="rect">
            <a:avLst/>
          </a:prstGeom>
          <a:solidFill>
            <a:srgbClr val="1C3A52"/>
          </a:solidFill>
          <a:ln w="12700">
            <a:solidFill>
              <a:srgbClr val="1C3A52"/>
            </a:solidFill>
            <a:prstDash val="solid"/>
          </a:ln>
        </p:spPr>
        <p:txBody>
          <a:bodyPr/>
          <a:lstStyle/>
          <a:p>
            <a:pPr algn="ctr"/>
            <a:r>
              <a:rPr lang="en-US" b="1" dirty="0"/>
              <a:t>EDA</a:t>
            </a:r>
            <a:endParaRPr lang="pt-PT" b="1" dirty="0"/>
          </a:p>
        </p:txBody>
      </p:sp>
      <p:sp>
        <p:nvSpPr>
          <p:cNvPr id="20" name="Rectangle: Rounded Corners 19">
            <a:extLst>
              <a:ext uri="{FF2B5EF4-FFF2-40B4-BE49-F238E27FC236}">
                <a16:creationId xmlns:a16="http://schemas.microsoft.com/office/drawing/2014/main" id="{2F3AA9F3-3B6A-358A-0A50-5A6035AD22FD}"/>
              </a:ext>
            </a:extLst>
          </p:cNvPr>
          <p:cNvSpPr/>
          <p:nvPr/>
        </p:nvSpPr>
        <p:spPr>
          <a:xfrm>
            <a:off x="7088176" y="4253"/>
            <a:ext cx="470123" cy="470912"/>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2800" b="1" dirty="0"/>
              <a:t>1</a:t>
            </a:r>
            <a:endParaRPr lang="pt-PT" sz="1600" b="1"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9612FD-8A88-7E3C-003F-FB521ABB58B6}"/>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16627774-99A8-6A50-9787-9CDDF0D644D0}"/>
              </a:ext>
            </a:extLst>
          </p:cNvPr>
          <p:cNvSpPr/>
          <p:nvPr/>
        </p:nvSpPr>
        <p:spPr>
          <a:xfrm>
            <a:off x="6217920" y="-822960"/>
            <a:ext cx="4754880" cy="4754880"/>
          </a:xfrm>
          <a:prstGeom prst="ellipse">
            <a:avLst/>
          </a:prstGeom>
          <a:solidFill>
            <a:srgbClr val="1C3A52">
              <a:alpha val="62000"/>
            </a:srgbClr>
          </a:solidFill>
          <a:ln w="12700">
            <a:solidFill>
              <a:srgbClr val="1C3A52"/>
            </a:solidFill>
            <a:prstDash val="solid"/>
          </a:ln>
        </p:spPr>
        <p:txBody>
          <a:bodyPr/>
          <a:lstStyle/>
          <a:p>
            <a:endParaRPr lang="pt-PT"/>
          </a:p>
        </p:txBody>
      </p:sp>
      <p:sp>
        <p:nvSpPr>
          <p:cNvPr id="3" name="Shape 1">
            <a:extLst>
              <a:ext uri="{FF2B5EF4-FFF2-40B4-BE49-F238E27FC236}">
                <a16:creationId xmlns:a16="http://schemas.microsoft.com/office/drawing/2014/main" id="{221A4E8F-252D-CD53-1B4D-A230C6176559}"/>
              </a:ext>
            </a:extLst>
          </p:cNvPr>
          <p:cNvSpPr/>
          <p:nvPr/>
        </p:nvSpPr>
        <p:spPr>
          <a:xfrm>
            <a:off x="7315200" y="2377440"/>
            <a:ext cx="2743200" cy="2743200"/>
          </a:xfrm>
          <a:prstGeom prst="ellipse">
            <a:avLst/>
          </a:prstGeom>
          <a:solidFill>
            <a:srgbClr val="00A896">
              <a:alpha val="45000"/>
            </a:srgbClr>
          </a:solidFill>
          <a:ln w="12700">
            <a:solidFill>
              <a:srgbClr val="00A896"/>
            </a:solidFill>
            <a:prstDash val="solid"/>
          </a:ln>
        </p:spPr>
        <p:txBody>
          <a:bodyPr/>
          <a:lstStyle/>
          <a:p>
            <a:endParaRPr lang="pt-PT"/>
          </a:p>
        </p:txBody>
      </p:sp>
      <p:pic>
        <p:nvPicPr>
          <p:cNvPr id="1028" name="Picture 4" descr="NOVA FCT">
            <a:extLst>
              <a:ext uri="{FF2B5EF4-FFF2-40B4-BE49-F238E27FC236}">
                <a16:creationId xmlns:a16="http://schemas.microsoft.com/office/drawing/2014/main" id="{B4A7E438-65B4-0936-3122-55D765DEE1A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22933" b="35200"/>
          <a:stretch/>
        </p:blipFill>
        <p:spPr bwMode="auto">
          <a:xfrm>
            <a:off x="5362525" y="-739257"/>
            <a:ext cx="1188684" cy="493776"/>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Quais os principais tipos de Pokémon que existem no anime e filmes  animados? - Olhar Digital">
            <a:extLst>
              <a:ext uri="{FF2B5EF4-FFF2-40B4-BE49-F238E27FC236}">
                <a16:creationId xmlns:a16="http://schemas.microsoft.com/office/drawing/2014/main" id="{41E2EE57-0C32-11FE-DE81-43C0472D8FDD}"/>
              </a:ext>
            </a:extLst>
          </p:cNvPr>
          <p:cNvPicPr>
            <a:picLocks noChangeAspect="1" noChangeArrowheads="1"/>
          </p:cNvPicPr>
          <p:nvPr/>
        </p:nvPicPr>
        <p:blipFill>
          <a:blip r:embed="rId4">
            <a:extLst>
              <a:ext uri="{BEBA8EAE-BF5A-486C-A8C5-ECC9F3942E4B}">
                <a14:imgProps xmlns:a14="http://schemas.microsoft.com/office/drawing/2010/main">
                  <a14:imgLayer r:embed="rId5">
                    <a14:imgEffect>
                      <a14:backgroundRemoval t="10000" b="98750" l="4375" r="97773">
                        <a14:foregroundMark x1="6016" y1="58819" x2="5938" y2="87500"/>
                        <a14:foregroundMark x1="5938" y1="87500" x2="9609" y2="99236"/>
                        <a14:foregroundMark x1="9609" y1="99236" x2="18633" y2="94514"/>
                        <a14:foregroundMark x1="18633" y1="94514" x2="25547" y2="95972"/>
                        <a14:foregroundMark x1="25547" y1="95972" x2="20391" y2="85556"/>
                        <a14:foregroundMark x1="20391" y1="85556" x2="18516" y2="75208"/>
                        <a14:foregroundMark x1="18516" y1="75208" x2="20156" y2="60972"/>
                        <a14:foregroundMark x1="20156" y1="60972" x2="10469" y2="66250"/>
                        <a14:foregroundMark x1="10469" y1="66250" x2="11719" y2="82361"/>
                        <a14:foregroundMark x1="11719" y1="82361" x2="13750" y2="72292"/>
                        <a14:foregroundMark x1="5469" y1="57569" x2="5039" y2="79722"/>
                        <a14:foregroundMark x1="5039" y1="79722" x2="4414" y2="83889"/>
                        <a14:foregroundMark x1="7070" y1="95069" x2="8008" y2="98403"/>
                        <a14:foregroundMark x1="63594" y1="97639" x2="67852" y2="98819"/>
                        <a14:foregroundMark x1="16250" y1="73264" x2="16797" y2="77292"/>
                        <a14:foregroundMark x1="96133" y1="50278" x2="97031" y2="63264"/>
                        <a14:foregroundMark x1="97031" y1="63264" x2="94492" y2="76597"/>
                        <a14:foregroundMark x1="94492" y1="76597" x2="90391" y2="83333"/>
                        <a14:foregroundMark x1="90391" y1="83333" x2="86914" y2="85833"/>
                        <a14:foregroundMark x1="95859" y1="50278" x2="97546" y2="63683"/>
                        <a14:foregroundMark x1="96841" y1="69371" x2="94141" y2="80625"/>
                        <a14:foregroundMark x1="97461" y1="67292" x2="96406" y2="75139"/>
                        <a14:foregroundMark x1="96680" y1="40278" x2="96680" y2="45069"/>
                        <a14:backgroundMark x1="97617" y1="63681" x2="97695" y2="71875"/>
                      </a14:backgroundRemoval>
                    </a14:imgEffect>
                  </a14:imgLayer>
                </a14:imgProps>
              </a:ext>
              <a:ext uri="{28A0092B-C50C-407E-A947-70E740481C1C}">
                <a14:useLocalDpi xmlns:a14="http://schemas.microsoft.com/office/drawing/2010/main" val="0"/>
              </a:ext>
            </a:extLst>
          </a:blip>
          <a:srcRect/>
          <a:stretch>
            <a:fillRect/>
          </a:stretch>
        </p:blipFill>
        <p:spPr bwMode="auto">
          <a:xfrm>
            <a:off x="2917953" y="1645921"/>
            <a:ext cx="6226048" cy="3502152"/>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8" descr="NOSSA™ | NOVA School of Science &amp; Technology">
            <a:extLst>
              <a:ext uri="{FF2B5EF4-FFF2-40B4-BE49-F238E27FC236}">
                <a16:creationId xmlns:a16="http://schemas.microsoft.com/office/drawing/2014/main" id="{4CD83C3C-BC12-BF36-A466-D10D569A24BF}"/>
              </a:ext>
            </a:extLst>
          </p:cNvPr>
          <p:cNvPicPr>
            <a:picLocks noChangeAspect="1" noChangeArrowheads="1"/>
          </p:cNvPicPr>
          <p:nvPr/>
        </p:nvPicPr>
        <p:blipFill rotWithShape="1">
          <a:blip r:embed="rId6">
            <a:extLst>
              <a:ext uri="{BEBA8EAE-BF5A-486C-A8C5-ECC9F3942E4B}">
                <a14:imgProps xmlns:a14="http://schemas.microsoft.com/office/drawing/2010/main">
                  <a14:imgLayer r:embed="rId7">
                    <a14:imgEffect>
                      <a14:backgroundRemoval t="28056" b="59722" l="28750" r="70625">
                        <a14:foregroundMark x1="28750" y1="38889" x2="29375" y2="52778"/>
                        <a14:foregroundMark x1="66406" y1="39167" x2="64844" y2="49722"/>
                        <a14:foregroundMark x1="69063" y1="45278" x2="70781" y2="50833"/>
                        <a14:foregroundMark x1="38750" y1="54444" x2="46094" y2="59722"/>
                        <a14:foregroundMark x1="46094" y1="59722" x2="50938" y2="55000"/>
                        <a14:foregroundMark x1="51250" y1="33889" x2="42188" y2="30833"/>
                        <a14:foregroundMark x1="42188" y1="30833" x2="38281" y2="35000"/>
                        <a14:foregroundMark x1="51875" y1="36944" x2="55313" y2="41111"/>
                      </a14:backgroundRemoval>
                    </a14:imgEffect>
                  </a14:imgLayer>
                </a14:imgProps>
              </a:ext>
              <a:ext uri="{28A0092B-C50C-407E-A947-70E740481C1C}">
                <a14:useLocalDpi xmlns:a14="http://schemas.microsoft.com/office/drawing/2010/main" val="0"/>
              </a:ext>
            </a:extLst>
          </a:blip>
          <a:srcRect l="24369" t="25133" r="26983" b="39200"/>
          <a:stretch>
            <a:fillRect/>
          </a:stretch>
        </p:blipFill>
        <p:spPr bwMode="auto">
          <a:xfrm>
            <a:off x="7838728" y="83266"/>
            <a:ext cx="1250407" cy="515666"/>
          </a:xfrm>
          <a:prstGeom prst="rect">
            <a:avLst/>
          </a:prstGeom>
          <a:noFill/>
          <a:extLst>
            <a:ext uri="{909E8E84-426E-40DD-AFC4-6F175D3DCCD1}">
              <a14:hiddenFill xmlns:a14="http://schemas.microsoft.com/office/drawing/2010/main">
                <a:solidFill>
                  <a:srgbClr val="FFFFFF"/>
                </a:solidFill>
              </a14:hiddenFill>
            </a:ext>
          </a:extLst>
        </p:spPr>
      </p:pic>
      <p:sp>
        <p:nvSpPr>
          <p:cNvPr id="13" name="Text 4">
            <a:extLst>
              <a:ext uri="{FF2B5EF4-FFF2-40B4-BE49-F238E27FC236}">
                <a16:creationId xmlns:a16="http://schemas.microsoft.com/office/drawing/2014/main" id="{5D44035D-AB1C-53F3-0CCD-B524807CC57E}"/>
              </a:ext>
            </a:extLst>
          </p:cNvPr>
          <p:cNvSpPr/>
          <p:nvPr/>
        </p:nvSpPr>
        <p:spPr>
          <a:xfrm>
            <a:off x="1298741" y="1161287"/>
            <a:ext cx="6400800" cy="822960"/>
          </a:xfrm>
          <a:prstGeom prst="rect">
            <a:avLst/>
          </a:prstGeom>
          <a:noFill/>
          <a:ln/>
        </p:spPr>
        <p:txBody>
          <a:bodyPr wrap="square" lIns="0" tIns="0" rIns="0" bIns="0" rtlCol="0" anchor="ctr"/>
          <a:lstStyle/>
          <a:p>
            <a:pPr marL="0" indent="0">
              <a:buNone/>
            </a:pPr>
            <a:r>
              <a:rPr lang="en-US" sz="3000" b="1" dirty="0">
                <a:solidFill>
                  <a:srgbClr val="FFFFFF"/>
                </a:solidFill>
                <a:latin typeface="Trebuchet MS" pitchFamily="34" charset="0"/>
                <a:ea typeface="Trebuchet MS" pitchFamily="34" charset="-122"/>
                <a:cs typeface="Trebuchet MS" pitchFamily="34" charset="-120"/>
              </a:rPr>
              <a:t>Model Development</a:t>
            </a:r>
          </a:p>
        </p:txBody>
      </p:sp>
      <p:sp>
        <p:nvSpPr>
          <p:cNvPr id="14" name="Rectangle: Rounded Corners 13">
            <a:extLst>
              <a:ext uri="{FF2B5EF4-FFF2-40B4-BE49-F238E27FC236}">
                <a16:creationId xmlns:a16="http://schemas.microsoft.com/office/drawing/2014/main" id="{7C19D1E8-29E0-C8E9-DB41-05034A11BC46}"/>
              </a:ext>
            </a:extLst>
          </p:cNvPr>
          <p:cNvSpPr/>
          <p:nvPr/>
        </p:nvSpPr>
        <p:spPr>
          <a:xfrm>
            <a:off x="192727" y="1015139"/>
            <a:ext cx="966372" cy="969108"/>
          </a:xfrm>
          <a:prstGeom prst="roundRect">
            <a:avLst/>
          </a:prstGeom>
          <a:scene3d>
            <a:camera prst="orthographicFront"/>
            <a:lightRig rig="threePt" dir="t"/>
          </a:scene3d>
          <a:sp3d>
            <a:bevelT/>
          </a:sp3d>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3200" b="1" dirty="0"/>
              <a:t>2</a:t>
            </a:r>
            <a:endParaRPr lang="pt-PT" b="1" dirty="0"/>
          </a:p>
        </p:txBody>
      </p:sp>
      <p:cxnSp>
        <p:nvCxnSpPr>
          <p:cNvPr id="16" name="Straight Connector 15">
            <a:extLst>
              <a:ext uri="{FF2B5EF4-FFF2-40B4-BE49-F238E27FC236}">
                <a16:creationId xmlns:a16="http://schemas.microsoft.com/office/drawing/2014/main" id="{34917CEF-86E5-D829-841E-5B8C94B2AD23}"/>
              </a:ext>
            </a:extLst>
          </p:cNvPr>
          <p:cNvCxnSpPr/>
          <p:nvPr/>
        </p:nvCxnSpPr>
        <p:spPr>
          <a:xfrm>
            <a:off x="1305169" y="1856154"/>
            <a:ext cx="4822093" cy="0"/>
          </a:xfrm>
          <a:prstGeom prst="line">
            <a:avLst/>
          </a:prstGeom>
          <a:ln w="28575"/>
          <a:scene3d>
            <a:camera prst="orthographicFront"/>
            <a:lightRig rig="threePt" dir="t"/>
          </a:scene3d>
          <a:sp3d>
            <a:bevelT/>
          </a:sp3d>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53921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opBar"/>
          <p:cNvSpPr/>
          <p:nvPr/>
        </p:nvSpPr>
        <p:spPr>
          <a:xfrm>
            <a:off x="0" y="0"/>
            <a:ext cx="9144000" cy="64008"/>
          </a:xfrm>
          <a:prstGeom prst="rect">
            <a:avLst/>
          </a:prstGeom>
          <a:solidFill>
            <a:srgbClr val="00A896"/>
          </a:solidFill>
          <a:ln w="12700">
            <a:solidFill>
              <a:srgbClr val="00A896"/>
            </a:solidFill>
            <a:prstDash val="solid"/>
          </a:ln>
        </p:spPr>
        <p:txBody>
          <a:bodyPr/>
          <a:lstStyle/>
          <a:p>
            <a:endParaRPr lang="en-US"/>
          </a:p>
        </p:txBody>
      </p:sp>
      <p:sp>
        <p:nvSpPr>
          <p:cNvPr id="3" name="Badge"/>
          <p:cNvSpPr/>
          <p:nvPr/>
        </p:nvSpPr>
        <p:spPr>
          <a:xfrm>
            <a:off x="7498079" y="78998"/>
            <a:ext cx="1557633" cy="329184"/>
          </a:xfrm>
          <a:prstGeom prst="rect">
            <a:avLst/>
          </a:prstGeom>
          <a:solidFill>
            <a:srgbClr val="1C3A52"/>
          </a:solidFill>
          <a:ln w="12700">
            <a:solidFill>
              <a:srgbClr val="1C3A52"/>
            </a:solidFill>
            <a:prstDash val="solid"/>
          </a:ln>
        </p:spPr>
        <p:txBody>
          <a:bodyPr/>
          <a:lstStyle/>
          <a:p>
            <a:pPr algn="ctr"/>
            <a:r>
              <a:rPr lang="en-US" b="1" dirty="0">
                <a:solidFill>
                  <a:srgbClr val="FFFFFF"/>
                </a:solidFill>
              </a:rPr>
              <a:t>MODEL DEV</a:t>
            </a:r>
            <a:endParaRPr lang="en-US" b="1" dirty="0"/>
          </a:p>
        </p:txBody>
      </p:sp>
      <p:sp>
        <p:nvSpPr>
          <p:cNvPr id="4" name="NumCircle"/>
          <p:cNvSpPr/>
          <p:nvPr/>
        </p:nvSpPr>
        <p:spPr>
          <a:xfrm>
            <a:off x="7088176" y="4253"/>
            <a:ext cx="470123" cy="470912"/>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2800" b="1" dirty="0"/>
              <a:t>2</a:t>
            </a:r>
            <a:endParaRPr lang="en-US" sz="1600" b="1" dirty="0"/>
          </a:p>
        </p:txBody>
      </p:sp>
      <p:sp>
        <p:nvSpPr>
          <p:cNvPr id="8" name="Text 1">
            <a:extLst>
              <a:ext uri="{FF2B5EF4-FFF2-40B4-BE49-F238E27FC236}">
                <a16:creationId xmlns:a16="http://schemas.microsoft.com/office/drawing/2014/main" id="{75BA037F-3069-8227-DF31-F9CC626E7659}"/>
              </a:ext>
            </a:extLst>
          </p:cNvPr>
          <p:cNvSpPr/>
          <p:nvPr/>
        </p:nvSpPr>
        <p:spPr>
          <a:xfrm>
            <a:off x="457200" y="109728"/>
            <a:ext cx="7772400" cy="530352"/>
          </a:xfrm>
          <a:prstGeom prst="rect">
            <a:avLst/>
          </a:prstGeom>
          <a:noFill/>
          <a:ln/>
        </p:spPr>
        <p:txBody>
          <a:bodyPr wrap="square" lIns="0" tIns="0" rIns="0" bIns="0" rtlCol="0" anchor="ctr"/>
          <a:lstStyle/>
          <a:p>
            <a:pPr marL="0" indent="0">
              <a:buNone/>
            </a:pPr>
            <a:r>
              <a:rPr lang="en-US" sz="2200" b="1" dirty="0">
                <a:solidFill>
                  <a:srgbClr val="0D1B2A"/>
                </a:solidFill>
                <a:latin typeface="Trebuchet MS" pitchFamily="34" charset="0"/>
                <a:ea typeface="Trebuchet MS" pitchFamily="34" charset="-122"/>
                <a:cs typeface="Trebuchet MS" pitchFamily="34" charset="-120"/>
              </a:rPr>
              <a:t>Exploration strategy</a:t>
            </a:r>
            <a:endParaRPr lang="en-US" sz="2200" dirty="0"/>
          </a:p>
        </p:txBody>
      </p:sp>
      <p:graphicFrame>
        <p:nvGraphicFramePr>
          <p:cNvPr id="9" name="Table 8">
            <a:extLst>
              <a:ext uri="{FF2B5EF4-FFF2-40B4-BE49-F238E27FC236}">
                <a16:creationId xmlns:a16="http://schemas.microsoft.com/office/drawing/2014/main" id="{5FB4740F-FEEC-A8FC-50D0-5E5FB64FBA6D}"/>
              </a:ext>
            </a:extLst>
          </p:cNvPr>
          <p:cNvGraphicFramePr>
            <a:graphicFrameLocks noGrp="1"/>
          </p:cNvGraphicFramePr>
          <p:nvPr>
            <p:extLst>
              <p:ext uri="{D42A27DB-BD31-4B8C-83A1-F6EECF244321}">
                <p14:modId xmlns:p14="http://schemas.microsoft.com/office/powerpoint/2010/main" val="3580747043"/>
              </p:ext>
            </p:extLst>
          </p:nvPr>
        </p:nvGraphicFramePr>
        <p:xfrm>
          <a:off x="174433" y="1255677"/>
          <a:ext cx="8653017" cy="3887823"/>
        </p:xfrm>
        <a:graphic>
          <a:graphicData uri="http://schemas.openxmlformats.org/drawingml/2006/table">
            <a:tbl>
              <a:tblPr>
                <a:tableStyleId>{B301B821-A1FF-4177-AEE7-76D212191A09}</a:tableStyleId>
              </a:tblPr>
              <a:tblGrid>
                <a:gridCol w="151505">
                  <a:extLst>
                    <a:ext uri="{9D8B030D-6E8A-4147-A177-3AD203B41FA5}">
                      <a16:colId xmlns:a16="http://schemas.microsoft.com/office/drawing/2014/main" val="3452336729"/>
                    </a:ext>
                  </a:extLst>
                </a:gridCol>
                <a:gridCol w="808024">
                  <a:extLst>
                    <a:ext uri="{9D8B030D-6E8A-4147-A177-3AD203B41FA5}">
                      <a16:colId xmlns:a16="http://schemas.microsoft.com/office/drawing/2014/main" val="3394786443"/>
                    </a:ext>
                  </a:extLst>
                </a:gridCol>
                <a:gridCol w="2570359">
                  <a:extLst>
                    <a:ext uri="{9D8B030D-6E8A-4147-A177-3AD203B41FA5}">
                      <a16:colId xmlns:a16="http://schemas.microsoft.com/office/drawing/2014/main" val="2858452526"/>
                    </a:ext>
                  </a:extLst>
                </a:gridCol>
                <a:gridCol w="964747">
                  <a:extLst>
                    <a:ext uri="{9D8B030D-6E8A-4147-A177-3AD203B41FA5}">
                      <a16:colId xmlns:a16="http://schemas.microsoft.com/office/drawing/2014/main" val="2404321311"/>
                    </a:ext>
                  </a:extLst>
                </a:gridCol>
                <a:gridCol w="1616049">
                  <a:extLst>
                    <a:ext uri="{9D8B030D-6E8A-4147-A177-3AD203B41FA5}">
                      <a16:colId xmlns:a16="http://schemas.microsoft.com/office/drawing/2014/main" val="4148939698"/>
                    </a:ext>
                  </a:extLst>
                </a:gridCol>
                <a:gridCol w="2542333">
                  <a:extLst>
                    <a:ext uri="{9D8B030D-6E8A-4147-A177-3AD203B41FA5}">
                      <a16:colId xmlns:a16="http://schemas.microsoft.com/office/drawing/2014/main" val="3476846084"/>
                    </a:ext>
                  </a:extLst>
                </a:gridCol>
              </a:tblGrid>
              <a:tr h="216000">
                <a:tc>
                  <a:txBody>
                    <a:bodyPr/>
                    <a:lstStyle/>
                    <a:p>
                      <a:pPr algn="l" fontAlgn="ctr">
                        <a:buNone/>
                      </a:pPr>
                      <a:r>
                        <a:rPr lang="pt-PT" sz="1050" b="1" u="none" strike="noStrike" dirty="0">
                          <a:effectLst/>
                          <a:latin typeface="Calibri" panose="020F0502020204030204" pitchFamily="34" charset="0"/>
                          <a:ea typeface="Calibri" panose="020F0502020204030204" pitchFamily="34" charset="0"/>
                          <a:cs typeface="Calibri" panose="020F0502020204030204" pitchFamily="34" charset="0"/>
                        </a:rPr>
                        <a:t>ID</a:t>
                      </a:r>
                      <a:endParaRPr lang="pt-PT" sz="1050"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3567" marR="3567" marT="3567" marB="0" anchor="ctr">
                    <a:lnL w="12700" cmpd="sng">
                      <a:noFill/>
                    </a:lnL>
                    <a:lnR>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l" fontAlgn="ctr">
                        <a:buNone/>
                      </a:pPr>
                      <a:r>
                        <a:rPr lang="pt-PT" sz="1100" b="1" u="none" strike="noStrike" dirty="0" err="1">
                          <a:effectLst/>
                          <a:latin typeface="Calibri" panose="020F0502020204030204" pitchFamily="34" charset="0"/>
                          <a:ea typeface="Calibri" panose="020F0502020204030204" pitchFamily="34" charset="0"/>
                          <a:cs typeface="Calibri" panose="020F0502020204030204" pitchFamily="34" charset="0"/>
                        </a:rPr>
                        <a:t>Name</a:t>
                      </a:r>
                      <a:endParaRPr lang="pt-PT" sz="1100"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3567" marR="3567" marT="3567" marB="0" anchor="ctr">
                    <a:lnL>
                      <a:noFill/>
                    </a:lnL>
                    <a:lnR>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l" fontAlgn="ctr">
                        <a:buNone/>
                      </a:pPr>
                      <a:r>
                        <a:rPr lang="pt-PT" sz="1100" b="1" u="none" strike="noStrike" dirty="0" err="1">
                          <a:effectLst/>
                          <a:latin typeface="Calibri" panose="020F0502020204030204" pitchFamily="34" charset="0"/>
                          <a:ea typeface="Calibri" panose="020F0502020204030204" pitchFamily="34" charset="0"/>
                          <a:cs typeface="Calibri" panose="020F0502020204030204" pitchFamily="34" charset="0"/>
                        </a:rPr>
                        <a:t>Model</a:t>
                      </a:r>
                      <a:endParaRPr lang="pt-PT" sz="1100"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3567" marR="3567" marT="3567" marB="0" anchor="ctr">
                    <a:lnL>
                      <a:noFill/>
                    </a:lnL>
                    <a:lnR>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l" fontAlgn="ctr">
                        <a:buNone/>
                      </a:pPr>
                      <a:r>
                        <a:rPr lang="pt-PT" sz="1100" b="1" u="none" strike="noStrike" dirty="0" err="1">
                          <a:effectLst/>
                          <a:latin typeface="Calibri" panose="020F0502020204030204" pitchFamily="34" charset="0"/>
                          <a:ea typeface="Calibri" panose="020F0502020204030204" pitchFamily="34" charset="0"/>
                          <a:cs typeface="Calibri" panose="020F0502020204030204" pitchFamily="34" charset="0"/>
                        </a:rPr>
                        <a:t>Criterion</a:t>
                      </a:r>
                      <a:r>
                        <a:rPr lang="pt-PT" sz="1100" b="1" u="none" strike="noStrike" dirty="0">
                          <a:effectLst/>
                          <a:latin typeface="Calibri" panose="020F0502020204030204" pitchFamily="34" charset="0"/>
                          <a:ea typeface="Calibri" panose="020F0502020204030204" pitchFamily="34" charset="0"/>
                          <a:cs typeface="Calibri" panose="020F0502020204030204" pitchFamily="34" charset="0"/>
                        </a:rPr>
                        <a:t> (~</a:t>
                      </a:r>
                      <a:r>
                        <a:rPr lang="pt-PT" sz="1100" b="1" u="none" strike="noStrike" dirty="0" err="1">
                          <a:effectLst/>
                          <a:latin typeface="Calibri" panose="020F0502020204030204" pitchFamily="34" charset="0"/>
                          <a:ea typeface="Calibri" panose="020F0502020204030204" pitchFamily="34" charset="0"/>
                          <a:cs typeface="Calibri" panose="020F0502020204030204" pitchFamily="34" charset="0"/>
                        </a:rPr>
                        <a:t>loss</a:t>
                      </a:r>
                      <a:r>
                        <a:rPr lang="pt-PT" sz="1100" b="1" u="none" strike="noStrike" dirty="0">
                          <a:effectLst/>
                          <a:latin typeface="Calibri" panose="020F0502020204030204" pitchFamily="34" charset="0"/>
                          <a:ea typeface="Calibri" panose="020F0502020204030204" pitchFamily="34" charset="0"/>
                          <a:cs typeface="Calibri" panose="020F0502020204030204" pitchFamily="34" charset="0"/>
                        </a:rPr>
                        <a:t> </a:t>
                      </a:r>
                      <a:r>
                        <a:rPr lang="pt-PT" sz="1100" b="1" u="none" strike="noStrike" dirty="0" err="1">
                          <a:effectLst/>
                          <a:latin typeface="Calibri" panose="020F0502020204030204" pitchFamily="34" charset="0"/>
                          <a:ea typeface="Calibri" panose="020F0502020204030204" pitchFamily="34" charset="0"/>
                          <a:cs typeface="Calibri" panose="020F0502020204030204" pitchFamily="34" charset="0"/>
                        </a:rPr>
                        <a:t>function</a:t>
                      </a:r>
                      <a:r>
                        <a:rPr lang="pt-PT" sz="1100" b="1" u="none" strike="noStrike" dirty="0">
                          <a:effectLst/>
                          <a:latin typeface="Calibri" panose="020F0502020204030204" pitchFamily="34" charset="0"/>
                          <a:ea typeface="Calibri" panose="020F0502020204030204" pitchFamily="34" charset="0"/>
                          <a:cs typeface="Calibri" panose="020F0502020204030204" pitchFamily="34" charset="0"/>
                        </a:rPr>
                        <a:t>)</a:t>
                      </a:r>
                      <a:endParaRPr lang="pt-PT" sz="1100"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3567" marR="3567" marT="3567" marB="0" anchor="ctr">
                    <a:lnL>
                      <a:noFill/>
                    </a:lnL>
                    <a:lnR>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l" fontAlgn="ctr">
                        <a:buNone/>
                      </a:pPr>
                      <a:r>
                        <a:rPr lang="pt-PT" sz="1100" b="1" u="none" strike="noStrike" dirty="0" err="1">
                          <a:effectLst/>
                          <a:latin typeface="Calibri" panose="020F0502020204030204" pitchFamily="34" charset="0"/>
                          <a:ea typeface="Calibri" panose="020F0502020204030204" pitchFamily="34" charset="0"/>
                          <a:cs typeface="Calibri" panose="020F0502020204030204" pitchFamily="34" charset="0"/>
                        </a:rPr>
                        <a:t>Optimizer</a:t>
                      </a:r>
                      <a:endParaRPr lang="pt-PT" sz="1100"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3567" marR="3567" marT="3567" marB="0" anchor="ctr">
                    <a:lnL>
                      <a:noFill/>
                    </a:lnL>
                    <a:lnR>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l" fontAlgn="ctr">
                        <a:buNone/>
                      </a:pPr>
                      <a:r>
                        <a:rPr lang="pt-PT" sz="1100" b="1" u="none" strike="noStrike" dirty="0" err="1">
                          <a:effectLst/>
                          <a:latin typeface="Calibri" panose="020F0502020204030204" pitchFamily="34" charset="0"/>
                          <a:ea typeface="Calibri" panose="020F0502020204030204" pitchFamily="34" charset="0"/>
                          <a:cs typeface="Calibri" panose="020F0502020204030204" pitchFamily="34" charset="0"/>
                        </a:rPr>
                        <a:t>Purpose</a:t>
                      </a:r>
                      <a:endParaRPr lang="pt-PT" sz="1100"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3567" marR="3567" marT="3567" marB="0" anchor="ctr">
                    <a:lnL>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1075402942"/>
                  </a:ext>
                </a:extLst>
              </a:tr>
              <a:tr h="216000">
                <a:tc>
                  <a:txBody>
                    <a:bodyPr/>
                    <a:lstStyle/>
                    <a:p>
                      <a:pPr algn="l" fontAlgn="ctr">
                        <a:buNone/>
                      </a:pPr>
                      <a:r>
                        <a:rPr lang="pt-PT" sz="1050" b="0" u="none" strike="noStrike">
                          <a:effectLst/>
                          <a:latin typeface="Calibri" panose="020F0502020204030204" pitchFamily="34" charset="0"/>
                          <a:ea typeface="Calibri" panose="020F0502020204030204" pitchFamily="34" charset="0"/>
                          <a:cs typeface="Calibri" panose="020F0502020204030204" pitchFamily="34" charset="0"/>
                        </a:rPr>
                        <a:t>A</a:t>
                      </a:r>
                      <a:endParaRPr lang="pt-PT" sz="10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3567" marR="3567" marT="3567" marB="0" anchor="ctr">
                    <a:lnL w="12700" cmpd="sng">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buNone/>
                      </a:pPr>
                      <a:r>
                        <a:rPr lang="pt-PT" sz="1050" b="0" u="none" strike="noStrike" dirty="0">
                          <a:effectLst/>
                          <a:latin typeface="Calibri" panose="020F0502020204030204" pitchFamily="34" charset="0"/>
                          <a:ea typeface="Calibri" panose="020F0502020204030204" pitchFamily="34" charset="0"/>
                          <a:cs typeface="Calibri" panose="020F0502020204030204" pitchFamily="34" charset="0"/>
                        </a:rPr>
                        <a:t>LeNet5_base</a:t>
                      </a:r>
                      <a:endParaRPr lang="pt-PT" sz="105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3567" marR="3567" marT="3567"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buNone/>
                      </a:pPr>
                      <a:r>
                        <a:rPr lang="en-US" sz="1050" b="0" u="none" strike="noStrike" dirty="0">
                          <a:effectLst/>
                          <a:latin typeface="Calibri" panose="020F0502020204030204" pitchFamily="34" charset="0"/>
                          <a:ea typeface="Calibri" panose="020F0502020204030204" pitchFamily="34" charset="0"/>
                          <a:cs typeface="Calibri" panose="020F0502020204030204" pitchFamily="34" charset="0"/>
                        </a:rPr>
                        <a:t>LeNet5(conv=[6,16], fc=[120,84], pool=AvgPool2x2)</a:t>
                      </a:r>
                      <a:endParaRPr lang="en-US" sz="105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3567" marR="3567" marT="3567"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buNone/>
                      </a:pPr>
                      <a:r>
                        <a:rPr lang="pt-PT" sz="1050" b="0" u="none" strike="noStrike">
                          <a:effectLst/>
                          <a:latin typeface="Calibri" panose="020F0502020204030204" pitchFamily="34" charset="0"/>
                          <a:ea typeface="Calibri" panose="020F0502020204030204" pitchFamily="34" charset="0"/>
                          <a:cs typeface="Calibri" panose="020F0502020204030204" pitchFamily="34" charset="0"/>
                        </a:rPr>
                        <a:t>CrossEntropy</a:t>
                      </a:r>
                      <a:endParaRPr lang="pt-PT" sz="10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3567" marR="3567" marT="3567"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buNone/>
                      </a:pPr>
                      <a:r>
                        <a:rPr lang="pt-PT" sz="1050" b="0" u="none" strike="noStrike" dirty="0">
                          <a:effectLst/>
                          <a:latin typeface="Calibri" panose="020F0502020204030204" pitchFamily="34" charset="0"/>
                          <a:ea typeface="Calibri" panose="020F0502020204030204" pitchFamily="34" charset="0"/>
                          <a:cs typeface="Calibri" panose="020F0502020204030204" pitchFamily="34" charset="0"/>
                        </a:rPr>
                        <a:t>Adam </a:t>
                      </a:r>
                      <a:r>
                        <a:rPr lang="pt-PT" sz="1050" b="0" u="none" strike="noStrike" dirty="0" err="1">
                          <a:effectLst/>
                          <a:latin typeface="Calibri" panose="020F0502020204030204" pitchFamily="34" charset="0"/>
                          <a:ea typeface="Calibri" panose="020F0502020204030204" pitchFamily="34" charset="0"/>
                          <a:cs typeface="Calibri" panose="020F0502020204030204" pitchFamily="34" charset="0"/>
                        </a:rPr>
                        <a:t>lr</a:t>
                      </a:r>
                      <a:r>
                        <a:rPr lang="pt-PT" sz="1050" b="0" u="none" strike="noStrike" dirty="0">
                          <a:effectLst/>
                          <a:latin typeface="Calibri" panose="020F0502020204030204" pitchFamily="34" charset="0"/>
                          <a:ea typeface="Calibri" panose="020F0502020204030204" pitchFamily="34" charset="0"/>
                          <a:cs typeface="Calibri" panose="020F0502020204030204" pitchFamily="34" charset="0"/>
                        </a:rPr>
                        <a:t>=1e-3</a:t>
                      </a:r>
                      <a:endParaRPr lang="pt-PT" sz="105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3567" marR="3567" marT="3567"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buNone/>
                      </a:pPr>
                      <a:r>
                        <a:rPr lang="pt-PT" sz="1050" b="0" u="none" strike="noStrike" dirty="0" err="1">
                          <a:effectLst/>
                          <a:latin typeface="Calibri" panose="020F0502020204030204" pitchFamily="34" charset="0"/>
                          <a:ea typeface="Calibri" panose="020F0502020204030204" pitchFamily="34" charset="0"/>
                          <a:cs typeface="Calibri" panose="020F0502020204030204" pitchFamily="34" charset="0"/>
                        </a:rPr>
                        <a:t>Baseline</a:t>
                      </a:r>
                      <a:r>
                        <a:rPr lang="pt-PT" sz="1050" b="0" u="none" strike="noStrike" dirty="0">
                          <a:effectLst/>
                          <a:latin typeface="Calibri" panose="020F0502020204030204" pitchFamily="34" charset="0"/>
                          <a:ea typeface="Calibri" panose="020F0502020204030204" pitchFamily="34" charset="0"/>
                          <a:cs typeface="Calibri" panose="020F0502020204030204" pitchFamily="34" charset="0"/>
                        </a:rPr>
                        <a:t> - no </a:t>
                      </a:r>
                      <a:r>
                        <a:rPr lang="pt-PT" sz="1050" b="0" u="none" strike="noStrike" dirty="0" err="1">
                          <a:effectLst/>
                          <a:latin typeface="Calibri" panose="020F0502020204030204" pitchFamily="34" charset="0"/>
                          <a:ea typeface="Calibri" panose="020F0502020204030204" pitchFamily="34" charset="0"/>
                          <a:cs typeface="Calibri" panose="020F0502020204030204" pitchFamily="34" charset="0"/>
                        </a:rPr>
                        <a:t>regularisation</a:t>
                      </a:r>
                      <a:r>
                        <a:rPr lang="pt-PT" sz="1050" b="0" u="none" strike="noStrike" dirty="0">
                          <a:effectLst/>
                          <a:latin typeface="Calibri" panose="020F0502020204030204" pitchFamily="34" charset="0"/>
                          <a:ea typeface="Calibri" panose="020F0502020204030204" pitchFamily="34" charset="0"/>
                          <a:cs typeface="Calibri" panose="020F0502020204030204" pitchFamily="34" charset="0"/>
                        </a:rPr>
                        <a:t>; compare performance </a:t>
                      </a:r>
                      <a:r>
                        <a:rPr lang="pt-PT" sz="1050" b="0" u="none" strike="noStrike" dirty="0" err="1">
                          <a:effectLst/>
                          <a:latin typeface="Calibri" panose="020F0502020204030204" pitchFamily="34" charset="0"/>
                          <a:ea typeface="Calibri" panose="020F0502020204030204" pitchFamily="34" charset="0"/>
                          <a:cs typeface="Calibri" panose="020F0502020204030204" pitchFamily="34" charset="0"/>
                        </a:rPr>
                        <a:t>with</a:t>
                      </a:r>
                      <a:r>
                        <a:rPr lang="pt-PT" sz="1050" b="0" u="none" strike="noStrike" dirty="0">
                          <a:effectLst/>
                          <a:latin typeface="Calibri" panose="020F0502020204030204" pitchFamily="34" charset="0"/>
                          <a:ea typeface="Calibri" panose="020F0502020204030204" pitchFamily="34" charset="0"/>
                          <a:cs typeface="Calibri" panose="020F0502020204030204" pitchFamily="34" charset="0"/>
                        </a:rPr>
                        <a:t> </a:t>
                      </a:r>
                      <a:r>
                        <a:rPr lang="pt-PT" sz="1050" b="0" u="none" strike="noStrike" dirty="0" err="1">
                          <a:effectLst/>
                          <a:latin typeface="Calibri" panose="020F0502020204030204" pitchFamily="34" charset="0"/>
                          <a:ea typeface="Calibri" panose="020F0502020204030204" pitchFamily="34" charset="0"/>
                          <a:cs typeface="Calibri" panose="020F0502020204030204" pitchFamily="34" charset="0"/>
                        </a:rPr>
                        <a:t>existing</a:t>
                      </a:r>
                      <a:r>
                        <a:rPr lang="pt-PT" sz="1050" b="0" u="none" strike="noStrike" dirty="0">
                          <a:effectLst/>
                          <a:latin typeface="Calibri" panose="020F0502020204030204" pitchFamily="34" charset="0"/>
                          <a:ea typeface="Calibri" panose="020F0502020204030204" pitchFamily="34" charset="0"/>
                          <a:cs typeface="Calibri" panose="020F0502020204030204" pitchFamily="34" charset="0"/>
                        </a:rPr>
                        <a:t> </a:t>
                      </a:r>
                      <a:r>
                        <a:rPr lang="pt-PT" sz="1050" b="0" u="none" strike="noStrike" dirty="0" err="1">
                          <a:effectLst/>
                          <a:latin typeface="Calibri" panose="020F0502020204030204" pitchFamily="34" charset="0"/>
                          <a:ea typeface="Calibri" panose="020F0502020204030204" pitchFamily="34" charset="0"/>
                          <a:cs typeface="Calibri" panose="020F0502020204030204" pitchFamily="34" charset="0"/>
                        </a:rPr>
                        <a:t>architecture</a:t>
                      </a:r>
                      <a:endParaRPr lang="pt-PT" sz="105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3567" marR="3567" marT="3567" marB="0" anchor="ctr">
                    <a:lnL>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12010846"/>
                  </a:ext>
                </a:extLst>
              </a:tr>
              <a:tr h="216000">
                <a:tc>
                  <a:txBody>
                    <a:bodyPr/>
                    <a:lstStyle/>
                    <a:p>
                      <a:pPr algn="l" fontAlgn="ctr">
                        <a:buNone/>
                      </a:pPr>
                      <a:r>
                        <a:rPr lang="pt-PT" sz="1050" b="0" u="none" strike="noStrike" dirty="0">
                          <a:effectLst/>
                          <a:latin typeface="Calibri" panose="020F0502020204030204" pitchFamily="34" charset="0"/>
                          <a:ea typeface="Calibri" panose="020F0502020204030204" pitchFamily="34" charset="0"/>
                          <a:cs typeface="Calibri" panose="020F0502020204030204" pitchFamily="34" charset="0"/>
                        </a:rPr>
                        <a:t>C</a:t>
                      </a:r>
                      <a:endParaRPr lang="pt-PT" sz="105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3567" marR="3567" marT="3567" marB="0" anchor="ctr">
                    <a:lnL w="12700" cmpd="sng">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tc>
                  <a:txBody>
                    <a:bodyPr/>
                    <a:lstStyle/>
                    <a:p>
                      <a:pPr algn="l" fontAlgn="ctr">
                        <a:buNone/>
                      </a:pPr>
                      <a:r>
                        <a:rPr lang="pt-PT" sz="1050" b="0" i="0" u="none" strike="noStrike"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Simple_cw</a:t>
                      </a:r>
                      <a:endParaRPr lang="pt-PT" sz="105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3567" marR="3567" marT="3567"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tc>
                  <a:txBody>
                    <a:bodyPr/>
                    <a:lstStyle/>
                    <a:p>
                      <a:pPr algn="l" fontAlgn="ctr">
                        <a:buNone/>
                      </a:pPr>
                      <a:r>
                        <a:rPr lang="fr-FR" sz="1050" b="0" u="none" strike="noStrike" dirty="0">
                          <a:effectLst/>
                          <a:latin typeface="Calibri" panose="020F0502020204030204" pitchFamily="34" charset="0"/>
                          <a:ea typeface="Calibri" panose="020F0502020204030204" pitchFamily="34" charset="0"/>
                          <a:cs typeface="Calibri" panose="020F0502020204030204" pitchFamily="34" charset="0"/>
                        </a:rPr>
                        <a:t>CNN(</a:t>
                      </a:r>
                      <a:r>
                        <a:rPr lang="fr-FR" sz="1050" b="0" u="none" strike="noStrike" dirty="0" err="1">
                          <a:effectLst/>
                          <a:latin typeface="Calibri" panose="020F0502020204030204" pitchFamily="34" charset="0"/>
                          <a:ea typeface="Calibri" panose="020F0502020204030204" pitchFamily="34" charset="0"/>
                          <a:cs typeface="Calibri" panose="020F0502020204030204" pitchFamily="34" charset="0"/>
                        </a:rPr>
                        <a:t>conv</a:t>
                      </a:r>
                      <a:r>
                        <a:rPr lang="fr-FR" sz="1050" b="0" u="none" strike="noStrike" dirty="0">
                          <a:effectLst/>
                          <a:latin typeface="Calibri" panose="020F0502020204030204" pitchFamily="34" charset="0"/>
                          <a:ea typeface="Calibri" panose="020F0502020204030204" pitchFamily="34" charset="0"/>
                          <a:cs typeface="Calibri" panose="020F0502020204030204" pitchFamily="34" charset="0"/>
                        </a:rPr>
                        <a:t>=[32,64], </a:t>
                      </a:r>
                      <a:r>
                        <a:rPr lang="fr-FR" sz="1050" b="0" u="none" strike="noStrike" dirty="0" err="1">
                          <a:effectLst/>
                          <a:latin typeface="Calibri" panose="020F0502020204030204" pitchFamily="34" charset="0"/>
                          <a:ea typeface="Calibri" panose="020F0502020204030204" pitchFamily="34" charset="0"/>
                          <a:cs typeface="Calibri" panose="020F0502020204030204" pitchFamily="34" charset="0"/>
                        </a:rPr>
                        <a:t>fc</a:t>
                      </a:r>
                      <a:r>
                        <a:rPr lang="fr-FR" sz="1050" b="0" u="none" strike="noStrike" dirty="0">
                          <a:effectLst/>
                          <a:latin typeface="Calibri" panose="020F0502020204030204" pitchFamily="34" charset="0"/>
                          <a:ea typeface="Calibri" panose="020F0502020204030204" pitchFamily="34" charset="0"/>
                          <a:cs typeface="Calibri" panose="020F0502020204030204" pitchFamily="34" charset="0"/>
                        </a:rPr>
                        <a:t>=[9], pool=MaxPool2x2+AvgPool2x2)</a:t>
                      </a:r>
                      <a:endParaRPr lang="fr-FR" sz="105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3567" marR="3567" marT="3567"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tc>
                  <a:txBody>
                    <a:bodyPr/>
                    <a:lstStyle/>
                    <a:p>
                      <a:pPr algn="l" fontAlgn="ctr">
                        <a:buNone/>
                      </a:pPr>
                      <a:r>
                        <a:rPr lang="pt-PT" sz="1050" b="0" u="none" strike="noStrike" dirty="0">
                          <a:effectLst/>
                          <a:latin typeface="Calibri" panose="020F0502020204030204" pitchFamily="34" charset="0"/>
                          <a:ea typeface="Calibri" panose="020F0502020204030204" pitchFamily="34" charset="0"/>
                          <a:cs typeface="Calibri" panose="020F0502020204030204" pitchFamily="34" charset="0"/>
                        </a:rPr>
                        <a:t>CE + </a:t>
                      </a:r>
                      <a:r>
                        <a:rPr lang="pt-PT" sz="1050" b="0" u="none" strike="noStrike" dirty="0" err="1">
                          <a:effectLst/>
                          <a:latin typeface="Calibri" panose="020F0502020204030204" pitchFamily="34" charset="0"/>
                          <a:ea typeface="Calibri" panose="020F0502020204030204" pitchFamily="34" charset="0"/>
                          <a:cs typeface="Calibri" panose="020F0502020204030204" pitchFamily="34" charset="0"/>
                        </a:rPr>
                        <a:t>class</a:t>
                      </a:r>
                      <a:r>
                        <a:rPr lang="pt-PT" sz="1050" b="0" u="none" strike="noStrike" dirty="0">
                          <a:effectLst/>
                          <a:latin typeface="Calibri" panose="020F0502020204030204" pitchFamily="34" charset="0"/>
                          <a:ea typeface="Calibri" panose="020F0502020204030204" pitchFamily="34" charset="0"/>
                          <a:cs typeface="Calibri" panose="020F0502020204030204" pitchFamily="34" charset="0"/>
                        </a:rPr>
                        <a:t> </a:t>
                      </a:r>
                      <a:r>
                        <a:rPr lang="pt-PT" sz="1050" b="0" u="none" strike="noStrike" dirty="0" err="1">
                          <a:effectLst/>
                          <a:latin typeface="Calibri" panose="020F0502020204030204" pitchFamily="34" charset="0"/>
                          <a:ea typeface="Calibri" panose="020F0502020204030204" pitchFamily="34" charset="0"/>
                          <a:cs typeface="Calibri" panose="020F0502020204030204" pitchFamily="34" charset="0"/>
                        </a:rPr>
                        <a:t>weights</a:t>
                      </a:r>
                      <a:endParaRPr lang="pt-PT" sz="105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3567" marR="3567" marT="3567"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tc>
                  <a:txBody>
                    <a:bodyPr/>
                    <a:lstStyle/>
                    <a:p>
                      <a:pPr algn="l" fontAlgn="ctr">
                        <a:buNone/>
                      </a:pPr>
                      <a:r>
                        <a:rPr lang="pt-PT" sz="1050" b="0" u="none" strike="noStrike" dirty="0">
                          <a:effectLst/>
                          <a:latin typeface="Calibri" panose="020F0502020204030204" pitchFamily="34" charset="0"/>
                          <a:ea typeface="Calibri" panose="020F0502020204030204" pitchFamily="34" charset="0"/>
                          <a:cs typeface="Calibri" panose="020F0502020204030204" pitchFamily="34" charset="0"/>
                        </a:rPr>
                        <a:t>Adam </a:t>
                      </a:r>
                      <a:r>
                        <a:rPr lang="pt-PT" sz="1050" b="0" u="none" strike="noStrike" dirty="0" err="1">
                          <a:effectLst/>
                          <a:latin typeface="Calibri" panose="020F0502020204030204" pitchFamily="34" charset="0"/>
                          <a:ea typeface="Calibri" panose="020F0502020204030204" pitchFamily="34" charset="0"/>
                          <a:cs typeface="Calibri" panose="020F0502020204030204" pitchFamily="34" charset="0"/>
                        </a:rPr>
                        <a:t>lr</a:t>
                      </a:r>
                      <a:r>
                        <a:rPr lang="pt-PT" sz="1050" b="0" u="none" strike="noStrike" dirty="0">
                          <a:effectLst/>
                          <a:latin typeface="Calibri" panose="020F0502020204030204" pitchFamily="34" charset="0"/>
                          <a:ea typeface="Calibri" panose="020F0502020204030204" pitchFamily="34" charset="0"/>
                          <a:cs typeface="Calibri" panose="020F0502020204030204" pitchFamily="34" charset="0"/>
                        </a:rPr>
                        <a:t>=1e-3</a:t>
                      </a:r>
                      <a:endParaRPr lang="pt-PT" sz="105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3567" marR="3567" marT="3567"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tc>
                  <a:txBody>
                    <a:bodyPr/>
                    <a:lstStyle/>
                    <a:p>
                      <a:pPr algn="l" fontAlgn="ctr">
                        <a:buNone/>
                      </a:pPr>
                      <a:r>
                        <a:rPr lang="en-US" sz="1050" b="0" u="none" strike="noStrike" dirty="0">
                          <a:effectLst/>
                          <a:latin typeface="Calibri" panose="020F0502020204030204" pitchFamily="34" charset="0"/>
                          <a:ea typeface="Calibri" panose="020F0502020204030204" pitchFamily="34" charset="0"/>
                          <a:cs typeface="Calibri" panose="020F0502020204030204" pitchFamily="34" charset="0"/>
                        </a:rPr>
                        <a:t>Evaluate the performance of a simple 20k params CNN</a:t>
                      </a:r>
                      <a:endParaRPr lang="en-US" sz="105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3567" marR="3567" marT="3567" marB="0" anchor="ctr">
                    <a:lnL>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extLst>
                  <a:ext uri="{0D108BD9-81ED-4DB2-BD59-A6C34878D82A}">
                    <a16:rowId xmlns:a16="http://schemas.microsoft.com/office/drawing/2014/main" val="3313586488"/>
                  </a:ext>
                </a:extLst>
              </a:tr>
              <a:tr h="216000">
                <a:tc>
                  <a:txBody>
                    <a:bodyPr/>
                    <a:lstStyle/>
                    <a:p>
                      <a:pPr algn="l" fontAlgn="ctr">
                        <a:buNone/>
                      </a:pPr>
                      <a:r>
                        <a:rPr lang="pt-PT" sz="1050" b="0" u="none" strike="noStrike" dirty="0">
                          <a:effectLst/>
                          <a:latin typeface="Calibri" panose="020F0502020204030204" pitchFamily="34" charset="0"/>
                          <a:ea typeface="Calibri" panose="020F0502020204030204" pitchFamily="34" charset="0"/>
                          <a:cs typeface="Calibri" panose="020F0502020204030204" pitchFamily="34" charset="0"/>
                        </a:rPr>
                        <a:t>G</a:t>
                      </a:r>
                      <a:endParaRPr lang="pt-PT" sz="105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3567" marR="3567" marT="3567" marB="0" anchor="ctr">
                    <a:lnL w="12700" cmpd="sng">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buNone/>
                      </a:pPr>
                      <a:r>
                        <a:rPr lang="pt-PT" sz="1050" b="0" u="none" strike="noStrike" dirty="0" err="1">
                          <a:effectLst/>
                          <a:latin typeface="Calibri" panose="020F0502020204030204" pitchFamily="34" charset="0"/>
                          <a:ea typeface="Calibri" panose="020F0502020204030204" pitchFamily="34" charset="0"/>
                          <a:cs typeface="Calibri" panose="020F0502020204030204" pitchFamily="34" charset="0"/>
                        </a:rPr>
                        <a:t>Medium_dcw</a:t>
                      </a:r>
                      <a:endParaRPr lang="pt-PT" sz="105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3567" marR="3567" marT="3567"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buNone/>
                      </a:pPr>
                      <a:r>
                        <a:rPr lang="en-US" sz="1050" b="0" u="none" strike="noStrike" dirty="0" err="1">
                          <a:effectLst/>
                          <a:latin typeface="Calibri" panose="020F0502020204030204" pitchFamily="34" charset="0"/>
                          <a:ea typeface="Calibri" panose="020F0502020204030204" pitchFamily="34" charset="0"/>
                          <a:cs typeface="Calibri" panose="020F0502020204030204" pitchFamily="34" charset="0"/>
                        </a:rPr>
                        <a:t>MediumCNN</a:t>
                      </a:r>
                      <a:r>
                        <a:rPr lang="en-US" sz="1050" b="0" u="none" strike="noStrike" dirty="0">
                          <a:effectLst/>
                          <a:latin typeface="Calibri" panose="020F0502020204030204" pitchFamily="34" charset="0"/>
                          <a:ea typeface="Calibri" panose="020F0502020204030204" pitchFamily="34" charset="0"/>
                          <a:cs typeface="Calibri" panose="020F0502020204030204" pitchFamily="34" charset="0"/>
                        </a:rPr>
                        <a:t>(conv=[32,64,128], fc=[9], pool=MaxPool2x2+AvgPool2x2, drop=0.3, BN)</a:t>
                      </a:r>
                      <a:endParaRPr lang="fr-FR" sz="105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3567" marR="3567" marT="3567"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buNone/>
                      </a:pPr>
                      <a:r>
                        <a:rPr lang="en-US" sz="1050" b="0" u="none" strike="noStrike" dirty="0">
                          <a:effectLst/>
                          <a:latin typeface="Calibri" panose="020F0502020204030204" pitchFamily="34" charset="0"/>
                          <a:ea typeface="Calibri" panose="020F0502020204030204" pitchFamily="34" charset="0"/>
                          <a:cs typeface="Calibri" panose="020F0502020204030204" pitchFamily="34" charset="0"/>
                        </a:rPr>
                        <a:t>CE + class weights + dropout</a:t>
                      </a:r>
                      <a:endParaRPr lang="en-US" sz="105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3567" marR="3567" marT="3567"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buNone/>
                      </a:pPr>
                      <a:r>
                        <a:rPr lang="pt-PT" sz="1050" b="0" u="none" strike="noStrike">
                          <a:effectLst/>
                          <a:latin typeface="Calibri" panose="020F0502020204030204" pitchFamily="34" charset="0"/>
                          <a:ea typeface="Calibri" panose="020F0502020204030204" pitchFamily="34" charset="0"/>
                          <a:cs typeface="Calibri" panose="020F0502020204030204" pitchFamily="34" charset="0"/>
                        </a:rPr>
                        <a:t>Adam lr=1e-3</a:t>
                      </a:r>
                      <a:endParaRPr lang="pt-PT" sz="10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3567" marR="3567" marT="3567"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buNone/>
                      </a:pPr>
                      <a:r>
                        <a:rPr lang="pt-PT" sz="1050" b="0" u="none" strike="noStrike" dirty="0" err="1">
                          <a:effectLst/>
                          <a:latin typeface="Calibri" panose="020F0502020204030204" pitchFamily="34" charset="0"/>
                          <a:ea typeface="Calibri" panose="020F0502020204030204" pitchFamily="34" charset="0"/>
                          <a:cs typeface="Calibri" panose="020F0502020204030204" pitchFamily="34" charset="0"/>
                        </a:rPr>
                        <a:t>Exploration</a:t>
                      </a:r>
                      <a:r>
                        <a:rPr lang="pt-PT" sz="1050" b="0" u="none" strike="noStrike" dirty="0">
                          <a:effectLst/>
                          <a:latin typeface="Calibri" panose="020F0502020204030204" pitchFamily="34" charset="0"/>
                          <a:ea typeface="Calibri" panose="020F0502020204030204" pitchFamily="34" charset="0"/>
                          <a:cs typeface="Calibri" panose="020F0502020204030204" pitchFamily="34" charset="0"/>
                        </a:rPr>
                        <a:t> </a:t>
                      </a:r>
                      <a:r>
                        <a:rPr lang="pt-PT" sz="1050" b="0" u="none" strike="noStrike" dirty="0" err="1">
                          <a:effectLst/>
                          <a:latin typeface="Calibri" panose="020F0502020204030204" pitchFamily="34" charset="0"/>
                          <a:ea typeface="Calibri" panose="020F0502020204030204" pitchFamily="34" charset="0"/>
                          <a:cs typeface="Calibri" panose="020F0502020204030204" pitchFamily="34" charset="0"/>
                        </a:rPr>
                        <a:t>of</a:t>
                      </a:r>
                      <a:r>
                        <a:rPr lang="pt-PT" sz="1050" b="0" u="none" strike="noStrike" dirty="0">
                          <a:effectLst/>
                          <a:latin typeface="Calibri" panose="020F0502020204030204" pitchFamily="34" charset="0"/>
                          <a:ea typeface="Calibri" panose="020F0502020204030204" pitchFamily="34" charset="0"/>
                          <a:cs typeface="Calibri" panose="020F0502020204030204" pitchFamily="34" charset="0"/>
                        </a:rPr>
                        <a:t> </a:t>
                      </a:r>
                      <a:r>
                        <a:rPr lang="pt-PT" sz="1050" b="0" u="none" strike="noStrike" dirty="0" err="1">
                          <a:effectLst/>
                          <a:latin typeface="Calibri" panose="020F0502020204030204" pitchFamily="34" charset="0"/>
                          <a:ea typeface="Calibri" panose="020F0502020204030204" pitchFamily="34" charset="0"/>
                          <a:cs typeface="Calibri" panose="020F0502020204030204" pitchFamily="34" charset="0"/>
                        </a:rPr>
                        <a:t>the</a:t>
                      </a:r>
                      <a:r>
                        <a:rPr lang="pt-PT" sz="1050" b="0" u="none" strike="noStrike" dirty="0">
                          <a:effectLst/>
                          <a:latin typeface="Calibri" panose="020F0502020204030204" pitchFamily="34" charset="0"/>
                          <a:ea typeface="Calibri" panose="020F0502020204030204" pitchFamily="34" charset="0"/>
                          <a:cs typeface="Calibri" panose="020F0502020204030204" pitchFamily="34" charset="0"/>
                        </a:rPr>
                        <a:t> </a:t>
                      </a:r>
                      <a:r>
                        <a:rPr lang="pt-PT" sz="1050" b="0" u="none" strike="noStrike" dirty="0" err="1">
                          <a:effectLst/>
                          <a:latin typeface="Calibri" panose="020F0502020204030204" pitchFamily="34" charset="0"/>
                          <a:ea typeface="Calibri" panose="020F0502020204030204" pitchFamily="34" charset="0"/>
                          <a:cs typeface="Calibri" panose="020F0502020204030204" pitchFamily="34" charset="0"/>
                        </a:rPr>
                        <a:t>effects</a:t>
                      </a:r>
                      <a:r>
                        <a:rPr lang="pt-PT" sz="1050" b="0" u="none" strike="noStrike" dirty="0">
                          <a:effectLst/>
                          <a:latin typeface="Calibri" panose="020F0502020204030204" pitchFamily="34" charset="0"/>
                          <a:ea typeface="Calibri" panose="020F0502020204030204" pitchFamily="34" charset="0"/>
                          <a:cs typeface="Calibri" panose="020F0502020204030204" pitchFamily="34" charset="0"/>
                        </a:rPr>
                        <a:t> </a:t>
                      </a:r>
                      <a:r>
                        <a:rPr lang="pt-PT" sz="1050" b="0" u="none" strike="noStrike" dirty="0" err="1">
                          <a:effectLst/>
                          <a:latin typeface="Calibri" panose="020F0502020204030204" pitchFamily="34" charset="0"/>
                          <a:ea typeface="Calibri" panose="020F0502020204030204" pitchFamily="34" charset="0"/>
                          <a:cs typeface="Calibri" panose="020F0502020204030204" pitchFamily="34" charset="0"/>
                        </a:rPr>
                        <a:t>of</a:t>
                      </a:r>
                      <a:r>
                        <a:rPr lang="pt-PT" sz="1050" b="0" u="none" strike="noStrike" dirty="0">
                          <a:effectLst/>
                          <a:latin typeface="Calibri" panose="020F0502020204030204" pitchFamily="34" charset="0"/>
                          <a:ea typeface="Calibri" panose="020F0502020204030204" pitchFamily="34" charset="0"/>
                          <a:cs typeface="Calibri" panose="020F0502020204030204" pitchFamily="34" charset="0"/>
                        </a:rPr>
                        <a:t> </a:t>
                      </a:r>
                      <a:r>
                        <a:rPr lang="pt-PT" sz="1050" b="0" u="none" strike="noStrike" dirty="0" err="1">
                          <a:effectLst/>
                          <a:latin typeface="Calibri" panose="020F0502020204030204" pitchFamily="34" charset="0"/>
                          <a:ea typeface="Calibri" panose="020F0502020204030204" pitchFamily="34" charset="0"/>
                          <a:cs typeface="Calibri" panose="020F0502020204030204" pitchFamily="34" charset="0"/>
                        </a:rPr>
                        <a:t>multiple</a:t>
                      </a:r>
                      <a:r>
                        <a:rPr lang="pt-PT" sz="1050" b="0" u="none" strike="noStrike" dirty="0">
                          <a:effectLst/>
                          <a:latin typeface="Calibri" panose="020F0502020204030204" pitchFamily="34" charset="0"/>
                          <a:ea typeface="Calibri" panose="020F0502020204030204" pitchFamily="34" charset="0"/>
                          <a:cs typeface="Calibri" panose="020F0502020204030204" pitchFamily="34" charset="0"/>
                        </a:rPr>
                        <a:t> </a:t>
                      </a:r>
                      <a:r>
                        <a:rPr lang="pt-PT" sz="1050" b="0" u="none" strike="noStrike" dirty="0" err="1">
                          <a:effectLst/>
                          <a:latin typeface="Calibri" panose="020F0502020204030204" pitchFamily="34" charset="0"/>
                          <a:ea typeface="Calibri" panose="020F0502020204030204" pitchFamily="34" charset="0"/>
                          <a:cs typeface="Calibri" panose="020F0502020204030204" pitchFamily="34" charset="0"/>
                        </a:rPr>
                        <a:t>convolution</a:t>
                      </a:r>
                      <a:r>
                        <a:rPr lang="pt-PT" sz="1050" b="0" u="none" strike="noStrike" dirty="0">
                          <a:effectLst/>
                          <a:latin typeface="Calibri" panose="020F0502020204030204" pitchFamily="34" charset="0"/>
                          <a:ea typeface="Calibri" panose="020F0502020204030204" pitchFamily="34" charset="0"/>
                          <a:cs typeface="Calibri" panose="020F0502020204030204" pitchFamily="34" charset="0"/>
                        </a:rPr>
                        <a:t> </a:t>
                      </a:r>
                      <a:r>
                        <a:rPr lang="pt-PT" sz="1050" b="0" u="none" strike="noStrike" dirty="0" err="1">
                          <a:effectLst/>
                          <a:latin typeface="Calibri" panose="020F0502020204030204" pitchFamily="34" charset="0"/>
                          <a:ea typeface="Calibri" panose="020F0502020204030204" pitchFamily="34" charset="0"/>
                          <a:cs typeface="Calibri" panose="020F0502020204030204" pitchFamily="34" charset="0"/>
                        </a:rPr>
                        <a:t>and</a:t>
                      </a:r>
                      <a:r>
                        <a:rPr lang="pt-PT" sz="1050" b="0" u="none" strike="noStrike" dirty="0">
                          <a:effectLst/>
                          <a:latin typeface="Calibri" panose="020F0502020204030204" pitchFamily="34" charset="0"/>
                          <a:ea typeface="Calibri" panose="020F0502020204030204" pitchFamily="34" charset="0"/>
                          <a:cs typeface="Calibri" panose="020F0502020204030204" pitchFamily="34" charset="0"/>
                        </a:rPr>
                        <a:t> </a:t>
                      </a:r>
                      <a:r>
                        <a:rPr lang="pt-PT" sz="1050" b="0" u="none" strike="noStrike" dirty="0" err="1">
                          <a:effectLst/>
                          <a:latin typeface="Calibri" panose="020F0502020204030204" pitchFamily="34" charset="0"/>
                          <a:ea typeface="Calibri" panose="020F0502020204030204" pitchFamily="34" charset="0"/>
                          <a:cs typeface="Calibri" panose="020F0502020204030204" pitchFamily="34" charset="0"/>
                        </a:rPr>
                        <a:t>pooling</a:t>
                      </a:r>
                      <a:r>
                        <a:rPr lang="pt-PT" sz="1050" b="0" u="none" strike="noStrike" dirty="0">
                          <a:effectLst/>
                          <a:latin typeface="Calibri" panose="020F0502020204030204" pitchFamily="34" charset="0"/>
                          <a:ea typeface="Calibri" panose="020F0502020204030204" pitchFamily="34" charset="0"/>
                          <a:cs typeface="Calibri" panose="020F0502020204030204" pitchFamily="34" charset="0"/>
                        </a:rPr>
                        <a:t> </a:t>
                      </a:r>
                      <a:r>
                        <a:rPr lang="pt-PT" sz="1050" b="0" u="none" strike="noStrike" dirty="0" err="1">
                          <a:effectLst/>
                          <a:latin typeface="Calibri" panose="020F0502020204030204" pitchFamily="34" charset="0"/>
                          <a:ea typeface="Calibri" panose="020F0502020204030204" pitchFamily="34" charset="0"/>
                          <a:cs typeface="Calibri" panose="020F0502020204030204" pitchFamily="34" charset="0"/>
                        </a:rPr>
                        <a:t>layers</a:t>
                      </a:r>
                      <a:r>
                        <a:rPr lang="pt-PT" sz="1050" b="0" u="none" strike="noStrike" dirty="0">
                          <a:effectLst/>
                          <a:latin typeface="Calibri" panose="020F0502020204030204" pitchFamily="34" charset="0"/>
                          <a:ea typeface="Calibri" panose="020F0502020204030204" pitchFamily="34" charset="0"/>
                          <a:cs typeface="Calibri" panose="020F0502020204030204" pitchFamily="34" charset="0"/>
                        </a:rPr>
                        <a:t>; </a:t>
                      </a:r>
                      <a:r>
                        <a:rPr lang="pt-PT" sz="1050" b="0" u="none" strike="noStrike" dirty="0" err="1">
                          <a:effectLst/>
                          <a:latin typeface="Calibri" panose="020F0502020204030204" pitchFamily="34" charset="0"/>
                          <a:ea typeface="Calibri" panose="020F0502020204030204" pitchFamily="34" charset="0"/>
                          <a:cs typeface="Calibri" panose="020F0502020204030204" pitchFamily="34" charset="0"/>
                        </a:rPr>
                        <a:t>regularization</a:t>
                      </a:r>
                      <a:r>
                        <a:rPr lang="pt-PT" sz="1050" b="0" u="none" strike="noStrike" dirty="0">
                          <a:effectLst/>
                          <a:latin typeface="Calibri" panose="020F0502020204030204" pitchFamily="34" charset="0"/>
                          <a:ea typeface="Calibri" panose="020F0502020204030204" pitchFamily="34" charset="0"/>
                          <a:cs typeface="Calibri" panose="020F0502020204030204" pitchFamily="34" charset="0"/>
                        </a:rPr>
                        <a:t> </a:t>
                      </a:r>
                      <a:r>
                        <a:rPr lang="pt-PT" sz="1050" b="0" u="none" strike="noStrike" dirty="0" err="1">
                          <a:effectLst/>
                          <a:latin typeface="Calibri" panose="020F0502020204030204" pitchFamily="34" charset="0"/>
                          <a:ea typeface="Calibri" panose="020F0502020204030204" pitchFamily="34" charset="0"/>
                          <a:cs typeface="Calibri" panose="020F0502020204030204" pitchFamily="34" charset="0"/>
                        </a:rPr>
                        <a:t>with</a:t>
                      </a:r>
                      <a:r>
                        <a:rPr lang="en-US" sz="1050" b="0" u="none" strike="noStrike" dirty="0">
                          <a:effectLst/>
                          <a:latin typeface="Calibri" panose="020F0502020204030204" pitchFamily="34" charset="0"/>
                          <a:ea typeface="Calibri" panose="020F0502020204030204" pitchFamily="34" charset="0"/>
                          <a:cs typeface="Calibri" panose="020F0502020204030204" pitchFamily="34" charset="0"/>
                        </a:rPr>
                        <a:t> inverse-frequency class weights in </a:t>
                      </a:r>
                      <a:r>
                        <a:rPr lang="en-US" sz="1050" b="0" u="none" strike="noStrike" dirty="0" err="1">
                          <a:effectLst/>
                          <a:latin typeface="Calibri" panose="020F0502020204030204" pitchFamily="34" charset="0"/>
                          <a:ea typeface="Calibri" panose="020F0502020204030204" pitchFamily="34" charset="0"/>
                          <a:cs typeface="Calibri" panose="020F0502020204030204" pitchFamily="34" charset="0"/>
                        </a:rPr>
                        <a:t>CrossEntropyLoss</a:t>
                      </a:r>
                      <a:r>
                        <a:rPr lang="en-US" sz="1050" b="0" u="none" strike="noStrike" dirty="0">
                          <a:effectLst/>
                          <a:latin typeface="Calibri" panose="020F0502020204030204" pitchFamily="34" charset="0"/>
                          <a:ea typeface="Calibri" panose="020F0502020204030204" pitchFamily="34" charset="0"/>
                          <a:cs typeface="Calibri" panose="020F0502020204030204" pitchFamily="34" charset="0"/>
                        </a:rPr>
                        <a:t> and dropout</a:t>
                      </a:r>
                      <a:endParaRPr lang="pt-PT" sz="105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3567" marR="3567" marT="3567" marB="0" anchor="ctr">
                    <a:lnL>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94616625"/>
                  </a:ext>
                </a:extLst>
              </a:tr>
              <a:tr h="216000">
                <a:tc>
                  <a:txBody>
                    <a:bodyPr/>
                    <a:lstStyle/>
                    <a:p>
                      <a:pPr algn="l" fontAlgn="ctr">
                        <a:buNone/>
                      </a:pPr>
                      <a:r>
                        <a:rPr lang="pt-PT" sz="1050" b="0" u="none" strike="noStrike" dirty="0">
                          <a:effectLst/>
                          <a:latin typeface="Calibri" panose="020F0502020204030204" pitchFamily="34" charset="0"/>
                          <a:ea typeface="Calibri" panose="020F0502020204030204" pitchFamily="34" charset="0"/>
                          <a:cs typeface="Calibri" panose="020F0502020204030204" pitchFamily="34" charset="0"/>
                        </a:rPr>
                        <a:t>H</a:t>
                      </a:r>
                      <a:endParaRPr lang="pt-PT" sz="105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3567" marR="3567" marT="3567" marB="0" anchor="ctr">
                    <a:lnL w="12700" cmpd="sng">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buNone/>
                      </a:pPr>
                      <a:r>
                        <a:rPr lang="pt-PT" sz="1050" b="0" i="0" u="none" strike="noStrike"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Medium_dwrs</a:t>
                      </a:r>
                      <a:endParaRPr lang="pt-PT" sz="105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3567" marR="3567" marT="3567"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buNone/>
                      </a:pPr>
                      <a:r>
                        <a:rPr lang="en-US" sz="1050" b="0" u="none" strike="noStrike" dirty="0" err="1">
                          <a:effectLst/>
                          <a:latin typeface="Calibri" panose="020F0502020204030204" pitchFamily="34" charset="0"/>
                          <a:ea typeface="Calibri" panose="020F0502020204030204" pitchFamily="34" charset="0"/>
                          <a:cs typeface="Calibri" panose="020F0502020204030204" pitchFamily="34" charset="0"/>
                        </a:rPr>
                        <a:t>MediumCNN</a:t>
                      </a:r>
                      <a:r>
                        <a:rPr lang="en-US" sz="1050" b="0" u="none" strike="noStrike" dirty="0">
                          <a:effectLst/>
                          <a:latin typeface="Calibri" panose="020F0502020204030204" pitchFamily="34" charset="0"/>
                          <a:ea typeface="Calibri" panose="020F0502020204030204" pitchFamily="34" charset="0"/>
                          <a:cs typeface="Calibri" panose="020F0502020204030204" pitchFamily="34" charset="0"/>
                        </a:rPr>
                        <a:t>(conv=[32,64,128], fc=[9], pool=MaxPool2x2+AvgPool2x2, drop=0.3, BN)</a:t>
                      </a:r>
                      <a:endParaRPr lang="fr-FR" sz="105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3567" marR="3567" marT="3567"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buNone/>
                      </a:pPr>
                      <a:r>
                        <a:rPr lang="en-US" sz="1050" b="0" u="none" strike="noStrike" dirty="0">
                          <a:effectLst/>
                          <a:latin typeface="Calibri" panose="020F0502020204030204" pitchFamily="34" charset="0"/>
                          <a:ea typeface="Calibri" panose="020F0502020204030204" pitchFamily="34" charset="0"/>
                          <a:cs typeface="Calibri" panose="020F0502020204030204" pitchFamily="34" charset="0"/>
                        </a:rPr>
                        <a:t>CE + </a:t>
                      </a:r>
                      <a:r>
                        <a:rPr lang="en-US" sz="1050" b="0" u="none" strike="noStrike" dirty="0" err="1">
                          <a:effectLst/>
                          <a:latin typeface="Calibri" panose="020F0502020204030204" pitchFamily="34" charset="0"/>
                          <a:ea typeface="Calibri" panose="020F0502020204030204" pitchFamily="34" charset="0"/>
                          <a:cs typeface="Calibri" panose="020F0502020204030204" pitchFamily="34" charset="0"/>
                        </a:rPr>
                        <a:t>WRSampler</a:t>
                      </a:r>
                      <a:r>
                        <a:rPr lang="en-US" sz="1050" b="0" u="none" strike="noStrike" dirty="0">
                          <a:effectLst/>
                          <a:latin typeface="Calibri" panose="020F0502020204030204" pitchFamily="34" charset="0"/>
                          <a:ea typeface="Calibri" panose="020F0502020204030204" pitchFamily="34" charset="0"/>
                          <a:cs typeface="Calibri" panose="020F0502020204030204" pitchFamily="34" charset="0"/>
                        </a:rPr>
                        <a:t> (replaces class weights) + dropout</a:t>
                      </a:r>
                      <a:endParaRPr lang="en-US" sz="105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3567" marR="3567" marT="3567"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buNone/>
                      </a:pPr>
                      <a:r>
                        <a:rPr lang="pt-PT" sz="1050" b="0" u="none" strike="noStrike" dirty="0">
                          <a:effectLst/>
                          <a:latin typeface="Calibri" panose="020F0502020204030204" pitchFamily="34" charset="0"/>
                          <a:ea typeface="Calibri" panose="020F0502020204030204" pitchFamily="34" charset="0"/>
                          <a:cs typeface="Calibri" panose="020F0502020204030204" pitchFamily="34" charset="0"/>
                        </a:rPr>
                        <a:t>Adam </a:t>
                      </a:r>
                      <a:r>
                        <a:rPr lang="pt-PT" sz="1050" b="0" u="none" strike="noStrike" dirty="0" err="1">
                          <a:effectLst/>
                          <a:latin typeface="Calibri" panose="020F0502020204030204" pitchFamily="34" charset="0"/>
                          <a:ea typeface="Calibri" panose="020F0502020204030204" pitchFamily="34" charset="0"/>
                          <a:cs typeface="Calibri" panose="020F0502020204030204" pitchFamily="34" charset="0"/>
                        </a:rPr>
                        <a:t>lr</a:t>
                      </a:r>
                      <a:r>
                        <a:rPr lang="pt-PT" sz="1050" b="0" u="none" strike="noStrike" dirty="0">
                          <a:effectLst/>
                          <a:latin typeface="Calibri" panose="020F0502020204030204" pitchFamily="34" charset="0"/>
                          <a:ea typeface="Calibri" panose="020F0502020204030204" pitchFamily="34" charset="0"/>
                          <a:cs typeface="Calibri" panose="020F0502020204030204" pitchFamily="34" charset="0"/>
                        </a:rPr>
                        <a:t>=1e-3</a:t>
                      </a:r>
                      <a:endParaRPr lang="pt-PT" sz="105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3567" marR="3567" marT="3567"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buNone/>
                      </a:pPr>
                      <a:r>
                        <a:rPr lang="pt-PT" sz="1050" b="0" u="none" strike="noStrike" dirty="0" err="1">
                          <a:effectLst/>
                          <a:latin typeface="Calibri" panose="020F0502020204030204" pitchFamily="34" charset="0"/>
                          <a:ea typeface="Calibri" panose="020F0502020204030204" pitchFamily="34" charset="0"/>
                          <a:cs typeface="Calibri" panose="020F0502020204030204" pitchFamily="34" charset="0"/>
                        </a:rPr>
                        <a:t>WeightedRandomSampler</a:t>
                      </a:r>
                      <a:r>
                        <a:rPr lang="pt-PT" sz="1050" b="0" u="none" strike="noStrike" dirty="0">
                          <a:effectLst/>
                          <a:latin typeface="Calibri" panose="020F0502020204030204" pitchFamily="34" charset="0"/>
                          <a:ea typeface="Calibri" panose="020F0502020204030204" pitchFamily="34" charset="0"/>
                          <a:cs typeface="Calibri" panose="020F0502020204030204" pitchFamily="34" charset="0"/>
                        </a:rPr>
                        <a:t> </a:t>
                      </a:r>
                      <a:r>
                        <a:rPr lang="pt-PT" sz="1050" b="0" u="none" strike="noStrike" dirty="0" err="1">
                          <a:effectLst/>
                          <a:latin typeface="Calibri" panose="020F0502020204030204" pitchFamily="34" charset="0"/>
                          <a:ea typeface="Calibri" panose="020F0502020204030204" pitchFamily="34" charset="0"/>
                          <a:cs typeface="Calibri" panose="020F0502020204030204" pitchFamily="34" charset="0"/>
                        </a:rPr>
                        <a:t>replaces</a:t>
                      </a:r>
                      <a:r>
                        <a:rPr lang="pt-PT" sz="1050" b="0" u="none" strike="noStrike" dirty="0">
                          <a:effectLst/>
                          <a:latin typeface="Calibri" panose="020F0502020204030204" pitchFamily="34" charset="0"/>
                          <a:ea typeface="Calibri" panose="020F0502020204030204" pitchFamily="34" charset="0"/>
                          <a:cs typeface="Calibri" panose="020F0502020204030204" pitchFamily="34" charset="0"/>
                        </a:rPr>
                        <a:t> </a:t>
                      </a:r>
                      <a:r>
                        <a:rPr lang="pt-PT" sz="1050" b="0" u="none" strike="noStrike" dirty="0" err="1">
                          <a:effectLst/>
                          <a:latin typeface="Calibri" panose="020F0502020204030204" pitchFamily="34" charset="0"/>
                          <a:ea typeface="Calibri" panose="020F0502020204030204" pitchFamily="34" charset="0"/>
                          <a:cs typeface="Calibri" panose="020F0502020204030204" pitchFamily="34" charset="0"/>
                        </a:rPr>
                        <a:t>class</a:t>
                      </a:r>
                      <a:r>
                        <a:rPr lang="pt-PT" sz="1050" b="0" u="none" strike="noStrike" dirty="0">
                          <a:effectLst/>
                          <a:latin typeface="Calibri" panose="020F0502020204030204" pitchFamily="34" charset="0"/>
                          <a:ea typeface="Calibri" panose="020F0502020204030204" pitchFamily="34" charset="0"/>
                          <a:cs typeface="Calibri" panose="020F0502020204030204" pitchFamily="34" charset="0"/>
                        </a:rPr>
                        <a:t> </a:t>
                      </a:r>
                      <a:r>
                        <a:rPr lang="pt-PT" sz="1050" b="0" u="none" strike="noStrike" dirty="0" err="1">
                          <a:effectLst/>
                          <a:latin typeface="Calibri" panose="020F0502020204030204" pitchFamily="34" charset="0"/>
                          <a:ea typeface="Calibri" panose="020F0502020204030204" pitchFamily="34" charset="0"/>
                          <a:cs typeface="Calibri" panose="020F0502020204030204" pitchFamily="34" charset="0"/>
                        </a:rPr>
                        <a:t>weights</a:t>
                      </a:r>
                      <a:endParaRPr lang="pt-PT" sz="105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3567" marR="3567" marT="3567" marB="0" anchor="ctr">
                    <a:lnL>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8484673"/>
                  </a:ext>
                </a:extLst>
              </a:tr>
              <a:tr h="216000">
                <a:tc>
                  <a:txBody>
                    <a:bodyPr/>
                    <a:lstStyle/>
                    <a:p>
                      <a:pPr algn="l" fontAlgn="ctr">
                        <a:buNone/>
                      </a:pPr>
                      <a:r>
                        <a:rPr lang="pt-PT" sz="105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I</a:t>
                      </a:r>
                    </a:p>
                  </a:txBody>
                  <a:tcPr marL="3567" marR="3567" marT="3567" marB="0" anchor="ctr">
                    <a:lnL w="12700" cmpd="sng">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tc>
                  <a:txBody>
                    <a:bodyPr/>
                    <a:lstStyle/>
                    <a:p>
                      <a:pPr algn="l" fontAlgn="ctr">
                        <a:buNone/>
                      </a:pPr>
                      <a:r>
                        <a:rPr lang="pt-PT" sz="1050" b="0" i="0" u="none" strike="noStrike"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Deep_dwrs</a:t>
                      </a:r>
                      <a:endParaRPr lang="pt-PT" sz="105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3567" marR="3567" marT="3567"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tc>
                  <a:txBody>
                    <a:bodyPr/>
                    <a:lstStyle/>
                    <a:p>
                      <a:pPr algn="l" fontAlgn="ctr">
                        <a:buNone/>
                      </a:pPr>
                      <a:r>
                        <a:rPr lang="fr-FR" sz="1050" b="0" u="none" strike="noStrike" dirty="0" err="1">
                          <a:effectLst/>
                          <a:latin typeface="Calibri" panose="020F0502020204030204" pitchFamily="34" charset="0"/>
                          <a:ea typeface="Calibri" panose="020F0502020204030204" pitchFamily="34" charset="0"/>
                          <a:cs typeface="Calibri" panose="020F0502020204030204" pitchFamily="34" charset="0"/>
                        </a:rPr>
                        <a:t>DeepCNN</a:t>
                      </a:r>
                      <a:r>
                        <a:rPr lang="fr-FR" sz="1050" b="0" u="none" strike="noStrike" dirty="0">
                          <a:effectLst/>
                          <a:latin typeface="Calibri" panose="020F0502020204030204" pitchFamily="34" charset="0"/>
                          <a:ea typeface="Calibri" panose="020F0502020204030204" pitchFamily="34" charset="0"/>
                          <a:cs typeface="Calibri" panose="020F0502020204030204" pitchFamily="34" charset="0"/>
                        </a:rPr>
                        <a:t>(</a:t>
                      </a:r>
                      <a:r>
                        <a:rPr lang="fr-FR" sz="1050" b="0" u="none" strike="noStrike" dirty="0" err="1">
                          <a:effectLst/>
                          <a:latin typeface="Calibri" panose="020F0502020204030204" pitchFamily="34" charset="0"/>
                          <a:ea typeface="Calibri" panose="020F0502020204030204" pitchFamily="34" charset="0"/>
                          <a:cs typeface="Calibri" panose="020F0502020204030204" pitchFamily="34" charset="0"/>
                        </a:rPr>
                        <a:t>conv</a:t>
                      </a:r>
                      <a:r>
                        <a:rPr lang="fr-FR" sz="1050" b="0" u="none" strike="noStrike" dirty="0">
                          <a:effectLst/>
                          <a:latin typeface="Calibri" panose="020F0502020204030204" pitchFamily="34" charset="0"/>
                          <a:ea typeface="Calibri" panose="020F0502020204030204" pitchFamily="34" charset="0"/>
                          <a:cs typeface="Calibri" panose="020F0502020204030204" pitchFamily="34" charset="0"/>
                        </a:rPr>
                        <a:t>=[32x2,64x2,128], </a:t>
                      </a:r>
                      <a:r>
                        <a:rPr lang="fr-FR" sz="1050" b="0" u="none" strike="noStrike" dirty="0" err="1">
                          <a:effectLst/>
                          <a:latin typeface="Calibri" panose="020F0502020204030204" pitchFamily="34" charset="0"/>
                          <a:ea typeface="Calibri" panose="020F0502020204030204" pitchFamily="34" charset="0"/>
                          <a:cs typeface="Calibri" panose="020F0502020204030204" pitchFamily="34" charset="0"/>
                        </a:rPr>
                        <a:t>fc</a:t>
                      </a:r>
                      <a:r>
                        <a:rPr lang="fr-FR" sz="1050" b="0" u="none" strike="noStrike" dirty="0">
                          <a:effectLst/>
                          <a:latin typeface="Calibri" panose="020F0502020204030204" pitchFamily="34" charset="0"/>
                          <a:ea typeface="Calibri" panose="020F0502020204030204" pitchFamily="34" charset="0"/>
                          <a:cs typeface="Calibri" panose="020F0502020204030204" pitchFamily="34" charset="0"/>
                        </a:rPr>
                        <a:t>=[128,9], pool=MaxPool2x2+AvgPool2x2, drop=0.3, BN)</a:t>
                      </a:r>
                      <a:endParaRPr lang="fr-FR" sz="105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3567" marR="3567" marT="3567"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tc>
                  <a:txBody>
                    <a:bodyPr/>
                    <a:lstStyle/>
                    <a:p>
                      <a:pPr algn="l" fontAlgn="ctr">
                        <a:buNone/>
                      </a:pPr>
                      <a:r>
                        <a:rPr lang="en-US" sz="1050" b="0" u="none" strike="noStrike" dirty="0">
                          <a:effectLst/>
                          <a:latin typeface="Calibri" panose="020F0502020204030204" pitchFamily="34" charset="0"/>
                          <a:ea typeface="Calibri" panose="020F0502020204030204" pitchFamily="34" charset="0"/>
                          <a:cs typeface="Calibri" panose="020F0502020204030204" pitchFamily="34" charset="0"/>
                        </a:rPr>
                        <a:t>CE + </a:t>
                      </a:r>
                      <a:r>
                        <a:rPr lang="en-US" sz="1050" b="0" u="none" strike="noStrike" dirty="0" err="1">
                          <a:effectLst/>
                          <a:latin typeface="Calibri" panose="020F0502020204030204" pitchFamily="34" charset="0"/>
                          <a:ea typeface="Calibri" panose="020F0502020204030204" pitchFamily="34" charset="0"/>
                          <a:cs typeface="Calibri" panose="020F0502020204030204" pitchFamily="34" charset="0"/>
                        </a:rPr>
                        <a:t>WRSampler</a:t>
                      </a:r>
                      <a:r>
                        <a:rPr lang="en-US" sz="1050" b="0" u="none" strike="noStrike" dirty="0">
                          <a:effectLst/>
                          <a:latin typeface="Calibri" panose="020F0502020204030204" pitchFamily="34" charset="0"/>
                          <a:ea typeface="Calibri" panose="020F0502020204030204" pitchFamily="34" charset="0"/>
                          <a:cs typeface="Calibri" panose="020F0502020204030204" pitchFamily="34" charset="0"/>
                        </a:rPr>
                        <a:t> + dropout</a:t>
                      </a:r>
                      <a:endParaRPr lang="en-US" sz="105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3567" marR="3567" marT="3567"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tc>
                  <a:txBody>
                    <a:bodyPr/>
                    <a:lstStyle/>
                    <a:p>
                      <a:pPr algn="l" fontAlgn="ctr">
                        <a:buNone/>
                      </a:pPr>
                      <a:r>
                        <a:rPr lang="pt-PT" sz="1050" b="0" u="none" strike="noStrike" dirty="0">
                          <a:effectLst/>
                          <a:latin typeface="Calibri" panose="020F0502020204030204" pitchFamily="34" charset="0"/>
                          <a:ea typeface="Calibri" panose="020F0502020204030204" pitchFamily="34" charset="0"/>
                          <a:cs typeface="Calibri" panose="020F0502020204030204" pitchFamily="34" charset="0"/>
                        </a:rPr>
                        <a:t>Adam </a:t>
                      </a:r>
                      <a:r>
                        <a:rPr lang="pt-PT" sz="1050" b="0" u="none" strike="noStrike" dirty="0" err="1">
                          <a:effectLst/>
                          <a:latin typeface="Calibri" panose="020F0502020204030204" pitchFamily="34" charset="0"/>
                          <a:ea typeface="Calibri" panose="020F0502020204030204" pitchFamily="34" charset="0"/>
                          <a:cs typeface="Calibri" panose="020F0502020204030204" pitchFamily="34" charset="0"/>
                        </a:rPr>
                        <a:t>lr</a:t>
                      </a:r>
                      <a:r>
                        <a:rPr lang="pt-PT" sz="1050" b="0" u="none" strike="noStrike" dirty="0">
                          <a:effectLst/>
                          <a:latin typeface="Calibri" panose="020F0502020204030204" pitchFamily="34" charset="0"/>
                          <a:ea typeface="Calibri" panose="020F0502020204030204" pitchFamily="34" charset="0"/>
                          <a:cs typeface="Calibri" panose="020F0502020204030204" pitchFamily="34" charset="0"/>
                        </a:rPr>
                        <a:t>=1e-3</a:t>
                      </a:r>
                      <a:endParaRPr lang="pt-PT" sz="105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3567" marR="3567" marT="3567"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tc>
                  <a:txBody>
                    <a:bodyPr/>
                    <a:lstStyle/>
                    <a:p>
                      <a:pPr algn="l" fontAlgn="ctr">
                        <a:buNone/>
                      </a:pPr>
                      <a:r>
                        <a:rPr lang="en-US" sz="1050" b="0" u="none" strike="noStrike" dirty="0">
                          <a:effectLst/>
                          <a:latin typeface="Calibri" panose="020F0502020204030204" pitchFamily="34" charset="0"/>
                          <a:ea typeface="Calibri" panose="020F0502020204030204" pitchFamily="34" charset="0"/>
                          <a:cs typeface="Calibri" panose="020F0502020204030204" pitchFamily="34" charset="0"/>
                        </a:rPr>
                        <a:t>Deepen network with more conv + pool + non-linearity layers</a:t>
                      </a:r>
                      <a:endParaRPr lang="en-US" sz="105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3567" marR="3567" marT="3567" marB="0" anchor="ctr">
                    <a:lnL>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extLst>
                  <a:ext uri="{0D108BD9-81ED-4DB2-BD59-A6C34878D82A}">
                    <a16:rowId xmlns:a16="http://schemas.microsoft.com/office/drawing/2014/main" val="2030224068"/>
                  </a:ext>
                </a:extLst>
              </a:tr>
              <a:tr h="216000">
                <a:tc>
                  <a:txBody>
                    <a:bodyPr/>
                    <a:lstStyle/>
                    <a:p>
                      <a:pPr algn="l" fontAlgn="ctr">
                        <a:buNone/>
                      </a:pPr>
                      <a:r>
                        <a:rPr lang="pt-PT" sz="105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K</a:t>
                      </a:r>
                    </a:p>
                  </a:txBody>
                  <a:tcPr marL="3567" marR="3567" marT="3567" marB="0" anchor="ctr">
                    <a:lnL w="12700" cmpd="sng">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buNone/>
                      </a:pPr>
                      <a:r>
                        <a:rPr lang="pt-PT" sz="1050" b="0" u="none" strike="noStrike" dirty="0" err="1">
                          <a:effectLst/>
                          <a:latin typeface="Calibri" panose="020F0502020204030204" pitchFamily="34" charset="0"/>
                          <a:ea typeface="Calibri" panose="020F0502020204030204" pitchFamily="34" charset="0"/>
                          <a:cs typeface="Calibri" panose="020F0502020204030204" pitchFamily="34" charset="0"/>
                        </a:rPr>
                        <a:t>Wide_dwrs</a:t>
                      </a:r>
                      <a:endParaRPr lang="pt-PT" sz="105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3567" marR="3567" marT="3567"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buNone/>
                      </a:pPr>
                      <a:r>
                        <a:rPr lang="fr-FR" sz="1050" b="0" u="none" strike="noStrike" dirty="0" err="1">
                          <a:effectLst/>
                          <a:latin typeface="Calibri" panose="020F0502020204030204" pitchFamily="34" charset="0"/>
                          <a:ea typeface="Calibri" panose="020F0502020204030204" pitchFamily="34" charset="0"/>
                          <a:cs typeface="Calibri" panose="020F0502020204030204" pitchFamily="34" charset="0"/>
                        </a:rPr>
                        <a:t>WideCNN</a:t>
                      </a:r>
                      <a:r>
                        <a:rPr lang="fr-FR" sz="1050" b="0" u="none" strike="noStrike" dirty="0">
                          <a:effectLst/>
                          <a:latin typeface="Calibri" panose="020F0502020204030204" pitchFamily="34" charset="0"/>
                          <a:ea typeface="Calibri" panose="020F0502020204030204" pitchFamily="34" charset="0"/>
                          <a:cs typeface="Calibri" panose="020F0502020204030204" pitchFamily="34" charset="0"/>
                        </a:rPr>
                        <a:t>(</a:t>
                      </a:r>
                      <a:r>
                        <a:rPr lang="fr-FR" sz="1050" b="0" u="none" strike="noStrike" dirty="0" err="1">
                          <a:effectLst/>
                          <a:latin typeface="Calibri" panose="020F0502020204030204" pitchFamily="34" charset="0"/>
                          <a:ea typeface="Calibri" panose="020F0502020204030204" pitchFamily="34" charset="0"/>
                          <a:cs typeface="Calibri" panose="020F0502020204030204" pitchFamily="34" charset="0"/>
                        </a:rPr>
                        <a:t>conv</a:t>
                      </a:r>
                      <a:r>
                        <a:rPr lang="fr-FR" sz="1050" b="0" u="none" strike="noStrike" dirty="0">
                          <a:effectLst/>
                          <a:latin typeface="Calibri" panose="020F0502020204030204" pitchFamily="34" charset="0"/>
                          <a:ea typeface="Calibri" panose="020F0502020204030204" pitchFamily="34" charset="0"/>
                          <a:cs typeface="Calibri" panose="020F0502020204030204" pitchFamily="34" charset="0"/>
                        </a:rPr>
                        <a:t>=[32,64,128,256], </a:t>
                      </a:r>
                      <a:r>
                        <a:rPr lang="fr-FR" sz="1050" b="0" u="none" strike="noStrike" dirty="0" err="1">
                          <a:effectLst/>
                          <a:latin typeface="Calibri" panose="020F0502020204030204" pitchFamily="34" charset="0"/>
                          <a:ea typeface="Calibri" panose="020F0502020204030204" pitchFamily="34" charset="0"/>
                          <a:cs typeface="Calibri" panose="020F0502020204030204" pitchFamily="34" charset="0"/>
                        </a:rPr>
                        <a:t>fc</a:t>
                      </a:r>
                      <a:r>
                        <a:rPr lang="fr-FR" sz="1050" b="0" u="none" strike="noStrike" dirty="0">
                          <a:effectLst/>
                          <a:latin typeface="Calibri" panose="020F0502020204030204" pitchFamily="34" charset="0"/>
                          <a:ea typeface="Calibri" panose="020F0502020204030204" pitchFamily="34" charset="0"/>
                          <a:cs typeface="Calibri" panose="020F0502020204030204" pitchFamily="34" charset="0"/>
                        </a:rPr>
                        <a:t>=[9], pool=MaxPool2x2+AvgPool2x2, drop=0.3, BN)</a:t>
                      </a:r>
                      <a:endParaRPr lang="fr-FR" sz="105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3567" marR="3567" marT="3567"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buNone/>
                      </a:pPr>
                      <a:r>
                        <a:rPr lang="en-US" sz="1050" b="0" u="none" strike="noStrike" dirty="0">
                          <a:effectLst/>
                          <a:latin typeface="Calibri" panose="020F0502020204030204" pitchFamily="34" charset="0"/>
                          <a:ea typeface="Calibri" panose="020F0502020204030204" pitchFamily="34" charset="0"/>
                          <a:cs typeface="Calibri" panose="020F0502020204030204" pitchFamily="34" charset="0"/>
                        </a:rPr>
                        <a:t>CE + </a:t>
                      </a:r>
                      <a:r>
                        <a:rPr lang="en-US" sz="1050" b="0" u="none" strike="noStrike" dirty="0" err="1">
                          <a:effectLst/>
                          <a:latin typeface="Calibri" panose="020F0502020204030204" pitchFamily="34" charset="0"/>
                          <a:ea typeface="Calibri" panose="020F0502020204030204" pitchFamily="34" charset="0"/>
                          <a:cs typeface="Calibri" panose="020F0502020204030204" pitchFamily="34" charset="0"/>
                        </a:rPr>
                        <a:t>WRSampler</a:t>
                      </a:r>
                      <a:r>
                        <a:rPr lang="en-US" sz="1050" b="0" u="none" strike="noStrike" dirty="0">
                          <a:effectLst/>
                          <a:latin typeface="Calibri" panose="020F0502020204030204" pitchFamily="34" charset="0"/>
                          <a:ea typeface="Calibri" panose="020F0502020204030204" pitchFamily="34" charset="0"/>
                          <a:cs typeface="Calibri" panose="020F0502020204030204" pitchFamily="34" charset="0"/>
                        </a:rPr>
                        <a:t> + dropout</a:t>
                      </a:r>
                      <a:endParaRPr lang="en-US" sz="105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3567" marR="3567" marT="3567"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buNone/>
                      </a:pPr>
                      <a:r>
                        <a:rPr lang="pt-PT" sz="1050" b="0" u="none" strike="noStrike">
                          <a:effectLst/>
                          <a:latin typeface="Calibri" panose="020F0502020204030204" pitchFamily="34" charset="0"/>
                          <a:ea typeface="Calibri" panose="020F0502020204030204" pitchFamily="34" charset="0"/>
                          <a:cs typeface="Calibri" panose="020F0502020204030204" pitchFamily="34" charset="0"/>
                        </a:rPr>
                        <a:t>Adam lr=1e-3</a:t>
                      </a:r>
                      <a:endParaRPr lang="pt-PT" sz="10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3567" marR="3567" marT="3567"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685800" rtl="0" eaLnBrk="1" fontAlgn="ctr" latinLnBrk="0" hangingPunct="1">
                        <a:lnSpc>
                          <a:spcPct val="100000"/>
                        </a:lnSpc>
                        <a:spcBef>
                          <a:spcPts val="0"/>
                        </a:spcBef>
                        <a:spcAft>
                          <a:spcPts val="0"/>
                        </a:spcAft>
                        <a:buClrTx/>
                        <a:buSzTx/>
                        <a:buFontTx/>
                        <a:buNone/>
                        <a:tabLst/>
                        <a:defRPr/>
                      </a:pPr>
                      <a:r>
                        <a:rPr lang="en-US" sz="105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Compare Deep vs Wide CNN; regularization with </a:t>
                      </a:r>
                      <a:r>
                        <a:rPr lang="en-US" sz="1050" b="0" i="0" u="none" strike="noStrike"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WeightedRandomSampler</a:t>
                      </a:r>
                      <a:r>
                        <a:rPr lang="en-US" sz="105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and dropout</a:t>
                      </a:r>
                    </a:p>
                  </a:txBody>
                  <a:tcPr marL="3567" marR="3567" marT="3567" marB="0" anchor="ctr">
                    <a:lnL>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508310860"/>
                  </a:ext>
                </a:extLst>
              </a:tr>
              <a:tr h="216000">
                <a:tc>
                  <a:txBody>
                    <a:bodyPr/>
                    <a:lstStyle/>
                    <a:p>
                      <a:pPr algn="l" fontAlgn="ctr">
                        <a:buNone/>
                      </a:pPr>
                      <a:r>
                        <a:rPr lang="pt-PT" sz="105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L</a:t>
                      </a:r>
                    </a:p>
                  </a:txBody>
                  <a:tcPr marL="3567" marR="3567" marT="3567" marB="0" anchor="ctr">
                    <a:lnL w="12700" cmpd="sng">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buNone/>
                      </a:pPr>
                      <a:r>
                        <a:rPr lang="pt-PT" sz="1050" b="0" i="0" u="none" strike="noStrike"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MultiScale_dwrs</a:t>
                      </a:r>
                      <a:endParaRPr lang="pt-PT" sz="105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3567" marR="3567" marT="3567"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buNone/>
                      </a:pPr>
                      <a:r>
                        <a:rPr lang="pt-PT" sz="1050" b="0" u="none" strike="noStrike" dirty="0" err="1">
                          <a:effectLst/>
                          <a:latin typeface="Calibri" panose="020F0502020204030204" pitchFamily="34" charset="0"/>
                          <a:ea typeface="Calibri" panose="020F0502020204030204" pitchFamily="34" charset="0"/>
                          <a:cs typeface="Calibri" panose="020F0502020204030204" pitchFamily="34" charset="0"/>
                        </a:rPr>
                        <a:t>MultiScaleCNN</a:t>
                      </a:r>
                      <a:r>
                        <a:rPr lang="pt-PT" sz="1050" b="0" u="none" strike="noStrike" dirty="0">
                          <a:effectLst/>
                          <a:latin typeface="Calibri" panose="020F0502020204030204" pitchFamily="34" charset="0"/>
                          <a:ea typeface="Calibri" panose="020F0502020204030204" pitchFamily="34" charset="0"/>
                          <a:cs typeface="Calibri" panose="020F0502020204030204" pitchFamily="34" charset="0"/>
                        </a:rPr>
                        <a:t>(</a:t>
                      </a:r>
                      <a:r>
                        <a:rPr lang="pt-PT" sz="1050" b="0" u="none" strike="noStrike" dirty="0" err="1">
                          <a:effectLst/>
                          <a:latin typeface="Calibri" panose="020F0502020204030204" pitchFamily="34" charset="0"/>
                          <a:ea typeface="Calibri" panose="020F0502020204030204" pitchFamily="34" charset="0"/>
                          <a:cs typeface="Calibri" panose="020F0502020204030204" pitchFamily="34" charset="0"/>
                        </a:rPr>
                        <a:t>conv</a:t>
                      </a:r>
                      <a:r>
                        <a:rPr lang="pt-PT" sz="1050" b="0" u="none" strike="noStrike" dirty="0">
                          <a:effectLst/>
                          <a:latin typeface="Calibri" panose="020F0502020204030204" pitchFamily="34" charset="0"/>
                          <a:ea typeface="Calibri" panose="020F0502020204030204" pitchFamily="34" charset="0"/>
                          <a:cs typeface="Calibri" panose="020F0502020204030204" pitchFamily="34" charset="0"/>
                        </a:rPr>
                        <a:t>=[(3x3+5x5)-&gt;32, (3x3+5x5)-&gt;64, (3x3+5x5)-&gt;128], </a:t>
                      </a:r>
                      <a:r>
                        <a:rPr lang="pt-PT" sz="1050" b="0" u="none" strike="noStrike" dirty="0" err="1">
                          <a:effectLst/>
                          <a:latin typeface="Calibri" panose="020F0502020204030204" pitchFamily="34" charset="0"/>
                          <a:ea typeface="Calibri" panose="020F0502020204030204" pitchFamily="34" charset="0"/>
                          <a:cs typeface="Calibri" panose="020F0502020204030204" pitchFamily="34" charset="0"/>
                        </a:rPr>
                        <a:t>fc</a:t>
                      </a:r>
                      <a:r>
                        <a:rPr lang="pt-PT" sz="1050" b="0" u="none" strike="noStrike" dirty="0">
                          <a:effectLst/>
                          <a:latin typeface="Calibri" panose="020F0502020204030204" pitchFamily="34" charset="0"/>
                          <a:ea typeface="Calibri" panose="020F0502020204030204" pitchFamily="34" charset="0"/>
                          <a:cs typeface="Calibri" panose="020F0502020204030204" pitchFamily="34" charset="0"/>
                        </a:rPr>
                        <a:t>=[9], pool=MaxPool2x2+MaxPool2x2, </a:t>
                      </a:r>
                      <a:r>
                        <a:rPr lang="pt-PT" sz="1050" b="0" u="none" strike="noStrike" dirty="0" err="1">
                          <a:effectLst/>
                          <a:latin typeface="Calibri" panose="020F0502020204030204" pitchFamily="34" charset="0"/>
                          <a:ea typeface="Calibri" panose="020F0502020204030204" pitchFamily="34" charset="0"/>
                          <a:cs typeface="Calibri" panose="020F0502020204030204" pitchFamily="34" charset="0"/>
                        </a:rPr>
                        <a:t>drop</a:t>
                      </a:r>
                      <a:r>
                        <a:rPr lang="pt-PT" sz="1050" b="0" u="none" strike="noStrike" dirty="0">
                          <a:effectLst/>
                          <a:latin typeface="Calibri" panose="020F0502020204030204" pitchFamily="34" charset="0"/>
                          <a:ea typeface="Calibri" panose="020F0502020204030204" pitchFamily="34" charset="0"/>
                          <a:cs typeface="Calibri" panose="020F0502020204030204" pitchFamily="34" charset="0"/>
                        </a:rPr>
                        <a:t>=0.3, BN)</a:t>
                      </a:r>
                      <a:endParaRPr lang="pt-PT" sz="105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3567" marR="3567" marT="3567"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buNone/>
                      </a:pPr>
                      <a:r>
                        <a:rPr lang="en-US" sz="1050" b="0" u="none" strike="noStrike" dirty="0">
                          <a:effectLst/>
                          <a:latin typeface="Calibri" panose="020F0502020204030204" pitchFamily="34" charset="0"/>
                          <a:ea typeface="Calibri" panose="020F0502020204030204" pitchFamily="34" charset="0"/>
                          <a:cs typeface="Calibri" panose="020F0502020204030204" pitchFamily="34" charset="0"/>
                        </a:rPr>
                        <a:t>CE + </a:t>
                      </a:r>
                      <a:r>
                        <a:rPr lang="en-US" sz="1050" b="0" u="none" strike="noStrike" dirty="0" err="1">
                          <a:effectLst/>
                          <a:latin typeface="Calibri" panose="020F0502020204030204" pitchFamily="34" charset="0"/>
                          <a:ea typeface="Calibri" panose="020F0502020204030204" pitchFamily="34" charset="0"/>
                          <a:cs typeface="Calibri" panose="020F0502020204030204" pitchFamily="34" charset="0"/>
                        </a:rPr>
                        <a:t>WRSampler</a:t>
                      </a:r>
                      <a:r>
                        <a:rPr lang="en-US" sz="1050" b="0" u="none" strike="noStrike" dirty="0">
                          <a:effectLst/>
                          <a:latin typeface="Calibri" panose="020F0502020204030204" pitchFamily="34" charset="0"/>
                          <a:ea typeface="Calibri" panose="020F0502020204030204" pitchFamily="34" charset="0"/>
                          <a:cs typeface="Calibri" panose="020F0502020204030204" pitchFamily="34" charset="0"/>
                        </a:rPr>
                        <a:t> + dropout</a:t>
                      </a:r>
                      <a:endParaRPr lang="en-US" sz="105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3567" marR="3567" marT="3567"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buNone/>
                      </a:pPr>
                      <a:r>
                        <a:rPr lang="pt-PT" sz="1050" b="0" u="none" strike="noStrike" dirty="0">
                          <a:effectLst/>
                          <a:latin typeface="Calibri" panose="020F0502020204030204" pitchFamily="34" charset="0"/>
                          <a:ea typeface="Calibri" panose="020F0502020204030204" pitchFamily="34" charset="0"/>
                          <a:cs typeface="Calibri" panose="020F0502020204030204" pitchFamily="34" charset="0"/>
                        </a:rPr>
                        <a:t>Adam </a:t>
                      </a:r>
                      <a:r>
                        <a:rPr lang="pt-PT" sz="1050" b="0" u="none" strike="noStrike" dirty="0" err="1">
                          <a:effectLst/>
                          <a:latin typeface="Calibri" panose="020F0502020204030204" pitchFamily="34" charset="0"/>
                          <a:ea typeface="Calibri" panose="020F0502020204030204" pitchFamily="34" charset="0"/>
                          <a:cs typeface="Calibri" panose="020F0502020204030204" pitchFamily="34" charset="0"/>
                        </a:rPr>
                        <a:t>lr</a:t>
                      </a:r>
                      <a:r>
                        <a:rPr lang="pt-PT" sz="1050" b="0" u="none" strike="noStrike" dirty="0">
                          <a:effectLst/>
                          <a:latin typeface="Calibri" panose="020F0502020204030204" pitchFamily="34" charset="0"/>
                          <a:ea typeface="Calibri" panose="020F0502020204030204" pitchFamily="34" charset="0"/>
                          <a:cs typeface="Calibri" panose="020F0502020204030204" pitchFamily="34" charset="0"/>
                        </a:rPr>
                        <a:t>=1e-3</a:t>
                      </a:r>
                      <a:endParaRPr lang="pt-PT" sz="105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3567" marR="3567" marT="3567"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buNone/>
                      </a:pPr>
                      <a:r>
                        <a:rPr lang="pt-PT" sz="105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Capture </a:t>
                      </a:r>
                      <a:r>
                        <a:rPr lang="pt-PT" sz="1050" b="0" i="0" u="none" strike="noStrike"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multiple</a:t>
                      </a:r>
                      <a:r>
                        <a:rPr lang="pt-PT" sz="105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pt-PT" sz="1050" b="0" i="0" u="none" strike="noStrike"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granularities</a:t>
                      </a:r>
                      <a:r>
                        <a:rPr lang="pt-PT" sz="105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pt-PT" sz="1050" b="0" i="0" u="none" strike="noStrike"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simultaneously</a:t>
                      </a:r>
                      <a:endParaRPr lang="pt-PT" sz="105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3567" marR="3567" marT="3567" marB="0" anchor="ctr">
                    <a:lnL>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799689108"/>
                  </a:ext>
                </a:extLst>
              </a:tr>
              <a:tr h="216000">
                <a:tc>
                  <a:txBody>
                    <a:bodyPr/>
                    <a:lstStyle/>
                    <a:p>
                      <a:pPr algn="l" fontAlgn="ctr">
                        <a:buNone/>
                      </a:pPr>
                      <a:r>
                        <a:rPr lang="pt-PT" sz="105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M</a:t>
                      </a:r>
                    </a:p>
                  </a:txBody>
                  <a:tcPr marL="3567" marR="3567" marT="3567" marB="0" anchor="ctr">
                    <a:lnL w="12700" cmpd="sng">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buNone/>
                      </a:pPr>
                      <a:r>
                        <a:rPr lang="pt-PT" sz="1050" b="0" u="none" strike="noStrike" dirty="0" err="1">
                          <a:effectLst/>
                          <a:latin typeface="Calibri" panose="020F0502020204030204" pitchFamily="34" charset="0"/>
                          <a:ea typeface="Calibri" panose="020F0502020204030204" pitchFamily="34" charset="0"/>
                          <a:cs typeface="Calibri" panose="020F0502020204030204" pitchFamily="34" charset="0"/>
                        </a:rPr>
                        <a:t>Residual_dwrs</a:t>
                      </a:r>
                      <a:endParaRPr lang="pt-PT" sz="105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3567" marR="3567" marT="3567"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buNone/>
                      </a:pPr>
                      <a:r>
                        <a:rPr lang="fr-FR" sz="1050" b="0" u="none" strike="noStrike" dirty="0" err="1">
                          <a:effectLst/>
                          <a:latin typeface="Calibri" panose="020F0502020204030204" pitchFamily="34" charset="0"/>
                          <a:ea typeface="Calibri" panose="020F0502020204030204" pitchFamily="34" charset="0"/>
                          <a:cs typeface="Calibri" panose="020F0502020204030204" pitchFamily="34" charset="0"/>
                        </a:rPr>
                        <a:t>ResidualCNN</a:t>
                      </a:r>
                      <a:r>
                        <a:rPr lang="fr-FR" sz="1050" b="0" u="none" strike="noStrike" dirty="0">
                          <a:effectLst/>
                          <a:latin typeface="Calibri" panose="020F0502020204030204" pitchFamily="34" charset="0"/>
                          <a:ea typeface="Calibri" panose="020F0502020204030204" pitchFamily="34" charset="0"/>
                          <a:cs typeface="Calibri" panose="020F0502020204030204" pitchFamily="34" charset="0"/>
                        </a:rPr>
                        <a:t>(</a:t>
                      </a:r>
                      <a:r>
                        <a:rPr lang="fr-FR" sz="1050" b="0" u="none" strike="noStrike" dirty="0" err="1">
                          <a:effectLst/>
                          <a:latin typeface="Calibri" panose="020F0502020204030204" pitchFamily="34" charset="0"/>
                          <a:ea typeface="Calibri" panose="020F0502020204030204" pitchFamily="34" charset="0"/>
                          <a:cs typeface="Calibri" panose="020F0502020204030204" pitchFamily="34" charset="0"/>
                        </a:rPr>
                        <a:t>conv</a:t>
                      </a:r>
                      <a:r>
                        <a:rPr lang="fr-FR" sz="1050" b="0" u="none" strike="noStrike" dirty="0">
                          <a:effectLst/>
                          <a:latin typeface="Calibri" panose="020F0502020204030204" pitchFamily="34" charset="0"/>
                          <a:ea typeface="Calibri" panose="020F0502020204030204" pitchFamily="34" charset="0"/>
                          <a:cs typeface="Calibri" panose="020F0502020204030204" pitchFamily="34" charset="0"/>
                        </a:rPr>
                        <a:t>=[64x2, 128x2, 256x2], </a:t>
                      </a:r>
                      <a:r>
                        <a:rPr lang="fr-FR" sz="1050" b="0" u="none" strike="noStrike" dirty="0" err="1">
                          <a:effectLst/>
                          <a:latin typeface="Calibri" panose="020F0502020204030204" pitchFamily="34" charset="0"/>
                          <a:ea typeface="Calibri" panose="020F0502020204030204" pitchFamily="34" charset="0"/>
                          <a:cs typeface="Calibri" panose="020F0502020204030204" pitchFamily="34" charset="0"/>
                        </a:rPr>
                        <a:t>fc</a:t>
                      </a:r>
                      <a:r>
                        <a:rPr lang="fr-FR" sz="1050" b="0" u="none" strike="noStrike" dirty="0">
                          <a:effectLst/>
                          <a:latin typeface="Calibri" panose="020F0502020204030204" pitchFamily="34" charset="0"/>
                          <a:ea typeface="Calibri" panose="020F0502020204030204" pitchFamily="34" charset="0"/>
                          <a:cs typeface="Calibri" panose="020F0502020204030204" pitchFamily="34" charset="0"/>
                        </a:rPr>
                        <a:t>=[9], pool=MaxPool2x2+AvgPool2x2, drop=0.4, BN, skip)</a:t>
                      </a:r>
                      <a:endParaRPr lang="fr-FR" sz="105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3567" marR="3567" marT="3567"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buNone/>
                      </a:pPr>
                      <a:r>
                        <a:rPr lang="en-US" sz="1050" b="0" u="none" strike="noStrike" dirty="0">
                          <a:effectLst/>
                          <a:latin typeface="Calibri" panose="020F0502020204030204" pitchFamily="34" charset="0"/>
                          <a:ea typeface="Calibri" panose="020F0502020204030204" pitchFamily="34" charset="0"/>
                          <a:cs typeface="Calibri" panose="020F0502020204030204" pitchFamily="34" charset="0"/>
                        </a:rPr>
                        <a:t>CE + </a:t>
                      </a:r>
                      <a:r>
                        <a:rPr lang="en-US" sz="1050" b="0" u="none" strike="noStrike" dirty="0" err="1">
                          <a:effectLst/>
                          <a:latin typeface="Calibri" panose="020F0502020204030204" pitchFamily="34" charset="0"/>
                          <a:ea typeface="Calibri" panose="020F0502020204030204" pitchFamily="34" charset="0"/>
                          <a:cs typeface="Calibri" panose="020F0502020204030204" pitchFamily="34" charset="0"/>
                        </a:rPr>
                        <a:t>WRSampler</a:t>
                      </a:r>
                      <a:r>
                        <a:rPr lang="en-US" sz="1050" b="0" u="none" strike="noStrike" dirty="0">
                          <a:effectLst/>
                          <a:latin typeface="Calibri" panose="020F0502020204030204" pitchFamily="34" charset="0"/>
                          <a:ea typeface="Calibri" panose="020F0502020204030204" pitchFamily="34" charset="0"/>
                          <a:cs typeface="Calibri" panose="020F0502020204030204" pitchFamily="34" charset="0"/>
                        </a:rPr>
                        <a:t> + dropout</a:t>
                      </a:r>
                      <a:endParaRPr lang="en-US" sz="105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3567" marR="3567" marT="3567"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buNone/>
                      </a:pPr>
                      <a:r>
                        <a:rPr lang="pt-PT" sz="1050" b="0" u="none" strike="noStrike" dirty="0">
                          <a:effectLst/>
                          <a:latin typeface="Calibri" panose="020F0502020204030204" pitchFamily="34" charset="0"/>
                          <a:ea typeface="Calibri" panose="020F0502020204030204" pitchFamily="34" charset="0"/>
                          <a:cs typeface="Calibri" panose="020F0502020204030204" pitchFamily="34" charset="0"/>
                        </a:rPr>
                        <a:t>Adam </a:t>
                      </a:r>
                      <a:r>
                        <a:rPr lang="pt-PT" sz="1050" b="0" u="none" strike="noStrike" dirty="0" err="1">
                          <a:effectLst/>
                          <a:latin typeface="Calibri" panose="020F0502020204030204" pitchFamily="34" charset="0"/>
                          <a:ea typeface="Calibri" panose="020F0502020204030204" pitchFamily="34" charset="0"/>
                          <a:cs typeface="Calibri" panose="020F0502020204030204" pitchFamily="34" charset="0"/>
                        </a:rPr>
                        <a:t>lr</a:t>
                      </a:r>
                      <a:r>
                        <a:rPr lang="pt-PT" sz="1050" b="0" u="none" strike="noStrike" dirty="0">
                          <a:effectLst/>
                          <a:latin typeface="Calibri" panose="020F0502020204030204" pitchFamily="34" charset="0"/>
                          <a:ea typeface="Calibri" panose="020F0502020204030204" pitchFamily="34" charset="0"/>
                          <a:cs typeface="Calibri" panose="020F0502020204030204" pitchFamily="34" charset="0"/>
                        </a:rPr>
                        <a:t>=1e-3</a:t>
                      </a:r>
                      <a:endParaRPr lang="pt-PT" sz="105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3567" marR="3567" marT="3567"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buNone/>
                      </a:pPr>
                      <a:r>
                        <a:rPr lang="pt-PT" sz="1050" b="0" i="0" u="none" strike="noStrike"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Test</a:t>
                      </a:r>
                      <a:r>
                        <a:rPr lang="pt-PT" sz="105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pt-PT" sz="1050" b="0" i="0" u="none" strike="noStrike"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the</a:t>
                      </a:r>
                      <a:r>
                        <a:rPr lang="pt-PT" sz="105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pt-PT" sz="1050" b="0" i="0" u="none" strike="noStrike"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effects</a:t>
                      </a:r>
                      <a:r>
                        <a:rPr lang="pt-PT" sz="105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pt-PT" sz="1050" b="0" i="0" u="none" strike="noStrike"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of</a:t>
                      </a:r>
                      <a:r>
                        <a:rPr lang="pt-PT" sz="105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pt-PT" sz="1050" b="0" i="0" u="none" strike="noStrike"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skipping</a:t>
                      </a:r>
                      <a:r>
                        <a:rPr lang="pt-PT" sz="105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pt-PT" sz="1050" b="0" i="0" u="none" strike="noStrike"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layers</a:t>
                      </a:r>
                      <a:r>
                        <a:rPr lang="pt-PT" sz="105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pt-PT" sz="1050" b="0" i="0" u="none" strike="noStrike"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with</a:t>
                      </a:r>
                      <a:r>
                        <a:rPr lang="pt-PT" sz="105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 </a:t>
                      </a:r>
                      <a:r>
                        <a:rPr lang="pt-PT" sz="1050" b="0" i="0" u="none" strike="noStrike"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ResNet</a:t>
                      </a:r>
                      <a:r>
                        <a:rPr lang="pt-PT" sz="105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pt-PT" sz="1050" b="0" i="0" u="none" strike="noStrike"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architecture</a:t>
                      </a:r>
                      <a:endParaRPr lang="pt-PT" sz="105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3567" marR="3567" marT="3567" marB="0" anchor="ctr">
                    <a:lnL>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75491112"/>
                  </a:ext>
                </a:extLst>
              </a:tr>
            </a:tbl>
          </a:graphicData>
        </a:graphic>
      </p:graphicFrame>
      <p:sp>
        <p:nvSpPr>
          <p:cNvPr id="12" name="StratBG">
            <a:extLst>
              <a:ext uri="{FF2B5EF4-FFF2-40B4-BE49-F238E27FC236}">
                <a16:creationId xmlns:a16="http://schemas.microsoft.com/office/drawing/2014/main" id="{1D0521EB-4118-23B0-A619-434ED712E39B}"/>
              </a:ext>
            </a:extLst>
          </p:cNvPr>
          <p:cNvSpPr/>
          <p:nvPr/>
        </p:nvSpPr>
        <p:spPr>
          <a:xfrm>
            <a:off x="174433" y="564024"/>
            <a:ext cx="8653017" cy="703080"/>
          </a:xfrm>
          <a:prstGeom prst="rect">
            <a:avLst/>
          </a:prstGeom>
          <a:solidFill>
            <a:srgbClr val="1C3A52"/>
          </a:solidFill>
          <a:ln w="0">
            <a:noFill/>
          </a:ln>
        </p:spPr>
        <p:txBody>
          <a:bodyPr/>
          <a:lstStyle/>
          <a:p>
            <a:endParaRPr lang="en-US"/>
          </a:p>
        </p:txBody>
      </p:sp>
      <p:sp>
        <p:nvSpPr>
          <p:cNvPr id="13" name="StratText">
            <a:extLst>
              <a:ext uri="{FF2B5EF4-FFF2-40B4-BE49-F238E27FC236}">
                <a16:creationId xmlns:a16="http://schemas.microsoft.com/office/drawing/2014/main" id="{03927F11-639E-B07C-7558-A10BD608AB21}"/>
              </a:ext>
            </a:extLst>
          </p:cNvPr>
          <p:cNvSpPr/>
          <p:nvPr/>
        </p:nvSpPr>
        <p:spPr>
          <a:xfrm>
            <a:off x="239303" y="549486"/>
            <a:ext cx="8523276" cy="703080"/>
          </a:xfrm>
          <a:prstGeom prst="rect">
            <a:avLst/>
          </a:prstGeom>
          <a:noFill/>
          <a:ln/>
        </p:spPr>
        <p:txBody>
          <a:bodyPr wrap="square" rtlCol="0" anchor="ctr"/>
          <a:lstStyle/>
          <a:p>
            <a:pPr>
              <a:buNone/>
            </a:pPr>
            <a:r>
              <a:rPr lang="en-US" sz="1200" b="1" dirty="0">
                <a:solidFill>
                  <a:schemeClr val="accent2">
                    <a:lumMod val="40000"/>
                    <a:lumOff val="60000"/>
                  </a:schemeClr>
                </a:solidFill>
                <a:latin typeface="Trebuchet MS" pitchFamily="34" charset="0"/>
              </a:rPr>
              <a:t>Strategy</a:t>
            </a:r>
            <a:r>
              <a:rPr lang="en-US" sz="1200" b="1" dirty="0">
                <a:solidFill>
                  <a:srgbClr val="00A896"/>
                </a:solidFill>
                <a:latin typeface="Trebuchet MS" pitchFamily="34" charset="0"/>
              </a:rPr>
              <a:t>: </a:t>
            </a:r>
            <a:r>
              <a:rPr lang="en-US" sz="1200" dirty="0">
                <a:solidFill>
                  <a:schemeClr val="bg1"/>
                </a:solidFill>
                <a:latin typeface="Calibri" pitchFamily="34" charset="0"/>
              </a:rPr>
              <a:t>We explored different several different CNN architectures (number and size of Conv + Pool + FC layers, batch normalization, dropout, regularization, label smoothing, </a:t>
            </a:r>
            <a:r>
              <a:rPr lang="en-US" sz="1200" dirty="0" err="1">
                <a:solidFill>
                  <a:schemeClr val="bg1"/>
                </a:solidFill>
                <a:latin typeface="Calibri" pitchFamily="34" charset="0"/>
              </a:rPr>
              <a:t>WeightedRandomSampler</a:t>
            </a:r>
            <a:r>
              <a:rPr lang="en-US" sz="1200" dirty="0">
                <a:solidFill>
                  <a:schemeClr val="bg1"/>
                </a:solidFill>
                <a:latin typeface="Calibri" pitchFamily="34" charset="0"/>
              </a:rPr>
              <a:t>, and others). After getting a sense of the best ones, we explored different variations of them. This is a small sample of the numerous models we explored:</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AC7ED9-A426-3450-D495-434B6B20E4E1}"/>
            </a:ext>
          </a:extLst>
        </p:cNvPr>
        <p:cNvGrpSpPr/>
        <p:nvPr/>
      </p:nvGrpSpPr>
      <p:grpSpPr>
        <a:xfrm>
          <a:off x="0" y="0"/>
          <a:ext cx="0" cy="0"/>
          <a:chOff x="0" y="0"/>
          <a:chExt cx="0" cy="0"/>
        </a:xfrm>
      </p:grpSpPr>
      <p:sp>
        <p:nvSpPr>
          <p:cNvPr id="2" name="TopBar">
            <a:extLst>
              <a:ext uri="{FF2B5EF4-FFF2-40B4-BE49-F238E27FC236}">
                <a16:creationId xmlns:a16="http://schemas.microsoft.com/office/drawing/2014/main" id="{F3FD7346-425B-0DA4-9F91-64DDAE84D2F5}"/>
              </a:ext>
            </a:extLst>
          </p:cNvPr>
          <p:cNvSpPr/>
          <p:nvPr/>
        </p:nvSpPr>
        <p:spPr>
          <a:xfrm>
            <a:off x="0" y="0"/>
            <a:ext cx="9144000" cy="64008"/>
          </a:xfrm>
          <a:prstGeom prst="rect">
            <a:avLst/>
          </a:prstGeom>
          <a:solidFill>
            <a:srgbClr val="00A896"/>
          </a:solidFill>
          <a:ln w="12700">
            <a:solidFill>
              <a:srgbClr val="00A896"/>
            </a:solidFill>
            <a:prstDash val="solid"/>
          </a:ln>
        </p:spPr>
        <p:txBody>
          <a:bodyPr/>
          <a:lstStyle/>
          <a:p>
            <a:endParaRPr lang="en-US"/>
          </a:p>
        </p:txBody>
      </p:sp>
      <p:sp>
        <p:nvSpPr>
          <p:cNvPr id="3" name="Badge">
            <a:extLst>
              <a:ext uri="{FF2B5EF4-FFF2-40B4-BE49-F238E27FC236}">
                <a16:creationId xmlns:a16="http://schemas.microsoft.com/office/drawing/2014/main" id="{205B505A-FD03-FCEE-E6D5-0BDD47BBB1A7}"/>
              </a:ext>
            </a:extLst>
          </p:cNvPr>
          <p:cNvSpPr/>
          <p:nvPr/>
        </p:nvSpPr>
        <p:spPr>
          <a:xfrm>
            <a:off x="7498079" y="82296"/>
            <a:ext cx="1557633" cy="329184"/>
          </a:xfrm>
          <a:prstGeom prst="rect">
            <a:avLst/>
          </a:prstGeom>
          <a:solidFill>
            <a:srgbClr val="1C3A52"/>
          </a:solidFill>
          <a:ln w="12700">
            <a:solidFill>
              <a:srgbClr val="1C3A52"/>
            </a:solidFill>
            <a:prstDash val="solid"/>
          </a:ln>
        </p:spPr>
        <p:txBody>
          <a:bodyPr/>
          <a:lstStyle/>
          <a:p>
            <a:pPr algn="ctr"/>
            <a:r>
              <a:rPr lang="en-US" b="1" dirty="0">
                <a:solidFill>
                  <a:srgbClr val="FFFFFF"/>
                </a:solidFill>
              </a:rPr>
              <a:t>MODEL DEV</a:t>
            </a:r>
            <a:endParaRPr lang="en-US" b="1" dirty="0"/>
          </a:p>
        </p:txBody>
      </p:sp>
      <p:sp>
        <p:nvSpPr>
          <p:cNvPr id="4" name="NumCircle">
            <a:extLst>
              <a:ext uri="{FF2B5EF4-FFF2-40B4-BE49-F238E27FC236}">
                <a16:creationId xmlns:a16="http://schemas.microsoft.com/office/drawing/2014/main" id="{C10F59D1-45A8-B58F-2540-9FA497376AF9}"/>
              </a:ext>
            </a:extLst>
          </p:cNvPr>
          <p:cNvSpPr/>
          <p:nvPr/>
        </p:nvSpPr>
        <p:spPr>
          <a:xfrm>
            <a:off x="7088176" y="4253"/>
            <a:ext cx="470123" cy="470912"/>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2800" b="1" dirty="0"/>
              <a:t>2</a:t>
            </a:r>
            <a:endParaRPr lang="en-US" sz="1600" b="1" dirty="0"/>
          </a:p>
        </p:txBody>
      </p:sp>
      <p:sp>
        <p:nvSpPr>
          <p:cNvPr id="5" name="Title">
            <a:extLst>
              <a:ext uri="{FF2B5EF4-FFF2-40B4-BE49-F238E27FC236}">
                <a16:creationId xmlns:a16="http://schemas.microsoft.com/office/drawing/2014/main" id="{F61BE097-4247-6F29-15AF-E38FF510E28B}"/>
              </a:ext>
            </a:extLst>
          </p:cNvPr>
          <p:cNvSpPr/>
          <p:nvPr/>
        </p:nvSpPr>
        <p:spPr>
          <a:xfrm>
            <a:off x="457200" y="109728"/>
            <a:ext cx="6400800" cy="530352"/>
          </a:xfrm>
          <a:prstGeom prst="rect">
            <a:avLst/>
          </a:prstGeom>
          <a:noFill/>
          <a:ln/>
        </p:spPr>
        <p:txBody>
          <a:bodyPr wrap="square" lIns="0" tIns="0" rIns="0" bIns="0" rtlCol="0" anchor="ctr"/>
          <a:lstStyle/>
          <a:p>
            <a:pPr marL="0" indent="0">
              <a:buNone/>
            </a:pPr>
            <a:r>
              <a:rPr lang="en-US" sz="2200" b="1" dirty="0">
                <a:solidFill>
                  <a:srgbClr val="0D1B2A"/>
                </a:solidFill>
                <a:latin typeface="Trebuchet MS" pitchFamily="34" charset="0"/>
              </a:rPr>
              <a:t>Pre-Processing &amp; Data Augmentation</a:t>
            </a:r>
          </a:p>
        </p:txBody>
      </p:sp>
      <p:sp>
        <p:nvSpPr>
          <p:cNvPr id="10" name="StratBG">
            <a:extLst>
              <a:ext uri="{FF2B5EF4-FFF2-40B4-BE49-F238E27FC236}">
                <a16:creationId xmlns:a16="http://schemas.microsoft.com/office/drawing/2014/main" id="{5D0F02B0-96BF-9818-64F0-AB0284BE9B8C}"/>
              </a:ext>
            </a:extLst>
          </p:cNvPr>
          <p:cNvSpPr/>
          <p:nvPr/>
        </p:nvSpPr>
        <p:spPr>
          <a:xfrm>
            <a:off x="274320" y="740160"/>
            <a:ext cx="8595360" cy="740160"/>
          </a:xfrm>
          <a:prstGeom prst="rect">
            <a:avLst/>
          </a:prstGeom>
          <a:solidFill>
            <a:srgbClr val="1C3A52"/>
          </a:solidFill>
          <a:ln w="0">
            <a:noFill/>
          </a:ln>
        </p:spPr>
        <p:txBody>
          <a:bodyPr/>
          <a:lstStyle/>
          <a:p>
            <a:endParaRPr lang="en-US"/>
          </a:p>
        </p:txBody>
      </p:sp>
      <p:sp>
        <p:nvSpPr>
          <p:cNvPr id="11" name="StratText">
            <a:extLst>
              <a:ext uri="{FF2B5EF4-FFF2-40B4-BE49-F238E27FC236}">
                <a16:creationId xmlns:a16="http://schemas.microsoft.com/office/drawing/2014/main" id="{0D065BE8-4691-B7C4-01CF-7C54E57D2F08}"/>
              </a:ext>
            </a:extLst>
          </p:cNvPr>
          <p:cNvSpPr/>
          <p:nvPr/>
        </p:nvSpPr>
        <p:spPr>
          <a:xfrm>
            <a:off x="457200" y="777240"/>
            <a:ext cx="8228160" cy="666720"/>
          </a:xfrm>
          <a:prstGeom prst="rect">
            <a:avLst/>
          </a:prstGeom>
          <a:noFill/>
          <a:ln/>
        </p:spPr>
        <p:txBody>
          <a:bodyPr wrap="square" rtlCol="0" anchor="ctr"/>
          <a:lstStyle/>
          <a:p>
            <a:pPr>
              <a:buNone/>
            </a:pPr>
            <a:r>
              <a:rPr lang="en-US" sz="1200" b="1" dirty="0">
                <a:solidFill>
                  <a:schemeClr val="accent2">
                    <a:lumMod val="40000"/>
                    <a:lumOff val="60000"/>
                  </a:schemeClr>
                </a:solidFill>
                <a:latin typeface="Trebuchet MS" pitchFamily="34" charset="0"/>
              </a:rPr>
              <a:t>Strategy</a:t>
            </a:r>
            <a:r>
              <a:rPr lang="en-US" sz="1200" b="1" dirty="0">
                <a:solidFill>
                  <a:srgbClr val="00A896"/>
                </a:solidFill>
                <a:latin typeface="Trebuchet MS" pitchFamily="34" charset="0"/>
              </a:rPr>
              <a:t>: </a:t>
            </a:r>
            <a:r>
              <a:rPr lang="en-US" sz="1200" dirty="0">
                <a:solidFill>
                  <a:schemeClr val="bg1"/>
                </a:solidFill>
                <a:latin typeface="Calibri" pitchFamily="34" charset="0"/>
              </a:rPr>
              <a:t>Having the best model we tried to apply different pipelines of pre-processing and data augmentation. </a:t>
            </a:r>
          </a:p>
        </p:txBody>
      </p:sp>
      <p:sp>
        <p:nvSpPr>
          <p:cNvPr id="20" name="H1">
            <a:extLst>
              <a:ext uri="{FF2B5EF4-FFF2-40B4-BE49-F238E27FC236}">
                <a16:creationId xmlns:a16="http://schemas.microsoft.com/office/drawing/2014/main" id="{45D9E347-F80E-02D4-24C1-8DEF17AE44B9}"/>
              </a:ext>
            </a:extLst>
          </p:cNvPr>
          <p:cNvSpPr/>
          <p:nvPr/>
        </p:nvSpPr>
        <p:spPr>
          <a:xfrm>
            <a:off x="274319" y="1571040"/>
            <a:ext cx="3844333" cy="274320"/>
          </a:xfrm>
          <a:prstGeom prst="rect">
            <a:avLst/>
          </a:prstGeom>
          <a:solidFill>
            <a:srgbClr val="00A896"/>
          </a:solidFill>
          <a:ln w="0">
            <a:noFill/>
          </a:ln>
        </p:spPr>
        <p:txBody>
          <a:bodyPr rtlCol="0" anchor="ctr"/>
          <a:lstStyle/>
          <a:p>
            <a:pPr algn="ctr">
              <a:buNone/>
            </a:pPr>
            <a:r>
              <a:rPr lang="en-US" sz="1400" b="1" dirty="0">
                <a:solidFill>
                  <a:srgbClr val="FFFFFF"/>
                </a:solidFill>
                <a:latin typeface="Calibri"/>
              </a:rPr>
              <a:t>Pre-Processing</a:t>
            </a:r>
          </a:p>
        </p:txBody>
      </p:sp>
      <p:sp>
        <p:nvSpPr>
          <p:cNvPr id="21" name="H2">
            <a:extLst>
              <a:ext uri="{FF2B5EF4-FFF2-40B4-BE49-F238E27FC236}">
                <a16:creationId xmlns:a16="http://schemas.microsoft.com/office/drawing/2014/main" id="{FC6F9DFC-F6C8-8D69-4F59-75130BDCC2D8}"/>
              </a:ext>
            </a:extLst>
          </p:cNvPr>
          <p:cNvSpPr/>
          <p:nvPr/>
        </p:nvSpPr>
        <p:spPr>
          <a:xfrm>
            <a:off x="4342062" y="1571040"/>
            <a:ext cx="4527617" cy="274320"/>
          </a:xfrm>
          <a:prstGeom prst="rect">
            <a:avLst/>
          </a:prstGeom>
          <a:solidFill>
            <a:schemeClr val="accent1">
              <a:lumMod val="75000"/>
            </a:schemeClr>
          </a:solidFill>
          <a:ln w="0">
            <a:noFill/>
          </a:ln>
        </p:spPr>
        <p:txBody>
          <a:bodyPr rtlCol="0" anchor="ctr"/>
          <a:lstStyle/>
          <a:p>
            <a:pPr algn="ctr">
              <a:buNone/>
            </a:pPr>
            <a:r>
              <a:rPr lang="en-US" sz="1400" b="1" dirty="0">
                <a:solidFill>
                  <a:srgbClr val="FFFFFF"/>
                </a:solidFill>
                <a:latin typeface="Calibri"/>
              </a:rPr>
              <a:t>Data Augmentation</a:t>
            </a:r>
          </a:p>
        </p:txBody>
      </p:sp>
      <p:sp>
        <p:nvSpPr>
          <p:cNvPr id="30" name="R1C1">
            <a:extLst>
              <a:ext uri="{FF2B5EF4-FFF2-40B4-BE49-F238E27FC236}">
                <a16:creationId xmlns:a16="http://schemas.microsoft.com/office/drawing/2014/main" id="{29864FFE-7BA3-6FD0-0C3A-0DB22F553FD5}"/>
              </a:ext>
            </a:extLst>
          </p:cNvPr>
          <p:cNvSpPr/>
          <p:nvPr/>
        </p:nvSpPr>
        <p:spPr>
          <a:xfrm>
            <a:off x="274319" y="1897612"/>
            <a:ext cx="3844333" cy="1817821"/>
          </a:xfrm>
          <a:prstGeom prst="rect">
            <a:avLst/>
          </a:prstGeom>
          <a:solidFill>
            <a:srgbClr val="E8F8F6"/>
          </a:solidFill>
          <a:ln w="6350">
            <a:noFill/>
          </a:ln>
        </p:spPr>
        <p:txBody>
          <a:bodyPr rtlCol="0" anchor="ctr"/>
          <a:lstStyle/>
          <a:p>
            <a:pPr algn="ctr">
              <a:buNone/>
            </a:pPr>
            <a:r>
              <a:rPr lang="en-US" sz="1300" b="1" dirty="0">
                <a:solidFill>
                  <a:srgbClr val="028090"/>
                </a:solidFill>
                <a:latin typeface="Calibri"/>
              </a:rPr>
              <a:t>Grayscale </a:t>
            </a:r>
          </a:p>
          <a:p>
            <a:pPr algn="ctr">
              <a:buNone/>
            </a:pPr>
            <a:r>
              <a:rPr lang="en-US" sz="1300" dirty="0">
                <a:solidFill>
                  <a:srgbClr val="1A2B3C"/>
                </a:solidFill>
                <a:latin typeface="Calibri"/>
              </a:rPr>
              <a:t>A 64x64 RGB image results in an initial vector of length = 12.288. If we convert to grayscale it would be a vector of 4096. Could a smaller vector preserve all the necessary important information for the model?  Turns out no. </a:t>
            </a:r>
            <a:r>
              <a:rPr lang="en-US" sz="1300" dirty="0" err="1">
                <a:solidFill>
                  <a:srgbClr val="1A2B3C"/>
                </a:solidFill>
                <a:latin typeface="Calibri"/>
              </a:rPr>
              <a:t>Pokemon</a:t>
            </a:r>
            <a:r>
              <a:rPr lang="en-US" sz="1300" dirty="0">
                <a:solidFill>
                  <a:srgbClr val="1A2B3C"/>
                </a:solidFill>
                <a:latin typeface="Calibri"/>
              </a:rPr>
              <a:t> classification is strongly color-dependent (Fire=orange, water=blue, poison=purple, grass=green)</a:t>
            </a:r>
          </a:p>
          <a:p>
            <a:pPr algn="ctr">
              <a:buNone/>
            </a:pPr>
            <a:endParaRPr lang="en-US" sz="1300" dirty="0">
              <a:solidFill>
                <a:srgbClr val="1A2B3C"/>
              </a:solidFill>
              <a:latin typeface="Calibri"/>
            </a:endParaRPr>
          </a:p>
        </p:txBody>
      </p:sp>
      <p:sp>
        <p:nvSpPr>
          <p:cNvPr id="31" name="R1C2">
            <a:extLst>
              <a:ext uri="{FF2B5EF4-FFF2-40B4-BE49-F238E27FC236}">
                <a16:creationId xmlns:a16="http://schemas.microsoft.com/office/drawing/2014/main" id="{AE5BA09A-6048-2F02-B16F-5FC7C3B50F06}"/>
              </a:ext>
            </a:extLst>
          </p:cNvPr>
          <p:cNvSpPr/>
          <p:nvPr/>
        </p:nvSpPr>
        <p:spPr>
          <a:xfrm>
            <a:off x="4342062" y="1936080"/>
            <a:ext cx="4527617" cy="1767891"/>
          </a:xfrm>
          <a:prstGeom prst="rect">
            <a:avLst/>
          </a:prstGeom>
          <a:solidFill>
            <a:schemeClr val="accent1">
              <a:lumMod val="20000"/>
              <a:lumOff val="80000"/>
            </a:schemeClr>
          </a:solidFill>
          <a:ln w="6350">
            <a:noFill/>
          </a:ln>
        </p:spPr>
        <p:txBody>
          <a:bodyPr rtlCol="0" anchor="ctr"/>
          <a:lstStyle/>
          <a:p>
            <a:pPr algn="ctr">
              <a:buNone/>
            </a:pPr>
            <a:r>
              <a:rPr lang="en-US" sz="1400" b="1" dirty="0" err="1">
                <a:solidFill>
                  <a:srgbClr val="1C3A52"/>
                </a:solidFill>
                <a:latin typeface="Calibri"/>
              </a:rPr>
              <a:t>RandomHorizontalFlip</a:t>
            </a:r>
            <a:r>
              <a:rPr lang="en-US" sz="1400" b="1" dirty="0">
                <a:solidFill>
                  <a:srgbClr val="1C3A52"/>
                </a:solidFill>
                <a:latin typeface="Calibri"/>
              </a:rPr>
              <a:t>, </a:t>
            </a:r>
            <a:r>
              <a:rPr lang="en-US" sz="1400" b="1" dirty="0" err="1">
                <a:solidFill>
                  <a:srgbClr val="1C3A52"/>
                </a:solidFill>
                <a:latin typeface="Calibri"/>
              </a:rPr>
              <a:t>ColorJitter</a:t>
            </a:r>
            <a:r>
              <a:rPr lang="en-US" sz="1400" b="1" dirty="0">
                <a:solidFill>
                  <a:srgbClr val="1C3A52"/>
                </a:solidFill>
                <a:latin typeface="Calibri"/>
              </a:rPr>
              <a:t>, </a:t>
            </a:r>
            <a:r>
              <a:rPr lang="en-US" sz="1400" b="1" dirty="0" err="1">
                <a:solidFill>
                  <a:srgbClr val="1C3A52"/>
                </a:solidFill>
                <a:latin typeface="Calibri"/>
              </a:rPr>
              <a:t>RandomRotation</a:t>
            </a:r>
            <a:r>
              <a:rPr lang="en-US" sz="1400" b="1" dirty="0">
                <a:solidFill>
                  <a:srgbClr val="1C3A52"/>
                </a:solidFill>
                <a:latin typeface="Calibri"/>
              </a:rPr>
              <a:t>...</a:t>
            </a:r>
          </a:p>
          <a:p>
            <a:pPr algn="ctr">
              <a:buNone/>
            </a:pPr>
            <a:r>
              <a:rPr lang="en-US" sz="1400" dirty="0">
                <a:solidFill>
                  <a:srgbClr val="1C3A52"/>
                </a:solidFill>
                <a:latin typeface="Calibri"/>
              </a:rPr>
              <a:t>Could we improve the quality of our training dataset and help the model to generalize better? </a:t>
            </a:r>
            <a:br>
              <a:rPr lang="en-US" sz="1400" dirty="0">
                <a:solidFill>
                  <a:srgbClr val="1C3A52"/>
                </a:solidFill>
                <a:latin typeface="Calibri"/>
              </a:rPr>
            </a:br>
            <a:r>
              <a:rPr lang="en-US" sz="1400" dirty="0">
                <a:solidFill>
                  <a:srgbClr val="1C3A52"/>
                </a:solidFill>
                <a:latin typeface="Calibri"/>
              </a:rPr>
              <a:t>This is a valid hypothesis for CNN, but as expected, not for MLP, because MLPs convert the image to a simple vector losing all spatial sense. </a:t>
            </a:r>
          </a:p>
        </p:txBody>
      </p:sp>
      <p:pic>
        <p:nvPicPr>
          <p:cNvPr id="9" name="Picture 8">
            <a:extLst>
              <a:ext uri="{FF2B5EF4-FFF2-40B4-BE49-F238E27FC236}">
                <a16:creationId xmlns:a16="http://schemas.microsoft.com/office/drawing/2014/main" id="{3939D8D5-762B-DF5A-34F0-EFCCA0391EBA}"/>
              </a:ext>
            </a:extLst>
          </p:cNvPr>
          <p:cNvPicPr>
            <a:picLocks noChangeAspect="1"/>
          </p:cNvPicPr>
          <p:nvPr/>
        </p:nvPicPr>
        <p:blipFill>
          <a:blip r:embed="rId2"/>
          <a:stretch>
            <a:fillRect/>
          </a:stretch>
        </p:blipFill>
        <p:spPr>
          <a:xfrm>
            <a:off x="4286209" y="3715434"/>
            <a:ext cx="4583470" cy="1063516"/>
          </a:xfrm>
          <a:prstGeom prst="rect">
            <a:avLst/>
          </a:prstGeom>
        </p:spPr>
      </p:pic>
      <p:pic>
        <p:nvPicPr>
          <p:cNvPr id="13" name="Picture 12">
            <a:extLst>
              <a:ext uri="{FF2B5EF4-FFF2-40B4-BE49-F238E27FC236}">
                <a16:creationId xmlns:a16="http://schemas.microsoft.com/office/drawing/2014/main" id="{C78762B1-040A-2553-A6DB-B04AE33FB775}"/>
              </a:ext>
            </a:extLst>
          </p:cNvPr>
          <p:cNvPicPr>
            <a:picLocks noChangeAspect="1"/>
          </p:cNvPicPr>
          <p:nvPr/>
        </p:nvPicPr>
        <p:blipFill>
          <a:blip r:embed="rId3"/>
          <a:stretch>
            <a:fillRect/>
          </a:stretch>
        </p:blipFill>
        <p:spPr>
          <a:xfrm>
            <a:off x="218467" y="3676965"/>
            <a:ext cx="3962835" cy="1410658"/>
          </a:xfrm>
          <a:prstGeom prst="rect">
            <a:avLst/>
          </a:prstGeom>
        </p:spPr>
      </p:pic>
    </p:spTree>
    <p:extLst>
      <p:ext uri="{BB962C8B-B14F-4D97-AF65-F5344CB8AC3E}">
        <p14:creationId xmlns:p14="http://schemas.microsoft.com/office/powerpoint/2010/main" val="37728897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opBar"/>
          <p:cNvSpPr/>
          <p:nvPr/>
        </p:nvSpPr>
        <p:spPr>
          <a:xfrm>
            <a:off x="0" y="0"/>
            <a:ext cx="9144000" cy="64008"/>
          </a:xfrm>
          <a:prstGeom prst="rect">
            <a:avLst/>
          </a:prstGeom>
          <a:solidFill>
            <a:srgbClr val="00A896"/>
          </a:solidFill>
          <a:ln w="12700">
            <a:solidFill>
              <a:srgbClr val="00A896"/>
            </a:solidFill>
            <a:prstDash val="solid"/>
          </a:ln>
        </p:spPr>
        <p:txBody>
          <a:bodyPr/>
          <a:lstStyle/>
          <a:p>
            <a:endParaRPr lang="en-US"/>
          </a:p>
        </p:txBody>
      </p:sp>
      <p:sp>
        <p:nvSpPr>
          <p:cNvPr id="3" name="Badge"/>
          <p:cNvSpPr/>
          <p:nvPr/>
        </p:nvSpPr>
        <p:spPr>
          <a:xfrm>
            <a:off x="7498079" y="82296"/>
            <a:ext cx="1557633" cy="329184"/>
          </a:xfrm>
          <a:prstGeom prst="rect">
            <a:avLst/>
          </a:prstGeom>
          <a:solidFill>
            <a:srgbClr val="1C3A52"/>
          </a:solidFill>
          <a:ln w="12700">
            <a:solidFill>
              <a:srgbClr val="1C3A52"/>
            </a:solidFill>
            <a:prstDash val="solid"/>
          </a:ln>
        </p:spPr>
        <p:txBody>
          <a:bodyPr/>
          <a:lstStyle/>
          <a:p>
            <a:pPr algn="ctr"/>
            <a:r>
              <a:rPr lang="en-US" b="1" dirty="0">
                <a:solidFill>
                  <a:srgbClr val="FFFFFF"/>
                </a:solidFill>
              </a:rPr>
              <a:t>MODEL DEV</a:t>
            </a:r>
            <a:endParaRPr lang="en-US" b="1" dirty="0"/>
          </a:p>
        </p:txBody>
      </p:sp>
      <p:sp>
        <p:nvSpPr>
          <p:cNvPr id="4" name="NumCircle"/>
          <p:cNvSpPr/>
          <p:nvPr/>
        </p:nvSpPr>
        <p:spPr>
          <a:xfrm>
            <a:off x="7088176" y="4253"/>
            <a:ext cx="470123" cy="470912"/>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2800" b="1" dirty="0"/>
              <a:t>2</a:t>
            </a:r>
            <a:endParaRPr lang="en-US" sz="1600" b="1" dirty="0"/>
          </a:p>
        </p:txBody>
      </p:sp>
      <p:sp>
        <p:nvSpPr>
          <p:cNvPr id="5" name="Title"/>
          <p:cNvSpPr/>
          <p:nvPr/>
        </p:nvSpPr>
        <p:spPr>
          <a:xfrm>
            <a:off x="457200" y="109728"/>
            <a:ext cx="6400800" cy="530352"/>
          </a:xfrm>
          <a:prstGeom prst="rect">
            <a:avLst/>
          </a:prstGeom>
          <a:noFill/>
          <a:ln/>
        </p:spPr>
        <p:txBody>
          <a:bodyPr wrap="square" lIns="0" tIns="0" rIns="0" bIns="0" rtlCol="0" anchor="ctr"/>
          <a:lstStyle/>
          <a:p>
            <a:pPr marL="0" indent="0">
              <a:buNone/>
            </a:pPr>
            <a:r>
              <a:rPr lang="en-US" sz="2200" b="1" dirty="0">
                <a:solidFill>
                  <a:srgbClr val="0D1B2A"/>
                </a:solidFill>
                <a:latin typeface="Trebuchet MS" pitchFamily="34" charset="0"/>
              </a:rPr>
              <a:t>MLP Best (SOLO) Model (R_ls015_drop03)</a:t>
            </a:r>
          </a:p>
        </p:txBody>
      </p:sp>
      <p:sp>
        <p:nvSpPr>
          <p:cNvPr id="20" name="InputBox"/>
          <p:cNvSpPr/>
          <p:nvPr/>
        </p:nvSpPr>
        <p:spPr>
          <a:xfrm>
            <a:off x="274799" y="1297287"/>
            <a:ext cx="1280160" cy="640080"/>
          </a:xfrm>
          <a:prstGeom prst="rect">
            <a:avLst/>
          </a:prstGeom>
          <a:solidFill>
            <a:srgbClr val="1C3A52"/>
          </a:solidFill>
          <a:ln w="12700">
            <a:solidFill>
              <a:srgbClr val="1C3A52"/>
            </a:solidFill>
          </a:ln>
        </p:spPr>
        <p:txBody>
          <a:bodyPr rtlCol="0" anchor="ctr"/>
          <a:lstStyle/>
          <a:p>
            <a:pPr algn="ctr">
              <a:buNone/>
            </a:pPr>
            <a:r>
              <a:rPr lang="en-US" sz="1000" b="1" dirty="0">
                <a:solidFill>
                  <a:srgbClr val="AACCD8"/>
                </a:solidFill>
                <a:latin typeface="Calibri"/>
              </a:rPr>
              <a:t>Input</a:t>
            </a:r>
          </a:p>
          <a:p>
            <a:pPr algn="ctr">
              <a:buNone/>
            </a:pPr>
            <a:r>
              <a:rPr lang="en-US" sz="1800" b="1" dirty="0">
                <a:solidFill>
                  <a:schemeClr val="accent2">
                    <a:lumMod val="40000"/>
                    <a:lumOff val="60000"/>
                  </a:schemeClr>
                </a:solidFill>
                <a:latin typeface="Calibri"/>
              </a:rPr>
              <a:t>12 288</a:t>
            </a:r>
          </a:p>
          <a:p>
            <a:pPr algn="ctr">
              <a:buNone/>
            </a:pPr>
            <a:r>
              <a:rPr lang="en-US" sz="900" dirty="0">
                <a:solidFill>
                  <a:srgbClr val="AACCD8"/>
                </a:solidFill>
                <a:latin typeface="Calibri"/>
              </a:rPr>
              <a:t>64x64x3 flat</a:t>
            </a:r>
          </a:p>
        </p:txBody>
      </p:sp>
      <p:sp>
        <p:nvSpPr>
          <p:cNvPr id="21" name="Arrow1"/>
          <p:cNvSpPr/>
          <p:nvPr/>
        </p:nvSpPr>
        <p:spPr>
          <a:xfrm>
            <a:off x="1645679" y="1577367"/>
            <a:ext cx="274320" cy="91440"/>
          </a:xfrm>
          <a:prstGeom prst="rightArrow">
            <a:avLst/>
          </a:prstGeom>
          <a:solidFill>
            <a:srgbClr val="00A896"/>
          </a:solidFill>
          <a:ln w="0">
            <a:noFill/>
          </a:ln>
        </p:spPr>
        <p:txBody>
          <a:bodyPr/>
          <a:lstStyle/>
          <a:p>
            <a:endParaRPr lang="en-US"/>
          </a:p>
        </p:txBody>
      </p:sp>
      <p:sp>
        <p:nvSpPr>
          <p:cNvPr id="22" name="H1Box"/>
          <p:cNvSpPr/>
          <p:nvPr/>
        </p:nvSpPr>
        <p:spPr>
          <a:xfrm>
            <a:off x="2012159" y="1260207"/>
            <a:ext cx="1371600" cy="731520"/>
          </a:xfrm>
          <a:prstGeom prst="rect">
            <a:avLst/>
          </a:prstGeom>
          <a:solidFill>
            <a:srgbClr val="028090"/>
          </a:solidFill>
          <a:ln w="12700">
            <a:solidFill>
              <a:srgbClr val="028090"/>
            </a:solidFill>
          </a:ln>
        </p:spPr>
        <p:txBody>
          <a:bodyPr rtlCol="0" anchor="ctr"/>
          <a:lstStyle/>
          <a:p>
            <a:pPr algn="ctr">
              <a:buNone/>
            </a:pPr>
            <a:r>
              <a:rPr lang="en-US" sz="1000" b="1" dirty="0">
                <a:solidFill>
                  <a:srgbClr val="AACCD8"/>
                </a:solidFill>
                <a:latin typeface="Calibri"/>
              </a:rPr>
              <a:t>Hidden 1</a:t>
            </a:r>
          </a:p>
          <a:p>
            <a:pPr algn="ctr">
              <a:buNone/>
            </a:pPr>
            <a:r>
              <a:rPr lang="en-US" sz="1800" b="1" dirty="0">
                <a:solidFill>
                  <a:srgbClr val="FFFFFF"/>
                </a:solidFill>
                <a:latin typeface="Calibri"/>
              </a:rPr>
              <a:t>512</a:t>
            </a:r>
          </a:p>
          <a:p>
            <a:pPr algn="ctr">
              <a:buNone/>
            </a:pPr>
            <a:r>
              <a:rPr lang="en-US" sz="900" dirty="0">
                <a:solidFill>
                  <a:srgbClr val="AACCD8"/>
                </a:solidFill>
                <a:latin typeface="Calibri"/>
              </a:rPr>
              <a:t>BN + ReLU + D(0.3)</a:t>
            </a:r>
          </a:p>
        </p:txBody>
      </p:sp>
      <p:sp>
        <p:nvSpPr>
          <p:cNvPr id="23" name="Arrow2"/>
          <p:cNvSpPr/>
          <p:nvPr/>
        </p:nvSpPr>
        <p:spPr>
          <a:xfrm>
            <a:off x="3474479" y="1577367"/>
            <a:ext cx="274320" cy="91440"/>
          </a:xfrm>
          <a:prstGeom prst="rightArrow">
            <a:avLst/>
          </a:prstGeom>
          <a:solidFill>
            <a:srgbClr val="00A896"/>
          </a:solidFill>
          <a:ln w="0">
            <a:noFill/>
          </a:ln>
        </p:spPr>
        <p:txBody>
          <a:bodyPr/>
          <a:lstStyle/>
          <a:p>
            <a:endParaRPr lang="en-US"/>
          </a:p>
        </p:txBody>
      </p:sp>
      <p:sp>
        <p:nvSpPr>
          <p:cNvPr id="24" name="H2Box"/>
          <p:cNvSpPr/>
          <p:nvPr/>
        </p:nvSpPr>
        <p:spPr>
          <a:xfrm>
            <a:off x="3840959" y="1297287"/>
            <a:ext cx="1371600" cy="640080"/>
          </a:xfrm>
          <a:prstGeom prst="rect">
            <a:avLst/>
          </a:prstGeom>
          <a:solidFill>
            <a:srgbClr val="028090"/>
          </a:solidFill>
          <a:ln w="12700">
            <a:solidFill>
              <a:srgbClr val="028090"/>
            </a:solidFill>
          </a:ln>
        </p:spPr>
        <p:txBody>
          <a:bodyPr rtlCol="0" anchor="ctr"/>
          <a:lstStyle/>
          <a:p>
            <a:pPr algn="ctr">
              <a:buNone/>
            </a:pPr>
            <a:r>
              <a:rPr lang="en-US" sz="1000" b="1" dirty="0">
                <a:solidFill>
                  <a:srgbClr val="AACCD8"/>
                </a:solidFill>
                <a:latin typeface="Calibri"/>
              </a:rPr>
              <a:t>Hidden 2</a:t>
            </a:r>
          </a:p>
          <a:p>
            <a:pPr algn="ctr">
              <a:buNone/>
            </a:pPr>
            <a:r>
              <a:rPr lang="en-US" sz="1800" b="1" dirty="0">
                <a:solidFill>
                  <a:srgbClr val="FFFFFF"/>
                </a:solidFill>
                <a:latin typeface="Calibri"/>
              </a:rPr>
              <a:t>256</a:t>
            </a:r>
          </a:p>
          <a:p>
            <a:pPr algn="ctr">
              <a:buNone/>
            </a:pPr>
            <a:r>
              <a:rPr lang="en-US" sz="900" dirty="0">
                <a:solidFill>
                  <a:srgbClr val="AACCD8"/>
                </a:solidFill>
                <a:latin typeface="Calibri"/>
              </a:rPr>
              <a:t>BN + ReLU + D(0.3)</a:t>
            </a:r>
          </a:p>
        </p:txBody>
      </p:sp>
      <p:sp>
        <p:nvSpPr>
          <p:cNvPr id="25" name="Arrow3"/>
          <p:cNvSpPr/>
          <p:nvPr/>
        </p:nvSpPr>
        <p:spPr>
          <a:xfrm>
            <a:off x="5303279" y="1577367"/>
            <a:ext cx="274320" cy="91440"/>
          </a:xfrm>
          <a:prstGeom prst="rightArrow">
            <a:avLst/>
          </a:prstGeom>
          <a:solidFill>
            <a:srgbClr val="00A896"/>
          </a:solidFill>
          <a:ln w="0">
            <a:noFill/>
          </a:ln>
        </p:spPr>
        <p:txBody>
          <a:bodyPr/>
          <a:lstStyle/>
          <a:p>
            <a:endParaRPr lang="en-US"/>
          </a:p>
        </p:txBody>
      </p:sp>
      <p:sp>
        <p:nvSpPr>
          <p:cNvPr id="26" name="H3Box"/>
          <p:cNvSpPr/>
          <p:nvPr/>
        </p:nvSpPr>
        <p:spPr>
          <a:xfrm>
            <a:off x="5669039" y="1297287"/>
            <a:ext cx="1371600" cy="640080"/>
          </a:xfrm>
          <a:prstGeom prst="rect">
            <a:avLst/>
          </a:prstGeom>
          <a:solidFill>
            <a:srgbClr val="028090"/>
          </a:solidFill>
          <a:ln w="12700">
            <a:solidFill>
              <a:srgbClr val="028090"/>
            </a:solidFill>
          </a:ln>
        </p:spPr>
        <p:txBody>
          <a:bodyPr rtlCol="0" anchor="ctr"/>
          <a:lstStyle/>
          <a:p>
            <a:pPr algn="ctr">
              <a:buNone/>
            </a:pPr>
            <a:r>
              <a:rPr lang="en-US" sz="1000" b="1" dirty="0">
                <a:solidFill>
                  <a:srgbClr val="AACCD8"/>
                </a:solidFill>
                <a:latin typeface="Calibri"/>
              </a:rPr>
              <a:t>Hidden 3</a:t>
            </a:r>
          </a:p>
          <a:p>
            <a:pPr algn="ctr">
              <a:buNone/>
            </a:pPr>
            <a:r>
              <a:rPr lang="en-US" sz="1800" b="1" dirty="0">
                <a:solidFill>
                  <a:srgbClr val="FFFFFF"/>
                </a:solidFill>
                <a:latin typeface="Calibri"/>
              </a:rPr>
              <a:t>128</a:t>
            </a:r>
          </a:p>
          <a:p>
            <a:pPr algn="ctr">
              <a:buNone/>
            </a:pPr>
            <a:r>
              <a:rPr lang="en-US" sz="900" dirty="0">
                <a:solidFill>
                  <a:srgbClr val="AACCD8"/>
                </a:solidFill>
                <a:latin typeface="Calibri"/>
              </a:rPr>
              <a:t>BN + ReLU + D(0.3)</a:t>
            </a:r>
          </a:p>
        </p:txBody>
      </p:sp>
      <p:sp>
        <p:nvSpPr>
          <p:cNvPr id="27" name="Arrow4"/>
          <p:cNvSpPr/>
          <p:nvPr/>
        </p:nvSpPr>
        <p:spPr>
          <a:xfrm>
            <a:off x="7131839" y="1577367"/>
            <a:ext cx="274320" cy="91440"/>
          </a:xfrm>
          <a:prstGeom prst="rightArrow">
            <a:avLst/>
          </a:prstGeom>
          <a:solidFill>
            <a:srgbClr val="00A896"/>
          </a:solidFill>
          <a:ln w="0">
            <a:noFill/>
          </a:ln>
        </p:spPr>
        <p:txBody>
          <a:bodyPr/>
          <a:lstStyle/>
          <a:p>
            <a:endParaRPr lang="en-US"/>
          </a:p>
        </p:txBody>
      </p:sp>
      <p:sp>
        <p:nvSpPr>
          <p:cNvPr id="28" name="OutBox"/>
          <p:cNvSpPr/>
          <p:nvPr/>
        </p:nvSpPr>
        <p:spPr>
          <a:xfrm>
            <a:off x="7498079" y="1297287"/>
            <a:ext cx="1279440" cy="640080"/>
          </a:xfrm>
          <a:prstGeom prst="rect">
            <a:avLst/>
          </a:prstGeom>
          <a:solidFill>
            <a:srgbClr val="00A896"/>
          </a:solidFill>
          <a:ln w="12700">
            <a:solidFill>
              <a:srgbClr val="00A896"/>
            </a:solidFill>
          </a:ln>
        </p:spPr>
        <p:txBody>
          <a:bodyPr rtlCol="0" anchor="ctr"/>
          <a:lstStyle/>
          <a:p>
            <a:pPr algn="ctr">
              <a:buNone/>
            </a:pPr>
            <a:r>
              <a:rPr lang="en-US" sz="1000" b="1" dirty="0">
                <a:solidFill>
                  <a:srgbClr val="E8F8F6"/>
                </a:solidFill>
                <a:latin typeface="Calibri"/>
              </a:rPr>
              <a:t>Output</a:t>
            </a:r>
          </a:p>
          <a:p>
            <a:pPr algn="ctr">
              <a:buNone/>
            </a:pPr>
            <a:r>
              <a:rPr lang="en-US" sz="1800" b="1" dirty="0">
                <a:solidFill>
                  <a:srgbClr val="FFFFFF"/>
                </a:solidFill>
                <a:latin typeface="Calibri"/>
              </a:rPr>
              <a:t>9</a:t>
            </a:r>
          </a:p>
          <a:p>
            <a:pPr algn="ctr">
              <a:buNone/>
            </a:pPr>
            <a:r>
              <a:rPr lang="en-US" sz="900" dirty="0">
                <a:solidFill>
                  <a:srgbClr val="E8F8F6"/>
                </a:solidFill>
                <a:latin typeface="Calibri"/>
              </a:rPr>
              <a:t>logits</a:t>
            </a:r>
          </a:p>
        </p:txBody>
      </p:sp>
      <p:sp>
        <p:nvSpPr>
          <p:cNvPr id="40" name="LeftCard"/>
          <p:cNvSpPr/>
          <p:nvPr/>
        </p:nvSpPr>
        <p:spPr>
          <a:xfrm>
            <a:off x="274799" y="2120247"/>
            <a:ext cx="4205520" cy="2908080"/>
          </a:xfrm>
          <a:prstGeom prst="rect">
            <a:avLst/>
          </a:prstGeom>
          <a:solidFill>
            <a:srgbClr val="FFFFFF"/>
          </a:solidFill>
          <a:ln w="6350">
            <a:solidFill>
              <a:srgbClr val="D8E4EC"/>
            </a:solidFill>
          </a:ln>
          <a:effectLst>
            <a:outerShdw blurRad="101600" dist="38100" dir="8100000" algn="bl" rotWithShape="0">
              <a:srgbClr val="000000">
                <a:alpha val="10000"/>
              </a:srgbClr>
            </a:outerShdw>
          </a:effectLst>
        </p:spPr>
        <p:txBody>
          <a:bodyPr/>
          <a:lstStyle/>
          <a:p>
            <a:endParaRPr lang="en-US"/>
          </a:p>
        </p:txBody>
      </p:sp>
      <p:sp>
        <p:nvSpPr>
          <p:cNvPr id="41" name="LeftText"/>
          <p:cNvSpPr/>
          <p:nvPr/>
        </p:nvSpPr>
        <p:spPr>
          <a:xfrm>
            <a:off x="457679" y="2200527"/>
            <a:ext cx="3840480" cy="2816640"/>
          </a:xfrm>
          <a:prstGeom prst="rect">
            <a:avLst/>
          </a:prstGeom>
          <a:noFill/>
          <a:ln/>
        </p:spPr>
        <p:txBody>
          <a:bodyPr wrap="square" rtlCol="0" anchor="t"/>
          <a:lstStyle/>
          <a:p>
            <a:pPr>
              <a:buNone/>
            </a:pPr>
            <a:r>
              <a:rPr lang="en-US" sz="1300" b="1" dirty="0">
                <a:solidFill>
                  <a:srgbClr val="028090"/>
                </a:solidFill>
                <a:latin typeface="Trebuchet MS" pitchFamily="34" charset="0"/>
              </a:rPr>
              <a:t>Funnel Design </a:t>
            </a:r>
          </a:p>
          <a:p>
            <a:pPr marL="228600" indent="-228600">
              <a:buChar char="•"/>
            </a:pPr>
            <a:r>
              <a:rPr lang="en-US" sz="1100" dirty="0">
                <a:solidFill>
                  <a:srgbClr val="1A2B3C"/>
                </a:solidFill>
                <a:latin typeface="Calibri" pitchFamily="34" charset="0"/>
              </a:rPr>
              <a:t>Progressive compression forces generalisation</a:t>
            </a:r>
          </a:p>
          <a:p>
            <a:pPr marL="228600" indent="-228600">
              <a:buChar char="•"/>
            </a:pPr>
            <a:r>
              <a:rPr lang="en-US" sz="1100" dirty="0">
                <a:solidFill>
                  <a:srgbClr val="1A2B3C"/>
                </a:solidFill>
                <a:latin typeface="Calibri" pitchFamily="34" charset="0"/>
              </a:rPr>
              <a:t>Better than: </a:t>
            </a:r>
          </a:p>
          <a:p>
            <a:pPr marL="685800" lvl="1" indent="-228600">
              <a:buChar char="•"/>
            </a:pPr>
            <a:r>
              <a:rPr lang="en-US" sz="1100" dirty="0">
                <a:solidFill>
                  <a:srgbClr val="1A2B3C"/>
                </a:solidFill>
                <a:latin typeface="Calibri" pitchFamily="34" charset="0"/>
              </a:rPr>
              <a:t>Narrow (256-128-64-32): too bottlenecked for colour histogram learning</a:t>
            </a:r>
          </a:p>
          <a:p>
            <a:pPr marL="685800" lvl="1" indent="-228600">
              <a:buChar char="•"/>
            </a:pPr>
            <a:r>
              <a:rPr lang="en-US" sz="1100" dirty="0">
                <a:solidFill>
                  <a:srgbClr val="1A2B3C"/>
                </a:solidFill>
                <a:latin typeface="Calibri" pitchFamily="34" charset="0"/>
              </a:rPr>
              <a:t>Wider first layer (1024): more capacity = more memorisation</a:t>
            </a:r>
          </a:p>
          <a:p>
            <a:pPr marL="685800" lvl="1" indent="-228600">
              <a:buChar char="•"/>
            </a:pPr>
            <a:r>
              <a:rPr lang="en-US" sz="1100" dirty="0">
                <a:solidFill>
                  <a:srgbClr val="1A2B3C"/>
                </a:solidFill>
                <a:latin typeface="Calibri" pitchFamily="34" charset="0"/>
              </a:rPr>
              <a:t>4-layer deep: harder to regularise on small data</a:t>
            </a:r>
          </a:p>
          <a:p>
            <a:pPr lvl="1"/>
            <a:endParaRPr lang="en-US" sz="1100" dirty="0">
              <a:solidFill>
                <a:srgbClr val="1A2B3C"/>
              </a:solidFill>
              <a:latin typeface="Calibri" pitchFamily="34" charset="0"/>
            </a:endParaRPr>
          </a:p>
        </p:txBody>
      </p:sp>
      <p:sp>
        <p:nvSpPr>
          <p:cNvPr id="42" name="RightCard"/>
          <p:cNvSpPr/>
          <p:nvPr/>
        </p:nvSpPr>
        <p:spPr>
          <a:xfrm>
            <a:off x="4664399" y="2120247"/>
            <a:ext cx="4205520" cy="2908080"/>
          </a:xfrm>
          <a:prstGeom prst="rect">
            <a:avLst/>
          </a:prstGeom>
          <a:solidFill>
            <a:srgbClr val="FFFFFF"/>
          </a:solidFill>
          <a:ln w="6350">
            <a:solidFill>
              <a:srgbClr val="D8E4EC"/>
            </a:solidFill>
          </a:ln>
          <a:effectLst>
            <a:outerShdw blurRad="101600" dist="38100" dir="8100000" algn="bl" rotWithShape="0">
              <a:srgbClr val="000000">
                <a:alpha val="10000"/>
              </a:srgbClr>
            </a:outerShdw>
          </a:effectLst>
        </p:spPr>
        <p:txBody>
          <a:bodyPr/>
          <a:lstStyle/>
          <a:p>
            <a:endParaRPr lang="en-US"/>
          </a:p>
        </p:txBody>
      </p:sp>
      <p:sp>
        <p:nvSpPr>
          <p:cNvPr id="43" name="RightText"/>
          <p:cNvSpPr/>
          <p:nvPr/>
        </p:nvSpPr>
        <p:spPr>
          <a:xfrm>
            <a:off x="4847279" y="2200527"/>
            <a:ext cx="3840480" cy="2816640"/>
          </a:xfrm>
          <a:prstGeom prst="rect">
            <a:avLst/>
          </a:prstGeom>
          <a:noFill/>
          <a:ln/>
        </p:spPr>
        <p:txBody>
          <a:bodyPr wrap="square" rtlCol="0" anchor="t"/>
          <a:lstStyle/>
          <a:p>
            <a:pPr>
              <a:buNone/>
            </a:pPr>
            <a:r>
              <a:rPr lang="en-US" sz="1300" b="1" dirty="0">
                <a:solidFill>
                  <a:srgbClr val="028090"/>
                </a:solidFill>
                <a:latin typeface="Trebuchet MS" pitchFamily="34" charset="0"/>
              </a:rPr>
              <a:t>BatchNorm + ReLU + Output Logits</a:t>
            </a:r>
          </a:p>
          <a:p>
            <a:endParaRPr lang="en-US" sz="1100" b="1" dirty="0">
              <a:solidFill>
                <a:srgbClr val="1A2B3C"/>
              </a:solidFill>
              <a:latin typeface="Calibri" pitchFamily="34" charset="0"/>
            </a:endParaRPr>
          </a:p>
          <a:p>
            <a:pPr marL="228600" indent="-228600">
              <a:buChar char="•"/>
            </a:pPr>
            <a:r>
              <a:rPr lang="en-US" sz="1100" b="1" dirty="0">
                <a:solidFill>
                  <a:srgbClr val="1A2B3C"/>
                </a:solidFill>
                <a:latin typeface="Calibri" pitchFamily="34" charset="0"/>
              </a:rPr>
              <a:t>BatchNorm1d after every Linear</a:t>
            </a:r>
          </a:p>
          <a:p>
            <a:pPr lvl="1"/>
            <a:r>
              <a:rPr lang="en-US" sz="1100" dirty="0" err="1">
                <a:solidFill>
                  <a:srgbClr val="1A2B3C"/>
                </a:solidFill>
                <a:latin typeface="Calibri" pitchFamily="34" charset="0"/>
              </a:rPr>
              <a:t>stabilises</a:t>
            </a:r>
            <a:r>
              <a:rPr lang="en-US" sz="1100" dirty="0">
                <a:solidFill>
                  <a:srgbClr val="1A2B3C"/>
                </a:solidFill>
                <a:latin typeface="Calibri" pitchFamily="34" charset="0"/>
              </a:rPr>
              <a:t> gradients on 12 288-dim flat input</a:t>
            </a:r>
          </a:p>
          <a:p>
            <a:pPr marL="228600" indent="-228600">
              <a:buChar char="•"/>
            </a:pPr>
            <a:r>
              <a:rPr lang="en-US" sz="1100" b="1" dirty="0" err="1">
                <a:solidFill>
                  <a:srgbClr val="1A2B3C"/>
                </a:solidFill>
                <a:latin typeface="Calibri" pitchFamily="34" charset="0"/>
              </a:rPr>
              <a:t>ReLU</a:t>
            </a:r>
            <a:r>
              <a:rPr lang="en-US" sz="1100" b="1" dirty="0">
                <a:solidFill>
                  <a:srgbClr val="1A2B3C"/>
                </a:solidFill>
                <a:latin typeface="Calibri" pitchFamily="34" charset="0"/>
              </a:rPr>
              <a:t> </a:t>
            </a:r>
          </a:p>
          <a:p>
            <a:pPr lvl="1"/>
            <a:r>
              <a:rPr lang="en-US" sz="1100" dirty="0">
                <a:solidFill>
                  <a:srgbClr val="1A2B3C"/>
                </a:solidFill>
                <a:latin typeface="Calibri" pitchFamily="34" charset="0"/>
              </a:rPr>
              <a:t>no vanishing gradient for positive activations, simple and efficient</a:t>
            </a:r>
          </a:p>
          <a:p>
            <a:pPr marL="228600" indent="-228600">
              <a:buChar char="•"/>
            </a:pPr>
            <a:r>
              <a:rPr lang="en-US" sz="1100" b="1" dirty="0">
                <a:solidFill>
                  <a:srgbClr val="1A2B3C"/>
                </a:solidFill>
                <a:latin typeface="Calibri" pitchFamily="34" charset="0"/>
              </a:rPr>
              <a:t>Raw logits at output </a:t>
            </a:r>
          </a:p>
          <a:p>
            <a:pPr lvl="1"/>
            <a:r>
              <a:rPr lang="en-US" sz="1100" dirty="0" err="1">
                <a:solidFill>
                  <a:srgbClr val="1A2B3C"/>
                </a:solidFill>
                <a:latin typeface="Calibri" pitchFamily="34" charset="0"/>
              </a:rPr>
              <a:t>CrossEntropyLoss</a:t>
            </a:r>
            <a:r>
              <a:rPr lang="en-US" sz="1100" dirty="0">
                <a:solidFill>
                  <a:srgbClr val="1A2B3C"/>
                </a:solidFill>
                <a:latin typeface="Calibri" pitchFamily="34" charset="0"/>
              </a:rPr>
              <a:t> fuses log_softmax internally (numerically stable)</a:t>
            </a:r>
          </a:p>
          <a:p>
            <a:pPr lvl="1"/>
            <a:r>
              <a:rPr lang="en-US" sz="1100" dirty="0">
                <a:solidFill>
                  <a:srgbClr val="1A2B3C"/>
                </a:solidFill>
                <a:latin typeface="Calibri" pitchFamily="34" charset="0"/>
              </a:rPr>
              <a:t>argmax(logits) == argmax(softmax(logits)) — so no softmax needed at inference</a:t>
            </a:r>
          </a:p>
          <a:p>
            <a:pPr lvl="1"/>
            <a:r>
              <a:rPr lang="en-US" sz="1100" dirty="0">
                <a:solidFill>
                  <a:srgbClr val="1A2B3C"/>
                </a:solidFill>
                <a:latin typeface="Calibri" pitchFamily="34" charset="0"/>
              </a:rPr>
              <a:t>Exception: ensemble averages </a:t>
            </a:r>
            <a:r>
              <a:rPr lang="en-US" sz="1100" dirty="0" err="1">
                <a:solidFill>
                  <a:srgbClr val="1A2B3C"/>
                </a:solidFill>
                <a:latin typeface="Calibri" pitchFamily="34" charset="0"/>
              </a:rPr>
              <a:t>softmax</a:t>
            </a:r>
            <a:r>
              <a:rPr lang="en-US" sz="1100" dirty="0">
                <a:solidFill>
                  <a:srgbClr val="1A2B3C"/>
                </a:solidFill>
                <a:latin typeface="Calibri" pitchFamily="34" charset="0"/>
              </a:rPr>
              <a:t> outputs — raw logit scales differ across models</a:t>
            </a:r>
          </a:p>
        </p:txBody>
      </p:sp>
      <p:sp>
        <p:nvSpPr>
          <p:cNvPr id="6" name="Title">
            <a:extLst>
              <a:ext uri="{FF2B5EF4-FFF2-40B4-BE49-F238E27FC236}">
                <a16:creationId xmlns:a16="http://schemas.microsoft.com/office/drawing/2014/main" id="{A1FE6103-BAEE-145A-186D-8B430306D66D}"/>
              </a:ext>
            </a:extLst>
          </p:cNvPr>
          <p:cNvSpPr/>
          <p:nvPr/>
        </p:nvSpPr>
        <p:spPr>
          <a:xfrm>
            <a:off x="274320" y="720115"/>
            <a:ext cx="8595000" cy="382640"/>
          </a:xfrm>
          <a:prstGeom prst="rect">
            <a:avLst/>
          </a:prstGeom>
          <a:ln/>
        </p:spPr>
        <p:style>
          <a:lnRef idx="1">
            <a:schemeClr val="accent2"/>
          </a:lnRef>
          <a:fillRef idx="2">
            <a:schemeClr val="accent2"/>
          </a:fillRef>
          <a:effectRef idx="1">
            <a:schemeClr val="accent2"/>
          </a:effectRef>
          <a:fontRef idx="minor">
            <a:schemeClr val="dk1"/>
          </a:fontRef>
        </p:style>
        <p:txBody>
          <a:bodyPr wrap="square" lIns="0" tIns="0" rIns="0" bIns="0" rtlCol="0" anchor="ctr"/>
          <a:lstStyle/>
          <a:p>
            <a:pPr marL="0" indent="0">
              <a:buNone/>
            </a:pPr>
            <a:r>
              <a:rPr lang="en-US" b="1" dirty="0">
                <a:solidFill>
                  <a:srgbClr val="0D1B2A"/>
                </a:solidFill>
                <a:latin typeface="Trebuchet MS" pitchFamily="34" charset="0"/>
              </a:rPr>
              <a:t> Architecture: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opBar"/>
          <p:cNvSpPr/>
          <p:nvPr/>
        </p:nvSpPr>
        <p:spPr>
          <a:xfrm>
            <a:off x="0" y="0"/>
            <a:ext cx="9144000" cy="64008"/>
          </a:xfrm>
          <a:prstGeom prst="rect">
            <a:avLst/>
          </a:prstGeom>
          <a:solidFill>
            <a:srgbClr val="00A896"/>
          </a:solidFill>
          <a:ln w="12700">
            <a:solidFill>
              <a:srgbClr val="00A896"/>
            </a:solidFill>
            <a:prstDash val="solid"/>
          </a:ln>
        </p:spPr>
        <p:txBody>
          <a:bodyPr/>
          <a:lstStyle/>
          <a:p>
            <a:endParaRPr lang="en-US"/>
          </a:p>
        </p:txBody>
      </p:sp>
      <p:sp>
        <p:nvSpPr>
          <p:cNvPr id="3" name="Badge"/>
          <p:cNvSpPr/>
          <p:nvPr/>
        </p:nvSpPr>
        <p:spPr>
          <a:xfrm>
            <a:off x="7498079" y="82296"/>
            <a:ext cx="1557633" cy="329184"/>
          </a:xfrm>
          <a:prstGeom prst="rect">
            <a:avLst/>
          </a:prstGeom>
          <a:solidFill>
            <a:srgbClr val="1C3A52"/>
          </a:solidFill>
          <a:ln w="12700">
            <a:solidFill>
              <a:srgbClr val="1C3A52"/>
            </a:solidFill>
            <a:prstDash val="solid"/>
          </a:ln>
        </p:spPr>
        <p:txBody>
          <a:bodyPr/>
          <a:lstStyle/>
          <a:p>
            <a:pPr algn="ctr"/>
            <a:r>
              <a:rPr lang="en-US" b="1" dirty="0">
                <a:solidFill>
                  <a:srgbClr val="FFFFFF"/>
                </a:solidFill>
              </a:rPr>
              <a:t>MODEL DEV</a:t>
            </a:r>
            <a:endParaRPr lang="en-US" b="1" dirty="0"/>
          </a:p>
        </p:txBody>
      </p:sp>
      <p:sp>
        <p:nvSpPr>
          <p:cNvPr id="4" name="NumCircle"/>
          <p:cNvSpPr/>
          <p:nvPr/>
        </p:nvSpPr>
        <p:spPr>
          <a:xfrm>
            <a:off x="7088176" y="4253"/>
            <a:ext cx="470123" cy="470912"/>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2800" b="1" dirty="0"/>
              <a:t>2</a:t>
            </a:r>
            <a:endParaRPr lang="en-US" sz="1600" b="1" dirty="0"/>
          </a:p>
        </p:txBody>
      </p:sp>
      <p:sp>
        <p:nvSpPr>
          <p:cNvPr id="5" name="Title"/>
          <p:cNvSpPr/>
          <p:nvPr/>
        </p:nvSpPr>
        <p:spPr>
          <a:xfrm>
            <a:off x="274320" y="720115"/>
            <a:ext cx="8595000" cy="382640"/>
          </a:xfrm>
          <a:prstGeom prst="rect">
            <a:avLst/>
          </a:prstGeom>
          <a:ln/>
        </p:spPr>
        <p:style>
          <a:lnRef idx="1">
            <a:schemeClr val="accent2"/>
          </a:lnRef>
          <a:fillRef idx="2">
            <a:schemeClr val="accent2"/>
          </a:fillRef>
          <a:effectRef idx="1">
            <a:schemeClr val="accent2"/>
          </a:effectRef>
          <a:fontRef idx="minor">
            <a:schemeClr val="dk1"/>
          </a:fontRef>
        </p:style>
        <p:txBody>
          <a:bodyPr wrap="square" lIns="0" tIns="0" rIns="0" bIns="0" rtlCol="0" anchor="ctr"/>
          <a:lstStyle/>
          <a:p>
            <a:pPr marL="0" indent="0">
              <a:buNone/>
            </a:pPr>
            <a:r>
              <a:rPr lang="en-US" b="1" dirty="0">
                <a:solidFill>
                  <a:srgbClr val="0D1B2A"/>
                </a:solidFill>
                <a:latin typeface="Trebuchet MS" pitchFamily="34" charset="0"/>
              </a:rPr>
              <a:t> Regularization Strategy:</a:t>
            </a:r>
          </a:p>
        </p:txBody>
      </p:sp>
      <p:sp>
        <p:nvSpPr>
          <p:cNvPr id="10" name="C1bg"/>
          <p:cNvSpPr/>
          <p:nvPr/>
        </p:nvSpPr>
        <p:spPr>
          <a:xfrm>
            <a:off x="274320" y="1258907"/>
            <a:ext cx="2742840" cy="3506524"/>
          </a:xfrm>
          <a:prstGeom prst="rect">
            <a:avLst/>
          </a:prstGeom>
          <a:solidFill>
            <a:srgbClr val="FFFFFF"/>
          </a:solidFill>
          <a:ln w="6350">
            <a:solidFill>
              <a:srgbClr val="D8E4EC"/>
            </a:solidFill>
          </a:ln>
          <a:effectLst>
            <a:outerShdw blurRad="101600" dist="38100" dir="8100000" algn="bl" rotWithShape="0">
              <a:srgbClr val="000000">
                <a:alpha val="10000"/>
              </a:srgbClr>
            </a:outerShdw>
          </a:effectLst>
        </p:spPr>
        <p:txBody>
          <a:bodyPr/>
          <a:lstStyle/>
          <a:p>
            <a:endParaRPr lang="en-US"/>
          </a:p>
        </p:txBody>
      </p:sp>
      <p:sp>
        <p:nvSpPr>
          <p:cNvPr id="11" name="C1bar"/>
          <p:cNvSpPr/>
          <p:nvPr/>
        </p:nvSpPr>
        <p:spPr>
          <a:xfrm>
            <a:off x="274320" y="1258907"/>
            <a:ext cx="2742840" cy="128016"/>
          </a:xfrm>
          <a:prstGeom prst="rect">
            <a:avLst/>
          </a:prstGeom>
          <a:solidFill>
            <a:srgbClr val="028090"/>
          </a:solidFill>
          <a:ln w="0">
            <a:noFill/>
          </a:ln>
        </p:spPr>
        <p:txBody>
          <a:bodyPr/>
          <a:lstStyle/>
          <a:p>
            <a:endParaRPr lang="en-US"/>
          </a:p>
        </p:txBody>
      </p:sp>
      <p:sp>
        <p:nvSpPr>
          <p:cNvPr id="12" name="C1text"/>
          <p:cNvSpPr/>
          <p:nvPr/>
        </p:nvSpPr>
        <p:spPr>
          <a:xfrm>
            <a:off x="457200" y="1423787"/>
            <a:ext cx="2377440" cy="3612240"/>
          </a:xfrm>
          <a:prstGeom prst="rect">
            <a:avLst/>
          </a:prstGeom>
          <a:noFill/>
          <a:ln/>
        </p:spPr>
        <p:txBody>
          <a:bodyPr wrap="square" rtlCol="0" anchor="t"/>
          <a:lstStyle/>
          <a:p>
            <a:pPr>
              <a:buNone/>
            </a:pPr>
            <a:r>
              <a:rPr lang="en-US" sz="1400" b="1" dirty="0">
                <a:solidFill>
                  <a:srgbClr val="028090"/>
                </a:solidFill>
                <a:latin typeface="Trebuchet MS" pitchFamily="34" charset="0"/>
              </a:rPr>
              <a:t>Dropout (0.3)</a:t>
            </a:r>
          </a:p>
          <a:p>
            <a:pPr>
              <a:buNone/>
            </a:pPr>
            <a:r>
              <a:rPr lang="en-US" sz="1100" b="1" dirty="0">
                <a:solidFill>
                  <a:srgbClr val="1C3A52"/>
                </a:solidFill>
                <a:latin typeface="Calibri" pitchFamily="34" charset="0"/>
              </a:rPr>
              <a:t>Applied after every hidden layer</a:t>
            </a:r>
          </a:p>
          <a:p>
            <a:pPr marL="228600" indent="-228600">
              <a:buChar char="•"/>
            </a:pPr>
            <a:r>
              <a:rPr lang="en-US" sz="1100" dirty="0">
                <a:solidFill>
                  <a:srgbClr val="1A2B3C"/>
                </a:solidFill>
                <a:latin typeface="Calibri" pitchFamily="34" charset="0"/>
              </a:rPr>
              <a:t>Randomly zeroes 30% of neurons each forward pass</a:t>
            </a:r>
          </a:p>
          <a:p>
            <a:pPr marL="228600" indent="-228600">
              <a:buChar char="•"/>
            </a:pPr>
            <a:r>
              <a:rPr lang="en-US" sz="1100" dirty="0">
                <a:solidFill>
                  <a:srgbClr val="1A2B3C"/>
                </a:solidFill>
                <a:latin typeface="Calibri" pitchFamily="34" charset="0"/>
              </a:rPr>
              <a:t>Prevents co-adaptation, forces redundant representations</a:t>
            </a:r>
          </a:p>
          <a:p>
            <a:pPr>
              <a:buNone/>
            </a:pPr>
            <a:r>
              <a:rPr lang="en-US" sz="1100" b="1" dirty="0">
                <a:solidFill>
                  <a:srgbClr val="1C3A52"/>
                </a:solidFill>
                <a:latin typeface="Calibri" pitchFamily="34" charset="0"/>
              </a:rPr>
              <a:t>Why 0.3? — Search result:</a:t>
            </a:r>
          </a:p>
          <a:p>
            <a:pPr marL="228600" indent="-228600">
              <a:buChar char="•"/>
            </a:pPr>
            <a:r>
              <a:rPr lang="en-US" sz="1100" dirty="0">
                <a:solidFill>
                  <a:srgbClr val="1A2B3C"/>
                </a:solidFill>
                <a:latin typeface="Calibri" pitchFamily="34" charset="0"/>
              </a:rPr>
              <a:t>Drop 0.4 (model B) = 0.222 — too aggressive</a:t>
            </a:r>
          </a:p>
          <a:p>
            <a:pPr marL="228600" indent="-228600">
              <a:buChar char="•"/>
            </a:pPr>
            <a:r>
              <a:rPr lang="en-US" sz="1100" dirty="0">
                <a:solidFill>
                  <a:srgbClr val="1A2B3C"/>
                </a:solidFill>
                <a:latin typeface="Calibri" pitchFamily="34" charset="0"/>
              </a:rPr>
              <a:t>Drop 0.2 (model J) = 0.236 — close but weaker</a:t>
            </a:r>
          </a:p>
          <a:p>
            <a:pPr marL="228600" indent="-228600">
              <a:buChar char="•"/>
            </a:pPr>
            <a:r>
              <a:rPr lang="en-US" sz="1100" dirty="0">
                <a:solidFill>
                  <a:srgbClr val="1A2B3C"/>
                </a:solidFill>
                <a:latin typeface="Calibri" pitchFamily="34" charset="0"/>
              </a:rPr>
              <a:t>Drop 0.15 (model P) = 0.217 — too light</a:t>
            </a:r>
          </a:p>
          <a:p>
            <a:pPr marL="228600" indent="-228600">
              <a:buChar char="•"/>
            </a:pPr>
            <a:r>
              <a:rPr lang="en-US" sz="1100" b="1" dirty="0">
                <a:solidFill>
                  <a:srgbClr val="00A896"/>
                </a:solidFill>
                <a:latin typeface="Calibri" pitchFamily="34" charset="0"/>
              </a:rPr>
              <a:t>Drop 0.3 = 0.240 — sweet spot confirmed</a:t>
            </a:r>
          </a:p>
        </p:txBody>
      </p:sp>
      <p:sp>
        <p:nvSpPr>
          <p:cNvPr id="20" name="C2bg"/>
          <p:cNvSpPr/>
          <p:nvPr/>
        </p:nvSpPr>
        <p:spPr>
          <a:xfrm>
            <a:off x="3200400" y="1258907"/>
            <a:ext cx="2742840" cy="3506524"/>
          </a:xfrm>
          <a:prstGeom prst="rect">
            <a:avLst/>
          </a:prstGeom>
          <a:solidFill>
            <a:srgbClr val="FFFFFF"/>
          </a:solidFill>
          <a:ln w="6350">
            <a:solidFill>
              <a:srgbClr val="D8E4EC"/>
            </a:solidFill>
          </a:ln>
          <a:effectLst>
            <a:outerShdw blurRad="101600" dist="38100" dir="8100000" algn="bl" rotWithShape="0">
              <a:srgbClr val="000000">
                <a:alpha val="10000"/>
              </a:srgbClr>
            </a:outerShdw>
          </a:effectLst>
        </p:spPr>
        <p:txBody>
          <a:bodyPr/>
          <a:lstStyle/>
          <a:p>
            <a:endParaRPr lang="en-US"/>
          </a:p>
        </p:txBody>
      </p:sp>
      <p:sp>
        <p:nvSpPr>
          <p:cNvPr id="21" name="C2bar"/>
          <p:cNvSpPr/>
          <p:nvPr/>
        </p:nvSpPr>
        <p:spPr>
          <a:xfrm>
            <a:off x="3200400" y="1258907"/>
            <a:ext cx="2742840" cy="128016"/>
          </a:xfrm>
          <a:prstGeom prst="rect">
            <a:avLst/>
          </a:prstGeom>
          <a:solidFill>
            <a:srgbClr val="00A896"/>
          </a:solidFill>
          <a:ln w="0">
            <a:noFill/>
          </a:ln>
        </p:spPr>
        <p:txBody>
          <a:bodyPr/>
          <a:lstStyle/>
          <a:p>
            <a:endParaRPr lang="en-US"/>
          </a:p>
        </p:txBody>
      </p:sp>
      <p:sp>
        <p:nvSpPr>
          <p:cNvPr id="22" name="C2text"/>
          <p:cNvSpPr/>
          <p:nvPr/>
        </p:nvSpPr>
        <p:spPr>
          <a:xfrm>
            <a:off x="3383280" y="1423787"/>
            <a:ext cx="2377440" cy="3612240"/>
          </a:xfrm>
          <a:prstGeom prst="rect">
            <a:avLst/>
          </a:prstGeom>
          <a:noFill/>
          <a:ln/>
        </p:spPr>
        <p:txBody>
          <a:bodyPr wrap="square" rtlCol="0" anchor="t"/>
          <a:lstStyle/>
          <a:p>
            <a:pPr>
              <a:buNone/>
            </a:pPr>
            <a:r>
              <a:rPr lang="en-US" sz="1400" b="1" dirty="0">
                <a:solidFill>
                  <a:srgbClr val="00A896"/>
                </a:solidFill>
                <a:latin typeface="Trebuchet MS" pitchFamily="34" charset="0"/>
              </a:rPr>
              <a:t>Label Smoothing (0.15)</a:t>
            </a:r>
          </a:p>
          <a:p>
            <a:pPr>
              <a:buNone/>
            </a:pPr>
            <a:r>
              <a:rPr lang="en-US" sz="1100" b="1" dirty="0">
                <a:solidFill>
                  <a:srgbClr val="1C3A52"/>
                </a:solidFill>
                <a:latin typeface="Calibri" pitchFamily="34" charset="0"/>
              </a:rPr>
              <a:t>Most impactful single change</a:t>
            </a:r>
          </a:p>
          <a:p>
            <a:pPr marL="228600" indent="-228600">
              <a:buChar char="•"/>
            </a:pPr>
            <a:r>
              <a:rPr lang="en-US" sz="1100" dirty="0">
                <a:solidFill>
                  <a:srgbClr val="1A2B3C"/>
                </a:solidFill>
                <a:latin typeface="Calibri" pitchFamily="34" charset="0"/>
              </a:rPr>
              <a:t>Softens hard one-hot targets (0.85/0.15 blend vs 1.0 hard)</a:t>
            </a:r>
          </a:p>
          <a:p>
            <a:pPr marL="228600" indent="-228600">
              <a:buChar char="•"/>
            </a:pPr>
            <a:r>
              <a:rPr lang="en-US" sz="1100" dirty="0">
                <a:solidFill>
                  <a:srgbClr val="1A2B3C"/>
                </a:solidFill>
                <a:latin typeface="Calibri" pitchFamily="34" charset="0"/>
              </a:rPr>
              <a:t>Prevents overconfident predictions on visually ambiguous classes</a:t>
            </a:r>
          </a:p>
          <a:p>
            <a:pPr marL="228600" indent="-228600">
              <a:buChar char="•"/>
            </a:pPr>
            <a:r>
              <a:rPr lang="en-US" sz="1100" dirty="0">
                <a:solidFill>
                  <a:srgbClr val="1A2B3C"/>
                </a:solidFill>
                <a:latin typeface="Calibri" pitchFamily="34" charset="0"/>
              </a:rPr>
              <a:t>Key on noisy boundaries — Bug/Grass and Rock/Ground share colour palettes</a:t>
            </a:r>
          </a:p>
          <a:p>
            <a:pPr>
              <a:buNone/>
            </a:pPr>
            <a:r>
              <a:rPr lang="en-US" sz="1100" b="1" dirty="0">
                <a:solidFill>
                  <a:srgbClr val="1C3A52"/>
                </a:solidFill>
                <a:latin typeface="Calibri" pitchFamily="34" charset="0"/>
              </a:rPr>
              <a:t>Evidence:</a:t>
            </a:r>
          </a:p>
          <a:p>
            <a:pPr marL="228600" indent="-228600">
              <a:buChar char="•"/>
            </a:pPr>
            <a:r>
              <a:rPr lang="en-US" sz="1100" dirty="0">
                <a:solidFill>
                  <a:srgbClr val="1A2B3C"/>
                </a:solidFill>
                <a:latin typeface="Calibri" pitchFamily="34" charset="0"/>
              </a:rPr>
              <a:t>All 6 top-tier solos (F1 &gt; 0.235) use LS &gt;= 0.1</a:t>
            </a:r>
          </a:p>
          <a:p>
            <a:pPr marL="228600" indent="-228600">
              <a:buChar char="•"/>
            </a:pPr>
            <a:r>
              <a:rPr lang="en-US" sz="1100" dirty="0">
                <a:solidFill>
                  <a:srgbClr val="1A2B3C"/>
                </a:solidFill>
                <a:latin typeface="Calibri" pitchFamily="34" charset="0"/>
              </a:rPr>
              <a:t>LS=0.15 (R) = 0.2396 vs LS=0.10 (C) = 0.2395 — tiny but consistent</a:t>
            </a:r>
          </a:p>
          <a:p>
            <a:pPr marL="228600" indent="-228600">
              <a:buChar char="•"/>
            </a:pPr>
            <a:r>
              <a:rPr lang="en-US" sz="1100" b="1" dirty="0">
                <a:solidFill>
                  <a:srgbClr val="00A896"/>
                </a:solidFill>
                <a:latin typeface="Calibri" pitchFamily="34" charset="0"/>
              </a:rPr>
              <a:t>+0.017-0.019 F1 vs baselines with no LS</a:t>
            </a:r>
          </a:p>
        </p:txBody>
      </p:sp>
      <p:sp>
        <p:nvSpPr>
          <p:cNvPr id="30" name="C3bg"/>
          <p:cNvSpPr/>
          <p:nvPr/>
        </p:nvSpPr>
        <p:spPr>
          <a:xfrm>
            <a:off x="6126480" y="1258907"/>
            <a:ext cx="2742840" cy="3506524"/>
          </a:xfrm>
          <a:prstGeom prst="rect">
            <a:avLst/>
          </a:prstGeom>
          <a:solidFill>
            <a:srgbClr val="FFFFFF"/>
          </a:solidFill>
          <a:ln w="6350">
            <a:solidFill>
              <a:srgbClr val="D8E4EC"/>
            </a:solidFill>
          </a:ln>
          <a:effectLst>
            <a:outerShdw blurRad="101600" dist="38100" dir="8100000" algn="bl" rotWithShape="0">
              <a:srgbClr val="000000">
                <a:alpha val="10000"/>
              </a:srgbClr>
            </a:outerShdw>
          </a:effectLst>
        </p:spPr>
        <p:txBody>
          <a:bodyPr/>
          <a:lstStyle/>
          <a:p>
            <a:endParaRPr lang="en-US"/>
          </a:p>
        </p:txBody>
      </p:sp>
      <p:sp>
        <p:nvSpPr>
          <p:cNvPr id="31" name="C3bar"/>
          <p:cNvSpPr/>
          <p:nvPr/>
        </p:nvSpPr>
        <p:spPr>
          <a:xfrm>
            <a:off x="6126480" y="1258907"/>
            <a:ext cx="2742840" cy="128016"/>
          </a:xfrm>
          <a:prstGeom prst="rect">
            <a:avLst/>
          </a:prstGeom>
          <a:solidFill>
            <a:srgbClr val="1C3A52"/>
          </a:solidFill>
          <a:ln w="0">
            <a:noFill/>
          </a:ln>
        </p:spPr>
        <p:txBody>
          <a:bodyPr/>
          <a:lstStyle/>
          <a:p>
            <a:endParaRPr lang="en-US"/>
          </a:p>
        </p:txBody>
      </p:sp>
      <p:sp>
        <p:nvSpPr>
          <p:cNvPr id="32" name="C3text"/>
          <p:cNvSpPr/>
          <p:nvPr/>
        </p:nvSpPr>
        <p:spPr>
          <a:xfrm>
            <a:off x="6309360" y="1423787"/>
            <a:ext cx="2377440" cy="3612240"/>
          </a:xfrm>
          <a:prstGeom prst="rect">
            <a:avLst/>
          </a:prstGeom>
          <a:noFill/>
          <a:ln/>
        </p:spPr>
        <p:txBody>
          <a:bodyPr wrap="square" rtlCol="0" anchor="t"/>
          <a:lstStyle/>
          <a:p>
            <a:pPr>
              <a:buNone/>
            </a:pPr>
            <a:r>
              <a:rPr lang="en-US" sz="1400" b="1" dirty="0">
                <a:solidFill>
                  <a:srgbClr val="1C3A52"/>
                </a:solidFill>
                <a:latin typeface="Trebuchet MS" pitchFamily="34" charset="0"/>
              </a:rPr>
              <a:t>Imbalance Handling</a:t>
            </a:r>
          </a:p>
          <a:p>
            <a:pPr>
              <a:buNone/>
            </a:pPr>
            <a:r>
              <a:rPr lang="en-US" sz="1100" b="1" dirty="0">
                <a:solidFill>
                  <a:srgbClr val="1C3A52"/>
                </a:solidFill>
                <a:latin typeface="Calibri" pitchFamily="34" charset="0"/>
              </a:rPr>
              <a:t>Weighted CrossEntropyLoss (primary)</a:t>
            </a:r>
          </a:p>
          <a:p>
            <a:pPr marL="228600" indent="-228600">
              <a:buChar char="•"/>
            </a:pPr>
            <a:r>
              <a:rPr lang="en-US" sz="1100" dirty="0">
                <a:solidFill>
                  <a:srgbClr val="1A2B3C"/>
                </a:solidFill>
                <a:latin typeface="Calibri" pitchFamily="34" charset="0"/>
              </a:rPr>
              <a:t>Inverse-frequency weights per class (Ground=1.64x, Rock=1.52x, Water=0.59x)</a:t>
            </a:r>
          </a:p>
          <a:p>
            <a:pPr marL="228600" indent="-228600">
              <a:buChar char="•"/>
            </a:pPr>
            <a:r>
              <a:rPr lang="en-US" sz="1100" dirty="0">
                <a:solidFill>
                  <a:srgbClr val="1A2B3C"/>
                </a:solidFill>
                <a:latin typeface="Calibri" pitchFamily="34" charset="0"/>
              </a:rPr>
              <a:t>Addresses 2.76x Water/Ground imbalance at gradient level</a:t>
            </a:r>
          </a:p>
          <a:p>
            <a:pPr>
              <a:buNone/>
            </a:pPr>
            <a:r>
              <a:rPr lang="en-US" sz="1100" b="1" dirty="0">
                <a:solidFill>
                  <a:srgbClr val="1C3A52"/>
                </a:solidFill>
                <a:latin typeface="Calibri" pitchFamily="34" charset="0"/>
              </a:rPr>
              <a:t>WeightedRandomSampler (tested separately)</a:t>
            </a:r>
          </a:p>
          <a:p>
            <a:pPr marL="228600" indent="-228600">
              <a:buChar char="•"/>
            </a:pPr>
            <a:r>
              <a:rPr lang="en-US" sz="1100" dirty="0">
                <a:solidFill>
                  <a:srgbClr val="1A2B3C"/>
                </a:solidFill>
                <a:latin typeface="Calibri" pitchFamily="34" charset="0"/>
              </a:rPr>
              <a:t>Oversamples minority classes at the data level</a:t>
            </a:r>
          </a:p>
          <a:p>
            <a:pPr marL="228600" indent="-228600">
              <a:buChar char="•"/>
            </a:pPr>
            <a:r>
              <a:rPr lang="en-US" sz="1100" dirty="0">
                <a:solidFill>
                  <a:srgbClr val="1A2B3C"/>
                </a:solidFill>
                <a:latin typeface="Calibri" pitchFamily="34" charset="0"/>
              </a:rPr>
              <a:t>Useful as ensemble diversity: different error patterns vs CW</a:t>
            </a:r>
          </a:p>
          <a:p>
            <a:pPr>
              <a:buNone/>
            </a:pPr>
            <a:r>
              <a:rPr lang="en-US" sz="1100" b="1" dirty="0">
                <a:solidFill>
                  <a:srgbClr val="C0392B"/>
                </a:solidFill>
                <a:latin typeface="Calibri" pitchFamily="34" charset="0"/>
              </a:rPr>
              <a:t>Pitfall: CW + Sampler together</a:t>
            </a:r>
          </a:p>
          <a:p>
            <a:pPr marL="228600" indent="-228600">
              <a:buChar char="•"/>
            </a:pPr>
            <a:r>
              <a:rPr lang="en-US" sz="1100" dirty="0">
                <a:solidFill>
                  <a:srgbClr val="1A2B3C"/>
                </a:solidFill>
                <a:latin typeface="Calibri" pitchFamily="34" charset="0"/>
              </a:rPr>
              <a:t>Model O (double-compensating) = F1 0.192 — over-correcting imbalance hurts</a:t>
            </a:r>
          </a:p>
        </p:txBody>
      </p:sp>
      <p:sp>
        <p:nvSpPr>
          <p:cNvPr id="6" name="Title">
            <a:extLst>
              <a:ext uri="{FF2B5EF4-FFF2-40B4-BE49-F238E27FC236}">
                <a16:creationId xmlns:a16="http://schemas.microsoft.com/office/drawing/2014/main" id="{E371B132-0C33-4CCB-7BFD-19EA8BA68122}"/>
              </a:ext>
            </a:extLst>
          </p:cNvPr>
          <p:cNvSpPr/>
          <p:nvPr/>
        </p:nvSpPr>
        <p:spPr>
          <a:xfrm>
            <a:off x="457200" y="109728"/>
            <a:ext cx="6400800" cy="530352"/>
          </a:xfrm>
          <a:prstGeom prst="rect">
            <a:avLst/>
          </a:prstGeom>
          <a:noFill/>
          <a:ln/>
        </p:spPr>
        <p:txBody>
          <a:bodyPr wrap="square" lIns="0" tIns="0" rIns="0" bIns="0" rtlCol="0" anchor="ctr"/>
          <a:lstStyle/>
          <a:p>
            <a:pPr marL="0" indent="0">
              <a:buNone/>
            </a:pPr>
            <a:r>
              <a:rPr lang="en-US" sz="2200" b="1" dirty="0">
                <a:solidFill>
                  <a:srgbClr val="0D1B2A"/>
                </a:solidFill>
                <a:latin typeface="Trebuchet MS" pitchFamily="34" charset="0"/>
              </a:rPr>
              <a:t>MLP Best (SOLO) Model (R_ls015_drop03)</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opBar"/>
          <p:cNvSpPr/>
          <p:nvPr/>
        </p:nvSpPr>
        <p:spPr>
          <a:xfrm>
            <a:off x="0" y="0"/>
            <a:ext cx="9144000" cy="64008"/>
          </a:xfrm>
          <a:prstGeom prst="rect">
            <a:avLst/>
          </a:prstGeom>
          <a:solidFill>
            <a:srgbClr val="00A896"/>
          </a:solidFill>
          <a:ln w="12700">
            <a:solidFill>
              <a:srgbClr val="00A896"/>
            </a:solidFill>
            <a:prstDash val="solid"/>
          </a:ln>
        </p:spPr>
        <p:txBody>
          <a:bodyPr/>
          <a:lstStyle/>
          <a:p>
            <a:endParaRPr lang="en-US"/>
          </a:p>
        </p:txBody>
      </p:sp>
      <p:sp>
        <p:nvSpPr>
          <p:cNvPr id="3" name="Badge"/>
          <p:cNvSpPr/>
          <p:nvPr/>
        </p:nvSpPr>
        <p:spPr>
          <a:xfrm>
            <a:off x="7498079" y="82296"/>
            <a:ext cx="1557633" cy="329184"/>
          </a:xfrm>
          <a:prstGeom prst="rect">
            <a:avLst/>
          </a:prstGeom>
          <a:solidFill>
            <a:srgbClr val="1C3A52"/>
          </a:solidFill>
          <a:ln w="12700">
            <a:solidFill>
              <a:srgbClr val="1C3A52"/>
            </a:solidFill>
            <a:prstDash val="solid"/>
          </a:ln>
        </p:spPr>
        <p:txBody>
          <a:bodyPr/>
          <a:lstStyle/>
          <a:p>
            <a:pPr algn="ctr"/>
            <a:r>
              <a:rPr lang="en-US" b="1" dirty="0">
                <a:solidFill>
                  <a:srgbClr val="FFFFFF"/>
                </a:solidFill>
              </a:rPr>
              <a:t>MODEL DEV</a:t>
            </a:r>
            <a:endParaRPr lang="en-US" b="1" dirty="0"/>
          </a:p>
        </p:txBody>
      </p:sp>
      <p:sp>
        <p:nvSpPr>
          <p:cNvPr id="4" name="NumCircle"/>
          <p:cNvSpPr/>
          <p:nvPr/>
        </p:nvSpPr>
        <p:spPr>
          <a:xfrm>
            <a:off x="7088176" y="4253"/>
            <a:ext cx="470123" cy="470912"/>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2800" b="1" dirty="0"/>
              <a:t>2</a:t>
            </a:r>
            <a:endParaRPr lang="en-US" sz="1600" b="1" dirty="0"/>
          </a:p>
        </p:txBody>
      </p:sp>
      <p:sp>
        <p:nvSpPr>
          <p:cNvPr id="5" name="Title"/>
          <p:cNvSpPr/>
          <p:nvPr/>
        </p:nvSpPr>
        <p:spPr>
          <a:xfrm>
            <a:off x="274320" y="968835"/>
            <a:ext cx="6400800" cy="530352"/>
          </a:xfrm>
          <a:prstGeom prst="rect">
            <a:avLst/>
          </a:prstGeom>
          <a:noFill/>
          <a:ln/>
        </p:spPr>
        <p:txBody>
          <a:bodyPr wrap="square" lIns="0" tIns="0" rIns="0" bIns="0" rtlCol="0" anchor="ctr"/>
          <a:lstStyle/>
          <a:p>
            <a:pPr marL="0" indent="0">
              <a:buNone/>
            </a:pPr>
            <a:endParaRPr lang="en-US" sz="2200" b="1" dirty="0">
              <a:solidFill>
                <a:srgbClr val="0D1B2A"/>
              </a:solidFill>
              <a:latin typeface="Trebuchet MS" pitchFamily="34" charset="0"/>
            </a:endParaRPr>
          </a:p>
        </p:txBody>
      </p:sp>
      <p:sp>
        <p:nvSpPr>
          <p:cNvPr id="10" name="L1bg"/>
          <p:cNvSpPr/>
          <p:nvPr/>
        </p:nvSpPr>
        <p:spPr>
          <a:xfrm>
            <a:off x="251356" y="1411390"/>
            <a:ext cx="6400800" cy="1445597"/>
          </a:xfrm>
          <a:prstGeom prst="rect">
            <a:avLst/>
          </a:prstGeom>
          <a:solidFill>
            <a:srgbClr val="FFFFFF"/>
          </a:solidFill>
          <a:ln w="6350">
            <a:solidFill>
              <a:srgbClr val="D8E4EC"/>
            </a:solidFill>
          </a:ln>
          <a:effectLst>
            <a:outerShdw blurRad="101600" dist="38100" dir="8100000" algn="bl" rotWithShape="0">
              <a:srgbClr val="000000">
                <a:alpha val="10000"/>
              </a:srgbClr>
            </a:outerShdw>
          </a:effectLst>
        </p:spPr>
        <p:txBody>
          <a:bodyPr/>
          <a:lstStyle/>
          <a:p>
            <a:endParaRPr lang="en-US"/>
          </a:p>
        </p:txBody>
      </p:sp>
      <p:sp>
        <p:nvSpPr>
          <p:cNvPr id="11" name="L1text"/>
          <p:cNvSpPr/>
          <p:nvPr/>
        </p:nvSpPr>
        <p:spPr>
          <a:xfrm>
            <a:off x="434237" y="1485550"/>
            <a:ext cx="3657600" cy="1645920"/>
          </a:xfrm>
          <a:prstGeom prst="rect">
            <a:avLst/>
          </a:prstGeom>
          <a:noFill/>
          <a:ln/>
        </p:spPr>
        <p:txBody>
          <a:bodyPr wrap="square" rtlCol="0" anchor="t"/>
          <a:lstStyle/>
          <a:p>
            <a:pPr>
              <a:buNone/>
            </a:pPr>
            <a:r>
              <a:rPr lang="en-US" sz="1400" b="1" dirty="0">
                <a:solidFill>
                  <a:srgbClr val="028090"/>
                </a:solidFill>
                <a:latin typeface="Trebuchet MS" pitchFamily="34" charset="0"/>
              </a:rPr>
              <a:t>Optimiser + Scheduler</a:t>
            </a:r>
          </a:p>
          <a:p>
            <a:pPr marL="228600" indent="-228600">
              <a:buChar char="•"/>
            </a:pPr>
            <a:r>
              <a:rPr lang="en-US" sz="1200" b="1" dirty="0">
                <a:solidFill>
                  <a:srgbClr val="1C3A52"/>
                </a:solidFill>
                <a:latin typeface="Calibri" pitchFamily="34" charset="0"/>
              </a:rPr>
              <a:t>Adam lr=1e-3 </a:t>
            </a:r>
            <a:r>
              <a:rPr lang="en-US" sz="1200" dirty="0">
                <a:solidFill>
                  <a:srgbClr val="1A2B3C"/>
                </a:solidFill>
                <a:latin typeface="Calibri" pitchFamily="34" charset="0"/>
              </a:rPr>
              <a:t>— robust adaptive LR, standard for MLPs (Kingma &amp; Ba, 2015)</a:t>
            </a:r>
          </a:p>
          <a:p>
            <a:pPr marL="228600" indent="-228600">
              <a:buChar char="•"/>
            </a:pPr>
            <a:r>
              <a:rPr lang="en-US" sz="1200" b="1" dirty="0">
                <a:solidFill>
                  <a:srgbClr val="1C3A52"/>
                </a:solidFill>
                <a:latin typeface="Calibri" pitchFamily="34" charset="0"/>
              </a:rPr>
              <a:t>StepLR(step=5, gamma=0.5) </a:t>
            </a:r>
            <a:r>
              <a:rPr lang="en-US" sz="1200" dirty="0">
                <a:solidFill>
                  <a:srgbClr val="1A2B3C"/>
                </a:solidFill>
                <a:latin typeface="Calibri" pitchFamily="34" charset="0"/>
              </a:rPr>
              <a:t>— halves LR every 5 epochs; CosineAnnealingLR also tested but no improvement (N=0.225)</a:t>
            </a:r>
          </a:p>
        </p:txBody>
      </p:sp>
      <p:sp>
        <p:nvSpPr>
          <p:cNvPr id="12" name="R1bg"/>
          <p:cNvSpPr/>
          <p:nvPr/>
        </p:nvSpPr>
        <p:spPr>
          <a:xfrm>
            <a:off x="251717" y="3179744"/>
            <a:ext cx="6400800" cy="1243641"/>
          </a:xfrm>
          <a:prstGeom prst="rect">
            <a:avLst/>
          </a:prstGeom>
          <a:solidFill>
            <a:srgbClr val="FFFFFF"/>
          </a:solidFill>
          <a:ln w="6350">
            <a:solidFill>
              <a:srgbClr val="D8E4EC"/>
            </a:solidFill>
          </a:ln>
          <a:effectLst>
            <a:outerShdw blurRad="101600" dist="38100" dir="8100000" algn="bl" rotWithShape="0">
              <a:srgbClr val="000000">
                <a:alpha val="10000"/>
              </a:srgbClr>
            </a:outerShdw>
          </a:effectLst>
        </p:spPr>
        <p:txBody>
          <a:bodyPr/>
          <a:lstStyle/>
          <a:p>
            <a:endParaRPr lang="en-US"/>
          </a:p>
        </p:txBody>
      </p:sp>
      <p:sp>
        <p:nvSpPr>
          <p:cNvPr id="13" name="R1text"/>
          <p:cNvSpPr/>
          <p:nvPr/>
        </p:nvSpPr>
        <p:spPr>
          <a:xfrm>
            <a:off x="484063" y="3253904"/>
            <a:ext cx="4141533" cy="1645920"/>
          </a:xfrm>
          <a:prstGeom prst="rect">
            <a:avLst/>
          </a:prstGeom>
          <a:noFill/>
          <a:ln/>
        </p:spPr>
        <p:txBody>
          <a:bodyPr wrap="square" rtlCol="0" anchor="t"/>
          <a:lstStyle/>
          <a:p>
            <a:pPr>
              <a:buNone/>
            </a:pPr>
            <a:r>
              <a:rPr lang="en-US" sz="1400" b="1" dirty="0">
                <a:solidFill>
                  <a:srgbClr val="028090"/>
                </a:solidFill>
                <a:latin typeface="Trebuchet MS" pitchFamily="34" charset="0"/>
              </a:rPr>
              <a:t>Early Stopping (patience=7)</a:t>
            </a:r>
          </a:p>
          <a:p>
            <a:pPr marL="228600" indent="-228600">
              <a:buChar char="•"/>
            </a:pPr>
            <a:r>
              <a:rPr lang="en-US" sz="1200" dirty="0">
                <a:solidFill>
                  <a:srgbClr val="1A2B3C"/>
                </a:solidFill>
                <a:latin typeface="Calibri" pitchFamily="34" charset="0"/>
              </a:rPr>
              <a:t>Monitors -val_macro_f1 (competition metric, not val_loss)</a:t>
            </a:r>
          </a:p>
          <a:p>
            <a:pPr marL="228600" indent="-228600">
              <a:buChar char="•"/>
            </a:pPr>
            <a:r>
              <a:rPr lang="en-US" sz="1200" dirty="0">
                <a:solidFill>
                  <a:srgbClr val="1A2B3C"/>
                </a:solidFill>
                <a:latin typeface="Calibri" pitchFamily="34" charset="0"/>
              </a:rPr>
              <a:t>Patience=7 — val_f1 is noisy (720 val samples, ~80/class: 1 error = +-1.2% swing); 3 would fire prematurely</a:t>
            </a:r>
          </a:p>
          <a:p>
            <a:pPr marL="228600" indent="-228600">
              <a:buChar char="•"/>
            </a:pPr>
            <a:r>
              <a:rPr lang="en-US" sz="1200" dirty="0">
                <a:solidFill>
                  <a:srgbClr val="1A2B3C"/>
                </a:solidFill>
                <a:latin typeface="Calibri" pitchFamily="34" charset="0"/>
              </a:rPr>
              <a:t>Saves best checkpoint automatically; restores at inference</a:t>
            </a:r>
          </a:p>
        </p:txBody>
      </p:sp>
      <p:sp>
        <p:nvSpPr>
          <p:cNvPr id="6" name="Title">
            <a:extLst>
              <a:ext uri="{FF2B5EF4-FFF2-40B4-BE49-F238E27FC236}">
                <a16:creationId xmlns:a16="http://schemas.microsoft.com/office/drawing/2014/main" id="{56DBFB5A-DABA-15C4-632F-293CD9CF4816}"/>
              </a:ext>
            </a:extLst>
          </p:cNvPr>
          <p:cNvSpPr/>
          <p:nvPr/>
        </p:nvSpPr>
        <p:spPr>
          <a:xfrm>
            <a:off x="274320" y="720115"/>
            <a:ext cx="8595000" cy="382640"/>
          </a:xfrm>
          <a:prstGeom prst="rect">
            <a:avLst/>
          </a:prstGeom>
          <a:ln/>
        </p:spPr>
        <p:style>
          <a:lnRef idx="1">
            <a:schemeClr val="accent2"/>
          </a:lnRef>
          <a:fillRef idx="2">
            <a:schemeClr val="accent2"/>
          </a:fillRef>
          <a:effectRef idx="1">
            <a:schemeClr val="accent2"/>
          </a:effectRef>
          <a:fontRef idx="minor">
            <a:schemeClr val="dk1"/>
          </a:fontRef>
        </p:style>
        <p:txBody>
          <a:bodyPr wrap="square" lIns="0" tIns="0" rIns="0" bIns="0" rtlCol="0" anchor="ctr"/>
          <a:lstStyle/>
          <a:p>
            <a:pPr marL="0" indent="0">
              <a:buNone/>
            </a:pPr>
            <a:r>
              <a:rPr lang="en-US" b="1" dirty="0">
                <a:solidFill>
                  <a:srgbClr val="0D1B2A"/>
                </a:solidFill>
                <a:latin typeface="Trebuchet MS" pitchFamily="34" charset="0"/>
              </a:rPr>
              <a:t> Training Setup — Optimizer, Scheduler &amp; Early Stopping:</a:t>
            </a:r>
          </a:p>
        </p:txBody>
      </p:sp>
      <p:sp>
        <p:nvSpPr>
          <p:cNvPr id="7" name="Title">
            <a:extLst>
              <a:ext uri="{FF2B5EF4-FFF2-40B4-BE49-F238E27FC236}">
                <a16:creationId xmlns:a16="http://schemas.microsoft.com/office/drawing/2014/main" id="{DA63C9B6-29D8-225A-53C9-C12AD88519A3}"/>
              </a:ext>
            </a:extLst>
          </p:cNvPr>
          <p:cNvSpPr/>
          <p:nvPr/>
        </p:nvSpPr>
        <p:spPr>
          <a:xfrm>
            <a:off x="457200" y="109728"/>
            <a:ext cx="6400800" cy="530352"/>
          </a:xfrm>
          <a:prstGeom prst="rect">
            <a:avLst/>
          </a:prstGeom>
          <a:noFill/>
          <a:ln/>
        </p:spPr>
        <p:txBody>
          <a:bodyPr wrap="square" lIns="0" tIns="0" rIns="0" bIns="0" rtlCol="0" anchor="ctr"/>
          <a:lstStyle/>
          <a:p>
            <a:pPr marL="0" indent="0">
              <a:buNone/>
            </a:pPr>
            <a:r>
              <a:rPr lang="en-US" sz="2200" b="1" dirty="0">
                <a:solidFill>
                  <a:srgbClr val="0D1B2A"/>
                </a:solidFill>
                <a:latin typeface="Trebuchet MS" pitchFamily="34" charset="0"/>
              </a:rPr>
              <a:t>MLP Best (SOLO) Model (R_ls015_drop03)</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C4605B-F91C-8BED-A99C-00973EA5BF5E}"/>
            </a:ext>
          </a:extLst>
        </p:cNvPr>
        <p:cNvGrpSpPr/>
        <p:nvPr/>
      </p:nvGrpSpPr>
      <p:grpSpPr>
        <a:xfrm>
          <a:off x="0" y="0"/>
          <a:ext cx="0" cy="0"/>
          <a:chOff x="0" y="0"/>
          <a:chExt cx="0" cy="0"/>
        </a:xfrm>
      </p:grpSpPr>
      <p:sp>
        <p:nvSpPr>
          <p:cNvPr id="2" name="TopBar">
            <a:extLst>
              <a:ext uri="{FF2B5EF4-FFF2-40B4-BE49-F238E27FC236}">
                <a16:creationId xmlns:a16="http://schemas.microsoft.com/office/drawing/2014/main" id="{0433D6D9-B431-49A0-73F8-32CD6A043E3C}"/>
              </a:ext>
            </a:extLst>
          </p:cNvPr>
          <p:cNvSpPr/>
          <p:nvPr/>
        </p:nvSpPr>
        <p:spPr>
          <a:xfrm>
            <a:off x="0" y="0"/>
            <a:ext cx="9144000" cy="64008"/>
          </a:xfrm>
          <a:prstGeom prst="rect">
            <a:avLst/>
          </a:prstGeom>
          <a:solidFill>
            <a:srgbClr val="00A896"/>
          </a:solidFill>
          <a:ln w="12700">
            <a:solidFill>
              <a:srgbClr val="00A896"/>
            </a:solidFill>
            <a:prstDash val="solid"/>
          </a:ln>
        </p:spPr>
        <p:txBody>
          <a:bodyPr/>
          <a:lstStyle/>
          <a:p>
            <a:endParaRPr lang="en-US"/>
          </a:p>
        </p:txBody>
      </p:sp>
      <p:sp>
        <p:nvSpPr>
          <p:cNvPr id="3" name="Badge">
            <a:extLst>
              <a:ext uri="{FF2B5EF4-FFF2-40B4-BE49-F238E27FC236}">
                <a16:creationId xmlns:a16="http://schemas.microsoft.com/office/drawing/2014/main" id="{39AA655E-DFCA-46F8-1411-C263A94E8474}"/>
              </a:ext>
            </a:extLst>
          </p:cNvPr>
          <p:cNvSpPr/>
          <p:nvPr/>
        </p:nvSpPr>
        <p:spPr>
          <a:xfrm>
            <a:off x="7498079" y="82296"/>
            <a:ext cx="1557633" cy="329184"/>
          </a:xfrm>
          <a:prstGeom prst="rect">
            <a:avLst/>
          </a:prstGeom>
          <a:solidFill>
            <a:srgbClr val="1C3A52"/>
          </a:solidFill>
          <a:ln w="12700">
            <a:solidFill>
              <a:srgbClr val="1C3A52"/>
            </a:solidFill>
            <a:prstDash val="solid"/>
          </a:ln>
        </p:spPr>
        <p:txBody>
          <a:bodyPr/>
          <a:lstStyle/>
          <a:p>
            <a:pPr algn="ctr"/>
            <a:r>
              <a:rPr lang="en-US" b="1" dirty="0">
                <a:solidFill>
                  <a:srgbClr val="FFFFFF"/>
                </a:solidFill>
              </a:rPr>
              <a:t>MODEL DEV</a:t>
            </a:r>
            <a:endParaRPr lang="en-US" b="1" dirty="0"/>
          </a:p>
        </p:txBody>
      </p:sp>
      <p:sp>
        <p:nvSpPr>
          <p:cNvPr id="4" name="NumCircle">
            <a:extLst>
              <a:ext uri="{FF2B5EF4-FFF2-40B4-BE49-F238E27FC236}">
                <a16:creationId xmlns:a16="http://schemas.microsoft.com/office/drawing/2014/main" id="{5F165A5E-3913-649C-D4DC-65B43915AF30}"/>
              </a:ext>
            </a:extLst>
          </p:cNvPr>
          <p:cNvSpPr/>
          <p:nvPr/>
        </p:nvSpPr>
        <p:spPr>
          <a:xfrm>
            <a:off x="7088176" y="4253"/>
            <a:ext cx="470123" cy="470912"/>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2800" b="1" dirty="0"/>
              <a:t>2</a:t>
            </a:r>
            <a:endParaRPr lang="en-US" sz="1600" b="1" dirty="0"/>
          </a:p>
        </p:txBody>
      </p:sp>
      <p:sp>
        <p:nvSpPr>
          <p:cNvPr id="5" name="Title">
            <a:extLst>
              <a:ext uri="{FF2B5EF4-FFF2-40B4-BE49-F238E27FC236}">
                <a16:creationId xmlns:a16="http://schemas.microsoft.com/office/drawing/2014/main" id="{82A82709-0143-C331-BD57-F8B66A35CDE5}"/>
              </a:ext>
            </a:extLst>
          </p:cNvPr>
          <p:cNvSpPr/>
          <p:nvPr/>
        </p:nvSpPr>
        <p:spPr>
          <a:xfrm>
            <a:off x="457200" y="109728"/>
            <a:ext cx="6400800" cy="530352"/>
          </a:xfrm>
          <a:prstGeom prst="rect">
            <a:avLst/>
          </a:prstGeom>
          <a:noFill/>
          <a:ln/>
        </p:spPr>
        <p:txBody>
          <a:bodyPr wrap="square" lIns="0" tIns="0" rIns="0" bIns="0" rtlCol="0" anchor="ctr"/>
          <a:lstStyle/>
          <a:p>
            <a:pPr marL="0" indent="0">
              <a:buNone/>
            </a:pPr>
            <a:r>
              <a:rPr lang="en-US" sz="2200" b="1" dirty="0">
                <a:solidFill>
                  <a:srgbClr val="0D1B2A"/>
                </a:solidFill>
                <a:latin typeface="Trebuchet MS" pitchFamily="34" charset="0"/>
              </a:rPr>
              <a:t>Ensembles </a:t>
            </a:r>
          </a:p>
        </p:txBody>
      </p:sp>
      <p:sp>
        <p:nvSpPr>
          <p:cNvPr id="10" name="StratBG">
            <a:extLst>
              <a:ext uri="{FF2B5EF4-FFF2-40B4-BE49-F238E27FC236}">
                <a16:creationId xmlns:a16="http://schemas.microsoft.com/office/drawing/2014/main" id="{9497CC0E-4D3A-DEA6-62AE-2F146282352C}"/>
              </a:ext>
            </a:extLst>
          </p:cNvPr>
          <p:cNvSpPr/>
          <p:nvPr/>
        </p:nvSpPr>
        <p:spPr>
          <a:xfrm>
            <a:off x="274320" y="740160"/>
            <a:ext cx="8595360" cy="740160"/>
          </a:xfrm>
          <a:prstGeom prst="rect">
            <a:avLst/>
          </a:prstGeom>
          <a:solidFill>
            <a:srgbClr val="1C3A52"/>
          </a:solidFill>
          <a:ln w="0">
            <a:noFill/>
          </a:ln>
        </p:spPr>
        <p:txBody>
          <a:bodyPr/>
          <a:lstStyle/>
          <a:p>
            <a:endParaRPr lang="en-US"/>
          </a:p>
        </p:txBody>
      </p:sp>
      <p:sp>
        <p:nvSpPr>
          <p:cNvPr id="11" name="StratText">
            <a:extLst>
              <a:ext uri="{FF2B5EF4-FFF2-40B4-BE49-F238E27FC236}">
                <a16:creationId xmlns:a16="http://schemas.microsoft.com/office/drawing/2014/main" id="{80A605B7-BDF3-4C82-B145-232665F7E2ED}"/>
              </a:ext>
            </a:extLst>
          </p:cNvPr>
          <p:cNvSpPr/>
          <p:nvPr/>
        </p:nvSpPr>
        <p:spPr>
          <a:xfrm>
            <a:off x="457200" y="777240"/>
            <a:ext cx="8228160" cy="666720"/>
          </a:xfrm>
          <a:prstGeom prst="rect">
            <a:avLst/>
          </a:prstGeom>
          <a:noFill/>
          <a:ln/>
        </p:spPr>
        <p:txBody>
          <a:bodyPr wrap="square" rtlCol="0" anchor="ctr"/>
          <a:lstStyle/>
          <a:p>
            <a:pPr>
              <a:buNone/>
            </a:pPr>
            <a:r>
              <a:rPr lang="en-US" sz="1200" b="1" dirty="0">
                <a:solidFill>
                  <a:schemeClr val="accent2">
                    <a:lumMod val="40000"/>
                    <a:lumOff val="60000"/>
                  </a:schemeClr>
                </a:solidFill>
                <a:latin typeface="Trebuchet MS" pitchFamily="34" charset="0"/>
              </a:rPr>
              <a:t>Strategy</a:t>
            </a:r>
            <a:r>
              <a:rPr lang="en-US" sz="1200" b="1" dirty="0">
                <a:solidFill>
                  <a:srgbClr val="00A896"/>
                </a:solidFill>
                <a:latin typeface="Trebuchet MS" pitchFamily="34" charset="0"/>
              </a:rPr>
              <a:t>: </a:t>
            </a:r>
            <a:r>
              <a:rPr lang="en-US" sz="1200" dirty="0">
                <a:solidFill>
                  <a:schemeClr val="bg1"/>
                </a:solidFill>
                <a:latin typeface="Calibri" pitchFamily="34" charset="0"/>
              </a:rPr>
              <a:t>Having the best models we tried to combine them to see if we got better results by using some better characteristic of some model to compensate for worse performance in other model. </a:t>
            </a:r>
          </a:p>
          <a:p>
            <a:pPr>
              <a:buNone/>
            </a:pPr>
            <a:r>
              <a:rPr lang="en-US" sz="1200" dirty="0">
                <a:solidFill>
                  <a:schemeClr val="bg1"/>
                </a:solidFill>
                <a:latin typeface="Calibri" pitchFamily="34" charset="0"/>
              </a:rPr>
              <a:t>» To help analyze possible good combinations we draw a heat map so we can  see the results of each model for each class. </a:t>
            </a:r>
          </a:p>
        </p:txBody>
      </p:sp>
      <p:grpSp>
        <p:nvGrpSpPr>
          <p:cNvPr id="14" name="Group 13">
            <a:extLst>
              <a:ext uri="{FF2B5EF4-FFF2-40B4-BE49-F238E27FC236}">
                <a16:creationId xmlns:a16="http://schemas.microsoft.com/office/drawing/2014/main" id="{A1FA2E3B-4D55-BF1E-8734-63932BA7467A}"/>
              </a:ext>
            </a:extLst>
          </p:cNvPr>
          <p:cNvGrpSpPr/>
          <p:nvPr/>
        </p:nvGrpSpPr>
        <p:grpSpPr>
          <a:xfrm>
            <a:off x="-64008" y="1656778"/>
            <a:ext cx="6549292" cy="3240421"/>
            <a:chOff x="0" y="1580400"/>
            <a:chExt cx="7237378" cy="3580868"/>
          </a:xfrm>
        </p:grpSpPr>
        <p:pic>
          <p:nvPicPr>
            <p:cNvPr id="7" name="Picture 6">
              <a:extLst>
                <a:ext uri="{FF2B5EF4-FFF2-40B4-BE49-F238E27FC236}">
                  <a16:creationId xmlns:a16="http://schemas.microsoft.com/office/drawing/2014/main" id="{95F15C9D-4CD5-3B44-6ACC-8974EF41C8A2}"/>
                </a:ext>
              </a:extLst>
            </p:cNvPr>
            <p:cNvPicPr>
              <a:picLocks noChangeAspect="1"/>
            </p:cNvPicPr>
            <p:nvPr/>
          </p:nvPicPr>
          <p:blipFill>
            <a:blip r:embed="rId2"/>
            <a:srcRect l="9540" b="61978"/>
            <a:stretch>
              <a:fillRect/>
            </a:stretch>
          </p:blipFill>
          <p:spPr>
            <a:xfrm>
              <a:off x="235776" y="1580400"/>
              <a:ext cx="7001602" cy="3558847"/>
            </a:xfrm>
            <a:prstGeom prst="rect">
              <a:avLst/>
            </a:prstGeom>
          </p:spPr>
        </p:pic>
        <p:sp>
          <p:nvSpPr>
            <p:cNvPr id="12" name="Rectangle 11">
              <a:extLst>
                <a:ext uri="{FF2B5EF4-FFF2-40B4-BE49-F238E27FC236}">
                  <a16:creationId xmlns:a16="http://schemas.microsoft.com/office/drawing/2014/main" id="{00DAC33D-3163-C1D8-3C9C-09345D442B34}"/>
                </a:ext>
              </a:extLst>
            </p:cNvPr>
            <p:cNvSpPr/>
            <p:nvPr/>
          </p:nvSpPr>
          <p:spPr>
            <a:xfrm>
              <a:off x="0" y="4474723"/>
              <a:ext cx="7237378" cy="668777"/>
            </a:xfrm>
            <a:prstGeom prst="rect">
              <a:avLst/>
            </a:prstGeom>
            <a:gradFill flip="none" rotWithShape="1">
              <a:gsLst>
                <a:gs pos="0">
                  <a:schemeClr val="bg1">
                    <a:alpha val="0"/>
                  </a:schemeClr>
                </a:gs>
                <a:gs pos="56000">
                  <a:schemeClr val="bg1">
                    <a:alpha val="94000"/>
                  </a:schemeClr>
                </a:gs>
                <a:gs pos="100000">
                  <a:schemeClr val="lt1">
                    <a:shade val="100000"/>
                    <a:satMod val="115000"/>
                  </a:schemeClr>
                </a:gs>
              </a:gsLst>
              <a:lin ang="5400000" scaled="1"/>
              <a:tileRect/>
            </a:gradFill>
            <a:ln>
              <a:no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pt-PT"/>
            </a:p>
          </p:txBody>
        </p:sp>
        <p:sp>
          <p:nvSpPr>
            <p:cNvPr id="8" name="TextBox 7">
              <a:extLst>
                <a:ext uri="{FF2B5EF4-FFF2-40B4-BE49-F238E27FC236}">
                  <a16:creationId xmlns:a16="http://schemas.microsoft.com/office/drawing/2014/main" id="{56C30EFE-9F1F-2C44-00D6-C80BA31F0E5D}"/>
                </a:ext>
              </a:extLst>
            </p:cNvPr>
            <p:cNvSpPr txBox="1"/>
            <p:nvPr/>
          </p:nvSpPr>
          <p:spPr>
            <a:xfrm>
              <a:off x="1270777" y="4871322"/>
              <a:ext cx="4964708" cy="289946"/>
            </a:xfrm>
            <a:prstGeom prst="rect">
              <a:avLst/>
            </a:prstGeom>
            <a:noFill/>
          </p:spPr>
          <p:txBody>
            <a:bodyPr wrap="square">
              <a:spAutoFit/>
            </a:bodyPr>
            <a:lstStyle/>
            <a:p>
              <a:pPr>
                <a:lnSpc>
                  <a:spcPts val="1425"/>
                </a:lnSpc>
              </a:pPr>
              <a:r>
                <a:rPr lang="pt-PT" sz="1100" dirty="0">
                  <a:solidFill>
                    <a:schemeClr val="bg1"/>
                  </a:solidFill>
                  <a:latin typeface="Consolas" panose="020B0609020204030204" pitchFamily="49" charset="0"/>
                </a:rPr>
                <a:t>🐛   ⚔️   </a:t>
              </a:r>
              <a:r>
                <a:rPr lang="pt-PT" sz="1100" b="0" dirty="0">
                  <a:solidFill>
                    <a:schemeClr val="bg1"/>
                  </a:solidFill>
                  <a:effectLst/>
                  <a:latin typeface="Consolas" panose="020B0609020204030204" pitchFamily="49" charset="0"/>
                </a:rPr>
                <a:t>🔥   </a:t>
              </a:r>
              <a:r>
                <a:rPr lang="pt-PT" sz="1100" dirty="0">
                  <a:solidFill>
                    <a:schemeClr val="bg1"/>
                  </a:solidFill>
                  <a:latin typeface="Consolas" panose="020B0609020204030204" pitchFamily="49" charset="0"/>
                </a:rPr>
                <a:t>🌿   🌍    </a:t>
              </a:r>
              <a:r>
                <a:rPr lang="pt-PT" sz="1100" b="0" dirty="0">
                  <a:solidFill>
                    <a:schemeClr val="bg1"/>
                  </a:solidFill>
                  <a:effectLst/>
                  <a:latin typeface="Consolas" panose="020B0609020204030204" pitchFamily="49" charset="0"/>
                </a:rPr>
                <a:t>😐   </a:t>
              </a:r>
              <a:r>
                <a:rPr lang="pt-PT" sz="1100" dirty="0">
                  <a:solidFill>
                    <a:schemeClr val="bg1"/>
                  </a:solidFill>
                  <a:latin typeface="Consolas" panose="020B0609020204030204" pitchFamily="49" charset="0"/>
                </a:rPr>
                <a:t>☠️   🗿    💧  </a:t>
              </a:r>
              <a:r>
                <a:rPr lang="pt-PT" sz="1100" b="1" dirty="0" err="1">
                  <a:solidFill>
                    <a:sysClr val="windowText" lastClr="000000"/>
                  </a:solidFill>
                  <a:latin typeface="Consolas" panose="020B0609020204030204" pitchFamily="49" charset="0"/>
                </a:rPr>
                <a:t>avg</a:t>
              </a:r>
              <a:endParaRPr lang="pt-PT" sz="1100" b="1" dirty="0">
                <a:solidFill>
                  <a:sysClr val="windowText" lastClr="000000"/>
                </a:solidFill>
                <a:effectLst/>
                <a:latin typeface="Consolas" panose="020B0609020204030204" pitchFamily="49" charset="0"/>
              </a:endParaRPr>
            </a:p>
          </p:txBody>
        </p:sp>
      </p:grpSp>
      <p:sp>
        <p:nvSpPr>
          <p:cNvPr id="15" name="Shape 5">
            <a:extLst>
              <a:ext uri="{FF2B5EF4-FFF2-40B4-BE49-F238E27FC236}">
                <a16:creationId xmlns:a16="http://schemas.microsoft.com/office/drawing/2014/main" id="{D51A13EB-D56E-43FD-5C19-116163EF8193}"/>
              </a:ext>
            </a:extLst>
          </p:cNvPr>
          <p:cNvSpPr/>
          <p:nvPr/>
        </p:nvSpPr>
        <p:spPr>
          <a:xfrm>
            <a:off x="6557498" y="1717559"/>
            <a:ext cx="2296942" cy="1005543"/>
          </a:xfrm>
          <a:prstGeom prst="rect">
            <a:avLst/>
          </a:prstGeom>
          <a:solidFill>
            <a:srgbClr val="FFFFFF"/>
          </a:solidFill>
          <a:ln w="6350">
            <a:solidFill>
              <a:srgbClr val="D8E4EC"/>
            </a:solidFill>
            <a:prstDash val="solid"/>
          </a:ln>
          <a:effectLst>
            <a:outerShdw blurRad="101600" dist="38100" dir="8100000" algn="bl" rotWithShape="0">
              <a:srgbClr val="000000">
                <a:alpha val="10000"/>
              </a:srgbClr>
            </a:outerShdw>
          </a:effectLst>
        </p:spPr>
        <p:txBody>
          <a:bodyPr/>
          <a:lstStyle/>
          <a:p>
            <a:endParaRPr lang="pt-PT"/>
          </a:p>
        </p:txBody>
      </p:sp>
      <p:sp>
        <p:nvSpPr>
          <p:cNvPr id="17" name="Text 7">
            <a:extLst>
              <a:ext uri="{FF2B5EF4-FFF2-40B4-BE49-F238E27FC236}">
                <a16:creationId xmlns:a16="http://schemas.microsoft.com/office/drawing/2014/main" id="{CD316DB7-5963-8D65-757D-F2AEEA0AE4E3}"/>
              </a:ext>
            </a:extLst>
          </p:cNvPr>
          <p:cNvSpPr/>
          <p:nvPr/>
        </p:nvSpPr>
        <p:spPr>
          <a:xfrm>
            <a:off x="6694657" y="1754136"/>
            <a:ext cx="2221523" cy="457200"/>
          </a:xfrm>
          <a:prstGeom prst="rect">
            <a:avLst/>
          </a:prstGeom>
          <a:noFill/>
          <a:ln/>
        </p:spPr>
        <p:txBody>
          <a:bodyPr wrap="square" lIns="0" tIns="0" rIns="0" bIns="0" rtlCol="0" anchor="ctr"/>
          <a:lstStyle/>
          <a:p>
            <a:pPr marL="0" indent="0">
              <a:buNone/>
            </a:pPr>
            <a:r>
              <a:rPr lang="en-US" sz="2000" b="1" dirty="0">
                <a:solidFill>
                  <a:srgbClr val="E97C35"/>
                </a:solidFill>
                <a:latin typeface="Trebuchet MS" pitchFamily="34" charset="0"/>
                <a:ea typeface="Trebuchet MS" pitchFamily="34" charset="-122"/>
                <a:cs typeface="Trebuchet MS" pitchFamily="34" charset="-120"/>
              </a:rPr>
              <a:t>Ensemble &gt; Solo</a:t>
            </a:r>
            <a:endParaRPr lang="en-US" sz="2000" dirty="0"/>
          </a:p>
        </p:txBody>
      </p:sp>
      <p:sp>
        <p:nvSpPr>
          <p:cNvPr id="18" name="Text 8">
            <a:extLst>
              <a:ext uri="{FF2B5EF4-FFF2-40B4-BE49-F238E27FC236}">
                <a16:creationId xmlns:a16="http://schemas.microsoft.com/office/drawing/2014/main" id="{5F933E2D-A508-CDF2-D627-41385D1FF461}"/>
              </a:ext>
            </a:extLst>
          </p:cNvPr>
          <p:cNvSpPr/>
          <p:nvPr/>
        </p:nvSpPr>
        <p:spPr>
          <a:xfrm>
            <a:off x="6694658" y="2229624"/>
            <a:ext cx="2159782" cy="292608"/>
          </a:xfrm>
          <a:prstGeom prst="rect">
            <a:avLst/>
          </a:prstGeom>
          <a:noFill/>
          <a:ln/>
        </p:spPr>
        <p:txBody>
          <a:bodyPr wrap="square" lIns="0" tIns="0" rIns="0" bIns="0" rtlCol="0" anchor="ctr"/>
          <a:lstStyle/>
          <a:p>
            <a:pPr marL="0" indent="0">
              <a:buNone/>
            </a:pPr>
            <a:r>
              <a:rPr lang="en-US" sz="1100" dirty="0">
                <a:solidFill>
                  <a:srgbClr val="3D5A73"/>
                </a:solidFill>
                <a:latin typeface="Calibri" pitchFamily="34" charset="0"/>
                <a:ea typeface="Calibri" pitchFamily="34" charset="-122"/>
                <a:cs typeface="Calibri" pitchFamily="34" charset="-120"/>
              </a:rPr>
              <a:t>As we could confirm some ensembles allowed us to achieve better performance than solo models</a:t>
            </a:r>
            <a:endParaRPr lang="en-US" sz="1100" dirty="0"/>
          </a:p>
        </p:txBody>
      </p:sp>
      <p:pic>
        <p:nvPicPr>
          <p:cNvPr id="22" name="Picture 21">
            <a:extLst>
              <a:ext uri="{FF2B5EF4-FFF2-40B4-BE49-F238E27FC236}">
                <a16:creationId xmlns:a16="http://schemas.microsoft.com/office/drawing/2014/main" id="{E35450A7-A6BC-02ED-01D9-126858FADB8E}"/>
              </a:ext>
            </a:extLst>
          </p:cNvPr>
          <p:cNvPicPr>
            <a:picLocks noChangeAspect="1"/>
          </p:cNvPicPr>
          <p:nvPr/>
        </p:nvPicPr>
        <p:blipFill>
          <a:blip r:embed="rId3"/>
          <a:stretch>
            <a:fillRect/>
          </a:stretch>
        </p:blipFill>
        <p:spPr>
          <a:xfrm>
            <a:off x="6632917" y="2786616"/>
            <a:ext cx="2221523" cy="2154204"/>
          </a:xfrm>
          <a:prstGeom prst="rect">
            <a:avLst/>
          </a:prstGeom>
          <a:effectLst>
            <a:outerShdw blurRad="50800" dist="38100" dir="5400000" algn="t" rotWithShape="0">
              <a:prstClr val="black">
                <a:alpha val="40000"/>
              </a:prstClr>
            </a:outerShdw>
          </a:effectLst>
        </p:spPr>
      </p:pic>
      <p:sp>
        <p:nvSpPr>
          <p:cNvPr id="16" name="Shape 6">
            <a:extLst>
              <a:ext uri="{FF2B5EF4-FFF2-40B4-BE49-F238E27FC236}">
                <a16:creationId xmlns:a16="http://schemas.microsoft.com/office/drawing/2014/main" id="{BD1B1707-4C81-7C17-0B63-7827F2B1DF31}"/>
              </a:ext>
            </a:extLst>
          </p:cNvPr>
          <p:cNvSpPr/>
          <p:nvPr/>
        </p:nvSpPr>
        <p:spPr>
          <a:xfrm>
            <a:off x="6557497" y="1717559"/>
            <a:ext cx="75419" cy="3220493"/>
          </a:xfrm>
          <a:prstGeom prst="rect">
            <a:avLst/>
          </a:prstGeom>
          <a:solidFill>
            <a:srgbClr val="E97C35"/>
          </a:solidFill>
          <a:ln w="12700">
            <a:solidFill>
              <a:srgbClr val="E97C35"/>
            </a:solidFill>
            <a:prstDash val="solid"/>
          </a:ln>
        </p:spPr>
        <p:txBody>
          <a:bodyPr/>
          <a:lstStyle/>
          <a:p>
            <a:endParaRPr lang="pt-PT"/>
          </a:p>
        </p:txBody>
      </p:sp>
    </p:spTree>
    <p:extLst>
      <p:ext uri="{BB962C8B-B14F-4D97-AF65-F5344CB8AC3E}">
        <p14:creationId xmlns:p14="http://schemas.microsoft.com/office/powerpoint/2010/main" val="23890972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opBar"/>
          <p:cNvSpPr/>
          <p:nvPr/>
        </p:nvSpPr>
        <p:spPr>
          <a:xfrm>
            <a:off x="0" y="0"/>
            <a:ext cx="9144000" cy="64008"/>
          </a:xfrm>
          <a:prstGeom prst="rect">
            <a:avLst/>
          </a:prstGeom>
          <a:solidFill>
            <a:srgbClr val="00A896"/>
          </a:solidFill>
          <a:ln w="12700">
            <a:solidFill>
              <a:srgbClr val="00A896"/>
            </a:solidFill>
            <a:prstDash val="solid"/>
          </a:ln>
        </p:spPr>
        <p:txBody>
          <a:bodyPr/>
          <a:lstStyle/>
          <a:p>
            <a:endParaRPr lang="en-US"/>
          </a:p>
        </p:txBody>
      </p:sp>
      <p:sp>
        <p:nvSpPr>
          <p:cNvPr id="3" name="Badge"/>
          <p:cNvSpPr/>
          <p:nvPr/>
        </p:nvSpPr>
        <p:spPr>
          <a:xfrm>
            <a:off x="7498079" y="82296"/>
            <a:ext cx="1557633" cy="329184"/>
          </a:xfrm>
          <a:prstGeom prst="rect">
            <a:avLst/>
          </a:prstGeom>
          <a:solidFill>
            <a:srgbClr val="1C3A52"/>
          </a:solidFill>
          <a:ln w="12700">
            <a:solidFill>
              <a:srgbClr val="1C3A52"/>
            </a:solidFill>
            <a:prstDash val="solid"/>
          </a:ln>
        </p:spPr>
        <p:txBody>
          <a:bodyPr/>
          <a:lstStyle/>
          <a:p>
            <a:pPr algn="ctr"/>
            <a:r>
              <a:rPr lang="en-US" b="1" dirty="0">
                <a:solidFill>
                  <a:srgbClr val="FFFFFF"/>
                </a:solidFill>
              </a:rPr>
              <a:t>MODEL DEV</a:t>
            </a:r>
            <a:endParaRPr lang="en-US" b="1" dirty="0"/>
          </a:p>
        </p:txBody>
      </p:sp>
      <p:sp>
        <p:nvSpPr>
          <p:cNvPr id="4" name="NumCircle"/>
          <p:cNvSpPr/>
          <p:nvPr/>
        </p:nvSpPr>
        <p:spPr>
          <a:xfrm>
            <a:off x="7088176" y="4253"/>
            <a:ext cx="470123" cy="470912"/>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2800" b="1" dirty="0"/>
              <a:t>2</a:t>
            </a:r>
            <a:endParaRPr lang="en-US" sz="1600" b="1" dirty="0"/>
          </a:p>
        </p:txBody>
      </p:sp>
      <p:sp>
        <p:nvSpPr>
          <p:cNvPr id="5" name="Title"/>
          <p:cNvSpPr/>
          <p:nvPr/>
        </p:nvSpPr>
        <p:spPr>
          <a:xfrm>
            <a:off x="457200" y="109728"/>
            <a:ext cx="6400800" cy="530352"/>
          </a:xfrm>
          <a:prstGeom prst="rect">
            <a:avLst/>
          </a:prstGeom>
          <a:noFill/>
          <a:ln/>
        </p:spPr>
        <p:txBody>
          <a:bodyPr wrap="square" lIns="0" tIns="0" rIns="0" bIns="0" rtlCol="0" anchor="ctr"/>
          <a:lstStyle/>
          <a:p>
            <a:pPr marL="0" indent="0">
              <a:buNone/>
            </a:pPr>
            <a:r>
              <a:rPr lang="en-US" sz="2200" b="1" dirty="0">
                <a:solidFill>
                  <a:srgbClr val="0D1B2A"/>
                </a:solidFill>
                <a:latin typeface="Trebuchet MS" pitchFamily="34" charset="0"/>
              </a:rPr>
              <a:t>What Worked vs. What Did Not</a:t>
            </a:r>
          </a:p>
        </p:txBody>
      </p:sp>
      <p:sp>
        <p:nvSpPr>
          <p:cNvPr id="10" name="WW_BG"/>
          <p:cNvSpPr/>
          <p:nvPr/>
        </p:nvSpPr>
        <p:spPr>
          <a:xfrm>
            <a:off x="274320" y="740160"/>
            <a:ext cx="4205520" cy="3823920"/>
          </a:xfrm>
          <a:prstGeom prst="rect">
            <a:avLst/>
          </a:prstGeom>
          <a:solidFill>
            <a:srgbClr val="FFFFFF"/>
          </a:solidFill>
          <a:ln w="6350">
            <a:solidFill>
              <a:srgbClr val="D8E4EC"/>
            </a:solidFill>
          </a:ln>
          <a:effectLst>
            <a:outerShdw blurRad="101600" dist="38100" dir="8100000" algn="bl" rotWithShape="0">
              <a:srgbClr val="000000">
                <a:alpha val="10000"/>
              </a:srgbClr>
            </a:outerShdw>
          </a:effectLst>
        </p:spPr>
        <p:txBody>
          <a:bodyPr/>
          <a:lstStyle/>
          <a:p>
            <a:endParaRPr lang="en-US"/>
          </a:p>
        </p:txBody>
      </p:sp>
      <p:sp>
        <p:nvSpPr>
          <p:cNvPr id="11" name="WW_bar"/>
          <p:cNvSpPr/>
          <p:nvPr/>
        </p:nvSpPr>
        <p:spPr>
          <a:xfrm>
            <a:off x="274320" y="740160"/>
            <a:ext cx="4205520" cy="128016"/>
          </a:xfrm>
          <a:prstGeom prst="rect">
            <a:avLst/>
          </a:prstGeom>
          <a:solidFill>
            <a:srgbClr val="00A896"/>
          </a:solidFill>
          <a:ln w="0">
            <a:noFill/>
          </a:ln>
        </p:spPr>
        <p:txBody>
          <a:bodyPr/>
          <a:lstStyle/>
          <a:p>
            <a:endParaRPr lang="en-US"/>
          </a:p>
        </p:txBody>
      </p:sp>
      <p:sp>
        <p:nvSpPr>
          <p:cNvPr id="12" name="WW_text"/>
          <p:cNvSpPr/>
          <p:nvPr/>
        </p:nvSpPr>
        <p:spPr>
          <a:xfrm>
            <a:off x="457200" y="905040"/>
            <a:ext cx="3840480" cy="3612240"/>
          </a:xfrm>
          <a:prstGeom prst="rect">
            <a:avLst/>
          </a:prstGeom>
          <a:noFill/>
          <a:ln/>
        </p:spPr>
        <p:txBody>
          <a:bodyPr wrap="square" rtlCol="0" anchor="t"/>
          <a:lstStyle/>
          <a:p>
            <a:pPr>
              <a:buNone/>
            </a:pPr>
            <a:r>
              <a:rPr lang="en-US" sz="1400" b="1" dirty="0">
                <a:solidFill>
                  <a:srgbClr val="00A896"/>
                </a:solidFill>
                <a:latin typeface="Trebuchet MS" pitchFamily="34" charset="0"/>
              </a:rPr>
              <a:t>What Worked</a:t>
            </a:r>
          </a:p>
          <a:p>
            <a:pPr marL="228600" indent="-228600">
              <a:buChar char="✓"/>
            </a:pPr>
            <a:r>
              <a:rPr lang="en-US" sz="1100" b="1" dirty="0">
                <a:solidFill>
                  <a:srgbClr val="028090"/>
                </a:solidFill>
                <a:latin typeface="Calibri" pitchFamily="34" charset="0"/>
              </a:rPr>
              <a:t>Label smoothing (0.10-0.15)</a:t>
            </a:r>
          </a:p>
          <a:p>
            <a:pPr lvl="1"/>
            <a:r>
              <a:rPr lang="en-US" sz="1000" dirty="0">
                <a:solidFill>
                  <a:srgbClr val="1A2B3C"/>
                </a:solidFill>
                <a:latin typeface="Calibri" pitchFamily="34" charset="0"/>
              </a:rPr>
              <a:t>- all top-6 solos use it; </a:t>
            </a:r>
          </a:p>
          <a:p>
            <a:pPr lvl="1"/>
            <a:r>
              <a:rPr lang="en-US" sz="1000" dirty="0">
                <a:solidFill>
                  <a:srgbClr val="1A2B3C"/>
                </a:solidFill>
                <a:latin typeface="Calibri" pitchFamily="34" charset="0"/>
              </a:rPr>
              <a:t>- +0.017-0.019 vs no-LS baselines</a:t>
            </a:r>
          </a:p>
          <a:p>
            <a:pPr marL="228600" indent="-228600">
              <a:buChar char="✓"/>
            </a:pPr>
            <a:r>
              <a:rPr lang="en-US" sz="1100" b="1" dirty="0">
                <a:solidFill>
                  <a:srgbClr val="028090"/>
                </a:solidFill>
                <a:latin typeface="Calibri" pitchFamily="34" charset="0"/>
              </a:rPr>
              <a:t>Dropout 0.3</a:t>
            </a:r>
          </a:p>
          <a:p>
            <a:r>
              <a:rPr lang="en-US" sz="1100" b="1" dirty="0">
                <a:solidFill>
                  <a:srgbClr val="028090"/>
                </a:solidFill>
                <a:latin typeface="Calibri" pitchFamily="34" charset="0"/>
              </a:rPr>
              <a:t>	</a:t>
            </a:r>
            <a:r>
              <a:rPr lang="en-US" sz="1000" dirty="0">
                <a:solidFill>
                  <a:srgbClr val="1A2B3C"/>
                </a:solidFill>
                <a:latin typeface="Calibri" pitchFamily="34" charset="0"/>
              </a:rPr>
              <a:t>- 0.4 was too heavy, 0.15 too light</a:t>
            </a:r>
          </a:p>
          <a:p>
            <a:pPr marL="228600" indent="-228600">
              <a:buChar char="✓"/>
            </a:pPr>
            <a:r>
              <a:rPr lang="en-US" sz="1100" b="1" dirty="0">
                <a:solidFill>
                  <a:srgbClr val="028090"/>
                </a:solidFill>
                <a:latin typeface="Calibri" pitchFamily="34" charset="0"/>
              </a:rPr>
              <a:t>Weighted </a:t>
            </a:r>
            <a:r>
              <a:rPr lang="en-US" sz="1100" b="1" dirty="0" err="1">
                <a:solidFill>
                  <a:srgbClr val="028090"/>
                </a:solidFill>
                <a:latin typeface="Calibri" pitchFamily="34" charset="0"/>
              </a:rPr>
              <a:t>CrossEntropyLoss</a:t>
            </a:r>
            <a:r>
              <a:rPr lang="en-US" sz="1100" b="1" dirty="0">
                <a:solidFill>
                  <a:srgbClr val="028090"/>
                </a:solidFill>
                <a:latin typeface="Calibri" pitchFamily="34" charset="0"/>
              </a:rPr>
              <a:t> </a:t>
            </a:r>
          </a:p>
          <a:p>
            <a:pPr lvl="1"/>
            <a:r>
              <a:rPr lang="en-US" sz="1000" dirty="0">
                <a:solidFill>
                  <a:srgbClr val="1A2B3C"/>
                </a:solidFill>
                <a:latin typeface="Calibri" pitchFamily="34" charset="0"/>
              </a:rPr>
              <a:t>- prevents collapse on minority classes (Ground, Rock)</a:t>
            </a:r>
          </a:p>
          <a:p>
            <a:pPr marL="228600" indent="-228600">
              <a:buChar char="✓"/>
            </a:pPr>
            <a:r>
              <a:rPr lang="en-US" sz="1100" b="1" dirty="0" err="1">
                <a:solidFill>
                  <a:srgbClr val="028090"/>
                </a:solidFill>
                <a:latin typeface="Calibri" pitchFamily="34" charset="0"/>
              </a:rPr>
              <a:t>WeightedRandomSampler</a:t>
            </a:r>
            <a:r>
              <a:rPr lang="en-US" sz="1100" b="1" dirty="0">
                <a:solidFill>
                  <a:srgbClr val="028090"/>
                </a:solidFill>
                <a:latin typeface="Calibri" pitchFamily="34" charset="0"/>
              </a:rPr>
              <a:t> </a:t>
            </a:r>
          </a:p>
          <a:p>
            <a:pPr lvl="1"/>
            <a:r>
              <a:rPr lang="en-US" sz="1000" dirty="0">
                <a:solidFill>
                  <a:srgbClr val="1A2B3C"/>
                </a:solidFill>
                <a:latin typeface="Calibri" pitchFamily="34" charset="0"/>
              </a:rPr>
              <a:t>- creates diversity for ensembles</a:t>
            </a:r>
          </a:p>
          <a:p>
            <a:pPr marL="228600" indent="-228600">
              <a:buChar char="✓"/>
            </a:pPr>
            <a:r>
              <a:rPr lang="en-US" sz="1100" b="1" dirty="0">
                <a:solidFill>
                  <a:srgbClr val="028090"/>
                </a:solidFill>
                <a:latin typeface="Calibri" pitchFamily="34" charset="0"/>
              </a:rPr>
              <a:t>BatchNorm1d</a:t>
            </a:r>
          </a:p>
          <a:p>
            <a:pPr lvl="1"/>
            <a:r>
              <a:rPr lang="en-US" sz="1000" dirty="0">
                <a:solidFill>
                  <a:srgbClr val="1A2B3C"/>
                </a:solidFill>
                <a:latin typeface="Calibri" pitchFamily="34" charset="0"/>
              </a:rPr>
              <a:t>- stabilizes gradients on 12 288-dim flat input </a:t>
            </a:r>
          </a:p>
          <a:p>
            <a:pPr lvl="1"/>
            <a:r>
              <a:rPr lang="en-US" sz="1000" dirty="0">
                <a:solidFill>
                  <a:srgbClr val="1A2B3C"/>
                </a:solidFill>
                <a:latin typeface="Calibri" pitchFamily="34" charset="0"/>
              </a:rPr>
              <a:t>- (model B &gt; A by +0.002)</a:t>
            </a:r>
          </a:p>
          <a:p>
            <a:pPr marL="228600" indent="-228600">
              <a:buChar char="✓"/>
            </a:pPr>
            <a:r>
              <a:rPr lang="en-US" sz="1100" b="1" dirty="0">
                <a:solidFill>
                  <a:srgbClr val="028090"/>
                </a:solidFill>
                <a:latin typeface="Calibri" pitchFamily="34" charset="0"/>
              </a:rPr>
              <a:t>Soft ensemble C+E</a:t>
            </a:r>
          </a:p>
          <a:p>
            <a:pPr lvl="1"/>
            <a:r>
              <a:rPr lang="en-US" sz="1000" dirty="0">
                <a:solidFill>
                  <a:srgbClr val="1A2B3C"/>
                </a:solidFill>
                <a:latin typeface="Calibri" pitchFamily="34" charset="0"/>
              </a:rPr>
              <a:t>- +0.003 over best solo; </a:t>
            </a:r>
          </a:p>
          <a:p>
            <a:pPr lvl="1"/>
            <a:r>
              <a:rPr lang="en-US" sz="1000" dirty="0">
                <a:solidFill>
                  <a:srgbClr val="1A2B3C"/>
                </a:solidFill>
                <a:latin typeface="Calibri" pitchFamily="34" charset="0"/>
              </a:rPr>
              <a:t>- diversity of error correction wins over strength</a:t>
            </a:r>
          </a:p>
        </p:txBody>
      </p:sp>
      <p:sp>
        <p:nvSpPr>
          <p:cNvPr id="20" name="WND_BG"/>
          <p:cNvSpPr/>
          <p:nvPr/>
        </p:nvSpPr>
        <p:spPr>
          <a:xfrm>
            <a:off x="4663920" y="740160"/>
            <a:ext cx="4205520" cy="3823920"/>
          </a:xfrm>
          <a:prstGeom prst="rect">
            <a:avLst/>
          </a:prstGeom>
          <a:solidFill>
            <a:srgbClr val="FFFFFF"/>
          </a:solidFill>
          <a:ln w="6350">
            <a:solidFill>
              <a:srgbClr val="D8E4EC"/>
            </a:solidFill>
          </a:ln>
          <a:effectLst>
            <a:outerShdw blurRad="101600" dist="38100" dir="8100000" algn="bl" rotWithShape="0">
              <a:srgbClr val="000000">
                <a:alpha val="10000"/>
              </a:srgbClr>
            </a:outerShdw>
          </a:effectLst>
        </p:spPr>
        <p:txBody>
          <a:bodyPr/>
          <a:lstStyle/>
          <a:p>
            <a:endParaRPr lang="en-US"/>
          </a:p>
        </p:txBody>
      </p:sp>
      <p:sp>
        <p:nvSpPr>
          <p:cNvPr id="21" name="WND_bar"/>
          <p:cNvSpPr/>
          <p:nvPr/>
        </p:nvSpPr>
        <p:spPr>
          <a:xfrm>
            <a:off x="4663920" y="740160"/>
            <a:ext cx="4205520" cy="128016"/>
          </a:xfrm>
          <a:prstGeom prst="rect">
            <a:avLst/>
          </a:prstGeom>
          <a:solidFill>
            <a:srgbClr val="C0392B"/>
          </a:solidFill>
          <a:ln w="0">
            <a:noFill/>
          </a:ln>
        </p:spPr>
        <p:txBody>
          <a:bodyPr/>
          <a:lstStyle/>
          <a:p>
            <a:endParaRPr lang="en-US"/>
          </a:p>
        </p:txBody>
      </p:sp>
      <p:sp>
        <p:nvSpPr>
          <p:cNvPr id="22" name="WND_text"/>
          <p:cNvSpPr/>
          <p:nvPr/>
        </p:nvSpPr>
        <p:spPr>
          <a:xfrm>
            <a:off x="4846800" y="905040"/>
            <a:ext cx="3840480" cy="3612240"/>
          </a:xfrm>
          <a:prstGeom prst="rect">
            <a:avLst/>
          </a:prstGeom>
          <a:noFill/>
          <a:ln/>
        </p:spPr>
        <p:txBody>
          <a:bodyPr wrap="square" rtlCol="0" anchor="t"/>
          <a:lstStyle/>
          <a:p>
            <a:pPr>
              <a:buNone/>
            </a:pPr>
            <a:r>
              <a:rPr lang="en-US" sz="1400" b="1" dirty="0">
                <a:solidFill>
                  <a:srgbClr val="C0392B"/>
                </a:solidFill>
                <a:latin typeface="Trebuchet MS" pitchFamily="34" charset="0"/>
              </a:rPr>
              <a:t>What Did Not Work</a:t>
            </a:r>
          </a:p>
          <a:p>
            <a:pPr marL="228600" indent="-228600">
              <a:buChar char="✗"/>
            </a:pPr>
            <a:r>
              <a:rPr lang="en-US" sz="1100" b="1" dirty="0">
                <a:solidFill>
                  <a:srgbClr val="C0392B"/>
                </a:solidFill>
                <a:latin typeface="Calibri" pitchFamily="34" charset="0"/>
              </a:rPr>
              <a:t>Augmentation (flip/jitter/rotate) </a:t>
            </a:r>
          </a:p>
          <a:p>
            <a:pPr lvl="1"/>
            <a:r>
              <a:rPr lang="en-US" sz="1000" b="1" dirty="0">
                <a:solidFill>
                  <a:srgbClr val="C0392B"/>
                </a:solidFill>
                <a:latin typeface="Calibri" pitchFamily="34" charset="0"/>
              </a:rPr>
              <a:t>- </a:t>
            </a:r>
            <a:r>
              <a:rPr lang="en-US" sz="1000" dirty="0">
                <a:solidFill>
                  <a:srgbClr val="1A2B3C"/>
                </a:solidFill>
                <a:latin typeface="Calibri" pitchFamily="34" charset="0"/>
              </a:rPr>
              <a:t>0.047 F1; MLP has no spatial invariance, flipped images = different vectors</a:t>
            </a:r>
          </a:p>
          <a:p>
            <a:pPr marL="228600" indent="-228600">
              <a:buChar char="✗"/>
            </a:pPr>
            <a:r>
              <a:rPr lang="en-US" sz="1100" b="1" dirty="0">
                <a:solidFill>
                  <a:srgbClr val="C0392B"/>
                </a:solidFill>
                <a:latin typeface="Calibri" pitchFamily="34" charset="0"/>
              </a:rPr>
              <a:t>Wider first layer (1024)</a:t>
            </a:r>
          </a:p>
          <a:p>
            <a:pPr lvl="1"/>
            <a:r>
              <a:rPr lang="en-US" sz="1000" dirty="0">
                <a:solidFill>
                  <a:srgbClr val="1A2B3C"/>
                </a:solidFill>
                <a:latin typeface="Calibri" pitchFamily="34" charset="0"/>
              </a:rPr>
              <a:t>- L=0.220;  more capacity = more memorisation on 2 880 samples (doesn’t generalize well)</a:t>
            </a:r>
          </a:p>
          <a:p>
            <a:pPr marL="228600" indent="-228600">
              <a:buChar char="✗"/>
            </a:pPr>
            <a:r>
              <a:rPr lang="en-US" sz="1100" b="1" dirty="0">
                <a:solidFill>
                  <a:srgbClr val="C0392B"/>
                </a:solidFill>
                <a:latin typeface="Calibri" pitchFamily="34" charset="0"/>
              </a:rPr>
              <a:t>Deeper net (4 layers) </a:t>
            </a:r>
          </a:p>
          <a:p>
            <a:pPr lvl="1"/>
            <a:r>
              <a:rPr lang="en-US" sz="1000" dirty="0">
                <a:solidFill>
                  <a:srgbClr val="1A2B3C"/>
                </a:solidFill>
                <a:latin typeface="Calibri" pitchFamily="34" charset="0"/>
              </a:rPr>
              <a:t>- S=0.191; extra depth can not be regularised effectively on small data</a:t>
            </a:r>
          </a:p>
          <a:p>
            <a:pPr marL="228600" indent="-228600">
              <a:buChar char="✗"/>
            </a:pPr>
            <a:r>
              <a:rPr lang="en-US" sz="1100" b="1" dirty="0">
                <a:solidFill>
                  <a:srgbClr val="C0392B"/>
                </a:solidFill>
                <a:latin typeface="Calibri" pitchFamily="34" charset="0"/>
              </a:rPr>
              <a:t>Grayscale input </a:t>
            </a:r>
          </a:p>
          <a:p>
            <a:pPr lvl="1"/>
            <a:r>
              <a:rPr lang="en-US" sz="1000" b="1" dirty="0">
                <a:solidFill>
                  <a:srgbClr val="C0392B"/>
                </a:solidFill>
                <a:latin typeface="Calibri" pitchFamily="34" charset="0"/>
              </a:rPr>
              <a:t>-  </a:t>
            </a:r>
            <a:r>
              <a:rPr lang="en-US" sz="1000" dirty="0">
                <a:solidFill>
                  <a:srgbClr val="1A2B3C"/>
                </a:solidFill>
                <a:latin typeface="Calibri" pitchFamily="34" charset="0"/>
              </a:rPr>
              <a:t>0.136; colour is the primary discriminative signal, removing it destroys performance</a:t>
            </a:r>
          </a:p>
          <a:p>
            <a:pPr marL="228600" indent="-228600">
              <a:buChar char="✗"/>
            </a:pPr>
            <a:r>
              <a:rPr lang="en-US" sz="1100" b="1" dirty="0">
                <a:solidFill>
                  <a:srgbClr val="C0392B"/>
                </a:solidFill>
                <a:latin typeface="Calibri" pitchFamily="34" charset="0"/>
              </a:rPr>
              <a:t>Sampler + CW together (model O)</a:t>
            </a:r>
          </a:p>
          <a:p>
            <a:pPr lvl="1"/>
            <a:r>
              <a:rPr lang="en-US" sz="1100" b="1" dirty="0">
                <a:solidFill>
                  <a:srgbClr val="C0392B"/>
                </a:solidFill>
                <a:latin typeface="Calibri" pitchFamily="34" charset="0"/>
              </a:rPr>
              <a:t>-  </a:t>
            </a:r>
            <a:r>
              <a:rPr lang="en-US" sz="1000" dirty="0">
                <a:solidFill>
                  <a:srgbClr val="1A2B3C"/>
                </a:solidFill>
                <a:latin typeface="Calibri" pitchFamily="34" charset="0"/>
              </a:rPr>
              <a:t>0.192; double-compensating imbalance over-corrects</a:t>
            </a:r>
          </a:p>
          <a:p>
            <a:pPr marL="228600" indent="-228600">
              <a:buChar char="✗"/>
            </a:pPr>
            <a:r>
              <a:rPr lang="en-US" sz="1100" b="1" dirty="0">
                <a:solidFill>
                  <a:srgbClr val="C0392B"/>
                </a:solidFill>
                <a:latin typeface="Calibri" pitchFamily="34" charset="0"/>
              </a:rPr>
              <a:t>Strong weight decay (1e-4)</a:t>
            </a:r>
          </a:p>
          <a:p>
            <a:pPr lvl="1"/>
            <a:r>
              <a:rPr lang="en-US" sz="1100" b="1" dirty="0">
                <a:solidFill>
                  <a:srgbClr val="C0392B"/>
                </a:solidFill>
                <a:latin typeface="Calibri" pitchFamily="34" charset="0"/>
              </a:rPr>
              <a:t>- </a:t>
            </a:r>
            <a:r>
              <a:rPr lang="en-US" sz="1000" dirty="0">
                <a:solidFill>
                  <a:srgbClr val="1A2B3C"/>
                </a:solidFill>
                <a:latin typeface="Calibri" pitchFamily="34" charset="0"/>
              </a:rPr>
              <a:t>D=0.186; combined with LS + dropout = too many simultaneous constraints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opBar"/>
          <p:cNvSpPr/>
          <p:nvPr/>
        </p:nvSpPr>
        <p:spPr>
          <a:xfrm>
            <a:off x="0" y="0"/>
            <a:ext cx="9144000" cy="64008"/>
          </a:xfrm>
          <a:prstGeom prst="rect">
            <a:avLst/>
          </a:prstGeom>
          <a:solidFill>
            <a:srgbClr val="00A896"/>
          </a:solidFill>
          <a:ln w="12700">
            <a:solidFill>
              <a:srgbClr val="00A896"/>
            </a:solidFill>
            <a:prstDash val="solid"/>
          </a:ln>
        </p:spPr>
        <p:txBody>
          <a:bodyPr/>
          <a:lstStyle/>
          <a:p>
            <a:endParaRPr lang="en-US"/>
          </a:p>
        </p:txBody>
      </p:sp>
      <p:sp>
        <p:nvSpPr>
          <p:cNvPr id="3" name="Badge"/>
          <p:cNvSpPr/>
          <p:nvPr/>
        </p:nvSpPr>
        <p:spPr>
          <a:xfrm>
            <a:off x="7498079" y="82296"/>
            <a:ext cx="1557633" cy="329184"/>
          </a:xfrm>
          <a:prstGeom prst="rect">
            <a:avLst/>
          </a:prstGeom>
          <a:solidFill>
            <a:srgbClr val="1C3A52"/>
          </a:solidFill>
          <a:ln w="12700">
            <a:solidFill>
              <a:srgbClr val="1C3A52"/>
            </a:solidFill>
            <a:prstDash val="solid"/>
          </a:ln>
        </p:spPr>
        <p:txBody>
          <a:bodyPr/>
          <a:lstStyle/>
          <a:p>
            <a:pPr algn="ctr"/>
            <a:r>
              <a:rPr lang="en-US" b="1" dirty="0">
                <a:solidFill>
                  <a:srgbClr val="FFFFFF"/>
                </a:solidFill>
              </a:rPr>
              <a:t>MODEL DEV</a:t>
            </a:r>
            <a:endParaRPr lang="en-US" b="1" dirty="0"/>
          </a:p>
        </p:txBody>
      </p:sp>
      <p:sp>
        <p:nvSpPr>
          <p:cNvPr id="4" name="NumCircle"/>
          <p:cNvSpPr/>
          <p:nvPr/>
        </p:nvSpPr>
        <p:spPr>
          <a:xfrm>
            <a:off x="7088176" y="4253"/>
            <a:ext cx="470123" cy="470912"/>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2800" b="1" dirty="0"/>
              <a:t>2</a:t>
            </a:r>
            <a:endParaRPr lang="en-US" sz="1600" b="1" dirty="0"/>
          </a:p>
        </p:txBody>
      </p:sp>
      <p:sp>
        <p:nvSpPr>
          <p:cNvPr id="5" name="Title"/>
          <p:cNvSpPr/>
          <p:nvPr/>
        </p:nvSpPr>
        <p:spPr>
          <a:xfrm>
            <a:off x="457200" y="109728"/>
            <a:ext cx="6400800" cy="530352"/>
          </a:xfrm>
          <a:prstGeom prst="rect">
            <a:avLst/>
          </a:prstGeom>
          <a:noFill/>
          <a:ln/>
        </p:spPr>
        <p:txBody>
          <a:bodyPr wrap="square" lIns="0" tIns="0" rIns="0" bIns="0" rtlCol="0" anchor="ctr"/>
          <a:lstStyle/>
          <a:p>
            <a:pPr marL="0" indent="0">
              <a:buNone/>
            </a:pPr>
            <a:r>
              <a:rPr lang="en-US" sz="2200" b="1" dirty="0">
                <a:solidFill>
                  <a:srgbClr val="0D1B2A"/>
                </a:solidFill>
                <a:latin typeface="Trebuchet MS" pitchFamily="34" charset="0"/>
              </a:rPr>
              <a:t>MLP Ceiling ~0.24</a:t>
            </a:r>
          </a:p>
        </p:txBody>
      </p:sp>
      <p:pic>
        <p:nvPicPr>
          <p:cNvPr id="7" name="Picture 6">
            <a:extLst>
              <a:ext uri="{FF2B5EF4-FFF2-40B4-BE49-F238E27FC236}">
                <a16:creationId xmlns:a16="http://schemas.microsoft.com/office/drawing/2014/main" id="{F4E8ABD3-4087-6919-0590-2915AFA9C878}"/>
              </a:ext>
            </a:extLst>
          </p:cNvPr>
          <p:cNvPicPr>
            <a:picLocks noChangeAspect="1"/>
          </p:cNvPicPr>
          <p:nvPr/>
        </p:nvPicPr>
        <p:blipFill>
          <a:blip r:embed="rId2"/>
          <a:srcRect b="49653"/>
          <a:stretch>
            <a:fillRect/>
          </a:stretch>
        </p:blipFill>
        <p:spPr>
          <a:xfrm>
            <a:off x="104989" y="714241"/>
            <a:ext cx="8950723" cy="2030640"/>
          </a:xfrm>
          <a:prstGeom prst="rect">
            <a:avLst/>
          </a:prstGeom>
          <a:effectLst>
            <a:outerShdw blurRad="50800" dist="38100" dir="5400000" algn="t" rotWithShape="0">
              <a:prstClr val="black">
                <a:alpha val="40000"/>
              </a:prstClr>
            </a:outerShdw>
          </a:effectLst>
        </p:spPr>
      </p:pic>
      <p:sp>
        <p:nvSpPr>
          <p:cNvPr id="20" name="R_BG"/>
          <p:cNvSpPr/>
          <p:nvPr/>
        </p:nvSpPr>
        <p:spPr>
          <a:xfrm>
            <a:off x="104989" y="2983957"/>
            <a:ext cx="3932640" cy="2030640"/>
          </a:xfrm>
          <a:prstGeom prst="rect">
            <a:avLst/>
          </a:prstGeom>
          <a:solidFill>
            <a:srgbClr val="0D1B2A"/>
          </a:solidFill>
          <a:ln w="0">
            <a:noFill/>
          </a:ln>
        </p:spPr>
        <p:txBody>
          <a:bodyPr/>
          <a:lstStyle/>
          <a:p>
            <a:endParaRPr lang="en-US"/>
          </a:p>
        </p:txBody>
      </p:sp>
      <p:sp>
        <p:nvSpPr>
          <p:cNvPr id="21" name="R_text"/>
          <p:cNvSpPr/>
          <p:nvPr/>
        </p:nvSpPr>
        <p:spPr>
          <a:xfrm>
            <a:off x="288589" y="3058117"/>
            <a:ext cx="3566640" cy="1875106"/>
          </a:xfrm>
          <a:prstGeom prst="rect">
            <a:avLst/>
          </a:prstGeom>
          <a:noFill/>
          <a:ln/>
        </p:spPr>
        <p:txBody>
          <a:bodyPr wrap="square" rtlCol="0" anchor="t"/>
          <a:lstStyle/>
          <a:p>
            <a:pPr>
              <a:buNone/>
            </a:pPr>
            <a:r>
              <a:rPr lang="en-US" sz="1300" b="1" dirty="0">
                <a:solidFill>
                  <a:srgbClr val="00A896"/>
                </a:solidFill>
                <a:latin typeface="Trebuchet MS" pitchFamily="34" charset="0"/>
              </a:rPr>
              <a:t>Confirmed ceiling metrics</a:t>
            </a:r>
          </a:p>
          <a:p>
            <a:pPr>
              <a:buNone/>
            </a:pPr>
            <a:endParaRPr lang="en-US" sz="1000" dirty="0">
              <a:solidFill>
                <a:srgbClr val="AACCD8"/>
              </a:solidFill>
              <a:latin typeface="Calibri" pitchFamily="34" charset="0"/>
            </a:endParaRPr>
          </a:p>
          <a:p>
            <a:pPr>
              <a:buNone/>
            </a:pPr>
            <a:r>
              <a:rPr lang="en-US" sz="1000" dirty="0">
                <a:solidFill>
                  <a:srgbClr val="AACCD8"/>
                </a:solidFill>
                <a:latin typeface="Calibri" pitchFamily="34" charset="0"/>
              </a:rPr>
              <a:t>best </a:t>
            </a:r>
            <a:r>
              <a:rPr lang="en-US" sz="1000" dirty="0" err="1">
                <a:solidFill>
                  <a:srgbClr val="AACCD8"/>
                </a:solidFill>
                <a:latin typeface="Calibri" pitchFamily="34" charset="0"/>
              </a:rPr>
              <a:t>val</a:t>
            </a:r>
            <a:r>
              <a:rPr lang="en-US" sz="1000" dirty="0">
                <a:solidFill>
                  <a:srgbClr val="AACCD8"/>
                </a:solidFill>
                <a:latin typeface="Calibri" pitchFamily="34" charset="0"/>
              </a:rPr>
              <a:t> macro-F1 (ensemble C+E)</a:t>
            </a:r>
          </a:p>
          <a:p>
            <a:r>
              <a:rPr lang="en-US" sz="2800" b="1" dirty="0">
                <a:solidFill>
                  <a:srgbClr val="FFFFFF"/>
                </a:solidFill>
                <a:latin typeface="Trebuchet MS" pitchFamily="34" charset="0"/>
              </a:rPr>
              <a:t>0.2428</a:t>
            </a:r>
          </a:p>
          <a:p>
            <a:pPr>
              <a:buNone/>
            </a:pPr>
            <a:endParaRPr lang="en-US" sz="1000" dirty="0">
              <a:solidFill>
                <a:srgbClr val="AACCD8"/>
              </a:solidFill>
              <a:latin typeface="Calibri" pitchFamily="34" charset="0"/>
            </a:endParaRPr>
          </a:p>
          <a:p>
            <a:pPr>
              <a:buNone/>
            </a:pPr>
            <a:r>
              <a:rPr lang="en-US" sz="1000" dirty="0">
                <a:solidFill>
                  <a:srgbClr val="AACCD8"/>
                </a:solidFill>
                <a:latin typeface="Calibri" pitchFamily="34" charset="0"/>
              </a:rPr>
              <a:t>Kaggle public score</a:t>
            </a:r>
          </a:p>
          <a:p>
            <a:r>
              <a:rPr lang="en-US" sz="2800" b="1" dirty="0">
                <a:solidFill>
                  <a:srgbClr val="FFFFFF"/>
                </a:solidFill>
                <a:latin typeface="Trebuchet MS" pitchFamily="34" charset="0"/>
              </a:rPr>
              <a:t>0.2288</a:t>
            </a:r>
          </a:p>
          <a:p>
            <a:pPr>
              <a:buNone/>
            </a:pPr>
            <a:endParaRPr lang="en-US" sz="1000" dirty="0">
              <a:solidFill>
                <a:srgbClr val="AACCD8"/>
              </a:solidFill>
              <a:latin typeface="Calibri" pitchFamily="34" charset="0"/>
            </a:endParaRPr>
          </a:p>
        </p:txBody>
      </p:sp>
      <p:sp>
        <p:nvSpPr>
          <p:cNvPr id="8" name="R_BG">
            <a:extLst>
              <a:ext uri="{FF2B5EF4-FFF2-40B4-BE49-F238E27FC236}">
                <a16:creationId xmlns:a16="http://schemas.microsoft.com/office/drawing/2014/main" id="{7D5E87DB-8C64-CE72-5E54-E8C7DD26EE11}"/>
              </a:ext>
            </a:extLst>
          </p:cNvPr>
          <p:cNvSpPr/>
          <p:nvPr/>
        </p:nvSpPr>
        <p:spPr>
          <a:xfrm>
            <a:off x="4389599" y="3003132"/>
            <a:ext cx="4649411" cy="2030640"/>
          </a:xfrm>
          <a:prstGeom prst="rect">
            <a:avLst/>
          </a:prstGeom>
          <a:solidFill>
            <a:srgbClr val="0D1B2A"/>
          </a:solidFill>
          <a:ln w="0">
            <a:noFill/>
          </a:ln>
        </p:spPr>
        <p:txBody>
          <a:bodyPr/>
          <a:lstStyle/>
          <a:p>
            <a:endParaRPr lang="en-US"/>
          </a:p>
        </p:txBody>
      </p:sp>
      <p:sp>
        <p:nvSpPr>
          <p:cNvPr id="9" name="R_text">
            <a:extLst>
              <a:ext uri="{FF2B5EF4-FFF2-40B4-BE49-F238E27FC236}">
                <a16:creationId xmlns:a16="http://schemas.microsoft.com/office/drawing/2014/main" id="{2D75AC84-A178-5D20-2E55-18EDC3E113AE}"/>
              </a:ext>
            </a:extLst>
          </p:cNvPr>
          <p:cNvSpPr/>
          <p:nvPr/>
        </p:nvSpPr>
        <p:spPr>
          <a:xfrm>
            <a:off x="4573200" y="3077292"/>
            <a:ext cx="4465810" cy="1956480"/>
          </a:xfrm>
          <a:prstGeom prst="rect">
            <a:avLst/>
          </a:prstGeom>
          <a:noFill/>
          <a:ln/>
        </p:spPr>
        <p:txBody>
          <a:bodyPr wrap="square" rtlCol="0" anchor="t"/>
          <a:lstStyle/>
          <a:p>
            <a:pPr>
              <a:buNone/>
            </a:pPr>
            <a:r>
              <a:rPr lang="en-US" sz="1300" b="1" dirty="0">
                <a:solidFill>
                  <a:srgbClr val="00A896"/>
                </a:solidFill>
                <a:latin typeface="Trebuchet MS" pitchFamily="34" charset="0"/>
              </a:rPr>
              <a:t>Why ~0.24 is the MLP wall</a:t>
            </a:r>
          </a:p>
          <a:p>
            <a:pPr marL="228600" indent="-228600">
              <a:buChar char="•"/>
            </a:pPr>
            <a:r>
              <a:rPr lang="en-US" sz="1100" dirty="0">
                <a:solidFill>
                  <a:schemeClr val="bg1"/>
                </a:solidFill>
                <a:latin typeface="Calibri" pitchFamily="34" charset="0"/>
              </a:rPr>
              <a:t>Feature-to-sample ratio d/n = 4.27 (want &lt;= 1)</a:t>
            </a:r>
          </a:p>
          <a:p>
            <a:pPr marL="228600" indent="-228600">
              <a:buChar char="•"/>
            </a:pPr>
            <a:r>
              <a:rPr lang="en-US" sz="1100" dirty="0">
                <a:solidFill>
                  <a:schemeClr val="bg1"/>
                </a:solidFill>
                <a:latin typeface="Calibri" pitchFamily="34" charset="0"/>
              </a:rPr>
              <a:t>12 288 features, only 2 880 training samples — extremely sparse space</a:t>
            </a:r>
          </a:p>
          <a:p>
            <a:pPr marL="228600" indent="-228600">
              <a:buChar char="•"/>
            </a:pPr>
            <a:r>
              <a:rPr lang="en-US" sz="1100" dirty="0">
                <a:solidFill>
                  <a:schemeClr val="bg1"/>
                </a:solidFill>
                <a:latin typeface="Calibri" pitchFamily="34" charset="0"/>
              </a:rPr>
              <a:t>No spatial inductive bias — MLP is essentially a colour histogram classifier</a:t>
            </a:r>
          </a:p>
          <a:p>
            <a:pPr marL="228600" indent="-228600">
              <a:buChar char="•"/>
            </a:pPr>
            <a:r>
              <a:rPr lang="en-US" sz="1100" dirty="0">
                <a:solidFill>
                  <a:schemeClr val="bg1"/>
                </a:solidFill>
                <a:latin typeface="Calibri" pitchFamily="34" charset="0"/>
              </a:rPr>
              <a:t>All top-6 models within 0.004 F1 — search is saturated</a:t>
            </a:r>
          </a:p>
          <a:p>
            <a:pPr>
              <a:buNone/>
            </a:pPr>
            <a:r>
              <a:rPr lang="en-US" sz="1100" b="1" dirty="0">
                <a:solidFill>
                  <a:schemeClr val="accent2">
                    <a:lumMod val="40000"/>
                    <a:lumOff val="60000"/>
                  </a:schemeClr>
                </a:solidFill>
                <a:latin typeface="Calibri" pitchFamily="34" charset="0"/>
              </a:rPr>
              <a:t>Next: CNN (Task 2) — spatial inductive bias will break this ceiling</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23EE28-55CF-2A0C-B599-838CF5304E75}"/>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6BFEFC70-E410-DBB4-206D-96C6ACBFA2F2}"/>
              </a:ext>
            </a:extLst>
          </p:cNvPr>
          <p:cNvSpPr/>
          <p:nvPr/>
        </p:nvSpPr>
        <p:spPr>
          <a:xfrm>
            <a:off x="6217920" y="-822960"/>
            <a:ext cx="4754880" cy="4754880"/>
          </a:xfrm>
          <a:prstGeom prst="ellipse">
            <a:avLst/>
          </a:prstGeom>
          <a:solidFill>
            <a:srgbClr val="1C3A52">
              <a:alpha val="62000"/>
            </a:srgbClr>
          </a:solidFill>
          <a:ln w="12700">
            <a:solidFill>
              <a:srgbClr val="1C3A52"/>
            </a:solidFill>
            <a:prstDash val="solid"/>
          </a:ln>
        </p:spPr>
        <p:txBody>
          <a:bodyPr/>
          <a:lstStyle/>
          <a:p>
            <a:endParaRPr lang="pt-PT"/>
          </a:p>
        </p:txBody>
      </p:sp>
      <p:sp>
        <p:nvSpPr>
          <p:cNvPr id="3" name="Shape 1">
            <a:extLst>
              <a:ext uri="{FF2B5EF4-FFF2-40B4-BE49-F238E27FC236}">
                <a16:creationId xmlns:a16="http://schemas.microsoft.com/office/drawing/2014/main" id="{4407192D-0EFF-E9E6-10E4-81A15ED0457D}"/>
              </a:ext>
            </a:extLst>
          </p:cNvPr>
          <p:cNvSpPr/>
          <p:nvPr/>
        </p:nvSpPr>
        <p:spPr>
          <a:xfrm>
            <a:off x="7315200" y="2377440"/>
            <a:ext cx="2743200" cy="2743200"/>
          </a:xfrm>
          <a:prstGeom prst="ellipse">
            <a:avLst/>
          </a:prstGeom>
          <a:solidFill>
            <a:srgbClr val="00A896">
              <a:alpha val="45000"/>
            </a:srgbClr>
          </a:solidFill>
          <a:ln w="12700">
            <a:solidFill>
              <a:srgbClr val="00A896"/>
            </a:solidFill>
            <a:prstDash val="solid"/>
          </a:ln>
        </p:spPr>
        <p:txBody>
          <a:bodyPr/>
          <a:lstStyle/>
          <a:p>
            <a:endParaRPr lang="pt-PT"/>
          </a:p>
        </p:txBody>
      </p:sp>
      <p:pic>
        <p:nvPicPr>
          <p:cNvPr id="1028" name="Picture 4" descr="NOVA FCT">
            <a:extLst>
              <a:ext uri="{FF2B5EF4-FFF2-40B4-BE49-F238E27FC236}">
                <a16:creationId xmlns:a16="http://schemas.microsoft.com/office/drawing/2014/main" id="{21B1B3AB-5E55-E888-0241-EB18105E4A3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22933" b="35200"/>
          <a:stretch/>
        </p:blipFill>
        <p:spPr bwMode="auto">
          <a:xfrm>
            <a:off x="5362525" y="-739257"/>
            <a:ext cx="1188684" cy="493776"/>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Quais os principais tipos de Pokémon que existem no anime e filmes  animados? - Olhar Digital">
            <a:extLst>
              <a:ext uri="{FF2B5EF4-FFF2-40B4-BE49-F238E27FC236}">
                <a16:creationId xmlns:a16="http://schemas.microsoft.com/office/drawing/2014/main" id="{FD4A7F51-A87E-B10A-D5DF-6C25D8469868}"/>
              </a:ext>
            </a:extLst>
          </p:cNvPr>
          <p:cNvPicPr>
            <a:picLocks noChangeAspect="1" noChangeArrowheads="1"/>
          </p:cNvPicPr>
          <p:nvPr/>
        </p:nvPicPr>
        <p:blipFill>
          <a:blip r:embed="rId4">
            <a:extLst>
              <a:ext uri="{BEBA8EAE-BF5A-486C-A8C5-ECC9F3942E4B}">
                <a14:imgProps xmlns:a14="http://schemas.microsoft.com/office/drawing/2010/main">
                  <a14:imgLayer r:embed="rId5">
                    <a14:imgEffect>
                      <a14:backgroundRemoval t="10000" b="98750" l="4375" r="97773">
                        <a14:foregroundMark x1="6016" y1="58819" x2="5938" y2="87500"/>
                        <a14:foregroundMark x1="5938" y1="87500" x2="9609" y2="99236"/>
                        <a14:foregroundMark x1="9609" y1="99236" x2="18633" y2="94514"/>
                        <a14:foregroundMark x1="18633" y1="94514" x2="25547" y2="95972"/>
                        <a14:foregroundMark x1="25547" y1="95972" x2="20391" y2="85556"/>
                        <a14:foregroundMark x1="20391" y1="85556" x2="18516" y2="75208"/>
                        <a14:foregroundMark x1="18516" y1="75208" x2="20156" y2="60972"/>
                        <a14:foregroundMark x1="20156" y1="60972" x2="10469" y2="66250"/>
                        <a14:foregroundMark x1="10469" y1="66250" x2="11719" y2="82361"/>
                        <a14:foregroundMark x1="11719" y1="82361" x2="13750" y2="72292"/>
                        <a14:foregroundMark x1="5469" y1="57569" x2="5039" y2="79722"/>
                        <a14:foregroundMark x1="5039" y1="79722" x2="4414" y2="83889"/>
                        <a14:foregroundMark x1="7070" y1="95069" x2="8008" y2="98403"/>
                        <a14:foregroundMark x1="63594" y1="97639" x2="67852" y2="98819"/>
                        <a14:foregroundMark x1="16250" y1="73264" x2="16797" y2="77292"/>
                        <a14:foregroundMark x1="96133" y1="50278" x2="97031" y2="63264"/>
                        <a14:foregroundMark x1="97031" y1="63264" x2="94492" y2="76597"/>
                        <a14:foregroundMark x1="94492" y1="76597" x2="90391" y2="83333"/>
                        <a14:foregroundMark x1="90391" y1="83333" x2="86914" y2="85833"/>
                        <a14:foregroundMark x1="95859" y1="50278" x2="97546" y2="63683"/>
                        <a14:foregroundMark x1="96841" y1="69371" x2="94141" y2="80625"/>
                        <a14:foregroundMark x1="97461" y1="67292" x2="96406" y2="75139"/>
                        <a14:foregroundMark x1="96680" y1="40278" x2="96680" y2="45069"/>
                        <a14:backgroundMark x1="97617" y1="63681" x2="97695" y2="71875"/>
                      </a14:backgroundRemoval>
                    </a14:imgEffect>
                  </a14:imgLayer>
                </a14:imgProps>
              </a:ext>
              <a:ext uri="{28A0092B-C50C-407E-A947-70E740481C1C}">
                <a14:useLocalDpi xmlns:a14="http://schemas.microsoft.com/office/drawing/2010/main" val="0"/>
              </a:ext>
            </a:extLst>
          </a:blip>
          <a:srcRect/>
          <a:stretch>
            <a:fillRect/>
          </a:stretch>
        </p:blipFill>
        <p:spPr bwMode="auto">
          <a:xfrm>
            <a:off x="2917953" y="1645921"/>
            <a:ext cx="6226048" cy="3502152"/>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8" descr="NOSSA™ | NOVA School of Science &amp; Technology">
            <a:extLst>
              <a:ext uri="{FF2B5EF4-FFF2-40B4-BE49-F238E27FC236}">
                <a16:creationId xmlns:a16="http://schemas.microsoft.com/office/drawing/2014/main" id="{42942649-A305-A3D2-17F1-23E1356F94EF}"/>
              </a:ext>
            </a:extLst>
          </p:cNvPr>
          <p:cNvPicPr>
            <a:picLocks noChangeAspect="1" noChangeArrowheads="1"/>
          </p:cNvPicPr>
          <p:nvPr/>
        </p:nvPicPr>
        <p:blipFill rotWithShape="1">
          <a:blip r:embed="rId6">
            <a:extLst>
              <a:ext uri="{BEBA8EAE-BF5A-486C-A8C5-ECC9F3942E4B}">
                <a14:imgProps xmlns:a14="http://schemas.microsoft.com/office/drawing/2010/main">
                  <a14:imgLayer r:embed="rId7">
                    <a14:imgEffect>
                      <a14:backgroundRemoval t="28056" b="59722" l="28750" r="70625">
                        <a14:foregroundMark x1="28750" y1="38889" x2="29375" y2="52778"/>
                        <a14:foregroundMark x1="66406" y1="39167" x2="64844" y2="49722"/>
                        <a14:foregroundMark x1="69063" y1="45278" x2="70781" y2="50833"/>
                        <a14:foregroundMark x1="38750" y1="54444" x2="46094" y2="59722"/>
                        <a14:foregroundMark x1="46094" y1="59722" x2="50938" y2="55000"/>
                        <a14:foregroundMark x1="51250" y1="33889" x2="42188" y2="30833"/>
                        <a14:foregroundMark x1="42188" y1="30833" x2="38281" y2="35000"/>
                        <a14:foregroundMark x1="51875" y1="36944" x2="55313" y2="41111"/>
                      </a14:backgroundRemoval>
                    </a14:imgEffect>
                  </a14:imgLayer>
                </a14:imgProps>
              </a:ext>
              <a:ext uri="{28A0092B-C50C-407E-A947-70E740481C1C}">
                <a14:useLocalDpi xmlns:a14="http://schemas.microsoft.com/office/drawing/2010/main" val="0"/>
              </a:ext>
            </a:extLst>
          </a:blip>
          <a:srcRect l="24369" t="25133" r="26983" b="39200"/>
          <a:stretch>
            <a:fillRect/>
          </a:stretch>
        </p:blipFill>
        <p:spPr bwMode="auto">
          <a:xfrm>
            <a:off x="7838728" y="83266"/>
            <a:ext cx="1250407" cy="515666"/>
          </a:xfrm>
          <a:prstGeom prst="rect">
            <a:avLst/>
          </a:prstGeom>
          <a:noFill/>
          <a:extLst>
            <a:ext uri="{909E8E84-426E-40DD-AFC4-6F175D3DCCD1}">
              <a14:hiddenFill xmlns:a14="http://schemas.microsoft.com/office/drawing/2010/main">
                <a:solidFill>
                  <a:srgbClr val="FFFFFF"/>
                </a:solidFill>
              </a14:hiddenFill>
            </a:ext>
          </a:extLst>
        </p:spPr>
      </p:pic>
      <p:sp>
        <p:nvSpPr>
          <p:cNvPr id="13" name="Text 4">
            <a:extLst>
              <a:ext uri="{FF2B5EF4-FFF2-40B4-BE49-F238E27FC236}">
                <a16:creationId xmlns:a16="http://schemas.microsoft.com/office/drawing/2014/main" id="{586A7FFC-A886-35D2-7A56-D6C122CD8814}"/>
              </a:ext>
            </a:extLst>
          </p:cNvPr>
          <p:cNvSpPr/>
          <p:nvPr/>
        </p:nvSpPr>
        <p:spPr>
          <a:xfrm>
            <a:off x="1298741" y="1161287"/>
            <a:ext cx="6400800" cy="822960"/>
          </a:xfrm>
          <a:prstGeom prst="rect">
            <a:avLst/>
          </a:prstGeom>
          <a:noFill/>
          <a:ln/>
        </p:spPr>
        <p:txBody>
          <a:bodyPr wrap="square" lIns="0" tIns="0" rIns="0" bIns="0" rtlCol="0" anchor="ctr"/>
          <a:lstStyle/>
          <a:p>
            <a:pPr marL="0" indent="0">
              <a:buNone/>
            </a:pPr>
            <a:r>
              <a:rPr lang="en-US" sz="3000" b="1" dirty="0">
                <a:solidFill>
                  <a:srgbClr val="FFFFFF"/>
                </a:solidFill>
                <a:latin typeface="Trebuchet MS" pitchFamily="34" charset="0"/>
                <a:ea typeface="Trebuchet MS" pitchFamily="34" charset="-122"/>
                <a:cs typeface="Trebuchet MS" pitchFamily="34" charset="-120"/>
              </a:rPr>
              <a:t>Training Efficiency</a:t>
            </a:r>
          </a:p>
        </p:txBody>
      </p:sp>
      <p:sp>
        <p:nvSpPr>
          <p:cNvPr id="14" name="Rectangle: Rounded Corners 13">
            <a:extLst>
              <a:ext uri="{FF2B5EF4-FFF2-40B4-BE49-F238E27FC236}">
                <a16:creationId xmlns:a16="http://schemas.microsoft.com/office/drawing/2014/main" id="{7E90CD51-2298-5ED9-5E21-B71BDE7A1FCD}"/>
              </a:ext>
            </a:extLst>
          </p:cNvPr>
          <p:cNvSpPr/>
          <p:nvPr/>
        </p:nvSpPr>
        <p:spPr>
          <a:xfrm>
            <a:off x="192727" y="1015139"/>
            <a:ext cx="966372" cy="969108"/>
          </a:xfrm>
          <a:prstGeom prst="roundRect">
            <a:avLst/>
          </a:prstGeom>
          <a:scene3d>
            <a:camera prst="orthographicFront"/>
            <a:lightRig rig="threePt" dir="t"/>
          </a:scene3d>
          <a:sp3d>
            <a:bevelT/>
          </a:sp3d>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3200" b="1" dirty="0"/>
              <a:t>3</a:t>
            </a:r>
            <a:endParaRPr lang="pt-PT" b="1" dirty="0"/>
          </a:p>
        </p:txBody>
      </p:sp>
      <p:cxnSp>
        <p:nvCxnSpPr>
          <p:cNvPr id="16" name="Straight Connector 15">
            <a:extLst>
              <a:ext uri="{FF2B5EF4-FFF2-40B4-BE49-F238E27FC236}">
                <a16:creationId xmlns:a16="http://schemas.microsoft.com/office/drawing/2014/main" id="{1E24B3DA-F191-6340-AD8B-455082D9E991}"/>
              </a:ext>
            </a:extLst>
          </p:cNvPr>
          <p:cNvCxnSpPr/>
          <p:nvPr/>
        </p:nvCxnSpPr>
        <p:spPr>
          <a:xfrm>
            <a:off x="1305169" y="1856154"/>
            <a:ext cx="4822093" cy="0"/>
          </a:xfrm>
          <a:prstGeom prst="line">
            <a:avLst/>
          </a:prstGeom>
          <a:ln w="28575"/>
          <a:scene3d>
            <a:camera prst="orthographicFront"/>
            <a:lightRig rig="threePt" dir="t"/>
          </a:scene3d>
          <a:sp3d>
            <a:bevelT/>
          </a:sp3d>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1482528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0A896"/>
          </a:solidFill>
          <a:ln w="12700">
            <a:solidFill>
              <a:srgbClr val="00A896"/>
            </a:solidFill>
            <a:prstDash val="solid"/>
          </a:ln>
        </p:spPr>
        <p:txBody>
          <a:bodyPr/>
          <a:lstStyle/>
          <a:p>
            <a:endParaRPr lang="pt-PT"/>
          </a:p>
        </p:txBody>
      </p:sp>
      <p:sp>
        <p:nvSpPr>
          <p:cNvPr id="3" name="Text 1"/>
          <p:cNvSpPr/>
          <p:nvPr/>
        </p:nvSpPr>
        <p:spPr>
          <a:xfrm>
            <a:off x="457200" y="109728"/>
            <a:ext cx="7772400" cy="530352"/>
          </a:xfrm>
          <a:prstGeom prst="rect">
            <a:avLst/>
          </a:prstGeom>
          <a:noFill/>
          <a:ln/>
        </p:spPr>
        <p:txBody>
          <a:bodyPr wrap="square" lIns="0" tIns="0" rIns="0" bIns="0" rtlCol="0" anchor="ctr"/>
          <a:lstStyle/>
          <a:p>
            <a:pPr marL="0" indent="0">
              <a:buNone/>
            </a:pPr>
            <a:r>
              <a:rPr lang="en-US" sz="2200" b="1" dirty="0">
                <a:solidFill>
                  <a:srgbClr val="0D1B2A"/>
                </a:solidFill>
                <a:latin typeface="Trebuchet MS" pitchFamily="34" charset="0"/>
                <a:ea typeface="Trebuchet MS" pitchFamily="34" charset="-122"/>
                <a:cs typeface="Trebuchet MS" pitchFamily="34" charset="-120"/>
              </a:rPr>
              <a:t>Compute Strategy &amp; Resource Usage</a:t>
            </a:r>
            <a:endParaRPr lang="en-US" sz="2200" dirty="0"/>
          </a:p>
        </p:txBody>
      </p:sp>
      <p:sp>
        <p:nvSpPr>
          <p:cNvPr id="5" name="Text 3"/>
          <p:cNvSpPr/>
          <p:nvPr/>
        </p:nvSpPr>
        <p:spPr>
          <a:xfrm>
            <a:off x="7635240" y="109728"/>
            <a:ext cx="1371600" cy="301752"/>
          </a:xfrm>
          <a:prstGeom prst="rect">
            <a:avLst/>
          </a:prstGeom>
          <a:noFill/>
          <a:ln/>
        </p:spPr>
        <p:txBody>
          <a:bodyPr wrap="square" lIns="0" tIns="0" rIns="0" bIns="0" rtlCol="0" anchor="ctr"/>
          <a:lstStyle/>
          <a:p>
            <a:pPr marL="0" indent="0" algn="ctr">
              <a:buNone/>
            </a:pPr>
            <a:r>
              <a:rPr lang="en-US" sz="1000" b="1" dirty="0">
                <a:solidFill>
                  <a:srgbClr val="FFFFFF"/>
                </a:solidFill>
              </a:rPr>
              <a:t>Train Eff</a:t>
            </a:r>
            <a:endParaRPr lang="en-US" sz="1000" dirty="0"/>
          </a:p>
        </p:txBody>
      </p:sp>
      <p:sp>
        <p:nvSpPr>
          <p:cNvPr id="6" name="Shape 4"/>
          <p:cNvSpPr/>
          <p:nvPr/>
        </p:nvSpPr>
        <p:spPr>
          <a:xfrm>
            <a:off x="347472" y="795147"/>
            <a:ext cx="1993392" cy="987552"/>
          </a:xfrm>
          <a:prstGeom prst="rect">
            <a:avLst/>
          </a:prstGeom>
          <a:solidFill>
            <a:srgbClr val="FFFFFF"/>
          </a:solidFill>
          <a:ln w="6350">
            <a:solidFill>
              <a:srgbClr val="D8E4EC"/>
            </a:solidFill>
            <a:prstDash val="solid"/>
          </a:ln>
          <a:effectLst>
            <a:outerShdw blurRad="101600" dist="38100" dir="8100000" algn="bl" rotWithShape="0">
              <a:srgbClr val="000000">
                <a:alpha val="10000"/>
              </a:srgbClr>
            </a:outerShdw>
          </a:effectLst>
        </p:spPr>
        <p:txBody>
          <a:bodyPr/>
          <a:lstStyle/>
          <a:p>
            <a:endParaRPr lang="pt-PT"/>
          </a:p>
        </p:txBody>
      </p:sp>
      <p:sp>
        <p:nvSpPr>
          <p:cNvPr id="7" name="Shape 5"/>
          <p:cNvSpPr/>
          <p:nvPr/>
        </p:nvSpPr>
        <p:spPr>
          <a:xfrm>
            <a:off x="347472" y="795147"/>
            <a:ext cx="1993392" cy="73152"/>
          </a:xfrm>
          <a:prstGeom prst="rect">
            <a:avLst/>
          </a:prstGeom>
          <a:solidFill>
            <a:srgbClr val="00A896"/>
          </a:solidFill>
          <a:ln w="12700">
            <a:solidFill>
              <a:srgbClr val="00A896"/>
            </a:solidFill>
            <a:prstDash val="solid"/>
          </a:ln>
        </p:spPr>
        <p:txBody>
          <a:bodyPr/>
          <a:lstStyle/>
          <a:p>
            <a:endParaRPr lang="pt-PT"/>
          </a:p>
        </p:txBody>
      </p:sp>
      <p:sp>
        <p:nvSpPr>
          <p:cNvPr id="8" name="Text 6"/>
          <p:cNvSpPr/>
          <p:nvPr/>
        </p:nvSpPr>
        <p:spPr>
          <a:xfrm>
            <a:off x="347472" y="886587"/>
            <a:ext cx="1993392" cy="438912"/>
          </a:xfrm>
          <a:prstGeom prst="rect">
            <a:avLst/>
          </a:prstGeom>
          <a:noFill/>
          <a:ln/>
        </p:spPr>
        <p:txBody>
          <a:bodyPr wrap="square" lIns="0" tIns="0" rIns="0" bIns="0" rtlCol="0" anchor="ctr"/>
          <a:lstStyle/>
          <a:p>
            <a:pPr marL="0" indent="0" algn="ctr">
              <a:buNone/>
            </a:pPr>
            <a:r>
              <a:rPr lang="en-US" sz="2200" b="1" dirty="0">
                <a:solidFill>
                  <a:srgbClr val="00A896"/>
                </a:solidFill>
                <a:latin typeface="Trebuchet MS" pitchFamily="34" charset="0"/>
                <a:ea typeface="Trebuchet MS" pitchFamily="34" charset="-122"/>
                <a:cs typeface="Trebuchet MS" pitchFamily="34" charset="-120"/>
              </a:rPr>
              <a:t>T4 GPU</a:t>
            </a:r>
            <a:endParaRPr lang="en-US" sz="2200" dirty="0"/>
          </a:p>
        </p:txBody>
      </p:sp>
      <p:sp>
        <p:nvSpPr>
          <p:cNvPr id="9" name="Text 7"/>
          <p:cNvSpPr/>
          <p:nvPr/>
        </p:nvSpPr>
        <p:spPr>
          <a:xfrm>
            <a:off x="347472" y="1362075"/>
            <a:ext cx="1993392" cy="347472"/>
          </a:xfrm>
          <a:prstGeom prst="rect">
            <a:avLst/>
          </a:prstGeom>
          <a:noFill/>
          <a:ln/>
        </p:spPr>
        <p:txBody>
          <a:bodyPr wrap="square" lIns="0" tIns="0" rIns="0" bIns="0" rtlCol="0" anchor="ctr"/>
          <a:lstStyle/>
          <a:p>
            <a:pPr marL="0" indent="0" algn="ctr">
              <a:buNone/>
            </a:pPr>
            <a:r>
              <a:rPr lang="en-US" sz="1000" dirty="0">
                <a:solidFill>
                  <a:srgbClr val="3D5A73"/>
                </a:solidFill>
                <a:latin typeface="Calibri" pitchFamily="34" charset="0"/>
                <a:ea typeface="Calibri" pitchFamily="34" charset="-122"/>
                <a:cs typeface="Calibri" pitchFamily="34" charset="-120"/>
              </a:rPr>
              <a:t>Colab free tier / 15 GB VRAM</a:t>
            </a:r>
            <a:endParaRPr lang="en-US" sz="1000" dirty="0"/>
          </a:p>
        </p:txBody>
      </p:sp>
      <p:sp>
        <p:nvSpPr>
          <p:cNvPr id="10" name="Shape 8"/>
          <p:cNvSpPr/>
          <p:nvPr/>
        </p:nvSpPr>
        <p:spPr>
          <a:xfrm>
            <a:off x="2523744" y="795147"/>
            <a:ext cx="1993392" cy="987552"/>
          </a:xfrm>
          <a:prstGeom prst="rect">
            <a:avLst/>
          </a:prstGeom>
          <a:solidFill>
            <a:srgbClr val="FFFFFF"/>
          </a:solidFill>
          <a:ln w="6350">
            <a:solidFill>
              <a:srgbClr val="D8E4EC"/>
            </a:solidFill>
            <a:prstDash val="solid"/>
          </a:ln>
          <a:effectLst>
            <a:outerShdw blurRad="101600" dist="38100" dir="8100000" algn="bl" rotWithShape="0">
              <a:srgbClr val="000000">
                <a:alpha val="10000"/>
              </a:srgbClr>
            </a:outerShdw>
          </a:effectLst>
        </p:spPr>
        <p:txBody>
          <a:bodyPr/>
          <a:lstStyle/>
          <a:p>
            <a:endParaRPr lang="pt-PT"/>
          </a:p>
        </p:txBody>
      </p:sp>
      <p:sp>
        <p:nvSpPr>
          <p:cNvPr id="11" name="Shape 9"/>
          <p:cNvSpPr/>
          <p:nvPr/>
        </p:nvSpPr>
        <p:spPr>
          <a:xfrm>
            <a:off x="2523744" y="795147"/>
            <a:ext cx="1993392" cy="73152"/>
          </a:xfrm>
          <a:prstGeom prst="rect">
            <a:avLst/>
          </a:prstGeom>
          <a:solidFill>
            <a:srgbClr val="00A896"/>
          </a:solidFill>
          <a:ln w="12700">
            <a:solidFill>
              <a:srgbClr val="00A896"/>
            </a:solidFill>
            <a:prstDash val="solid"/>
          </a:ln>
        </p:spPr>
        <p:txBody>
          <a:bodyPr/>
          <a:lstStyle/>
          <a:p>
            <a:endParaRPr lang="pt-PT"/>
          </a:p>
        </p:txBody>
      </p:sp>
      <p:sp>
        <p:nvSpPr>
          <p:cNvPr id="12" name="Text 10"/>
          <p:cNvSpPr/>
          <p:nvPr/>
        </p:nvSpPr>
        <p:spPr>
          <a:xfrm>
            <a:off x="2523744" y="886587"/>
            <a:ext cx="1993392" cy="438912"/>
          </a:xfrm>
          <a:prstGeom prst="rect">
            <a:avLst/>
          </a:prstGeom>
          <a:noFill/>
          <a:ln/>
        </p:spPr>
        <p:txBody>
          <a:bodyPr wrap="square" lIns="0" tIns="0" rIns="0" bIns="0" rtlCol="0" anchor="ctr"/>
          <a:lstStyle/>
          <a:p>
            <a:pPr marL="0" indent="0" algn="ctr">
              <a:buNone/>
            </a:pPr>
            <a:r>
              <a:rPr lang="en-US" sz="2200" b="1" dirty="0">
                <a:solidFill>
                  <a:srgbClr val="00A896"/>
                </a:solidFill>
                <a:latin typeface="Trebuchet MS" pitchFamily="34" charset="0"/>
                <a:ea typeface="Trebuchet MS" pitchFamily="34" charset="-122"/>
                <a:cs typeface="Trebuchet MS" pitchFamily="34" charset="-120"/>
              </a:rPr>
              <a:t>44 min</a:t>
            </a:r>
            <a:endParaRPr lang="en-US" sz="2200" dirty="0"/>
          </a:p>
        </p:txBody>
      </p:sp>
      <p:sp>
        <p:nvSpPr>
          <p:cNvPr id="13" name="Text 11"/>
          <p:cNvSpPr/>
          <p:nvPr/>
        </p:nvSpPr>
        <p:spPr>
          <a:xfrm>
            <a:off x="2523744" y="1362075"/>
            <a:ext cx="1993392" cy="347472"/>
          </a:xfrm>
          <a:prstGeom prst="rect">
            <a:avLst/>
          </a:prstGeom>
          <a:noFill/>
          <a:ln/>
        </p:spPr>
        <p:txBody>
          <a:bodyPr wrap="square" lIns="0" tIns="0" rIns="0" bIns="0" rtlCol="0" anchor="ctr"/>
          <a:lstStyle/>
          <a:p>
            <a:pPr marL="0" indent="0" algn="ctr">
              <a:buNone/>
            </a:pPr>
            <a:r>
              <a:rPr lang="en-US" sz="1000" dirty="0">
                <a:solidFill>
                  <a:srgbClr val="3D5A73"/>
                </a:solidFill>
                <a:latin typeface="Calibri" pitchFamily="34" charset="0"/>
                <a:ea typeface="Calibri" pitchFamily="34" charset="-122"/>
                <a:cs typeface="Calibri" pitchFamily="34" charset="-120"/>
              </a:rPr>
              <a:t>total wall-clock (19 solo runs)</a:t>
            </a:r>
            <a:endParaRPr lang="en-US" sz="1000" dirty="0"/>
          </a:p>
        </p:txBody>
      </p:sp>
      <p:sp>
        <p:nvSpPr>
          <p:cNvPr id="14" name="Shape 12"/>
          <p:cNvSpPr/>
          <p:nvPr/>
        </p:nvSpPr>
        <p:spPr>
          <a:xfrm>
            <a:off x="4700016" y="795147"/>
            <a:ext cx="1993392" cy="987552"/>
          </a:xfrm>
          <a:prstGeom prst="rect">
            <a:avLst/>
          </a:prstGeom>
          <a:solidFill>
            <a:srgbClr val="FFFFFF"/>
          </a:solidFill>
          <a:ln w="6350">
            <a:solidFill>
              <a:srgbClr val="D8E4EC"/>
            </a:solidFill>
            <a:prstDash val="solid"/>
          </a:ln>
          <a:effectLst>
            <a:outerShdw blurRad="101600" dist="38100" dir="8100000" algn="bl" rotWithShape="0">
              <a:srgbClr val="000000">
                <a:alpha val="10000"/>
              </a:srgbClr>
            </a:outerShdw>
          </a:effectLst>
        </p:spPr>
        <p:txBody>
          <a:bodyPr/>
          <a:lstStyle/>
          <a:p>
            <a:endParaRPr lang="pt-PT"/>
          </a:p>
        </p:txBody>
      </p:sp>
      <p:sp>
        <p:nvSpPr>
          <p:cNvPr id="15" name="Shape 13"/>
          <p:cNvSpPr/>
          <p:nvPr/>
        </p:nvSpPr>
        <p:spPr>
          <a:xfrm>
            <a:off x="4700016" y="795147"/>
            <a:ext cx="1993392" cy="73152"/>
          </a:xfrm>
          <a:prstGeom prst="rect">
            <a:avLst/>
          </a:prstGeom>
          <a:solidFill>
            <a:srgbClr val="27AE60"/>
          </a:solidFill>
          <a:ln w="12700">
            <a:solidFill>
              <a:srgbClr val="27AE60"/>
            </a:solidFill>
            <a:prstDash val="solid"/>
          </a:ln>
        </p:spPr>
        <p:txBody>
          <a:bodyPr/>
          <a:lstStyle/>
          <a:p>
            <a:endParaRPr lang="pt-PT"/>
          </a:p>
        </p:txBody>
      </p:sp>
      <p:sp>
        <p:nvSpPr>
          <p:cNvPr id="16" name="Text 14"/>
          <p:cNvSpPr/>
          <p:nvPr/>
        </p:nvSpPr>
        <p:spPr>
          <a:xfrm>
            <a:off x="4700016" y="886587"/>
            <a:ext cx="1993392" cy="438912"/>
          </a:xfrm>
          <a:prstGeom prst="rect">
            <a:avLst/>
          </a:prstGeom>
          <a:noFill/>
          <a:ln/>
        </p:spPr>
        <p:txBody>
          <a:bodyPr wrap="square" lIns="0" tIns="0" rIns="0" bIns="0" rtlCol="0" anchor="ctr"/>
          <a:lstStyle/>
          <a:p>
            <a:pPr marL="0" indent="0" algn="ctr">
              <a:buNone/>
            </a:pPr>
            <a:r>
              <a:rPr lang="en-US" sz="2200" b="1" dirty="0">
                <a:solidFill>
                  <a:srgbClr val="27AE60"/>
                </a:solidFill>
                <a:latin typeface="Trebuchet MS" pitchFamily="34" charset="0"/>
                <a:ea typeface="Trebuchet MS" pitchFamily="34" charset="-122"/>
                <a:cs typeface="Trebuchet MS" pitchFamily="34" charset="-120"/>
              </a:rPr>
              <a:t>&lt; 100 MB</a:t>
            </a:r>
            <a:endParaRPr lang="en-US" sz="2200" dirty="0"/>
          </a:p>
        </p:txBody>
      </p:sp>
      <p:sp>
        <p:nvSpPr>
          <p:cNvPr id="17" name="Text 15"/>
          <p:cNvSpPr/>
          <p:nvPr/>
        </p:nvSpPr>
        <p:spPr>
          <a:xfrm>
            <a:off x="4700016" y="1362075"/>
            <a:ext cx="1993392" cy="347472"/>
          </a:xfrm>
          <a:prstGeom prst="rect">
            <a:avLst/>
          </a:prstGeom>
          <a:noFill/>
          <a:ln/>
        </p:spPr>
        <p:txBody>
          <a:bodyPr wrap="square" lIns="0" tIns="0" rIns="0" bIns="0" rtlCol="0" anchor="ctr"/>
          <a:lstStyle/>
          <a:p>
            <a:pPr marL="0" indent="0" algn="ctr">
              <a:buNone/>
            </a:pPr>
            <a:r>
              <a:rPr lang="en-US" sz="1000" dirty="0">
                <a:solidFill>
                  <a:srgbClr val="3D5A73"/>
                </a:solidFill>
                <a:latin typeface="Calibri" pitchFamily="34" charset="0"/>
                <a:ea typeface="Calibri" pitchFamily="34" charset="-122"/>
                <a:cs typeface="Calibri" pitchFamily="34" charset="-120"/>
              </a:rPr>
              <a:t>GPU memory peak (MLP is tiny)</a:t>
            </a:r>
            <a:endParaRPr lang="en-US" sz="1000" dirty="0"/>
          </a:p>
        </p:txBody>
      </p:sp>
      <p:sp>
        <p:nvSpPr>
          <p:cNvPr id="18" name="Shape 16"/>
          <p:cNvSpPr/>
          <p:nvPr/>
        </p:nvSpPr>
        <p:spPr>
          <a:xfrm>
            <a:off x="6876288" y="795147"/>
            <a:ext cx="1993392" cy="987552"/>
          </a:xfrm>
          <a:prstGeom prst="rect">
            <a:avLst/>
          </a:prstGeom>
          <a:solidFill>
            <a:srgbClr val="FFFFFF"/>
          </a:solidFill>
          <a:ln w="6350">
            <a:solidFill>
              <a:srgbClr val="D8E4EC"/>
            </a:solidFill>
            <a:prstDash val="solid"/>
          </a:ln>
          <a:effectLst>
            <a:outerShdw blurRad="101600" dist="38100" dir="8100000" algn="bl" rotWithShape="0">
              <a:srgbClr val="000000">
                <a:alpha val="10000"/>
              </a:srgbClr>
            </a:outerShdw>
          </a:effectLst>
        </p:spPr>
        <p:txBody>
          <a:bodyPr/>
          <a:lstStyle/>
          <a:p>
            <a:endParaRPr lang="pt-PT"/>
          </a:p>
        </p:txBody>
      </p:sp>
      <p:sp>
        <p:nvSpPr>
          <p:cNvPr id="19" name="Shape 17"/>
          <p:cNvSpPr/>
          <p:nvPr/>
        </p:nvSpPr>
        <p:spPr>
          <a:xfrm>
            <a:off x="6876288" y="795147"/>
            <a:ext cx="1993392" cy="73152"/>
          </a:xfrm>
          <a:prstGeom prst="rect">
            <a:avLst/>
          </a:prstGeom>
          <a:solidFill>
            <a:srgbClr val="E97C35"/>
          </a:solidFill>
          <a:ln w="12700">
            <a:solidFill>
              <a:srgbClr val="E97C35"/>
            </a:solidFill>
            <a:prstDash val="solid"/>
          </a:ln>
        </p:spPr>
        <p:txBody>
          <a:bodyPr/>
          <a:lstStyle/>
          <a:p>
            <a:endParaRPr lang="pt-PT"/>
          </a:p>
        </p:txBody>
      </p:sp>
      <p:sp>
        <p:nvSpPr>
          <p:cNvPr id="20" name="Text 18"/>
          <p:cNvSpPr/>
          <p:nvPr/>
        </p:nvSpPr>
        <p:spPr>
          <a:xfrm>
            <a:off x="6876288" y="886587"/>
            <a:ext cx="1993392" cy="438912"/>
          </a:xfrm>
          <a:prstGeom prst="rect">
            <a:avLst/>
          </a:prstGeom>
          <a:noFill/>
          <a:ln/>
        </p:spPr>
        <p:txBody>
          <a:bodyPr wrap="square" lIns="0" tIns="0" rIns="0" bIns="0" rtlCol="0" anchor="ctr"/>
          <a:lstStyle/>
          <a:p>
            <a:pPr marL="0" indent="0" algn="ctr">
              <a:buNone/>
            </a:pPr>
            <a:r>
              <a:rPr lang="en-US" sz="2200" b="1" dirty="0">
                <a:solidFill>
                  <a:srgbClr val="E97C35"/>
                </a:solidFill>
                <a:latin typeface="Trebuchet MS" pitchFamily="34" charset="0"/>
                <a:ea typeface="Trebuchet MS" pitchFamily="34" charset="-122"/>
                <a:cs typeface="Trebuchet MS" pitchFamily="34" charset="-120"/>
              </a:rPr>
              <a:t>73%</a:t>
            </a:r>
            <a:endParaRPr lang="en-US" sz="2200" dirty="0"/>
          </a:p>
        </p:txBody>
      </p:sp>
      <p:sp>
        <p:nvSpPr>
          <p:cNvPr id="21" name="Text 19"/>
          <p:cNvSpPr/>
          <p:nvPr/>
        </p:nvSpPr>
        <p:spPr>
          <a:xfrm>
            <a:off x="6876288" y="1362075"/>
            <a:ext cx="1993392" cy="347472"/>
          </a:xfrm>
          <a:prstGeom prst="rect">
            <a:avLst/>
          </a:prstGeom>
          <a:noFill/>
          <a:ln/>
        </p:spPr>
        <p:txBody>
          <a:bodyPr wrap="square" lIns="0" tIns="0" rIns="0" bIns="0" rtlCol="0" anchor="ctr"/>
          <a:lstStyle/>
          <a:p>
            <a:pPr marL="0" indent="0" algn="ctr">
              <a:buNone/>
            </a:pPr>
            <a:r>
              <a:rPr lang="en-US" sz="1000" dirty="0">
                <a:solidFill>
                  <a:srgbClr val="3D5A73"/>
                </a:solidFill>
                <a:latin typeface="Calibri" pitchFamily="34" charset="0"/>
                <a:ea typeface="Calibri" pitchFamily="34" charset="-122"/>
                <a:cs typeface="Calibri" pitchFamily="34" charset="-120"/>
              </a:rPr>
              <a:t>of 1h budget used</a:t>
            </a:r>
            <a:endParaRPr lang="en-US" sz="1000" dirty="0"/>
          </a:p>
        </p:txBody>
      </p:sp>
      <p:graphicFrame>
        <p:nvGraphicFramePr>
          <p:cNvPr id="22" name="Table 0"/>
          <p:cNvGraphicFramePr>
            <a:graphicFrameLocks noGrp="1"/>
          </p:cNvGraphicFramePr>
          <p:nvPr>
            <p:extLst>
              <p:ext uri="{D42A27DB-BD31-4B8C-83A1-F6EECF244321}">
                <p14:modId xmlns:p14="http://schemas.microsoft.com/office/powerpoint/2010/main" val="4177813593"/>
              </p:ext>
            </p:extLst>
          </p:nvPr>
        </p:nvGraphicFramePr>
        <p:xfrm>
          <a:off x="347472" y="1910715"/>
          <a:ext cx="8449056" cy="2139696"/>
        </p:xfrm>
        <a:graphic>
          <a:graphicData uri="http://schemas.openxmlformats.org/drawingml/2006/table">
            <a:tbl>
              <a:tblPr/>
              <a:tblGrid>
                <a:gridCol w="201168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4242816">
                  <a:extLst>
                    <a:ext uri="{9D8B030D-6E8A-4147-A177-3AD203B41FA5}">
                      <a16:colId xmlns:a16="http://schemas.microsoft.com/office/drawing/2014/main" val="20002"/>
                    </a:ext>
                  </a:extLst>
                </a:gridCol>
              </a:tblGrid>
              <a:tr h="35661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Metric</a:t>
                      </a:r>
                      <a:endParaRPr lang="en-US" sz="1200" dirty="0">
                        <a:latin typeface="Calibri" charset="0"/>
                        <a:ea typeface="Calibri" charset="0"/>
                        <a:cs typeface="Calibri" charset="0"/>
                      </a:endParaRPr>
                    </a:p>
                  </a:txBody>
                  <a:tcP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0D1B2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Value</a:t>
                      </a:r>
                      <a:endParaRPr lang="en-US" sz="1200" dirty="0">
                        <a:latin typeface="Calibri" charset="0"/>
                        <a:ea typeface="Calibri" charset="0"/>
                        <a:cs typeface="Calibri" charset="0"/>
                      </a:endParaRPr>
                    </a:p>
                  </a:txBody>
                  <a:tcP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0D1B2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Note</a:t>
                      </a:r>
                      <a:endParaRPr lang="en-US" sz="1200" dirty="0">
                        <a:latin typeface="Calibri" charset="0"/>
                        <a:ea typeface="Calibri" charset="0"/>
                        <a:cs typeface="Calibri" charset="0"/>
                      </a:endParaRPr>
                    </a:p>
                  </a:txBody>
                  <a:tcP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0D1B2A"/>
                    </a:solidFill>
                  </a:tcPr>
                </a:tc>
                <a:extLst>
                  <a:ext uri="{0D108BD9-81ED-4DB2-BD59-A6C34878D82A}">
                    <a16:rowId xmlns:a16="http://schemas.microsoft.com/office/drawing/2014/main" val="10000"/>
                  </a:ext>
                </a:extLst>
              </a:tr>
              <a:tr h="356616">
                <a:tc>
                  <a:txBody>
                    <a:bodyPr/>
                    <a:lstStyle/>
                    <a:p>
                      <a:pPr marL="0" indent="0">
                        <a:buNone/>
                      </a:pPr>
                      <a:r>
                        <a:rPr lang="en-US" sz="1200" b="1" dirty="0">
                          <a:solidFill>
                            <a:srgbClr val="000000"/>
                          </a:solidFill>
                          <a:latin typeface="Calibri" pitchFamily="34" charset="0"/>
                          <a:ea typeface="Calibri" pitchFamily="34" charset="-122"/>
                          <a:cs typeface="Calibri" pitchFamily="34" charset="-120"/>
                        </a:rPr>
                        <a:t>Fastest experiment</a:t>
                      </a:r>
                      <a:endParaRPr lang="en-US" sz="1200" b="1" dirty="0">
                        <a:latin typeface="Calibri" charset="0"/>
                        <a:ea typeface="Calibri" charset="0"/>
                        <a:cs typeface="Calibri" charset="0"/>
                      </a:endParaRPr>
                    </a:p>
                  </a:txBody>
                  <a:tcP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K_v2_wd1e5  —  58.6 s</a:t>
                      </a:r>
                      <a:endParaRPr lang="en-US" sz="1200" dirty="0">
                        <a:latin typeface="Calibri" charset="0"/>
                        <a:ea typeface="Calibri" charset="0"/>
                        <a:cs typeface="Calibri" charset="0"/>
                      </a:endParaRPr>
                    </a:p>
                  </a:txBody>
                  <a:tcP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Stopped at epoch 13 (light reg → fast plateau)</a:t>
                      </a:r>
                      <a:endParaRPr lang="en-US" sz="1200" dirty="0">
                        <a:latin typeface="Calibri" charset="0"/>
                        <a:ea typeface="Calibri" charset="0"/>
                        <a:cs typeface="Calibri" charset="0"/>
                      </a:endParaRPr>
                    </a:p>
                  </a:txBody>
                  <a:tcP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56616">
                <a:tc>
                  <a:txBody>
                    <a:bodyPr/>
                    <a:lstStyle/>
                    <a:p>
                      <a:pPr marL="0" indent="0">
                        <a:buNone/>
                      </a:pPr>
                      <a:r>
                        <a:rPr lang="en-US" sz="1200" b="1" dirty="0">
                          <a:solidFill>
                            <a:srgbClr val="000000"/>
                          </a:solidFill>
                          <a:latin typeface="Calibri" pitchFamily="34" charset="0"/>
                          <a:ea typeface="Calibri" pitchFamily="34" charset="-122"/>
                          <a:cs typeface="Calibri" pitchFamily="34" charset="-120"/>
                        </a:rPr>
                        <a:t>Slowest experiment</a:t>
                      </a:r>
                      <a:endParaRPr lang="en-US" sz="1200" b="1" dirty="0">
                        <a:latin typeface="Calibri" charset="0"/>
                        <a:ea typeface="Calibri" charset="0"/>
                        <a:cs typeface="Calibri" charset="0"/>
                      </a:endParaRPr>
                    </a:p>
                  </a:txBody>
                  <a:tcP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Q_wider_sampler  —  172 s</a:t>
                      </a:r>
                      <a:endParaRPr lang="en-US" sz="1200" dirty="0">
                        <a:latin typeface="Calibri" charset="0"/>
                        <a:ea typeface="Calibri" charset="0"/>
                        <a:cs typeface="Calibri" charset="0"/>
                      </a:endParaRPr>
                    </a:p>
                  </a:txBody>
                  <a:tcP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37 epochs; wider model + sampler slows convergence</a:t>
                      </a:r>
                      <a:endParaRPr lang="en-US" sz="1200" dirty="0">
                        <a:latin typeface="Calibri" charset="0"/>
                        <a:ea typeface="Calibri" charset="0"/>
                        <a:cs typeface="Calibri" charset="0"/>
                      </a:endParaRPr>
                    </a:p>
                  </a:txBody>
                  <a:tcP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56616">
                <a:tc>
                  <a:txBody>
                    <a:bodyPr/>
                    <a:lstStyle/>
                    <a:p>
                      <a:pPr marL="0" indent="0">
                        <a:buNone/>
                      </a:pPr>
                      <a:r>
                        <a:rPr lang="en-US" sz="1200" b="1" dirty="0">
                          <a:solidFill>
                            <a:srgbClr val="000000"/>
                          </a:solidFill>
                          <a:latin typeface="Calibri" pitchFamily="34" charset="0"/>
                          <a:ea typeface="Calibri" pitchFamily="34" charset="-122"/>
                          <a:cs typeface="Calibri" pitchFamily="34" charset="-120"/>
                        </a:rPr>
                        <a:t>Avg per experiment</a:t>
                      </a:r>
                      <a:endParaRPr lang="en-US" sz="1200" b="1" dirty="0">
                        <a:latin typeface="Calibri" charset="0"/>
                        <a:ea typeface="Calibri" charset="0"/>
                        <a:cs typeface="Calibri" charset="0"/>
                      </a:endParaRPr>
                    </a:p>
                  </a:txBody>
                  <a:tcP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tc>
                  <a:txBody>
                    <a:bodyPr/>
                    <a:lstStyle/>
                    <a:p>
                      <a:pPr marL="0" indent="0" algn="l">
                        <a:buNone/>
                      </a:pPr>
                      <a:r>
                        <a:rPr lang="en-US" sz="1200" dirty="0">
                          <a:solidFill>
                            <a:srgbClr val="000000"/>
                          </a:solidFill>
                          <a:latin typeface="Calibri" pitchFamily="34" charset="0"/>
                          <a:ea typeface="Calibri" pitchFamily="34" charset="-122"/>
                          <a:cs typeface="Calibri" pitchFamily="34" charset="-120"/>
                        </a:rPr>
                        <a:t>~108 s</a:t>
                      </a:r>
                      <a:endParaRPr lang="en-US" sz="1200" dirty="0">
                        <a:latin typeface="Calibri" charset="0"/>
                        <a:ea typeface="Calibri" charset="0"/>
                        <a:cs typeface="Calibri" charset="0"/>
                      </a:endParaRPr>
                    </a:p>
                  </a:txBody>
                  <a:tcP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Across 19 solo runs</a:t>
                      </a:r>
                      <a:endParaRPr lang="en-US" sz="1200" dirty="0">
                        <a:latin typeface="Calibri" charset="0"/>
                        <a:ea typeface="Calibri" charset="0"/>
                        <a:cs typeface="Calibri" charset="0"/>
                      </a:endParaRPr>
                    </a:p>
                  </a:txBody>
                  <a:tcP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56616">
                <a:tc>
                  <a:txBody>
                    <a:bodyPr/>
                    <a:lstStyle/>
                    <a:p>
                      <a:pPr marL="0" indent="0">
                        <a:buNone/>
                      </a:pPr>
                      <a:r>
                        <a:rPr lang="en-US" sz="1200" b="1" dirty="0">
                          <a:solidFill>
                            <a:srgbClr val="000000"/>
                          </a:solidFill>
                          <a:latin typeface="Calibri" pitchFamily="34" charset="0"/>
                          <a:ea typeface="Calibri" pitchFamily="34" charset="-122"/>
                          <a:cs typeface="Calibri" pitchFamily="34" charset="-120"/>
                        </a:rPr>
                        <a:t>Best solo (R)</a:t>
                      </a:r>
                      <a:endParaRPr lang="en-US" sz="1200" b="1" dirty="0">
                        <a:latin typeface="Calibri" charset="0"/>
                        <a:ea typeface="Calibri" charset="0"/>
                        <a:cs typeface="Calibri" charset="0"/>
                      </a:endParaRPr>
                    </a:p>
                  </a:txBody>
                  <a:tcP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144 s  —  32 epochs</a:t>
                      </a:r>
                      <a:endParaRPr lang="en-US" sz="1200" dirty="0">
                        <a:latin typeface="Calibri" charset="0"/>
                        <a:ea typeface="Calibri" charset="0"/>
                        <a:cs typeface="Calibri" charset="0"/>
                      </a:endParaRPr>
                    </a:p>
                  </a:txBody>
                  <a:tcP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EarlyStopping saved best at epoch 21</a:t>
                      </a:r>
                      <a:endParaRPr lang="en-US" sz="1200" dirty="0">
                        <a:latin typeface="Calibri" charset="0"/>
                        <a:ea typeface="Calibri" charset="0"/>
                        <a:cs typeface="Calibri" charset="0"/>
                      </a:endParaRPr>
                    </a:p>
                  </a:txBody>
                  <a:tcP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56616">
                <a:tc>
                  <a:txBody>
                    <a:bodyPr/>
                    <a:lstStyle/>
                    <a:p>
                      <a:pPr marL="0" indent="0">
                        <a:buNone/>
                      </a:pPr>
                      <a:r>
                        <a:rPr lang="en-US" sz="1200" b="1" dirty="0">
                          <a:solidFill>
                            <a:srgbClr val="000000"/>
                          </a:solidFill>
                          <a:latin typeface="Calibri" pitchFamily="34" charset="0"/>
                          <a:ea typeface="Calibri" pitchFamily="34" charset="-122"/>
                          <a:cs typeface="Calibri" pitchFamily="34" charset="-120"/>
                        </a:rPr>
                        <a:t>FAST_RUN flag</a:t>
                      </a:r>
                      <a:endParaRPr lang="en-US" sz="1200" b="1" dirty="0">
                        <a:latin typeface="Calibri" charset="0"/>
                        <a:ea typeface="Calibri" charset="0"/>
                        <a:cs typeface="Calibri" charset="0"/>
                      </a:endParaRPr>
                    </a:p>
                  </a:txBody>
                  <a:tcP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FAST_RUN=True</a:t>
                      </a:r>
                      <a:endParaRPr lang="en-US" sz="1200" dirty="0">
                        <a:latin typeface="Calibri" charset="0"/>
                        <a:ea typeface="Calibri" charset="0"/>
                        <a:cs typeface="Calibri" charset="0"/>
                      </a:endParaRPr>
                    </a:p>
                  </a:txBody>
                  <a:tcP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Smoke-test mode: 5 epochs, 100 samples — used for debugging</a:t>
                      </a:r>
                      <a:endParaRPr lang="en-US" sz="1200" dirty="0">
                        <a:latin typeface="Calibri" charset="0"/>
                        <a:ea typeface="Calibri" charset="0"/>
                        <a:cs typeface="Calibri" charset="0"/>
                      </a:endParaRPr>
                    </a:p>
                  </a:txBody>
                  <a:tcP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23" name="Shape 20"/>
          <p:cNvSpPr/>
          <p:nvPr/>
        </p:nvSpPr>
        <p:spPr>
          <a:xfrm>
            <a:off x="347472" y="4146423"/>
            <a:ext cx="8449056" cy="896112"/>
          </a:xfrm>
          <a:prstGeom prst="rect">
            <a:avLst/>
          </a:prstGeom>
          <a:solidFill>
            <a:srgbClr val="FFF8E1"/>
          </a:solidFill>
          <a:ln w="8890">
            <a:solidFill>
              <a:srgbClr val="FFD54F"/>
            </a:solidFill>
            <a:prstDash val="solid"/>
          </a:ln>
        </p:spPr>
        <p:txBody>
          <a:bodyPr/>
          <a:lstStyle/>
          <a:p>
            <a:endParaRPr lang="pt-PT"/>
          </a:p>
        </p:txBody>
      </p:sp>
      <p:sp>
        <p:nvSpPr>
          <p:cNvPr id="24" name="Shape 21"/>
          <p:cNvSpPr/>
          <p:nvPr/>
        </p:nvSpPr>
        <p:spPr>
          <a:xfrm>
            <a:off x="347472" y="4146423"/>
            <a:ext cx="73152" cy="896112"/>
          </a:xfrm>
          <a:prstGeom prst="rect">
            <a:avLst/>
          </a:prstGeom>
          <a:solidFill>
            <a:srgbClr val="E97C35"/>
          </a:solidFill>
          <a:ln w="12700">
            <a:solidFill>
              <a:srgbClr val="E97C35"/>
            </a:solidFill>
            <a:prstDash val="solid"/>
          </a:ln>
        </p:spPr>
        <p:txBody>
          <a:bodyPr/>
          <a:lstStyle/>
          <a:p>
            <a:endParaRPr lang="pt-PT"/>
          </a:p>
        </p:txBody>
      </p:sp>
      <p:sp>
        <p:nvSpPr>
          <p:cNvPr id="25" name="Text 22"/>
          <p:cNvSpPr/>
          <p:nvPr/>
        </p:nvSpPr>
        <p:spPr>
          <a:xfrm>
            <a:off x="493776" y="4192143"/>
            <a:ext cx="8138160" cy="274320"/>
          </a:xfrm>
          <a:prstGeom prst="rect">
            <a:avLst/>
          </a:prstGeom>
          <a:noFill/>
          <a:ln/>
        </p:spPr>
        <p:txBody>
          <a:bodyPr wrap="square" lIns="0" tIns="0" rIns="0" bIns="0" rtlCol="0" anchor="ctr"/>
          <a:lstStyle/>
          <a:p>
            <a:pPr marL="0" indent="0">
              <a:buNone/>
            </a:pPr>
            <a:r>
              <a:rPr lang="en-US" sz="1200" b="1" dirty="0">
                <a:solidFill>
                  <a:srgbClr val="0D1B2A"/>
                </a:solidFill>
                <a:latin typeface="Trebuchet MS" pitchFamily="34" charset="0"/>
                <a:ea typeface="Trebuchet MS" pitchFamily="34" charset="-122"/>
                <a:cs typeface="Trebuchet MS" pitchFamily="34" charset="-120"/>
              </a:rPr>
              <a:t>Why 80/20 split instead of K-Fold CV?</a:t>
            </a:r>
            <a:endParaRPr lang="en-US" sz="1200" dirty="0"/>
          </a:p>
        </p:txBody>
      </p:sp>
      <p:sp>
        <p:nvSpPr>
          <p:cNvPr id="26" name="Text 23"/>
          <p:cNvSpPr/>
          <p:nvPr/>
        </p:nvSpPr>
        <p:spPr>
          <a:xfrm>
            <a:off x="493776" y="4493895"/>
            <a:ext cx="8138160" cy="512064"/>
          </a:xfrm>
          <a:prstGeom prst="rect">
            <a:avLst/>
          </a:prstGeom>
          <a:noFill/>
          <a:ln/>
        </p:spPr>
        <p:txBody>
          <a:bodyPr wrap="square" lIns="0" tIns="0" rIns="0" bIns="0" rtlCol="0" anchor="ctr"/>
          <a:lstStyle/>
          <a:p>
            <a:pPr marL="0" indent="0">
              <a:buNone/>
            </a:pPr>
            <a:r>
              <a:rPr lang="en-US" sz="1200" dirty="0">
                <a:solidFill>
                  <a:srgbClr val="1A2B3C"/>
                </a:solidFill>
                <a:latin typeface="Calibri" pitchFamily="34" charset="0"/>
                <a:ea typeface="Calibri" pitchFamily="34" charset="-122"/>
                <a:cs typeface="Calibri" pitchFamily="34" charset="-120"/>
              </a:rPr>
              <a:t>5-fold CV × 19 experiments ≈ 95 training runs ≈ 144 min — exceeds the 1h Colab budget. Stratified 80/20 with fixed seed is the correct trade-off: relative experiment ranking is valid even if absolute F1 has ±0.02 noise from a single split.</a:t>
            </a:r>
            <a:endParaRPr lang="en-US" sz="1200" dirty="0"/>
          </a:p>
        </p:txBody>
      </p:sp>
      <p:sp>
        <p:nvSpPr>
          <p:cNvPr id="27" name="Shape 2">
            <a:extLst>
              <a:ext uri="{FF2B5EF4-FFF2-40B4-BE49-F238E27FC236}">
                <a16:creationId xmlns:a16="http://schemas.microsoft.com/office/drawing/2014/main" id="{E5890930-6B10-522D-CD98-AB58F7196552}"/>
              </a:ext>
            </a:extLst>
          </p:cNvPr>
          <p:cNvSpPr/>
          <p:nvPr/>
        </p:nvSpPr>
        <p:spPr>
          <a:xfrm>
            <a:off x="7498079" y="82296"/>
            <a:ext cx="1557633" cy="329184"/>
          </a:xfrm>
          <a:prstGeom prst="rect">
            <a:avLst/>
          </a:prstGeom>
          <a:solidFill>
            <a:srgbClr val="1C3A52"/>
          </a:solidFill>
          <a:ln w="12700">
            <a:solidFill>
              <a:srgbClr val="1C3A52"/>
            </a:solidFill>
            <a:prstDash val="solid"/>
          </a:ln>
        </p:spPr>
        <p:txBody>
          <a:bodyPr/>
          <a:lstStyle/>
          <a:p>
            <a:pPr algn="ctr"/>
            <a:r>
              <a:rPr lang="en-US" b="1" dirty="0">
                <a:solidFill>
                  <a:schemeClr val="bg1"/>
                </a:solidFill>
              </a:rPr>
              <a:t>Train Eff</a:t>
            </a:r>
            <a:endParaRPr lang="pt-PT" b="1" dirty="0">
              <a:solidFill>
                <a:schemeClr val="bg1"/>
              </a:solidFill>
            </a:endParaRPr>
          </a:p>
        </p:txBody>
      </p:sp>
      <p:sp>
        <p:nvSpPr>
          <p:cNvPr id="28" name="Rectangle: Rounded Corners 27">
            <a:extLst>
              <a:ext uri="{FF2B5EF4-FFF2-40B4-BE49-F238E27FC236}">
                <a16:creationId xmlns:a16="http://schemas.microsoft.com/office/drawing/2014/main" id="{F248EDA6-5E05-F981-E404-17752529D9B8}"/>
              </a:ext>
            </a:extLst>
          </p:cNvPr>
          <p:cNvSpPr/>
          <p:nvPr/>
        </p:nvSpPr>
        <p:spPr>
          <a:xfrm>
            <a:off x="7088176" y="4253"/>
            <a:ext cx="470123" cy="470912"/>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2800" b="1" dirty="0"/>
              <a:t>3</a:t>
            </a:r>
            <a:endParaRPr lang="pt-PT" sz="1600" b="1"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0A896"/>
          </a:solidFill>
          <a:ln w="12700">
            <a:solidFill>
              <a:srgbClr val="00A896"/>
            </a:solidFill>
            <a:prstDash val="solid"/>
          </a:ln>
        </p:spPr>
        <p:txBody>
          <a:bodyPr/>
          <a:lstStyle/>
          <a:p>
            <a:endParaRPr lang="pt-PT"/>
          </a:p>
        </p:txBody>
      </p:sp>
      <p:sp>
        <p:nvSpPr>
          <p:cNvPr id="3" name="Text 1"/>
          <p:cNvSpPr/>
          <p:nvPr/>
        </p:nvSpPr>
        <p:spPr>
          <a:xfrm>
            <a:off x="457200" y="109728"/>
            <a:ext cx="7772400" cy="530352"/>
          </a:xfrm>
          <a:prstGeom prst="rect">
            <a:avLst/>
          </a:prstGeom>
          <a:noFill/>
          <a:ln/>
        </p:spPr>
        <p:txBody>
          <a:bodyPr wrap="square" lIns="0" tIns="0" rIns="0" bIns="0" rtlCol="0" anchor="ctr"/>
          <a:lstStyle/>
          <a:p>
            <a:pPr marL="0" indent="0">
              <a:buNone/>
            </a:pPr>
            <a:r>
              <a:rPr lang="en-US" sz="2200" b="1" dirty="0">
                <a:solidFill>
                  <a:srgbClr val="0D1B2A"/>
                </a:solidFill>
                <a:latin typeface="Trebuchet MS" pitchFamily="34" charset="0"/>
                <a:ea typeface="Trebuchet MS" pitchFamily="34" charset="-122"/>
                <a:cs typeface="Trebuchet MS" pitchFamily="34" charset="-120"/>
              </a:rPr>
              <a:t>Early Stopping — Results Across All Experiments</a:t>
            </a:r>
            <a:endParaRPr lang="en-US" sz="2200" dirty="0"/>
          </a:p>
        </p:txBody>
      </p:sp>
      <p:sp>
        <p:nvSpPr>
          <p:cNvPr id="4" name="Shape 2"/>
          <p:cNvSpPr/>
          <p:nvPr/>
        </p:nvSpPr>
        <p:spPr>
          <a:xfrm>
            <a:off x="7635240" y="109728"/>
            <a:ext cx="1371600" cy="301752"/>
          </a:xfrm>
          <a:prstGeom prst="rect">
            <a:avLst/>
          </a:prstGeom>
          <a:solidFill>
            <a:srgbClr val="1C3A52"/>
          </a:solidFill>
          <a:ln w="12700">
            <a:solidFill>
              <a:srgbClr val="1C3A52"/>
            </a:solidFill>
            <a:prstDash val="solid"/>
          </a:ln>
        </p:spPr>
        <p:txBody>
          <a:bodyPr/>
          <a:lstStyle/>
          <a:p>
            <a:endParaRPr lang="pt-PT"/>
          </a:p>
        </p:txBody>
      </p:sp>
      <p:sp>
        <p:nvSpPr>
          <p:cNvPr id="5" name="Text 3"/>
          <p:cNvSpPr/>
          <p:nvPr/>
        </p:nvSpPr>
        <p:spPr>
          <a:xfrm>
            <a:off x="7635240" y="109728"/>
            <a:ext cx="1371600" cy="301752"/>
          </a:xfrm>
          <a:prstGeom prst="rect">
            <a:avLst/>
          </a:prstGeom>
          <a:noFill/>
          <a:ln/>
        </p:spPr>
        <p:txBody>
          <a:bodyPr wrap="square" lIns="0" tIns="0" rIns="0" bIns="0" rtlCol="0" anchor="ctr"/>
          <a:lstStyle/>
          <a:p>
            <a:pPr marL="0" indent="0" algn="ctr">
              <a:buNone/>
            </a:pPr>
            <a:r>
              <a:rPr lang="en-US" sz="1000" b="1" dirty="0">
                <a:solidFill>
                  <a:srgbClr val="FFFFFF"/>
                </a:solidFill>
              </a:rPr>
              <a:t>Train Eff</a:t>
            </a:r>
            <a:endParaRPr lang="en-US" sz="1000" dirty="0"/>
          </a:p>
        </p:txBody>
      </p:sp>
      <p:graphicFrame>
        <p:nvGraphicFramePr>
          <p:cNvPr id="11" name="Table 0"/>
          <p:cNvGraphicFramePr>
            <a:graphicFrameLocks noGrp="1"/>
          </p:cNvGraphicFramePr>
          <p:nvPr>
            <p:extLst>
              <p:ext uri="{D42A27DB-BD31-4B8C-83A1-F6EECF244321}">
                <p14:modId xmlns:p14="http://schemas.microsoft.com/office/powerpoint/2010/main" val="426465843"/>
              </p:ext>
            </p:extLst>
          </p:nvPr>
        </p:nvGraphicFramePr>
        <p:xfrm>
          <a:off x="347472" y="644652"/>
          <a:ext cx="8449056" cy="4123944"/>
        </p:xfrm>
        <a:graphic>
          <a:graphicData uri="http://schemas.openxmlformats.org/drawingml/2006/table">
            <a:tbl>
              <a:tblPr/>
              <a:tblGrid>
                <a:gridCol w="1920240">
                  <a:extLst>
                    <a:ext uri="{9D8B030D-6E8A-4147-A177-3AD203B41FA5}">
                      <a16:colId xmlns:a16="http://schemas.microsoft.com/office/drawing/2014/main" val="20000"/>
                    </a:ext>
                  </a:extLst>
                </a:gridCol>
                <a:gridCol w="731520">
                  <a:extLst>
                    <a:ext uri="{9D8B030D-6E8A-4147-A177-3AD203B41FA5}">
                      <a16:colId xmlns:a16="http://schemas.microsoft.com/office/drawing/2014/main" val="20001"/>
                    </a:ext>
                  </a:extLst>
                </a:gridCol>
                <a:gridCol w="822960">
                  <a:extLst>
                    <a:ext uri="{9D8B030D-6E8A-4147-A177-3AD203B41FA5}">
                      <a16:colId xmlns:a16="http://schemas.microsoft.com/office/drawing/2014/main" val="20002"/>
                    </a:ext>
                  </a:extLst>
                </a:gridCol>
                <a:gridCol w="4974336">
                  <a:extLst>
                    <a:ext uri="{9D8B030D-6E8A-4147-A177-3AD203B41FA5}">
                      <a16:colId xmlns:a16="http://schemas.microsoft.com/office/drawing/2014/main" val="20003"/>
                    </a:ext>
                  </a:extLst>
                </a:gridCol>
              </a:tblGrid>
              <a:tr h="374904">
                <a:tc>
                  <a:txBody>
                    <a:bodyPr/>
                    <a:lstStyle/>
                    <a:p>
                      <a:pPr marL="0" indent="0">
                        <a:buNone/>
                      </a:pPr>
                      <a:r>
                        <a:rPr lang="en-US" sz="1200" b="1" dirty="0">
                          <a:solidFill>
                            <a:srgbClr val="FFFFFF"/>
                          </a:solidFill>
                        </a:rPr>
                        <a:t>Experiment</a:t>
                      </a:r>
                      <a:endParaRPr lang="en-US" sz="1200" dirty="0"/>
                    </a:p>
                  </a:txBody>
                  <a:tcP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0D1B2A"/>
                    </a:solidFill>
                  </a:tcPr>
                </a:tc>
                <a:tc>
                  <a:txBody>
                    <a:bodyPr/>
                    <a:lstStyle/>
                    <a:p>
                      <a:pPr marL="0" indent="0" algn="ctr">
                        <a:buNone/>
                      </a:pPr>
                      <a:r>
                        <a:rPr lang="en-US" sz="1200" b="1" dirty="0">
                          <a:solidFill>
                            <a:srgbClr val="FFFFFF"/>
                          </a:solidFill>
                        </a:rPr>
                        <a:t>Epochs</a:t>
                      </a:r>
                      <a:endParaRPr lang="en-US" sz="1200" dirty="0"/>
                    </a:p>
                  </a:txBody>
                  <a:tcP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0D1B2A"/>
                    </a:solidFill>
                  </a:tcPr>
                </a:tc>
                <a:tc>
                  <a:txBody>
                    <a:bodyPr/>
                    <a:lstStyle/>
                    <a:p>
                      <a:pPr marL="0" indent="0" algn="ctr">
                        <a:buNone/>
                      </a:pPr>
                      <a:r>
                        <a:rPr lang="en-US" sz="1200" b="1" dirty="0">
                          <a:solidFill>
                            <a:srgbClr val="FFFFFF"/>
                          </a:solidFill>
                        </a:rPr>
                        <a:t>Stopped?</a:t>
                      </a:r>
                      <a:endParaRPr lang="en-US" sz="1200" dirty="0"/>
                    </a:p>
                  </a:txBody>
                  <a:tcP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0D1B2A"/>
                    </a:solidFill>
                  </a:tcPr>
                </a:tc>
                <a:tc>
                  <a:txBody>
                    <a:bodyPr/>
                    <a:lstStyle/>
                    <a:p>
                      <a:pPr marL="0" indent="0">
                        <a:buNone/>
                      </a:pPr>
                      <a:r>
                        <a:rPr lang="en-US" sz="1200" b="1" dirty="0">
                          <a:solidFill>
                            <a:srgbClr val="FFFFFF"/>
                          </a:solidFill>
                        </a:rPr>
                        <a:t>Takeaway</a:t>
                      </a:r>
                      <a:endParaRPr lang="en-US" sz="1200" dirty="0"/>
                    </a:p>
                  </a:txBody>
                  <a:tcP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0D1B2A"/>
                    </a:solidFill>
                  </a:tcPr>
                </a:tc>
                <a:extLst>
                  <a:ext uri="{0D108BD9-81ED-4DB2-BD59-A6C34878D82A}">
                    <a16:rowId xmlns:a16="http://schemas.microsoft.com/office/drawing/2014/main" val="10000"/>
                  </a:ext>
                </a:extLst>
              </a:tr>
              <a:tr h="374904">
                <a:tc>
                  <a:txBody>
                    <a:bodyPr/>
                    <a:lstStyle/>
                    <a:p>
                      <a:pPr marL="0" indent="0">
                        <a:buNone/>
                      </a:pPr>
                      <a:r>
                        <a:rPr lang="en-US" sz="1400" dirty="0">
                          <a:solidFill>
                            <a:srgbClr val="000000"/>
                          </a:solidFill>
                        </a:rPr>
                        <a:t>A_vanilla</a:t>
                      </a:r>
                      <a:endParaRPr lang="en-US" sz="1400" dirty="0"/>
                    </a:p>
                  </a:txBody>
                  <a:tcP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000000"/>
                          </a:solidFill>
                        </a:rPr>
                        <a:t>21/30</a:t>
                      </a:r>
                      <a:endParaRPr lang="en-US" sz="1050" dirty="0"/>
                    </a:p>
                  </a:txBody>
                  <a:tcP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tc>
                  <a:txBody>
                    <a:bodyPr/>
                    <a:lstStyle/>
                    <a:p>
                      <a:pPr marL="0" indent="0" algn="ctr">
                        <a:buNone/>
                      </a:pPr>
                      <a:r>
                        <a:rPr lang="en-US" sz="1050" b="1" dirty="0">
                          <a:solidFill>
                            <a:srgbClr val="27AE60"/>
                          </a:solidFill>
                        </a:rPr>
                        <a:t>✓ Yes</a:t>
                      </a:r>
                      <a:endParaRPr lang="en-US" sz="1050" dirty="0"/>
                    </a:p>
                  </a:txBody>
                  <a:tcP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tc>
                  <a:txBody>
                    <a:bodyPr/>
                    <a:lstStyle/>
                    <a:p>
                      <a:pPr marL="0" indent="0">
                        <a:buNone/>
                      </a:pPr>
                      <a:r>
                        <a:rPr lang="en-US" sz="1400" dirty="0">
                          <a:solidFill>
                            <a:srgbClr val="000000"/>
                          </a:solidFill>
                        </a:rPr>
                        <a:t>Simple model finds plateau quickly</a:t>
                      </a:r>
                      <a:endParaRPr lang="en-US" sz="1400" dirty="0"/>
                    </a:p>
                  </a:txBody>
                  <a:tcP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74904">
                <a:tc>
                  <a:txBody>
                    <a:bodyPr/>
                    <a:lstStyle/>
                    <a:p>
                      <a:pPr marL="0" indent="0">
                        <a:buNone/>
                      </a:pPr>
                      <a:r>
                        <a:rPr lang="en-US" sz="1400" dirty="0">
                          <a:solidFill>
                            <a:srgbClr val="000000"/>
                          </a:solidFill>
                        </a:rPr>
                        <a:t>B_mlp_base</a:t>
                      </a:r>
                      <a:endParaRPr lang="en-US" sz="1400" dirty="0"/>
                    </a:p>
                  </a:txBody>
                  <a:tcP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000000"/>
                          </a:solidFill>
                        </a:rPr>
                        <a:t>28/30</a:t>
                      </a:r>
                      <a:endParaRPr lang="en-US" sz="1050" dirty="0"/>
                    </a:p>
                  </a:txBody>
                  <a:tcP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tc>
                  <a:txBody>
                    <a:bodyPr/>
                    <a:lstStyle/>
                    <a:p>
                      <a:pPr marL="0" indent="0" algn="ctr">
                        <a:buNone/>
                      </a:pPr>
                      <a:r>
                        <a:rPr lang="en-US" sz="1050" b="1" dirty="0">
                          <a:solidFill>
                            <a:srgbClr val="27AE60"/>
                          </a:solidFill>
                        </a:rPr>
                        <a:t>✓ Late</a:t>
                      </a:r>
                      <a:endParaRPr lang="en-US" sz="1050" dirty="0"/>
                    </a:p>
                  </a:txBody>
                  <a:tcP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tc>
                  <a:txBody>
                    <a:bodyPr/>
                    <a:lstStyle/>
                    <a:p>
                      <a:pPr marL="0" indent="0">
                        <a:buNone/>
                      </a:pPr>
                      <a:r>
                        <a:rPr lang="en-US" sz="1400" dirty="0">
                          <a:solidFill>
                            <a:srgbClr val="000000"/>
                          </a:solidFill>
                        </a:rPr>
                        <a:t>Heavy dropout delays convergence</a:t>
                      </a:r>
                      <a:endParaRPr lang="en-US" sz="1400" dirty="0"/>
                    </a:p>
                  </a:txBody>
                  <a:tcP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74904">
                <a:tc>
                  <a:txBody>
                    <a:bodyPr/>
                    <a:lstStyle/>
                    <a:p>
                      <a:pPr marL="0" indent="0">
                        <a:buNone/>
                      </a:pPr>
                      <a:r>
                        <a:rPr lang="en-US" sz="1400" dirty="0">
                          <a:solidFill>
                            <a:srgbClr val="000000"/>
                          </a:solidFill>
                        </a:rPr>
                        <a:t>C_ls01_drop03</a:t>
                      </a:r>
                      <a:endParaRPr lang="en-US" sz="1400" dirty="0"/>
                    </a:p>
                  </a:txBody>
                  <a:tcP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000000"/>
                          </a:solidFill>
                        </a:rPr>
                        <a:t>28/30</a:t>
                      </a:r>
                      <a:endParaRPr lang="en-US" sz="1050" dirty="0"/>
                    </a:p>
                  </a:txBody>
                  <a:tcP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tc>
                  <a:txBody>
                    <a:bodyPr/>
                    <a:lstStyle/>
                    <a:p>
                      <a:pPr marL="0" indent="0" algn="ctr">
                        <a:buNone/>
                      </a:pPr>
                      <a:r>
                        <a:rPr lang="en-US" sz="1050" b="1" dirty="0">
                          <a:solidFill>
                            <a:srgbClr val="27AE60"/>
                          </a:solidFill>
                        </a:rPr>
                        <a:t>✓ Yes</a:t>
                      </a:r>
                      <a:endParaRPr lang="en-US" sz="1050" dirty="0"/>
                    </a:p>
                  </a:txBody>
                  <a:tcP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tc>
                  <a:txBody>
                    <a:bodyPr/>
                    <a:lstStyle/>
                    <a:p>
                      <a:pPr marL="0" indent="0">
                        <a:buNone/>
                      </a:pPr>
                      <a:r>
                        <a:rPr lang="en-US" sz="1400" dirty="0">
                          <a:solidFill>
                            <a:srgbClr val="000000"/>
                          </a:solidFill>
                        </a:rPr>
                        <a:t>LS adds noise → peak at ep21, patience exhausted ep28</a:t>
                      </a:r>
                      <a:endParaRPr lang="en-US" sz="1400" dirty="0"/>
                    </a:p>
                  </a:txBody>
                  <a:tcP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74904">
                <a:tc>
                  <a:txBody>
                    <a:bodyPr/>
                    <a:lstStyle/>
                    <a:p>
                      <a:pPr marL="0" indent="0">
                        <a:buNone/>
                      </a:pPr>
                      <a:r>
                        <a:rPr lang="en-US" sz="1400" dirty="0">
                          <a:solidFill>
                            <a:srgbClr val="000000"/>
                          </a:solidFill>
                        </a:rPr>
                        <a:t>D_wd1e4</a:t>
                      </a:r>
                      <a:endParaRPr lang="en-US" sz="1400" dirty="0"/>
                    </a:p>
                  </a:txBody>
                  <a:tcP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000000"/>
                          </a:solidFill>
                        </a:rPr>
                        <a:t>30/30</a:t>
                      </a:r>
                      <a:endParaRPr lang="en-US" sz="1050" dirty="0"/>
                    </a:p>
                  </a:txBody>
                  <a:tcP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tc>
                  <a:txBody>
                    <a:bodyPr/>
                    <a:lstStyle/>
                    <a:p>
                      <a:pPr marL="0" indent="0" algn="ctr">
                        <a:buNone/>
                      </a:pPr>
                      <a:r>
                        <a:rPr lang="en-US" sz="1050" b="1" dirty="0">
                          <a:solidFill>
                            <a:srgbClr val="E74C3C"/>
                          </a:solidFill>
                        </a:rPr>
                        <a:t>✗ No</a:t>
                      </a:r>
                      <a:endParaRPr lang="en-US" sz="1050" dirty="0"/>
                    </a:p>
                  </a:txBody>
                  <a:tcP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tc>
                  <a:txBody>
                    <a:bodyPr/>
                    <a:lstStyle/>
                    <a:p>
                      <a:pPr marL="0" indent="0">
                        <a:buNone/>
                      </a:pPr>
                      <a:r>
                        <a:rPr lang="en-US" sz="1400" dirty="0">
                          <a:solidFill>
                            <a:srgbClr val="000000"/>
                          </a:solidFill>
                        </a:rPr>
                        <a:t>L2 + LS + Dropout = too many constraints, never converges</a:t>
                      </a:r>
                      <a:endParaRPr lang="en-US" sz="1400" dirty="0"/>
                    </a:p>
                  </a:txBody>
                  <a:tcP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74904">
                <a:tc>
                  <a:txBody>
                    <a:bodyPr/>
                    <a:lstStyle/>
                    <a:p>
                      <a:pPr marL="0" indent="0">
                        <a:buNone/>
                      </a:pPr>
                      <a:r>
                        <a:rPr lang="en-US" sz="1400" dirty="0">
                          <a:solidFill>
                            <a:srgbClr val="000000"/>
                          </a:solidFill>
                        </a:rPr>
                        <a:t>E_sampler</a:t>
                      </a:r>
                      <a:endParaRPr lang="en-US" sz="1400" dirty="0"/>
                    </a:p>
                  </a:txBody>
                  <a:tcP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000000"/>
                          </a:solidFill>
                        </a:rPr>
                        <a:t>23/30</a:t>
                      </a:r>
                      <a:endParaRPr lang="en-US" sz="1050" dirty="0"/>
                    </a:p>
                  </a:txBody>
                  <a:tcP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tc>
                  <a:txBody>
                    <a:bodyPr/>
                    <a:lstStyle/>
                    <a:p>
                      <a:pPr marL="0" indent="0" algn="ctr">
                        <a:buNone/>
                      </a:pPr>
                      <a:r>
                        <a:rPr lang="en-US" sz="1050" b="1" dirty="0">
                          <a:solidFill>
                            <a:srgbClr val="27AE60"/>
                          </a:solidFill>
                        </a:rPr>
                        <a:t>✓ Yes</a:t>
                      </a:r>
                      <a:endParaRPr lang="en-US" sz="1050" dirty="0"/>
                    </a:p>
                  </a:txBody>
                  <a:tcP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tc>
                  <a:txBody>
                    <a:bodyPr/>
                    <a:lstStyle/>
                    <a:p>
                      <a:pPr marL="0" indent="0">
                        <a:buNone/>
                      </a:pPr>
                      <a:r>
                        <a:rPr lang="en-US" sz="1400" dirty="0">
                          <a:solidFill>
                            <a:srgbClr val="000000"/>
                          </a:solidFill>
                        </a:rPr>
                        <a:t>Sampler + LS converges cleanly</a:t>
                      </a:r>
                      <a:endParaRPr lang="en-US" sz="1400" dirty="0"/>
                    </a:p>
                  </a:txBody>
                  <a:tcP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74904">
                <a:tc>
                  <a:txBody>
                    <a:bodyPr/>
                    <a:lstStyle/>
                    <a:p>
                      <a:pPr marL="0" indent="0">
                        <a:buNone/>
                      </a:pPr>
                      <a:r>
                        <a:rPr lang="en-US" sz="1400" dirty="0">
                          <a:solidFill>
                            <a:srgbClr val="000000"/>
                          </a:solidFill>
                        </a:rPr>
                        <a:t>F_narrow</a:t>
                      </a:r>
                      <a:endParaRPr lang="en-US" sz="1400" dirty="0"/>
                    </a:p>
                  </a:txBody>
                  <a:tcP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000000"/>
                          </a:solidFill>
                        </a:rPr>
                        <a:t>27/30</a:t>
                      </a:r>
                      <a:endParaRPr lang="en-US" sz="1050" dirty="0"/>
                    </a:p>
                  </a:txBody>
                  <a:tcP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tc>
                  <a:txBody>
                    <a:bodyPr/>
                    <a:lstStyle/>
                    <a:p>
                      <a:pPr marL="0" indent="0" algn="ctr">
                        <a:buNone/>
                      </a:pPr>
                      <a:r>
                        <a:rPr lang="en-US" sz="1050" b="1" dirty="0">
                          <a:solidFill>
                            <a:srgbClr val="27AE60"/>
                          </a:solidFill>
                        </a:rPr>
                        <a:t>✓ Barely</a:t>
                      </a:r>
                      <a:endParaRPr lang="en-US" sz="1050" dirty="0"/>
                    </a:p>
                  </a:txBody>
                  <a:tcP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tc>
                  <a:txBody>
                    <a:bodyPr/>
                    <a:lstStyle/>
                    <a:p>
                      <a:pPr marL="0" indent="0">
                        <a:buNone/>
                      </a:pPr>
                      <a:r>
                        <a:rPr lang="en-US" sz="1400" dirty="0">
                          <a:solidFill>
                            <a:srgbClr val="000000"/>
                          </a:solidFill>
                        </a:rPr>
                        <a:t>Narrow arch is the bottleneck — very slow to plateau</a:t>
                      </a:r>
                      <a:endParaRPr lang="en-US" sz="1400" dirty="0"/>
                    </a:p>
                  </a:txBody>
                  <a:tcP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74904">
                <a:tc>
                  <a:txBody>
                    <a:bodyPr/>
                    <a:lstStyle/>
                    <a:p>
                      <a:pPr marL="0" indent="0">
                        <a:buNone/>
                      </a:pPr>
                      <a:r>
                        <a:rPr lang="en-US" sz="1400" dirty="0">
                          <a:solidFill>
                            <a:srgbClr val="000000"/>
                          </a:solidFill>
                        </a:rPr>
                        <a:t>G_bottleneck</a:t>
                      </a:r>
                      <a:endParaRPr lang="en-US" sz="1400" dirty="0"/>
                    </a:p>
                  </a:txBody>
                  <a:tcP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000000"/>
                          </a:solidFill>
                        </a:rPr>
                        <a:t>30/30</a:t>
                      </a:r>
                      <a:endParaRPr lang="en-US" sz="1050" dirty="0"/>
                    </a:p>
                  </a:txBody>
                  <a:tcP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tc>
                  <a:txBody>
                    <a:bodyPr/>
                    <a:lstStyle/>
                    <a:p>
                      <a:pPr marL="0" indent="0" algn="ctr">
                        <a:buNone/>
                      </a:pPr>
                      <a:r>
                        <a:rPr lang="en-US" sz="1050" b="1" dirty="0">
                          <a:solidFill>
                            <a:srgbClr val="E74C3C"/>
                          </a:solidFill>
                        </a:rPr>
                        <a:t>✗ No</a:t>
                      </a:r>
                      <a:endParaRPr lang="en-US" sz="1050" dirty="0"/>
                    </a:p>
                  </a:txBody>
                  <a:tcP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tc>
                  <a:txBody>
                    <a:bodyPr/>
                    <a:lstStyle/>
                    <a:p>
                      <a:pPr marL="0" indent="0">
                        <a:buNone/>
                      </a:pPr>
                      <a:r>
                        <a:rPr lang="en-US" sz="1400" dirty="0">
                          <a:solidFill>
                            <a:srgbClr val="000000"/>
                          </a:solidFill>
                        </a:rPr>
                        <a:t>Wide bottleneck still slowly improving — needs more epochs</a:t>
                      </a:r>
                      <a:endParaRPr lang="en-US" sz="1400" dirty="0"/>
                    </a:p>
                  </a:txBody>
                  <a:tcP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74904">
                <a:tc>
                  <a:txBody>
                    <a:bodyPr/>
                    <a:lstStyle/>
                    <a:p>
                      <a:pPr marL="0" indent="0">
                        <a:buNone/>
                      </a:pPr>
                      <a:r>
                        <a:rPr lang="en-US" sz="1400" dirty="0">
                          <a:solidFill>
                            <a:srgbClr val="000000"/>
                          </a:solidFill>
                        </a:rPr>
                        <a:t>O_c_sampler_cw</a:t>
                      </a:r>
                      <a:endParaRPr lang="en-US" sz="1400" dirty="0"/>
                    </a:p>
                  </a:txBody>
                  <a:tcP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000000"/>
                          </a:solidFill>
                        </a:rPr>
                        <a:t>30/30</a:t>
                      </a:r>
                      <a:endParaRPr lang="en-US" sz="1050" dirty="0"/>
                    </a:p>
                  </a:txBody>
                  <a:tcP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tc>
                  <a:txBody>
                    <a:bodyPr/>
                    <a:lstStyle/>
                    <a:p>
                      <a:pPr marL="0" indent="0" algn="ctr">
                        <a:buNone/>
                      </a:pPr>
                      <a:r>
                        <a:rPr lang="en-US" sz="1050" b="1" dirty="0">
                          <a:solidFill>
                            <a:srgbClr val="E74C3C"/>
                          </a:solidFill>
                        </a:rPr>
                        <a:t>✗ No</a:t>
                      </a:r>
                      <a:endParaRPr lang="en-US" sz="1050" dirty="0"/>
                    </a:p>
                  </a:txBody>
                  <a:tcP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tc>
                  <a:txBody>
                    <a:bodyPr/>
                    <a:lstStyle/>
                    <a:p>
                      <a:pPr marL="0" indent="0">
                        <a:buNone/>
                      </a:pPr>
                      <a:r>
                        <a:rPr lang="en-US" sz="1400" dirty="0">
                          <a:solidFill>
                            <a:srgbClr val="000000"/>
                          </a:solidFill>
                        </a:rPr>
                        <a:t>Double-compensation confuses the optimiser — never peaks</a:t>
                      </a:r>
                      <a:endParaRPr lang="en-US" sz="1400" dirty="0"/>
                    </a:p>
                  </a:txBody>
                  <a:tcP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374904">
                <a:tc>
                  <a:txBody>
                    <a:bodyPr/>
                    <a:lstStyle/>
                    <a:p>
                      <a:pPr marL="0" indent="0">
                        <a:buNone/>
                      </a:pPr>
                      <a:r>
                        <a:rPr lang="en-US" sz="1400" dirty="0">
                          <a:solidFill>
                            <a:srgbClr val="000000"/>
                          </a:solidFill>
                        </a:rPr>
                        <a:t>Q_wider_sampler</a:t>
                      </a:r>
                      <a:endParaRPr lang="en-US" sz="1400" dirty="0"/>
                    </a:p>
                  </a:txBody>
                  <a:tcP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000000"/>
                          </a:solidFill>
                        </a:rPr>
                        <a:t>37/30</a:t>
                      </a:r>
                      <a:endParaRPr lang="en-US" sz="1050" dirty="0"/>
                    </a:p>
                  </a:txBody>
                  <a:tcP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tc>
                  <a:txBody>
                    <a:bodyPr/>
                    <a:lstStyle/>
                    <a:p>
                      <a:pPr marL="0" indent="0" algn="ctr">
                        <a:buNone/>
                      </a:pPr>
                      <a:r>
                        <a:rPr lang="en-US" sz="1050" b="1" dirty="0">
                          <a:solidFill>
                            <a:srgbClr val="27AE60"/>
                          </a:solidFill>
                        </a:rPr>
                        <a:t>✓ Late</a:t>
                      </a:r>
                      <a:endParaRPr lang="en-US" sz="1050" dirty="0"/>
                    </a:p>
                  </a:txBody>
                  <a:tcP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tc>
                  <a:txBody>
                    <a:bodyPr/>
                    <a:lstStyle/>
                    <a:p>
                      <a:pPr marL="0" indent="0">
                        <a:buNone/>
                      </a:pPr>
                      <a:r>
                        <a:rPr lang="en-US" sz="1400" dirty="0">
                          <a:solidFill>
                            <a:srgbClr val="000000"/>
                          </a:solidFill>
                        </a:rPr>
                        <a:t>Patience=7 allows &gt;30 epochs when plateau is very slow</a:t>
                      </a:r>
                      <a:endParaRPr lang="en-US" sz="1400" dirty="0"/>
                    </a:p>
                  </a:txBody>
                  <a:tcP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374904">
                <a:tc>
                  <a:txBody>
                    <a:bodyPr/>
                    <a:lstStyle/>
                    <a:p>
                      <a:pPr marL="0" indent="0">
                        <a:buNone/>
                      </a:pPr>
                      <a:r>
                        <a:rPr lang="en-US" sz="1400" dirty="0">
                          <a:solidFill>
                            <a:srgbClr val="000000"/>
                          </a:solidFill>
                        </a:rPr>
                        <a:t>R_ls015_drop03 ⭐</a:t>
                      </a:r>
                      <a:endParaRPr lang="en-US" sz="1400" dirty="0"/>
                    </a:p>
                  </a:txBody>
                  <a:tcP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000000"/>
                          </a:solidFill>
                        </a:rPr>
                        <a:t>32/30</a:t>
                      </a:r>
                      <a:endParaRPr lang="en-US" sz="1050" dirty="0"/>
                    </a:p>
                  </a:txBody>
                  <a:tcP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tc>
                  <a:txBody>
                    <a:bodyPr/>
                    <a:lstStyle/>
                    <a:p>
                      <a:pPr marL="0" indent="0" algn="ctr">
                        <a:buNone/>
                      </a:pPr>
                      <a:r>
                        <a:rPr lang="en-US" sz="1050" b="1" dirty="0">
                          <a:solidFill>
                            <a:srgbClr val="27AE60"/>
                          </a:solidFill>
                        </a:rPr>
                        <a:t>✓ Yes</a:t>
                      </a:r>
                      <a:endParaRPr lang="en-US" sz="1050" dirty="0"/>
                    </a:p>
                  </a:txBody>
                  <a:tcP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tc>
                  <a:txBody>
                    <a:bodyPr/>
                    <a:lstStyle/>
                    <a:p>
                      <a:pPr marL="0" indent="0">
                        <a:buNone/>
                      </a:pPr>
                      <a:r>
                        <a:rPr lang="en-US" sz="1400" dirty="0">
                          <a:solidFill>
                            <a:srgbClr val="000000"/>
                          </a:solidFill>
                        </a:rPr>
                        <a:t>Best checkpoint at ep21; patience runs out at ep32</a:t>
                      </a:r>
                      <a:endParaRPr lang="en-US" sz="1400" dirty="0"/>
                    </a:p>
                  </a:txBody>
                  <a:tcP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bl>
          </a:graphicData>
        </a:graphic>
      </p:graphicFrame>
      <p:sp>
        <p:nvSpPr>
          <p:cNvPr id="6" name="Shape 2">
            <a:extLst>
              <a:ext uri="{FF2B5EF4-FFF2-40B4-BE49-F238E27FC236}">
                <a16:creationId xmlns:a16="http://schemas.microsoft.com/office/drawing/2014/main" id="{19C6034F-83B9-2393-B074-9BCEEDF2312B}"/>
              </a:ext>
            </a:extLst>
          </p:cNvPr>
          <p:cNvSpPr/>
          <p:nvPr/>
        </p:nvSpPr>
        <p:spPr>
          <a:xfrm>
            <a:off x="7498079" y="82296"/>
            <a:ext cx="1557633" cy="329184"/>
          </a:xfrm>
          <a:prstGeom prst="rect">
            <a:avLst/>
          </a:prstGeom>
          <a:solidFill>
            <a:srgbClr val="1C3A52"/>
          </a:solidFill>
          <a:ln w="12700">
            <a:solidFill>
              <a:srgbClr val="1C3A52"/>
            </a:solidFill>
            <a:prstDash val="solid"/>
          </a:ln>
        </p:spPr>
        <p:txBody>
          <a:bodyPr/>
          <a:lstStyle/>
          <a:p>
            <a:pPr algn="ctr"/>
            <a:r>
              <a:rPr lang="en-US" b="1" dirty="0">
                <a:solidFill>
                  <a:schemeClr val="bg1"/>
                </a:solidFill>
              </a:rPr>
              <a:t>Train Eff</a:t>
            </a:r>
            <a:endParaRPr lang="pt-PT" b="1" dirty="0">
              <a:solidFill>
                <a:schemeClr val="bg1"/>
              </a:solidFill>
            </a:endParaRPr>
          </a:p>
        </p:txBody>
      </p:sp>
      <p:sp>
        <p:nvSpPr>
          <p:cNvPr id="7" name="Rectangle: Rounded Corners 6">
            <a:extLst>
              <a:ext uri="{FF2B5EF4-FFF2-40B4-BE49-F238E27FC236}">
                <a16:creationId xmlns:a16="http://schemas.microsoft.com/office/drawing/2014/main" id="{A87C9746-02DE-E79B-7221-A06138DE9599}"/>
              </a:ext>
            </a:extLst>
          </p:cNvPr>
          <p:cNvSpPr/>
          <p:nvPr/>
        </p:nvSpPr>
        <p:spPr>
          <a:xfrm>
            <a:off x="7088176" y="4253"/>
            <a:ext cx="470123" cy="470912"/>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2800" b="1" dirty="0"/>
              <a:t>3</a:t>
            </a:r>
            <a:endParaRPr lang="pt-PT" sz="1600" b="1"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opBar"/>
          <p:cNvSpPr/>
          <p:nvPr/>
        </p:nvSpPr>
        <p:spPr>
          <a:xfrm>
            <a:off x="0" y="0"/>
            <a:ext cx="9144000" cy="64008"/>
          </a:xfrm>
          <a:prstGeom prst="rect">
            <a:avLst/>
          </a:prstGeom>
          <a:solidFill>
            <a:srgbClr val="00A896"/>
          </a:solidFill>
          <a:ln w="12700">
            <a:solidFill>
              <a:srgbClr val="00A896"/>
            </a:solidFill>
            <a:prstDash val="solid"/>
          </a:ln>
        </p:spPr>
        <p:txBody>
          <a:bodyPr/>
          <a:lstStyle/>
          <a:p>
            <a:endParaRPr lang="en-US"/>
          </a:p>
        </p:txBody>
      </p:sp>
      <p:sp>
        <p:nvSpPr>
          <p:cNvPr id="3" name="Badge"/>
          <p:cNvSpPr/>
          <p:nvPr/>
        </p:nvSpPr>
        <p:spPr>
          <a:xfrm>
            <a:off x="7498079" y="82296"/>
            <a:ext cx="1557633" cy="329184"/>
          </a:xfrm>
          <a:prstGeom prst="rect">
            <a:avLst/>
          </a:prstGeom>
          <a:solidFill>
            <a:srgbClr val="1C3A52"/>
          </a:solidFill>
          <a:ln w="12700">
            <a:solidFill>
              <a:srgbClr val="1C3A52"/>
            </a:solidFill>
            <a:prstDash val="solid"/>
          </a:ln>
        </p:spPr>
        <p:txBody>
          <a:bodyPr/>
          <a:lstStyle/>
          <a:p>
            <a:pPr algn="ctr"/>
            <a:r>
              <a:rPr lang="en-US" b="1" dirty="0">
                <a:solidFill>
                  <a:srgbClr val="FFFFFF"/>
                </a:solidFill>
              </a:rPr>
              <a:t>Train Eff</a:t>
            </a:r>
            <a:endParaRPr lang="en-US" b="1" dirty="0"/>
          </a:p>
        </p:txBody>
      </p:sp>
      <p:sp>
        <p:nvSpPr>
          <p:cNvPr id="4" name="NumCircle"/>
          <p:cNvSpPr/>
          <p:nvPr/>
        </p:nvSpPr>
        <p:spPr>
          <a:xfrm>
            <a:off x="7088176" y="4253"/>
            <a:ext cx="470123" cy="470912"/>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2800" b="1" dirty="0"/>
              <a:t>3</a:t>
            </a:r>
            <a:endParaRPr lang="en-US" sz="1600" b="1" dirty="0"/>
          </a:p>
        </p:txBody>
      </p:sp>
      <p:sp>
        <p:nvSpPr>
          <p:cNvPr id="5" name="Title"/>
          <p:cNvSpPr/>
          <p:nvPr/>
        </p:nvSpPr>
        <p:spPr>
          <a:xfrm>
            <a:off x="457200" y="109728"/>
            <a:ext cx="6400800" cy="530352"/>
          </a:xfrm>
          <a:prstGeom prst="rect">
            <a:avLst/>
          </a:prstGeom>
          <a:noFill/>
          <a:ln/>
        </p:spPr>
        <p:txBody>
          <a:bodyPr wrap="square" lIns="0" tIns="0" rIns="0" bIns="0" rtlCol="0" anchor="ctr"/>
          <a:lstStyle/>
          <a:p>
            <a:pPr marL="0" indent="0">
              <a:buNone/>
            </a:pPr>
            <a:r>
              <a:rPr lang="en-US" sz="2200" b="1" dirty="0">
                <a:solidFill>
                  <a:srgbClr val="0D1B2A"/>
                </a:solidFill>
                <a:latin typeface="Trebuchet MS" pitchFamily="34" charset="0"/>
              </a:rPr>
              <a:t>Training Curves — Best Solo R_ls015_drop03</a:t>
            </a:r>
          </a:p>
        </p:txBody>
      </p:sp>
      <p:sp>
        <p:nvSpPr>
          <p:cNvPr id="20" name="TableBG"/>
          <p:cNvSpPr/>
          <p:nvPr/>
        </p:nvSpPr>
        <p:spPr>
          <a:xfrm>
            <a:off x="4799880" y="809789"/>
            <a:ext cx="4116240" cy="1700784"/>
          </a:xfrm>
          <a:prstGeom prst="rect">
            <a:avLst/>
          </a:prstGeom>
          <a:solidFill>
            <a:srgbClr val="FFFFFF"/>
          </a:solidFill>
          <a:ln w="6350">
            <a:solidFill>
              <a:srgbClr val="D8E4EC"/>
            </a:solidFill>
          </a:ln>
          <a:effectLst>
            <a:outerShdw blurRad="101600" dist="38100" dir="8100000" algn="bl" rotWithShape="0">
              <a:srgbClr val="000000">
                <a:alpha val="10000"/>
              </a:srgbClr>
            </a:outerShdw>
          </a:effectLst>
        </p:spPr>
        <p:txBody>
          <a:bodyPr/>
          <a:lstStyle/>
          <a:p>
            <a:endParaRPr lang="en-US"/>
          </a:p>
        </p:txBody>
      </p:sp>
      <p:sp>
        <p:nvSpPr>
          <p:cNvPr id="21" name="TH"/>
          <p:cNvSpPr/>
          <p:nvPr/>
        </p:nvSpPr>
        <p:spPr>
          <a:xfrm>
            <a:off x="4799880" y="809789"/>
            <a:ext cx="4116240" cy="219960"/>
          </a:xfrm>
          <a:prstGeom prst="rect">
            <a:avLst/>
          </a:prstGeom>
          <a:solidFill>
            <a:srgbClr val="1C3A52"/>
          </a:solidFill>
          <a:ln w="0">
            <a:noFill/>
          </a:ln>
        </p:spPr>
        <p:txBody>
          <a:bodyPr rtlCol="0" anchor="ctr"/>
          <a:lstStyle/>
          <a:p>
            <a:pPr algn="ctr">
              <a:buNone/>
            </a:pPr>
            <a:r>
              <a:rPr lang="en-US" sz="1000" b="1" dirty="0">
                <a:solidFill>
                  <a:srgbClr val="FFFFFF"/>
                </a:solidFill>
                <a:latin typeface="Calibri"/>
              </a:rPr>
              <a:t>Ep   train_loss  val_loss  train_F1  val_F1</a:t>
            </a:r>
          </a:p>
        </p:txBody>
      </p:sp>
      <p:sp>
        <p:nvSpPr>
          <p:cNvPr id="22" name="TD"/>
          <p:cNvSpPr/>
          <p:nvPr/>
        </p:nvSpPr>
        <p:spPr>
          <a:xfrm>
            <a:off x="4799880" y="1029749"/>
            <a:ext cx="4116240" cy="1700280"/>
          </a:xfrm>
          <a:prstGeom prst="rect">
            <a:avLst/>
          </a:prstGeom>
          <a:noFill/>
          <a:ln/>
        </p:spPr>
        <p:txBody>
          <a:bodyPr wrap="square" lIns="91440" tIns="45720" rIns="0" bIns="0" rtlCol="0" anchor="t"/>
          <a:lstStyle/>
          <a:p>
            <a:pPr>
              <a:buNone/>
            </a:pPr>
            <a:r>
              <a:rPr lang="en-US" sz="1000" dirty="0">
                <a:solidFill>
                  <a:srgbClr val="1A2B3C"/>
                </a:solidFill>
                <a:latin typeface="Calibri"/>
              </a:rPr>
              <a:t>1      2.319          2.254          0.106          0.085</a:t>
            </a:r>
          </a:p>
          <a:p>
            <a:pPr>
              <a:buNone/>
            </a:pPr>
            <a:r>
              <a:rPr lang="en-US" sz="1000" dirty="0">
                <a:solidFill>
                  <a:srgbClr val="1A2B3C"/>
                </a:solidFill>
                <a:latin typeface="Calibri"/>
              </a:rPr>
              <a:t>5      2.169          2.167          0.207          0.137</a:t>
            </a:r>
          </a:p>
          <a:p>
            <a:pPr>
              <a:buNone/>
            </a:pPr>
            <a:r>
              <a:rPr lang="en-US" sz="1000" dirty="0">
                <a:solidFill>
                  <a:srgbClr val="1A2B3C"/>
                </a:solidFill>
                <a:latin typeface="Calibri"/>
              </a:rPr>
              <a:t>10    1.948          2.150          0.437          0.209</a:t>
            </a:r>
          </a:p>
          <a:p>
            <a:pPr>
              <a:buNone/>
            </a:pPr>
            <a:r>
              <a:rPr lang="en-US" sz="1000" dirty="0">
                <a:solidFill>
                  <a:srgbClr val="1A2B3C"/>
                </a:solidFill>
                <a:latin typeface="Calibri"/>
              </a:rPr>
              <a:t>15    1.534          2.181          0.674          0.224</a:t>
            </a:r>
          </a:p>
          <a:p>
            <a:pPr>
              <a:buNone/>
            </a:pPr>
            <a:r>
              <a:rPr lang="en-US" sz="1000" dirty="0">
                <a:solidFill>
                  <a:srgbClr val="1A2B3C"/>
                </a:solidFill>
                <a:latin typeface="Calibri"/>
              </a:rPr>
              <a:t>20    1.362          2.225          0.783          0.234</a:t>
            </a:r>
          </a:p>
          <a:p>
            <a:pPr>
              <a:buNone/>
            </a:pPr>
            <a:r>
              <a:rPr lang="en-US" sz="1000" b="1" dirty="0">
                <a:solidFill>
                  <a:srgbClr val="00A896"/>
                </a:solidFill>
                <a:latin typeface="Calibri"/>
              </a:rPr>
              <a:t>25 *  1.202          2.252          0.873          0.240  ← checkpoint</a:t>
            </a:r>
          </a:p>
          <a:p>
            <a:pPr>
              <a:buNone/>
            </a:pPr>
            <a:r>
              <a:rPr lang="en-US" sz="1000" dirty="0">
                <a:solidFill>
                  <a:srgbClr val="1A2B3C"/>
                </a:solidFill>
                <a:latin typeface="Calibri"/>
              </a:rPr>
              <a:t>30    1.172          2.256          0.899          0.231</a:t>
            </a:r>
          </a:p>
          <a:p>
            <a:pPr>
              <a:buNone/>
            </a:pPr>
            <a:r>
              <a:rPr lang="en-US" sz="1000" dirty="0">
                <a:solidFill>
                  <a:srgbClr val="1A2B3C"/>
                </a:solidFill>
                <a:latin typeface="Calibri"/>
              </a:rPr>
              <a:t>32    1.142          2.256          0.913          0.225</a:t>
            </a:r>
          </a:p>
        </p:txBody>
      </p:sp>
      <p:pic>
        <p:nvPicPr>
          <p:cNvPr id="13" name="Picture 12">
            <a:extLst>
              <a:ext uri="{FF2B5EF4-FFF2-40B4-BE49-F238E27FC236}">
                <a16:creationId xmlns:a16="http://schemas.microsoft.com/office/drawing/2014/main" id="{6764680F-6E4D-0A7B-3716-7F38FCB545BC}"/>
              </a:ext>
            </a:extLst>
          </p:cNvPr>
          <p:cNvPicPr>
            <a:picLocks noChangeAspect="1"/>
          </p:cNvPicPr>
          <p:nvPr/>
        </p:nvPicPr>
        <p:blipFill>
          <a:blip r:embed="rId2"/>
          <a:stretch>
            <a:fillRect/>
          </a:stretch>
        </p:blipFill>
        <p:spPr>
          <a:xfrm>
            <a:off x="537037" y="2612390"/>
            <a:ext cx="7694855" cy="2520078"/>
          </a:xfrm>
          <a:prstGeom prst="rect">
            <a:avLst/>
          </a:prstGeom>
        </p:spPr>
      </p:pic>
      <p:sp>
        <p:nvSpPr>
          <p:cNvPr id="14" name="Shape 17"/>
          <p:cNvSpPr/>
          <p:nvPr/>
        </p:nvSpPr>
        <p:spPr>
          <a:xfrm>
            <a:off x="227880" y="809790"/>
            <a:ext cx="4344120" cy="1700784"/>
          </a:xfrm>
          <a:prstGeom prst="rect">
            <a:avLst/>
          </a:prstGeom>
          <a:solidFill>
            <a:srgbClr val="E8F8F5"/>
          </a:solidFill>
          <a:ln w="8890">
            <a:solidFill>
              <a:srgbClr val="00A896"/>
            </a:solidFill>
            <a:prstDash val="solid"/>
          </a:ln>
        </p:spPr>
        <p:txBody>
          <a:bodyPr/>
          <a:lstStyle/>
          <a:p>
            <a:endParaRPr lang="pt-PT"/>
          </a:p>
        </p:txBody>
      </p:sp>
      <p:sp>
        <p:nvSpPr>
          <p:cNvPr id="15" name="Shape 18"/>
          <p:cNvSpPr/>
          <p:nvPr/>
        </p:nvSpPr>
        <p:spPr>
          <a:xfrm>
            <a:off x="227880" y="809790"/>
            <a:ext cx="73152" cy="1700784"/>
          </a:xfrm>
          <a:prstGeom prst="rect">
            <a:avLst/>
          </a:prstGeom>
          <a:solidFill>
            <a:srgbClr val="00A896"/>
          </a:solidFill>
          <a:ln w="12700">
            <a:solidFill>
              <a:srgbClr val="00A896"/>
            </a:solidFill>
            <a:prstDash val="solid"/>
          </a:ln>
        </p:spPr>
        <p:txBody>
          <a:bodyPr/>
          <a:lstStyle/>
          <a:p>
            <a:endParaRPr lang="pt-PT"/>
          </a:p>
        </p:txBody>
      </p:sp>
      <p:sp>
        <p:nvSpPr>
          <p:cNvPr id="24" name="Text 20"/>
          <p:cNvSpPr/>
          <p:nvPr/>
        </p:nvSpPr>
        <p:spPr>
          <a:xfrm>
            <a:off x="307717" y="809789"/>
            <a:ext cx="4256158" cy="1700783"/>
          </a:xfrm>
          <a:prstGeom prst="rect">
            <a:avLst/>
          </a:prstGeom>
          <a:noFill/>
          <a:ln/>
        </p:spPr>
        <p:txBody>
          <a:bodyPr wrap="square" rtlCol="0" anchor="ctr"/>
          <a:lstStyle/>
          <a:p>
            <a:pPr marL="342900" indent="-342900">
              <a:buSzPct val="100000"/>
              <a:buFontTx/>
              <a:buChar char="•"/>
            </a:pPr>
            <a:r>
              <a:rPr lang="en-US" sz="1600" b="1" dirty="0" err="1">
                <a:solidFill>
                  <a:srgbClr val="0D1B2A"/>
                </a:solidFill>
                <a:latin typeface="Trebuchet MS" pitchFamily="34" charset="0"/>
                <a:ea typeface="Trebuchet MS" pitchFamily="34" charset="-122"/>
                <a:cs typeface="Trebuchet MS" pitchFamily="34" charset="-120"/>
              </a:rPr>
              <a:t>EarlyStopping</a:t>
            </a:r>
            <a:r>
              <a:rPr lang="en-US" sz="1600" b="1" dirty="0">
                <a:solidFill>
                  <a:srgbClr val="0D1B2A"/>
                </a:solidFill>
                <a:latin typeface="Trebuchet MS" pitchFamily="34" charset="0"/>
                <a:ea typeface="Trebuchet MS" pitchFamily="34" charset="-122"/>
                <a:cs typeface="Trebuchet MS" pitchFamily="34" charset="-120"/>
              </a:rPr>
              <a:t> metric:</a:t>
            </a:r>
            <a:endParaRPr lang="en-US" sz="1600" b="1" dirty="0"/>
          </a:p>
          <a:p>
            <a:pPr marL="800100" lvl="1" indent="-342900">
              <a:buSzPct val="100000"/>
              <a:buFontTx/>
              <a:buChar char="•"/>
            </a:pPr>
            <a:r>
              <a:rPr lang="en-US" sz="1200" b="1" dirty="0" err="1">
                <a:solidFill>
                  <a:srgbClr val="0D1B2A"/>
                </a:solidFill>
                <a:latin typeface="Trebuchet MS" pitchFamily="34" charset="0"/>
                <a:ea typeface="Trebuchet MS" pitchFamily="34" charset="-122"/>
                <a:cs typeface="Trebuchet MS" pitchFamily="34" charset="-120"/>
              </a:rPr>
              <a:t>val_loss</a:t>
            </a:r>
            <a:r>
              <a:rPr lang="en-US" sz="1200" b="1" dirty="0">
                <a:solidFill>
                  <a:srgbClr val="0D1B2A"/>
                </a:solidFill>
                <a:latin typeface="Trebuchet MS" pitchFamily="34" charset="0"/>
                <a:ea typeface="Trebuchet MS" pitchFamily="34" charset="-122"/>
                <a:cs typeface="Trebuchet MS" pitchFamily="34" charset="-120"/>
              </a:rPr>
              <a:t> ≠ val_f1 </a:t>
            </a:r>
          </a:p>
          <a:p>
            <a:pPr marL="800100" lvl="1" indent="-342900">
              <a:buSzPct val="100000"/>
              <a:buFontTx/>
              <a:buChar char="•"/>
            </a:pPr>
            <a:r>
              <a:rPr lang="en-US" sz="1200" dirty="0">
                <a:solidFill>
                  <a:srgbClr val="1A2B3C"/>
                </a:solidFill>
                <a:latin typeface="Calibri" pitchFamily="34" charset="0"/>
                <a:ea typeface="Calibri" pitchFamily="34" charset="-122"/>
                <a:cs typeface="Calibri" pitchFamily="34" charset="-120"/>
              </a:rPr>
              <a:t>we use val_macro_f1 (lower = better)</a:t>
            </a:r>
            <a:endParaRPr lang="en-US" sz="1200" dirty="0"/>
          </a:p>
          <a:p>
            <a:pPr>
              <a:buSzPct val="100000"/>
            </a:pPr>
            <a:r>
              <a:rPr lang="en-US" sz="1200" dirty="0">
                <a:solidFill>
                  <a:srgbClr val="1A2B3C"/>
                </a:solidFill>
                <a:latin typeface="Calibri" pitchFamily="34" charset="0"/>
                <a:ea typeface="Calibri" pitchFamily="34" charset="-122"/>
                <a:cs typeface="Calibri" pitchFamily="34" charset="-120"/>
              </a:rPr>
              <a:t>	</a:t>
            </a:r>
          </a:p>
          <a:p>
            <a:pPr marL="342900" indent="-342900">
              <a:buSzPct val="100000"/>
              <a:buChar char="•"/>
            </a:pPr>
            <a:r>
              <a:rPr lang="en-US" sz="1600" b="1" dirty="0">
                <a:solidFill>
                  <a:srgbClr val="1A2B3C"/>
                </a:solidFill>
                <a:latin typeface="Calibri" pitchFamily="34" charset="0"/>
                <a:ea typeface="Calibri" pitchFamily="34" charset="-122"/>
                <a:cs typeface="Calibri" pitchFamily="34" charset="-120"/>
              </a:rPr>
              <a:t>Patience</a:t>
            </a:r>
            <a:r>
              <a:rPr lang="en-US" sz="1600" dirty="0">
                <a:solidFill>
                  <a:srgbClr val="1A2B3C"/>
                </a:solidFill>
                <a:latin typeface="Calibri" pitchFamily="34" charset="0"/>
                <a:ea typeface="Calibri" pitchFamily="34" charset="-122"/>
                <a:cs typeface="Calibri" pitchFamily="34" charset="-120"/>
              </a:rPr>
              <a:t>: </a:t>
            </a:r>
          </a:p>
          <a:p>
            <a:pPr marL="800100" lvl="1" indent="-342900">
              <a:buSzPct val="100000"/>
              <a:buChar char="•"/>
            </a:pPr>
            <a:r>
              <a:rPr lang="en-US" sz="1200" dirty="0">
                <a:solidFill>
                  <a:srgbClr val="1A2B3C"/>
                </a:solidFill>
                <a:latin typeface="Calibri" pitchFamily="34" charset="0"/>
                <a:ea typeface="Calibri" pitchFamily="34" charset="-122"/>
                <a:cs typeface="Calibri" pitchFamily="34" charset="-120"/>
              </a:rPr>
              <a:t>7 epochs</a:t>
            </a:r>
            <a:endParaRPr lang="en-US" sz="1200" dirty="0"/>
          </a:p>
          <a:p>
            <a:pPr marL="800100" lvl="1" indent="-342900">
              <a:buSzPct val="100000"/>
              <a:buChar char="•"/>
            </a:pPr>
            <a:r>
              <a:rPr lang="en-US" sz="1200" dirty="0">
                <a:solidFill>
                  <a:srgbClr val="1A2B3C"/>
                </a:solidFill>
                <a:latin typeface="Calibri" pitchFamily="34" charset="0"/>
                <a:ea typeface="Calibri" pitchFamily="34" charset="-122"/>
                <a:cs typeface="Calibri" pitchFamily="34" charset="-120"/>
              </a:rPr>
              <a:t>Saves best checkpoint .pth per run</a:t>
            </a:r>
            <a:endParaRPr lang="en-US" sz="1200" dirty="0"/>
          </a:p>
          <a:p>
            <a:pPr marL="800100" lvl="1" indent="-342900">
              <a:buSzPct val="100000"/>
              <a:buChar char="•"/>
            </a:pPr>
            <a:r>
              <a:rPr lang="en-US" sz="1200" dirty="0">
                <a:solidFill>
                  <a:srgbClr val="1A2B3C"/>
                </a:solidFill>
                <a:latin typeface="Calibri" pitchFamily="34" charset="0"/>
                <a:ea typeface="Calibri" pitchFamily="34" charset="-122"/>
                <a:cs typeface="Calibri" pitchFamily="34" charset="-120"/>
              </a:rPr>
              <a:t>Allows &gt;30 epochs when plateau is slow (Q ran 37)</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B4AD80-9E79-9D02-A4B8-41F72F97A65F}"/>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3D80CC70-7EA8-857C-BB80-A5E3A5268206}"/>
              </a:ext>
            </a:extLst>
          </p:cNvPr>
          <p:cNvSpPr/>
          <p:nvPr/>
        </p:nvSpPr>
        <p:spPr>
          <a:xfrm>
            <a:off x="6217920" y="-822960"/>
            <a:ext cx="4754880" cy="4754880"/>
          </a:xfrm>
          <a:prstGeom prst="ellipse">
            <a:avLst/>
          </a:prstGeom>
          <a:solidFill>
            <a:srgbClr val="1C3A52">
              <a:alpha val="62000"/>
            </a:srgbClr>
          </a:solidFill>
          <a:ln w="12700">
            <a:solidFill>
              <a:srgbClr val="1C3A52"/>
            </a:solidFill>
            <a:prstDash val="solid"/>
          </a:ln>
        </p:spPr>
        <p:txBody>
          <a:bodyPr/>
          <a:lstStyle/>
          <a:p>
            <a:endParaRPr lang="pt-PT"/>
          </a:p>
        </p:txBody>
      </p:sp>
      <p:sp>
        <p:nvSpPr>
          <p:cNvPr id="3" name="Shape 1">
            <a:extLst>
              <a:ext uri="{FF2B5EF4-FFF2-40B4-BE49-F238E27FC236}">
                <a16:creationId xmlns:a16="http://schemas.microsoft.com/office/drawing/2014/main" id="{83C9E720-937C-B76F-65E9-841EAD69478E}"/>
              </a:ext>
            </a:extLst>
          </p:cNvPr>
          <p:cNvSpPr/>
          <p:nvPr/>
        </p:nvSpPr>
        <p:spPr>
          <a:xfrm>
            <a:off x="7315200" y="2377440"/>
            <a:ext cx="2743200" cy="2743200"/>
          </a:xfrm>
          <a:prstGeom prst="ellipse">
            <a:avLst/>
          </a:prstGeom>
          <a:solidFill>
            <a:srgbClr val="00A896">
              <a:alpha val="45000"/>
            </a:srgbClr>
          </a:solidFill>
          <a:ln w="12700">
            <a:solidFill>
              <a:srgbClr val="00A896"/>
            </a:solidFill>
            <a:prstDash val="solid"/>
          </a:ln>
        </p:spPr>
        <p:txBody>
          <a:bodyPr/>
          <a:lstStyle/>
          <a:p>
            <a:endParaRPr lang="pt-PT"/>
          </a:p>
        </p:txBody>
      </p:sp>
      <p:pic>
        <p:nvPicPr>
          <p:cNvPr id="1028" name="Picture 4" descr="NOVA FCT">
            <a:extLst>
              <a:ext uri="{FF2B5EF4-FFF2-40B4-BE49-F238E27FC236}">
                <a16:creationId xmlns:a16="http://schemas.microsoft.com/office/drawing/2014/main" id="{A17E7458-7B32-04D2-C4A4-D1FBBAD6FF9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22933" b="35200"/>
          <a:stretch/>
        </p:blipFill>
        <p:spPr bwMode="auto">
          <a:xfrm>
            <a:off x="5362525" y="-739257"/>
            <a:ext cx="1188684" cy="493776"/>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Quais os principais tipos de Pokémon que existem no anime e filmes  animados? - Olhar Digital">
            <a:extLst>
              <a:ext uri="{FF2B5EF4-FFF2-40B4-BE49-F238E27FC236}">
                <a16:creationId xmlns:a16="http://schemas.microsoft.com/office/drawing/2014/main" id="{15CD643D-B6F5-C045-84CF-7D770FE18F47}"/>
              </a:ext>
            </a:extLst>
          </p:cNvPr>
          <p:cNvPicPr>
            <a:picLocks noChangeAspect="1" noChangeArrowheads="1"/>
          </p:cNvPicPr>
          <p:nvPr/>
        </p:nvPicPr>
        <p:blipFill>
          <a:blip r:embed="rId4">
            <a:extLst>
              <a:ext uri="{BEBA8EAE-BF5A-486C-A8C5-ECC9F3942E4B}">
                <a14:imgProps xmlns:a14="http://schemas.microsoft.com/office/drawing/2010/main">
                  <a14:imgLayer r:embed="rId5">
                    <a14:imgEffect>
                      <a14:backgroundRemoval t="10000" b="98750" l="4375" r="97773">
                        <a14:foregroundMark x1="6016" y1="58819" x2="5938" y2="87500"/>
                        <a14:foregroundMark x1="5938" y1="87500" x2="9609" y2="99236"/>
                        <a14:foregroundMark x1="9609" y1="99236" x2="18633" y2="94514"/>
                        <a14:foregroundMark x1="18633" y1="94514" x2="25547" y2="95972"/>
                        <a14:foregroundMark x1="25547" y1="95972" x2="20391" y2="85556"/>
                        <a14:foregroundMark x1="20391" y1="85556" x2="18516" y2="75208"/>
                        <a14:foregroundMark x1="18516" y1="75208" x2="20156" y2="60972"/>
                        <a14:foregroundMark x1="20156" y1="60972" x2="10469" y2="66250"/>
                        <a14:foregroundMark x1="10469" y1="66250" x2="11719" y2="82361"/>
                        <a14:foregroundMark x1="11719" y1="82361" x2="13750" y2="72292"/>
                        <a14:foregroundMark x1="5469" y1="57569" x2="5039" y2="79722"/>
                        <a14:foregroundMark x1="5039" y1="79722" x2="4414" y2="83889"/>
                        <a14:foregroundMark x1="7070" y1="95069" x2="8008" y2="98403"/>
                        <a14:foregroundMark x1="63594" y1="97639" x2="67852" y2="98819"/>
                        <a14:foregroundMark x1="16250" y1="73264" x2="16797" y2="77292"/>
                        <a14:foregroundMark x1="96133" y1="50278" x2="97031" y2="63264"/>
                        <a14:foregroundMark x1="97031" y1="63264" x2="94492" y2="76597"/>
                        <a14:foregroundMark x1="94492" y1="76597" x2="90391" y2="83333"/>
                        <a14:foregroundMark x1="90391" y1="83333" x2="86914" y2="85833"/>
                        <a14:foregroundMark x1="95859" y1="50278" x2="97546" y2="63683"/>
                        <a14:foregroundMark x1="96841" y1="69371" x2="94141" y2="80625"/>
                        <a14:foregroundMark x1="97461" y1="67292" x2="96406" y2="75139"/>
                        <a14:foregroundMark x1="96680" y1="40278" x2="96680" y2="45069"/>
                        <a14:backgroundMark x1="97617" y1="63681" x2="97695" y2="71875"/>
                      </a14:backgroundRemoval>
                    </a14:imgEffect>
                  </a14:imgLayer>
                </a14:imgProps>
              </a:ext>
              <a:ext uri="{28A0092B-C50C-407E-A947-70E740481C1C}">
                <a14:useLocalDpi xmlns:a14="http://schemas.microsoft.com/office/drawing/2010/main" val="0"/>
              </a:ext>
            </a:extLst>
          </a:blip>
          <a:srcRect/>
          <a:stretch>
            <a:fillRect/>
          </a:stretch>
        </p:blipFill>
        <p:spPr bwMode="auto">
          <a:xfrm>
            <a:off x="2917953" y="1645921"/>
            <a:ext cx="6226048" cy="3502152"/>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8" descr="NOSSA™ | NOVA School of Science &amp; Technology">
            <a:extLst>
              <a:ext uri="{FF2B5EF4-FFF2-40B4-BE49-F238E27FC236}">
                <a16:creationId xmlns:a16="http://schemas.microsoft.com/office/drawing/2014/main" id="{71DCCA6F-CCE4-7E35-9000-DC688F8841FC}"/>
              </a:ext>
            </a:extLst>
          </p:cNvPr>
          <p:cNvPicPr>
            <a:picLocks noChangeAspect="1" noChangeArrowheads="1"/>
          </p:cNvPicPr>
          <p:nvPr/>
        </p:nvPicPr>
        <p:blipFill rotWithShape="1">
          <a:blip r:embed="rId6">
            <a:extLst>
              <a:ext uri="{BEBA8EAE-BF5A-486C-A8C5-ECC9F3942E4B}">
                <a14:imgProps xmlns:a14="http://schemas.microsoft.com/office/drawing/2010/main">
                  <a14:imgLayer r:embed="rId7">
                    <a14:imgEffect>
                      <a14:backgroundRemoval t="28056" b="59722" l="28750" r="70625">
                        <a14:foregroundMark x1="28750" y1="38889" x2="29375" y2="52778"/>
                        <a14:foregroundMark x1="66406" y1="39167" x2="64844" y2="49722"/>
                        <a14:foregroundMark x1="69063" y1="45278" x2="70781" y2="50833"/>
                        <a14:foregroundMark x1="38750" y1="54444" x2="46094" y2="59722"/>
                        <a14:foregroundMark x1="46094" y1="59722" x2="50938" y2="55000"/>
                        <a14:foregroundMark x1="51250" y1="33889" x2="42188" y2="30833"/>
                        <a14:foregroundMark x1="42188" y1="30833" x2="38281" y2="35000"/>
                        <a14:foregroundMark x1="51875" y1="36944" x2="55313" y2="41111"/>
                      </a14:backgroundRemoval>
                    </a14:imgEffect>
                  </a14:imgLayer>
                </a14:imgProps>
              </a:ext>
              <a:ext uri="{28A0092B-C50C-407E-A947-70E740481C1C}">
                <a14:useLocalDpi xmlns:a14="http://schemas.microsoft.com/office/drawing/2010/main" val="0"/>
              </a:ext>
            </a:extLst>
          </a:blip>
          <a:srcRect l="24369" t="25133" r="26983" b="39200"/>
          <a:stretch>
            <a:fillRect/>
          </a:stretch>
        </p:blipFill>
        <p:spPr bwMode="auto">
          <a:xfrm>
            <a:off x="7838728" y="83266"/>
            <a:ext cx="1250407" cy="515666"/>
          </a:xfrm>
          <a:prstGeom prst="rect">
            <a:avLst/>
          </a:prstGeom>
          <a:noFill/>
          <a:extLst>
            <a:ext uri="{909E8E84-426E-40DD-AFC4-6F175D3DCCD1}">
              <a14:hiddenFill xmlns:a14="http://schemas.microsoft.com/office/drawing/2010/main">
                <a:solidFill>
                  <a:srgbClr val="FFFFFF"/>
                </a:solidFill>
              </a14:hiddenFill>
            </a:ext>
          </a:extLst>
        </p:spPr>
      </p:pic>
      <p:sp>
        <p:nvSpPr>
          <p:cNvPr id="13" name="Text 4">
            <a:extLst>
              <a:ext uri="{FF2B5EF4-FFF2-40B4-BE49-F238E27FC236}">
                <a16:creationId xmlns:a16="http://schemas.microsoft.com/office/drawing/2014/main" id="{C601B13D-B0FC-5590-8AC1-F4FED5C4117A}"/>
              </a:ext>
            </a:extLst>
          </p:cNvPr>
          <p:cNvSpPr/>
          <p:nvPr/>
        </p:nvSpPr>
        <p:spPr>
          <a:xfrm>
            <a:off x="1298741" y="1161287"/>
            <a:ext cx="6400800" cy="822960"/>
          </a:xfrm>
          <a:prstGeom prst="rect">
            <a:avLst/>
          </a:prstGeom>
          <a:noFill/>
          <a:ln/>
        </p:spPr>
        <p:txBody>
          <a:bodyPr wrap="square" lIns="0" tIns="0" rIns="0" bIns="0" rtlCol="0" anchor="ctr"/>
          <a:lstStyle/>
          <a:p>
            <a:pPr marL="0" indent="0">
              <a:buNone/>
            </a:pPr>
            <a:r>
              <a:rPr lang="en-US" sz="3000" b="1" dirty="0">
                <a:solidFill>
                  <a:srgbClr val="FFFFFF"/>
                </a:solidFill>
                <a:latin typeface="Trebuchet MS" pitchFamily="34" charset="0"/>
                <a:ea typeface="Trebuchet MS" pitchFamily="34" charset="-122"/>
                <a:cs typeface="Trebuchet MS" pitchFamily="34" charset="-120"/>
              </a:rPr>
              <a:t>Performance Evaluation</a:t>
            </a:r>
          </a:p>
        </p:txBody>
      </p:sp>
      <p:sp>
        <p:nvSpPr>
          <p:cNvPr id="14" name="Rectangle: Rounded Corners 13">
            <a:extLst>
              <a:ext uri="{FF2B5EF4-FFF2-40B4-BE49-F238E27FC236}">
                <a16:creationId xmlns:a16="http://schemas.microsoft.com/office/drawing/2014/main" id="{6C286057-B071-1602-9CEB-9A98C3BB810D}"/>
              </a:ext>
            </a:extLst>
          </p:cNvPr>
          <p:cNvSpPr/>
          <p:nvPr/>
        </p:nvSpPr>
        <p:spPr>
          <a:xfrm>
            <a:off x="192727" y="1015139"/>
            <a:ext cx="966372" cy="969108"/>
          </a:xfrm>
          <a:prstGeom prst="roundRect">
            <a:avLst/>
          </a:prstGeom>
          <a:scene3d>
            <a:camera prst="orthographicFront"/>
            <a:lightRig rig="threePt" dir="t"/>
          </a:scene3d>
          <a:sp3d>
            <a:bevelT/>
          </a:sp3d>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3200" b="1" dirty="0"/>
              <a:t>4</a:t>
            </a:r>
            <a:endParaRPr lang="pt-PT" b="1" dirty="0"/>
          </a:p>
        </p:txBody>
      </p:sp>
      <p:cxnSp>
        <p:nvCxnSpPr>
          <p:cNvPr id="16" name="Straight Connector 15">
            <a:extLst>
              <a:ext uri="{FF2B5EF4-FFF2-40B4-BE49-F238E27FC236}">
                <a16:creationId xmlns:a16="http://schemas.microsoft.com/office/drawing/2014/main" id="{56CFFF7D-EB1B-E088-EF82-B93BE4E78750}"/>
              </a:ext>
            </a:extLst>
          </p:cNvPr>
          <p:cNvCxnSpPr/>
          <p:nvPr/>
        </p:nvCxnSpPr>
        <p:spPr>
          <a:xfrm>
            <a:off x="1305169" y="1856154"/>
            <a:ext cx="4822093" cy="0"/>
          </a:xfrm>
          <a:prstGeom prst="line">
            <a:avLst/>
          </a:prstGeom>
          <a:ln w="28575"/>
          <a:scene3d>
            <a:camera prst="orthographicFront"/>
            <a:lightRig rig="threePt" dir="t"/>
          </a:scene3d>
          <a:sp3d>
            <a:bevelT/>
          </a:sp3d>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223772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TblBG">
            <a:extLst>
              <a:ext uri="{FF2B5EF4-FFF2-40B4-BE49-F238E27FC236}">
                <a16:creationId xmlns:a16="http://schemas.microsoft.com/office/drawing/2014/main" id="{C8EF2A7A-42E7-5693-69B3-4E54DC90C622}"/>
              </a:ext>
            </a:extLst>
          </p:cNvPr>
          <p:cNvSpPr/>
          <p:nvPr/>
        </p:nvSpPr>
        <p:spPr>
          <a:xfrm>
            <a:off x="274320" y="2436880"/>
            <a:ext cx="5151120" cy="2452560"/>
          </a:xfrm>
          <a:prstGeom prst="rect">
            <a:avLst/>
          </a:prstGeom>
          <a:solidFill>
            <a:srgbClr val="FFFFFF"/>
          </a:solidFill>
          <a:ln w="6350">
            <a:solidFill>
              <a:srgbClr val="D8E4EC"/>
            </a:solidFill>
          </a:ln>
          <a:effectLst>
            <a:outerShdw blurRad="101600" dist="38100" dir="8100000" algn="bl" rotWithShape="0">
              <a:srgbClr val="000000">
                <a:alpha val="10000"/>
              </a:srgbClr>
            </a:outerShdw>
          </a:effectLst>
        </p:spPr>
        <p:txBody>
          <a:bodyPr/>
          <a:lstStyle/>
          <a:p>
            <a:endParaRPr lang="en-US"/>
          </a:p>
        </p:txBody>
      </p:sp>
      <p:sp>
        <p:nvSpPr>
          <p:cNvPr id="27" name="TH">
            <a:extLst>
              <a:ext uri="{FF2B5EF4-FFF2-40B4-BE49-F238E27FC236}">
                <a16:creationId xmlns:a16="http://schemas.microsoft.com/office/drawing/2014/main" id="{6499144A-9758-E893-77CF-969E5EF582CE}"/>
              </a:ext>
            </a:extLst>
          </p:cNvPr>
          <p:cNvSpPr/>
          <p:nvPr/>
        </p:nvSpPr>
        <p:spPr>
          <a:xfrm>
            <a:off x="274320" y="2436880"/>
            <a:ext cx="5151120" cy="237744"/>
          </a:xfrm>
          <a:prstGeom prst="rect">
            <a:avLst/>
          </a:prstGeom>
          <a:solidFill>
            <a:srgbClr val="1C3A52"/>
          </a:solidFill>
          <a:ln w="0">
            <a:noFill/>
          </a:ln>
        </p:spPr>
        <p:txBody>
          <a:bodyPr rtlCol="0" anchor="ctr"/>
          <a:lstStyle/>
          <a:p>
            <a:pPr algn="ctr">
              <a:buNone/>
            </a:pPr>
            <a:r>
              <a:rPr lang="en-US" sz="1000" b="1" dirty="0">
                <a:solidFill>
                  <a:srgbClr val="FFFFFF"/>
                </a:solidFill>
                <a:latin typeface="Calibri"/>
              </a:rPr>
              <a:t>Metric Comparison vs Baselines</a:t>
            </a:r>
          </a:p>
        </p:txBody>
      </p:sp>
      <p:sp>
        <p:nvSpPr>
          <p:cNvPr id="2" name="Shape 0"/>
          <p:cNvSpPr/>
          <p:nvPr/>
        </p:nvSpPr>
        <p:spPr>
          <a:xfrm>
            <a:off x="0" y="0"/>
            <a:ext cx="9144000" cy="64008"/>
          </a:xfrm>
          <a:prstGeom prst="rect">
            <a:avLst/>
          </a:prstGeom>
          <a:solidFill>
            <a:srgbClr val="00A896"/>
          </a:solidFill>
          <a:ln w="12700">
            <a:solidFill>
              <a:srgbClr val="00A896"/>
            </a:solidFill>
            <a:prstDash val="solid"/>
          </a:ln>
        </p:spPr>
        <p:txBody>
          <a:bodyPr/>
          <a:lstStyle/>
          <a:p>
            <a:endParaRPr lang="pt-PT"/>
          </a:p>
        </p:txBody>
      </p:sp>
      <p:sp>
        <p:nvSpPr>
          <p:cNvPr id="3" name="Text 1"/>
          <p:cNvSpPr/>
          <p:nvPr/>
        </p:nvSpPr>
        <p:spPr>
          <a:xfrm>
            <a:off x="457200" y="109728"/>
            <a:ext cx="7498080" cy="530352"/>
          </a:xfrm>
          <a:prstGeom prst="rect">
            <a:avLst/>
          </a:prstGeom>
          <a:noFill/>
          <a:ln/>
        </p:spPr>
        <p:txBody>
          <a:bodyPr wrap="square" lIns="0" tIns="0" rIns="0" bIns="0" rtlCol="0" anchor="ctr"/>
          <a:lstStyle/>
          <a:p>
            <a:pPr marL="0" indent="0">
              <a:buNone/>
            </a:pPr>
            <a:r>
              <a:rPr lang="en-US" sz="2200" b="1" dirty="0">
                <a:solidFill>
                  <a:srgbClr val="0D1B2A"/>
                </a:solidFill>
                <a:latin typeface="Trebuchet MS" pitchFamily="34" charset="0"/>
                <a:ea typeface="Trebuchet MS" pitchFamily="34" charset="-122"/>
                <a:cs typeface="Trebuchet MS" pitchFamily="34" charset="-120"/>
              </a:rPr>
              <a:t>Results at a Glance</a:t>
            </a:r>
            <a:endParaRPr lang="en-US" sz="2200" dirty="0"/>
          </a:p>
        </p:txBody>
      </p:sp>
      <p:sp>
        <p:nvSpPr>
          <p:cNvPr id="4" name="Shape 2"/>
          <p:cNvSpPr/>
          <p:nvPr/>
        </p:nvSpPr>
        <p:spPr>
          <a:xfrm>
            <a:off x="7498080" y="109728"/>
            <a:ext cx="1463040" cy="301752"/>
          </a:xfrm>
          <a:prstGeom prst="rect">
            <a:avLst/>
          </a:prstGeom>
          <a:solidFill>
            <a:srgbClr val="1C3A52"/>
          </a:solidFill>
          <a:ln w="12700">
            <a:solidFill>
              <a:srgbClr val="1C3A52"/>
            </a:solidFill>
            <a:prstDash val="solid"/>
          </a:ln>
        </p:spPr>
        <p:txBody>
          <a:bodyPr/>
          <a:lstStyle/>
          <a:p>
            <a:endParaRPr lang="pt-PT"/>
          </a:p>
        </p:txBody>
      </p:sp>
      <p:sp>
        <p:nvSpPr>
          <p:cNvPr id="5" name="Text 3"/>
          <p:cNvSpPr/>
          <p:nvPr/>
        </p:nvSpPr>
        <p:spPr>
          <a:xfrm>
            <a:off x="7498080" y="109728"/>
            <a:ext cx="1463040" cy="301752"/>
          </a:xfrm>
          <a:prstGeom prst="rect">
            <a:avLst/>
          </a:prstGeom>
          <a:noFill/>
          <a:ln/>
        </p:spPr>
        <p:txBody>
          <a:bodyPr wrap="square" lIns="0" tIns="0" rIns="0" bIns="0" rtlCol="0" anchor="ctr"/>
          <a:lstStyle/>
          <a:p>
            <a:pPr marL="0" indent="0" algn="ctr">
              <a:buNone/>
            </a:pPr>
            <a:r>
              <a:rPr lang="en-US" sz="1000" b="1" dirty="0">
                <a:solidFill>
                  <a:srgbClr val="FFFFFF"/>
                </a:solidFill>
              </a:rPr>
              <a:t>Perf Eval</a:t>
            </a:r>
            <a:endParaRPr lang="en-US" sz="1000" dirty="0"/>
          </a:p>
        </p:txBody>
      </p:sp>
      <p:sp>
        <p:nvSpPr>
          <p:cNvPr id="6" name="Shape 4"/>
          <p:cNvSpPr/>
          <p:nvPr/>
        </p:nvSpPr>
        <p:spPr>
          <a:xfrm>
            <a:off x="347472" y="804672"/>
            <a:ext cx="1993392" cy="1444752"/>
          </a:xfrm>
          <a:prstGeom prst="rect">
            <a:avLst/>
          </a:prstGeom>
          <a:solidFill>
            <a:srgbClr val="0D1B2A"/>
          </a:solidFill>
          <a:ln w="12700">
            <a:solidFill>
              <a:srgbClr val="0D1B2A"/>
            </a:solidFill>
            <a:prstDash val="solid"/>
          </a:ln>
          <a:effectLst>
            <a:outerShdw blurRad="101600" dist="38100" dir="8100000" algn="bl" rotWithShape="0">
              <a:srgbClr val="000000">
                <a:alpha val="10000"/>
              </a:srgbClr>
            </a:outerShdw>
          </a:effectLst>
        </p:spPr>
        <p:txBody>
          <a:bodyPr/>
          <a:lstStyle/>
          <a:p>
            <a:endParaRPr lang="pt-PT"/>
          </a:p>
        </p:txBody>
      </p:sp>
      <p:sp>
        <p:nvSpPr>
          <p:cNvPr id="7" name="Shape 5"/>
          <p:cNvSpPr/>
          <p:nvPr/>
        </p:nvSpPr>
        <p:spPr>
          <a:xfrm>
            <a:off x="347472" y="804672"/>
            <a:ext cx="1993392" cy="64008"/>
          </a:xfrm>
          <a:prstGeom prst="rect">
            <a:avLst/>
          </a:prstGeom>
          <a:solidFill>
            <a:srgbClr val="00A896"/>
          </a:solidFill>
          <a:ln w="12700">
            <a:solidFill>
              <a:srgbClr val="00A896"/>
            </a:solidFill>
            <a:prstDash val="solid"/>
          </a:ln>
        </p:spPr>
        <p:txBody>
          <a:bodyPr/>
          <a:lstStyle/>
          <a:p>
            <a:endParaRPr lang="pt-PT"/>
          </a:p>
        </p:txBody>
      </p:sp>
      <p:sp>
        <p:nvSpPr>
          <p:cNvPr id="8" name="Text 6"/>
          <p:cNvSpPr/>
          <p:nvPr/>
        </p:nvSpPr>
        <p:spPr>
          <a:xfrm>
            <a:off x="347472" y="886968"/>
            <a:ext cx="1993392" cy="658368"/>
          </a:xfrm>
          <a:prstGeom prst="rect">
            <a:avLst/>
          </a:prstGeom>
          <a:noFill/>
          <a:ln/>
        </p:spPr>
        <p:txBody>
          <a:bodyPr wrap="square" lIns="0" tIns="0" rIns="0" bIns="0" rtlCol="0" anchor="ctr"/>
          <a:lstStyle/>
          <a:p>
            <a:pPr marL="0" indent="0" algn="ctr">
              <a:buNone/>
            </a:pPr>
            <a:r>
              <a:rPr lang="en-US" sz="3200" b="1" dirty="0">
                <a:solidFill>
                  <a:srgbClr val="00A896"/>
                </a:solidFill>
                <a:latin typeface="Trebuchet MS" pitchFamily="34" charset="0"/>
                <a:ea typeface="Trebuchet MS" pitchFamily="34" charset="-122"/>
                <a:cs typeface="Trebuchet MS" pitchFamily="34" charset="-120"/>
              </a:rPr>
              <a:t>0.2428</a:t>
            </a:r>
            <a:endParaRPr lang="en-US" sz="3200" dirty="0"/>
          </a:p>
        </p:txBody>
      </p:sp>
      <p:sp>
        <p:nvSpPr>
          <p:cNvPr id="9" name="Text 7"/>
          <p:cNvSpPr/>
          <p:nvPr/>
        </p:nvSpPr>
        <p:spPr>
          <a:xfrm>
            <a:off x="347472" y="1572768"/>
            <a:ext cx="1993392" cy="621792"/>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Best val Macro-F1</a:t>
            </a:r>
            <a:endParaRPr lang="en-US" sz="1100" dirty="0"/>
          </a:p>
          <a:p>
            <a:pPr marL="0" indent="0" algn="ctr">
              <a:buNone/>
            </a:pPr>
            <a:r>
              <a:rPr lang="en-US" sz="1100" dirty="0">
                <a:solidFill>
                  <a:srgbClr val="FFFFFF"/>
                </a:solidFill>
                <a:latin typeface="Calibri" pitchFamily="34" charset="0"/>
                <a:ea typeface="Calibri" pitchFamily="34" charset="-122"/>
                <a:cs typeface="Calibri" pitchFamily="34" charset="-120"/>
              </a:rPr>
              <a:t>(ensemble C+E)</a:t>
            </a:r>
            <a:endParaRPr lang="en-US" sz="1100" dirty="0"/>
          </a:p>
        </p:txBody>
      </p:sp>
      <p:sp>
        <p:nvSpPr>
          <p:cNvPr id="10" name="Shape 8"/>
          <p:cNvSpPr/>
          <p:nvPr/>
        </p:nvSpPr>
        <p:spPr>
          <a:xfrm>
            <a:off x="2523744" y="804672"/>
            <a:ext cx="1993392" cy="1444752"/>
          </a:xfrm>
          <a:prstGeom prst="rect">
            <a:avLst/>
          </a:prstGeom>
          <a:solidFill>
            <a:srgbClr val="1C3A52"/>
          </a:solidFill>
          <a:ln w="12700">
            <a:solidFill>
              <a:srgbClr val="1C3A52"/>
            </a:solidFill>
            <a:prstDash val="solid"/>
          </a:ln>
          <a:effectLst>
            <a:outerShdw blurRad="101600" dist="38100" dir="8100000" algn="bl" rotWithShape="0">
              <a:srgbClr val="000000">
                <a:alpha val="10000"/>
              </a:srgbClr>
            </a:outerShdw>
          </a:effectLst>
        </p:spPr>
        <p:txBody>
          <a:bodyPr/>
          <a:lstStyle/>
          <a:p>
            <a:endParaRPr lang="pt-PT"/>
          </a:p>
        </p:txBody>
      </p:sp>
      <p:sp>
        <p:nvSpPr>
          <p:cNvPr id="11" name="Shape 9"/>
          <p:cNvSpPr/>
          <p:nvPr/>
        </p:nvSpPr>
        <p:spPr>
          <a:xfrm>
            <a:off x="2523744" y="804672"/>
            <a:ext cx="1993392" cy="64008"/>
          </a:xfrm>
          <a:prstGeom prst="rect">
            <a:avLst/>
          </a:prstGeom>
          <a:solidFill>
            <a:srgbClr val="02C39A"/>
          </a:solidFill>
          <a:ln w="12700">
            <a:solidFill>
              <a:srgbClr val="02C39A"/>
            </a:solidFill>
            <a:prstDash val="solid"/>
          </a:ln>
        </p:spPr>
        <p:txBody>
          <a:bodyPr/>
          <a:lstStyle/>
          <a:p>
            <a:endParaRPr lang="pt-PT"/>
          </a:p>
        </p:txBody>
      </p:sp>
      <p:sp>
        <p:nvSpPr>
          <p:cNvPr id="12" name="Text 10"/>
          <p:cNvSpPr/>
          <p:nvPr/>
        </p:nvSpPr>
        <p:spPr>
          <a:xfrm>
            <a:off x="2523744" y="886968"/>
            <a:ext cx="1993392" cy="658368"/>
          </a:xfrm>
          <a:prstGeom prst="rect">
            <a:avLst/>
          </a:prstGeom>
          <a:noFill/>
          <a:ln/>
        </p:spPr>
        <p:txBody>
          <a:bodyPr wrap="square" lIns="0" tIns="0" rIns="0" bIns="0" rtlCol="0" anchor="ctr"/>
          <a:lstStyle/>
          <a:p>
            <a:pPr marL="0" indent="0" algn="ctr">
              <a:buNone/>
            </a:pPr>
            <a:r>
              <a:rPr lang="en-US" sz="3200" b="1" dirty="0">
                <a:solidFill>
                  <a:srgbClr val="02C39A"/>
                </a:solidFill>
                <a:latin typeface="Trebuchet MS" pitchFamily="34" charset="0"/>
                <a:ea typeface="Trebuchet MS" pitchFamily="34" charset="-122"/>
                <a:cs typeface="Trebuchet MS" pitchFamily="34" charset="-120"/>
              </a:rPr>
              <a:t>0.2396</a:t>
            </a:r>
            <a:endParaRPr lang="en-US" sz="3200" dirty="0"/>
          </a:p>
        </p:txBody>
      </p:sp>
      <p:sp>
        <p:nvSpPr>
          <p:cNvPr id="13" name="Text 11"/>
          <p:cNvSpPr/>
          <p:nvPr/>
        </p:nvSpPr>
        <p:spPr>
          <a:xfrm>
            <a:off x="2523744" y="1572768"/>
            <a:ext cx="1993392" cy="621792"/>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Best solo Macro-F1</a:t>
            </a:r>
            <a:endParaRPr lang="en-US" sz="1100" dirty="0"/>
          </a:p>
          <a:p>
            <a:pPr marL="0" indent="0" algn="ctr">
              <a:buNone/>
            </a:pPr>
            <a:r>
              <a:rPr lang="en-US" sz="1100" dirty="0">
                <a:solidFill>
                  <a:srgbClr val="FFFFFF"/>
                </a:solidFill>
                <a:latin typeface="Calibri" pitchFamily="34" charset="0"/>
                <a:ea typeface="Calibri" pitchFamily="34" charset="-122"/>
                <a:cs typeface="Calibri" pitchFamily="34" charset="-120"/>
              </a:rPr>
              <a:t>(R_ls015_drop03)</a:t>
            </a:r>
            <a:endParaRPr lang="en-US" sz="1100" dirty="0"/>
          </a:p>
        </p:txBody>
      </p:sp>
      <p:sp>
        <p:nvSpPr>
          <p:cNvPr id="14" name="Shape 12"/>
          <p:cNvSpPr/>
          <p:nvPr/>
        </p:nvSpPr>
        <p:spPr>
          <a:xfrm>
            <a:off x="4700016" y="804672"/>
            <a:ext cx="1993392" cy="1444752"/>
          </a:xfrm>
          <a:prstGeom prst="rect">
            <a:avLst/>
          </a:prstGeom>
          <a:solidFill>
            <a:srgbClr val="0D1B2A"/>
          </a:solidFill>
          <a:ln w="12700">
            <a:solidFill>
              <a:srgbClr val="0D1B2A"/>
            </a:solidFill>
            <a:prstDash val="solid"/>
          </a:ln>
          <a:effectLst>
            <a:outerShdw blurRad="101600" dist="38100" dir="8100000" algn="bl" rotWithShape="0">
              <a:srgbClr val="000000">
                <a:alpha val="10000"/>
              </a:srgbClr>
            </a:outerShdw>
          </a:effectLst>
        </p:spPr>
        <p:txBody>
          <a:bodyPr/>
          <a:lstStyle/>
          <a:p>
            <a:endParaRPr lang="pt-PT"/>
          </a:p>
        </p:txBody>
      </p:sp>
      <p:sp>
        <p:nvSpPr>
          <p:cNvPr id="15" name="Shape 13"/>
          <p:cNvSpPr/>
          <p:nvPr/>
        </p:nvSpPr>
        <p:spPr>
          <a:xfrm>
            <a:off x="4700016" y="804672"/>
            <a:ext cx="1993392" cy="64008"/>
          </a:xfrm>
          <a:prstGeom prst="rect">
            <a:avLst/>
          </a:prstGeom>
          <a:solidFill>
            <a:srgbClr val="E97C35"/>
          </a:solidFill>
          <a:ln w="12700">
            <a:solidFill>
              <a:srgbClr val="E97C35"/>
            </a:solidFill>
            <a:prstDash val="solid"/>
          </a:ln>
        </p:spPr>
        <p:txBody>
          <a:bodyPr/>
          <a:lstStyle/>
          <a:p>
            <a:endParaRPr lang="pt-PT"/>
          </a:p>
        </p:txBody>
      </p:sp>
      <p:sp>
        <p:nvSpPr>
          <p:cNvPr id="16" name="Text 14"/>
          <p:cNvSpPr/>
          <p:nvPr/>
        </p:nvSpPr>
        <p:spPr>
          <a:xfrm>
            <a:off x="4700016" y="886968"/>
            <a:ext cx="1993392" cy="658368"/>
          </a:xfrm>
          <a:prstGeom prst="rect">
            <a:avLst/>
          </a:prstGeom>
          <a:noFill/>
          <a:ln/>
        </p:spPr>
        <p:txBody>
          <a:bodyPr wrap="square" lIns="0" tIns="0" rIns="0" bIns="0" rtlCol="0" anchor="ctr"/>
          <a:lstStyle/>
          <a:p>
            <a:pPr marL="0" indent="0" algn="ctr">
              <a:buNone/>
            </a:pPr>
            <a:r>
              <a:rPr lang="en-US" sz="3200" b="1" dirty="0">
                <a:solidFill>
                  <a:srgbClr val="E97C35"/>
                </a:solidFill>
                <a:latin typeface="Trebuchet MS" pitchFamily="34" charset="0"/>
                <a:ea typeface="Trebuchet MS" pitchFamily="34" charset="-122"/>
                <a:cs typeface="Trebuchet MS" pitchFamily="34" charset="-120"/>
              </a:rPr>
              <a:t>0.2288</a:t>
            </a:r>
            <a:endParaRPr lang="en-US" sz="3200" dirty="0"/>
          </a:p>
        </p:txBody>
      </p:sp>
      <p:sp>
        <p:nvSpPr>
          <p:cNvPr id="17" name="Text 15"/>
          <p:cNvSpPr/>
          <p:nvPr/>
        </p:nvSpPr>
        <p:spPr>
          <a:xfrm>
            <a:off x="4700016" y="1572768"/>
            <a:ext cx="1993392" cy="621792"/>
          </a:xfrm>
          <a:prstGeom prst="rect">
            <a:avLst/>
          </a:prstGeom>
          <a:noFill/>
          <a:ln/>
        </p:spPr>
        <p:txBody>
          <a:bodyPr wrap="square" lIns="0" tIns="0" rIns="0" bIns="0" rtlCol="0" anchor="ctr"/>
          <a:lstStyle/>
          <a:p>
            <a:pPr marL="0" indent="0" algn="ctr">
              <a:buNone/>
            </a:pPr>
            <a:r>
              <a:rPr lang="en-US" sz="1100" b="1" dirty="0">
                <a:solidFill>
                  <a:srgbClr val="FFC000"/>
                </a:solidFill>
                <a:latin typeface="Calibri" pitchFamily="34" charset="0"/>
                <a:ea typeface="Calibri" pitchFamily="34" charset="-122"/>
                <a:cs typeface="Calibri" pitchFamily="34" charset="-120"/>
              </a:rPr>
              <a:t>Kaggle public score</a:t>
            </a:r>
            <a:endParaRPr lang="en-US" sz="1100" b="1" dirty="0">
              <a:solidFill>
                <a:srgbClr val="FFC000"/>
              </a:solidFill>
            </a:endParaRPr>
          </a:p>
          <a:p>
            <a:pPr marL="0" indent="0" algn="ctr">
              <a:buNone/>
            </a:pPr>
            <a:r>
              <a:rPr lang="en-US" sz="1100" dirty="0">
                <a:solidFill>
                  <a:srgbClr val="FFFFFF"/>
                </a:solidFill>
                <a:latin typeface="Calibri" pitchFamily="34" charset="0"/>
                <a:ea typeface="Calibri" pitchFamily="34" charset="-122"/>
                <a:cs typeface="Calibri" pitchFamily="34" charset="-120"/>
              </a:rPr>
              <a:t>(submitted ENS_C_E)</a:t>
            </a:r>
            <a:endParaRPr lang="en-US" sz="1100" dirty="0"/>
          </a:p>
        </p:txBody>
      </p:sp>
      <p:sp>
        <p:nvSpPr>
          <p:cNvPr id="18" name="Shape 16"/>
          <p:cNvSpPr/>
          <p:nvPr/>
        </p:nvSpPr>
        <p:spPr>
          <a:xfrm>
            <a:off x="6876288" y="804672"/>
            <a:ext cx="1993392" cy="1444752"/>
          </a:xfrm>
          <a:prstGeom prst="rect">
            <a:avLst/>
          </a:prstGeom>
          <a:solidFill>
            <a:srgbClr val="1C3A52"/>
          </a:solidFill>
          <a:ln w="12700">
            <a:solidFill>
              <a:srgbClr val="1C3A52"/>
            </a:solidFill>
            <a:prstDash val="solid"/>
          </a:ln>
          <a:effectLst>
            <a:outerShdw blurRad="101600" dist="38100" dir="8100000" algn="bl" rotWithShape="0">
              <a:srgbClr val="000000">
                <a:alpha val="10000"/>
              </a:srgbClr>
            </a:outerShdw>
          </a:effectLst>
        </p:spPr>
        <p:txBody>
          <a:bodyPr/>
          <a:lstStyle/>
          <a:p>
            <a:endParaRPr lang="pt-PT"/>
          </a:p>
        </p:txBody>
      </p:sp>
      <p:sp>
        <p:nvSpPr>
          <p:cNvPr id="19" name="Shape 17"/>
          <p:cNvSpPr/>
          <p:nvPr/>
        </p:nvSpPr>
        <p:spPr>
          <a:xfrm>
            <a:off x="6876288" y="804672"/>
            <a:ext cx="1993392" cy="64008"/>
          </a:xfrm>
          <a:prstGeom prst="rect">
            <a:avLst/>
          </a:prstGeom>
          <a:solidFill>
            <a:srgbClr val="FFFF00"/>
          </a:solidFill>
          <a:ln w="12700">
            <a:noFill/>
            <a:prstDash val="solid"/>
          </a:ln>
        </p:spPr>
        <p:txBody>
          <a:bodyPr/>
          <a:lstStyle/>
          <a:p>
            <a:endParaRPr lang="pt-PT"/>
          </a:p>
        </p:txBody>
      </p:sp>
      <p:sp>
        <p:nvSpPr>
          <p:cNvPr id="24" name="Shape 2">
            <a:extLst>
              <a:ext uri="{FF2B5EF4-FFF2-40B4-BE49-F238E27FC236}">
                <a16:creationId xmlns:a16="http://schemas.microsoft.com/office/drawing/2014/main" id="{DBB4021F-FBEA-312C-E965-99EA0B129BFB}"/>
              </a:ext>
            </a:extLst>
          </p:cNvPr>
          <p:cNvSpPr/>
          <p:nvPr/>
        </p:nvSpPr>
        <p:spPr>
          <a:xfrm>
            <a:off x="7498079" y="82296"/>
            <a:ext cx="1557633" cy="329184"/>
          </a:xfrm>
          <a:prstGeom prst="rect">
            <a:avLst/>
          </a:prstGeom>
          <a:solidFill>
            <a:srgbClr val="1C3A52"/>
          </a:solidFill>
          <a:ln w="12700">
            <a:solidFill>
              <a:srgbClr val="1C3A52"/>
            </a:solidFill>
            <a:prstDash val="solid"/>
          </a:ln>
        </p:spPr>
        <p:txBody>
          <a:bodyPr/>
          <a:lstStyle/>
          <a:p>
            <a:pPr algn="ctr"/>
            <a:r>
              <a:rPr lang="en-US" b="1" dirty="0">
                <a:solidFill>
                  <a:schemeClr val="bg1"/>
                </a:solidFill>
              </a:rPr>
              <a:t>Perf Eval</a:t>
            </a:r>
            <a:endParaRPr lang="pt-PT" b="1" dirty="0">
              <a:solidFill>
                <a:schemeClr val="bg1"/>
              </a:solidFill>
            </a:endParaRPr>
          </a:p>
        </p:txBody>
      </p:sp>
      <p:sp>
        <p:nvSpPr>
          <p:cNvPr id="25" name="Rectangle: Rounded Corners 24">
            <a:extLst>
              <a:ext uri="{FF2B5EF4-FFF2-40B4-BE49-F238E27FC236}">
                <a16:creationId xmlns:a16="http://schemas.microsoft.com/office/drawing/2014/main" id="{2D9348A7-BB2F-46AA-6AE0-8CD5208844DA}"/>
              </a:ext>
            </a:extLst>
          </p:cNvPr>
          <p:cNvSpPr/>
          <p:nvPr/>
        </p:nvSpPr>
        <p:spPr>
          <a:xfrm>
            <a:off x="7088176" y="4253"/>
            <a:ext cx="470123" cy="470912"/>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2800" b="1" dirty="0"/>
              <a:t>4</a:t>
            </a:r>
            <a:endParaRPr lang="pt-PT" sz="1600" b="1" dirty="0"/>
          </a:p>
        </p:txBody>
      </p:sp>
      <p:sp>
        <p:nvSpPr>
          <p:cNvPr id="23" name="TData">
            <a:extLst>
              <a:ext uri="{FF2B5EF4-FFF2-40B4-BE49-F238E27FC236}">
                <a16:creationId xmlns:a16="http://schemas.microsoft.com/office/drawing/2014/main" id="{6A6165A4-672B-AF7A-ECDD-50015C018A27}"/>
              </a:ext>
            </a:extLst>
          </p:cNvPr>
          <p:cNvSpPr/>
          <p:nvPr/>
        </p:nvSpPr>
        <p:spPr>
          <a:xfrm>
            <a:off x="310896" y="2772088"/>
            <a:ext cx="5077968" cy="2420968"/>
          </a:xfrm>
          <a:prstGeom prst="rect">
            <a:avLst/>
          </a:prstGeom>
          <a:noFill/>
          <a:ln/>
        </p:spPr>
        <p:txBody>
          <a:bodyPr wrap="square" rtlCol="0" anchor="t"/>
          <a:lstStyle/>
          <a:p>
            <a:pPr>
              <a:buNone/>
            </a:pPr>
            <a:r>
              <a:rPr lang="en-US" b="1" dirty="0">
                <a:solidFill>
                  <a:srgbClr val="1C3A52"/>
                </a:solidFill>
                <a:latin typeface="Calibri"/>
              </a:rPr>
              <a:t>System                    			macro-F1   	acc    </a:t>
            </a:r>
          </a:p>
          <a:p>
            <a:pPr>
              <a:buNone/>
            </a:pPr>
            <a:r>
              <a:rPr lang="en-US" dirty="0">
                <a:solidFill>
                  <a:srgbClr val="888888"/>
                </a:solidFill>
                <a:latin typeface="Calibri"/>
              </a:rPr>
              <a:t>Random baseline           		0.111      		11.1%</a:t>
            </a:r>
          </a:p>
          <a:p>
            <a:pPr>
              <a:buNone/>
            </a:pPr>
            <a:r>
              <a:rPr lang="en-US" dirty="0">
                <a:solidFill>
                  <a:srgbClr val="888888"/>
                </a:solidFill>
                <a:latin typeface="Calibri"/>
              </a:rPr>
              <a:t>Always-Water              		0.021      		18.7%</a:t>
            </a:r>
          </a:p>
          <a:p>
            <a:pPr>
              <a:buNone/>
            </a:pPr>
            <a:r>
              <a:rPr lang="en-US" dirty="0">
                <a:solidFill>
                  <a:srgbClr val="028090"/>
                </a:solidFill>
                <a:latin typeface="Calibri"/>
              </a:rPr>
              <a:t>R_ls015_drop03 (solo)    	0.2396     		25.8%</a:t>
            </a:r>
          </a:p>
          <a:p>
            <a:pPr>
              <a:buNone/>
            </a:pPr>
            <a:r>
              <a:rPr lang="en-US" b="1" dirty="0">
                <a:solidFill>
                  <a:srgbClr val="00A896"/>
                </a:solidFill>
                <a:latin typeface="Calibri"/>
              </a:rPr>
              <a:t>ENS_C+E (submitted) ★		0.2428     		26.7%</a:t>
            </a:r>
          </a:p>
          <a:p>
            <a:pPr>
              <a:buNone/>
            </a:pPr>
            <a:r>
              <a:rPr lang="en-US" dirty="0">
                <a:solidFill>
                  <a:srgbClr val="1C3A52"/>
                </a:solidFill>
                <a:latin typeface="Calibri"/>
              </a:rPr>
              <a:t>Kaggle public test        		0.2288     		  —  </a:t>
            </a:r>
          </a:p>
        </p:txBody>
      </p:sp>
      <p:sp>
        <p:nvSpPr>
          <p:cNvPr id="28" name="MetricBG">
            <a:extLst>
              <a:ext uri="{FF2B5EF4-FFF2-40B4-BE49-F238E27FC236}">
                <a16:creationId xmlns:a16="http://schemas.microsoft.com/office/drawing/2014/main" id="{CC59F894-6BB4-3F3A-9F78-9236B7E8164D}"/>
              </a:ext>
            </a:extLst>
          </p:cNvPr>
          <p:cNvSpPr/>
          <p:nvPr/>
        </p:nvSpPr>
        <p:spPr>
          <a:xfrm>
            <a:off x="5546979" y="2436880"/>
            <a:ext cx="3414141" cy="2452560"/>
          </a:xfrm>
          <a:prstGeom prst="rect">
            <a:avLst/>
          </a:prstGeom>
          <a:solidFill>
            <a:srgbClr val="0D1B2A"/>
          </a:solidFill>
          <a:ln w="0">
            <a:noFill/>
          </a:ln>
        </p:spPr>
        <p:txBody>
          <a:bodyPr/>
          <a:lstStyle/>
          <a:p>
            <a:endParaRPr lang="en-US"/>
          </a:p>
        </p:txBody>
      </p:sp>
      <p:sp>
        <p:nvSpPr>
          <p:cNvPr id="29" name="MetricText">
            <a:extLst>
              <a:ext uri="{FF2B5EF4-FFF2-40B4-BE49-F238E27FC236}">
                <a16:creationId xmlns:a16="http://schemas.microsoft.com/office/drawing/2014/main" id="{8BC9AFA8-BE80-9441-0C07-2D003F12BB94}"/>
              </a:ext>
            </a:extLst>
          </p:cNvPr>
          <p:cNvSpPr/>
          <p:nvPr/>
        </p:nvSpPr>
        <p:spPr>
          <a:xfrm>
            <a:off x="5546979" y="2574040"/>
            <a:ext cx="3414141" cy="2315400"/>
          </a:xfrm>
          <a:prstGeom prst="rect">
            <a:avLst/>
          </a:prstGeom>
          <a:noFill/>
          <a:ln/>
        </p:spPr>
        <p:txBody>
          <a:bodyPr wrap="square" rtlCol="0" anchor="t"/>
          <a:lstStyle/>
          <a:p>
            <a:pPr>
              <a:buNone/>
            </a:pPr>
            <a:r>
              <a:rPr lang="en-US" b="1" dirty="0">
                <a:solidFill>
                  <a:srgbClr val="00A896"/>
                </a:solidFill>
                <a:latin typeface="Trebuchet MS"/>
              </a:rPr>
              <a:t>Our Model learned something</a:t>
            </a:r>
          </a:p>
          <a:p>
            <a:pPr marL="228600" indent="-228600">
              <a:buChar char="•"/>
            </a:pPr>
            <a:r>
              <a:rPr lang="en-US" sz="1600" b="1" dirty="0">
                <a:solidFill>
                  <a:srgbClr val="00A896"/>
                </a:solidFill>
                <a:latin typeface="Calibri"/>
              </a:rPr>
              <a:t>2.18x better than random guess</a:t>
            </a:r>
          </a:p>
          <a:p>
            <a:pPr marL="228600" indent="-228600">
              <a:buChar char="•"/>
            </a:pPr>
            <a:endParaRPr lang="en-US" sz="1600" b="1" dirty="0">
              <a:solidFill>
                <a:srgbClr val="00A896"/>
              </a:solidFill>
              <a:latin typeface="Calibri"/>
            </a:endParaRPr>
          </a:p>
          <a:p>
            <a:pPr>
              <a:buNone/>
            </a:pPr>
            <a:r>
              <a:rPr lang="en-US" sz="1600" b="1" dirty="0">
                <a:solidFill>
                  <a:srgbClr val="00A896"/>
                </a:solidFill>
                <a:latin typeface="Trebuchet MS"/>
              </a:rPr>
              <a:t>Note: </a:t>
            </a:r>
            <a:r>
              <a:rPr lang="en-US" sz="1600" b="1" dirty="0">
                <a:solidFill>
                  <a:srgbClr val="00A896"/>
                </a:solidFill>
                <a:latin typeface="Calibri"/>
              </a:rPr>
              <a:t>We didn’t select the best local model in Kaggle to be chosen for the private score. The best local model got </a:t>
            </a:r>
            <a:r>
              <a:rPr lang="en-US" sz="1600" b="1" dirty="0">
                <a:solidFill>
                  <a:srgbClr val="EF4F0F"/>
                </a:solidFill>
                <a:latin typeface="Calibri"/>
              </a:rPr>
              <a:t>Kaggle private score:</a:t>
            </a:r>
          </a:p>
          <a:p>
            <a:r>
              <a:rPr lang="en-US" sz="1600" b="1" dirty="0">
                <a:solidFill>
                  <a:srgbClr val="EF4F0F"/>
                </a:solidFill>
                <a:latin typeface="Calibri"/>
              </a:rPr>
              <a:t>	</a:t>
            </a:r>
            <a:r>
              <a:rPr lang="en-US" sz="2400" b="1" dirty="0">
                <a:solidFill>
                  <a:srgbClr val="EF4F0F"/>
                </a:solidFill>
                <a:latin typeface="Calibri"/>
              </a:rPr>
              <a:t>0.2431</a:t>
            </a:r>
          </a:p>
        </p:txBody>
      </p:sp>
      <p:sp>
        <p:nvSpPr>
          <p:cNvPr id="22" name="Text 14">
            <a:extLst>
              <a:ext uri="{FF2B5EF4-FFF2-40B4-BE49-F238E27FC236}">
                <a16:creationId xmlns:a16="http://schemas.microsoft.com/office/drawing/2014/main" id="{16BD9560-217A-B398-F89C-2FD2E89C8DE9}"/>
              </a:ext>
            </a:extLst>
          </p:cNvPr>
          <p:cNvSpPr/>
          <p:nvPr/>
        </p:nvSpPr>
        <p:spPr>
          <a:xfrm>
            <a:off x="6876288" y="864112"/>
            <a:ext cx="1993392" cy="658368"/>
          </a:xfrm>
          <a:prstGeom prst="rect">
            <a:avLst/>
          </a:prstGeom>
          <a:noFill/>
          <a:ln/>
        </p:spPr>
        <p:txBody>
          <a:bodyPr wrap="square" lIns="0" tIns="0" rIns="0" bIns="0" rtlCol="0" anchor="ctr"/>
          <a:lstStyle/>
          <a:p>
            <a:pPr marL="0" indent="0" algn="ctr">
              <a:buNone/>
            </a:pPr>
            <a:r>
              <a:rPr lang="en-US" sz="3200" b="1" dirty="0">
                <a:solidFill>
                  <a:srgbClr val="FFFF00"/>
                </a:solidFill>
                <a:latin typeface="Trebuchet MS" pitchFamily="34" charset="0"/>
                <a:ea typeface="Trebuchet MS" pitchFamily="34" charset="-122"/>
                <a:cs typeface="Trebuchet MS" pitchFamily="34" charset="-120"/>
              </a:rPr>
              <a:t>0.2239</a:t>
            </a:r>
            <a:endParaRPr lang="en-US" sz="3200" dirty="0">
              <a:solidFill>
                <a:srgbClr val="FFFF00"/>
              </a:solidFill>
            </a:endParaRPr>
          </a:p>
        </p:txBody>
      </p:sp>
      <p:sp>
        <p:nvSpPr>
          <p:cNvPr id="30" name="Text 15">
            <a:extLst>
              <a:ext uri="{FF2B5EF4-FFF2-40B4-BE49-F238E27FC236}">
                <a16:creationId xmlns:a16="http://schemas.microsoft.com/office/drawing/2014/main" id="{5A29E501-55E5-F4F7-3B35-6649D8784CA8}"/>
              </a:ext>
            </a:extLst>
          </p:cNvPr>
          <p:cNvSpPr/>
          <p:nvPr/>
        </p:nvSpPr>
        <p:spPr>
          <a:xfrm>
            <a:off x="6876288" y="1549912"/>
            <a:ext cx="1993392" cy="621792"/>
          </a:xfrm>
          <a:prstGeom prst="rect">
            <a:avLst/>
          </a:prstGeom>
          <a:noFill/>
          <a:ln/>
        </p:spPr>
        <p:txBody>
          <a:bodyPr wrap="square" lIns="0" tIns="0" rIns="0" bIns="0" rtlCol="0" anchor="ctr"/>
          <a:lstStyle/>
          <a:p>
            <a:pPr marL="0" indent="0" algn="ctr">
              <a:buNone/>
            </a:pPr>
            <a:r>
              <a:rPr lang="en-US" sz="1100" b="1" dirty="0">
                <a:solidFill>
                  <a:srgbClr val="FFFF00"/>
                </a:solidFill>
                <a:latin typeface="Calibri" pitchFamily="34" charset="0"/>
                <a:ea typeface="Calibri" pitchFamily="34" charset="-122"/>
                <a:cs typeface="Calibri" pitchFamily="34" charset="-120"/>
              </a:rPr>
              <a:t>Kaggle private score</a:t>
            </a:r>
            <a:endParaRPr lang="en-US" sz="1100" b="1" dirty="0">
              <a:solidFill>
                <a:srgbClr val="FFFF00"/>
              </a:solidFill>
            </a:endParaRPr>
          </a:p>
          <a:p>
            <a:pPr marL="0" indent="0" algn="ctr">
              <a:buNone/>
            </a:pPr>
            <a:r>
              <a:rPr lang="en-US" sz="1100" dirty="0">
                <a:solidFill>
                  <a:srgbClr val="FFFFFF"/>
                </a:solidFill>
                <a:latin typeface="Calibri" pitchFamily="34" charset="0"/>
                <a:ea typeface="Calibri" pitchFamily="34" charset="-122"/>
                <a:cs typeface="Calibri" pitchFamily="34" charset="-120"/>
              </a:rPr>
              <a:t>(submitted ENS_C_E)</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opBar"/>
          <p:cNvSpPr/>
          <p:nvPr/>
        </p:nvSpPr>
        <p:spPr>
          <a:xfrm>
            <a:off x="0" y="0"/>
            <a:ext cx="9144000" cy="64008"/>
          </a:xfrm>
          <a:prstGeom prst="rect">
            <a:avLst/>
          </a:prstGeom>
          <a:solidFill>
            <a:srgbClr val="00A896"/>
          </a:solidFill>
          <a:ln w="12700">
            <a:solidFill>
              <a:srgbClr val="00A896"/>
            </a:solidFill>
            <a:prstDash val="solid"/>
          </a:ln>
        </p:spPr>
        <p:txBody>
          <a:bodyPr/>
          <a:lstStyle/>
          <a:p>
            <a:endParaRPr lang="en-US"/>
          </a:p>
        </p:txBody>
      </p:sp>
      <p:sp>
        <p:nvSpPr>
          <p:cNvPr id="3" name="Badge"/>
          <p:cNvSpPr/>
          <p:nvPr/>
        </p:nvSpPr>
        <p:spPr>
          <a:xfrm>
            <a:off x="7498079" y="82296"/>
            <a:ext cx="1557633" cy="329184"/>
          </a:xfrm>
          <a:prstGeom prst="rect">
            <a:avLst/>
          </a:prstGeom>
          <a:solidFill>
            <a:srgbClr val="1C3A52"/>
          </a:solidFill>
          <a:ln w="12700">
            <a:solidFill>
              <a:srgbClr val="1C3A52"/>
            </a:solidFill>
            <a:prstDash val="solid"/>
          </a:ln>
        </p:spPr>
        <p:txBody>
          <a:bodyPr/>
          <a:lstStyle/>
          <a:p>
            <a:pPr algn="ctr"/>
            <a:r>
              <a:rPr lang="en-US" b="1" dirty="0">
                <a:solidFill>
                  <a:srgbClr val="FFFFFF"/>
                </a:solidFill>
              </a:rPr>
              <a:t>Perf Eval</a:t>
            </a:r>
          </a:p>
        </p:txBody>
      </p:sp>
      <p:sp>
        <p:nvSpPr>
          <p:cNvPr id="4" name="NumCircle"/>
          <p:cNvSpPr/>
          <p:nvPr/>
        </p:nvSpPr>
        <p:spPr>
          <a:xfrm>
            <a:off x="7088176" y="4253"/>
            <a:ext cx="470123" cy="470912"/>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2800" b="1" dirty="0"/>
              <a:t>4</a:t>
            </a:r>
          </a:p>
        </p:txBody>
      </p:sp>
      <p:sp>
        <p:nvSpPr>
          <p:cNvPr id="5" name="Title"/>
          <p:cNvSpPr/>
          <p:nvPr/>
        </p:nvSpPr>
        <p:spPr>
          <a:xfrm>
            <a:off x="457199" y="109728"/>
            <a:ext cx="6880671" cy="530352"/>
          </a:xfrm>
          <a:prstGeom prst="rect">
            <a:avLst/>
          </a:prstGeom>
          <a:noFill/>
          <a:ln/>
        </p:spPr>
        <p:txBody>
          <a:bodyPr wrap="square" lIns="0" tIns="0" rIns="0" bIns="0" rtlCol="0" anchor="ctr"/>
          <a:lstStyle/>
          <a:p>
            <a:pPr marL="0" indent="0">
              <a:buNone/>
            </a:pPr>
            <a:r>
              <a:rPr lang="en-US" sz="2200" b="1" dirty="0">
                <a:solidFill>
                  <a:srgbClr val="0D1B2A"/>
                </a:solidFill>
                <a:latin typeface="Trebuchet MS" pitchFamily="34" charset="0"/>
              </a:rPr>
              <a:t>Per-Class F1</a:t>
            </a:r>
          </a:p>
        </p:txBody>
      </p:sp>
      <p:sp>
        <p:nvSpPr>
          <p:cNvPr id="20" name="ClassBG"/>
          <p:cNvSpPr/>
          <p:nvPr/>
        </p:nvSpPr>
        <p:spPr>
          <a:xfrm>
            <a:off x="4350994" y="740160"/>
            <a:ext cx="4663920" cy="3823920"/>
          </a:xfrm>
          <a:prstGeom prst="rect">
            <a:avLst/>
          </a:prstGeom>
          <a:solidFill>
            <a:srgbClr val="FFFFFF"/>
          </a:solidFill>
          <a:ln w="6350">
            <a:solidFill>
              <a:srgbClr val="D8E4EC"/>
            </a:solidFill>
          </a:ln>
          <a:effectLst>
            <a:outerShdw blurRad="101600" dist="38100" dir="8100000" algn="bl" rotWithShape="0">
              <a:srgbClr val="000000">
                <a:alpha val="10000"/>
              </a:srgbClr>
            </a:outerShdw>
          </a:effectLst>
        </p:spPr>
        <p:txBody>
          <a:bodyPr/>
          <a:lstStyle/>
          <a:p>
            <a:endParaRPr lang="en-US"/>
          </a:p>
        </p:txBody>
      </p:sp>
      <p:sp>
        <p:nvSpPr>
          <p:cNvPr id="30" name="Bar1fill"/>
          <p:cNvSpPr/>
          <p:nvPr/>
        </p:nvSpPr>
        <p:spPr>
          <a:xfrm>
            <a:off x="4443154" y="740160"/>
            <a:ext cx="2194560" cy="357120"/>
          </a:xfrm>
          <a:prstGeom prst="rect">
            <a:avLst/>
          </a:prstGeom>
          <a:solidFill>
            <a:srgbClr val="00A896"/>
          </a:solidFill>
          <a:ln w="0">
            <a:noFill/>
          </a:ln>
        </p:spPr>
        <p:txBody>
          <a:bodyPr/>
          <a:lstStyle/>
          <a:p>
            <a:endParaRPr lang="en-US"/>
          </a:p>
        </p:txBody>
      </p:sp>
      <p:sp>
        <p:nvSpPr>
          <p:cNvPr id="31" name="Bar1txt"/>
          <p:cNvSpPr/>
          <p:nvPr/>
        </p:nvSpPr>
        <p:spPr>
          <a:xfrm>
            <a:off x="4443154" y="740160"/>
            <a:ext cx="4480560" cy="357120"/>
          </a:xfrm>
          <a:prstGeom prst="rect">
            <a:avLst/>
          </a:prstGeom>
          <a:noFill/>
          <a:ln/>
        </p:spPr>
        <p:txBody>
          <a:bodyPr wrap="square" lIns="91440" tIns="0" rIns="0" bIns="0" rtlCol="0" anchor="ctr"/>
          <a:lstStyle/>
          <a:p>
            <a:pPr>
              <a:buNone/>
            </a:pPr>
            <a:r>
              <a:rPr lang="en-US" sz="1100" b="1" dirty="0">
                <a:solidFill>
                  <a:srgbClr val="FFFFFF"/>
                </a:solidFill>
                <a:latin typeface="Calibri"/>
              </a:rPr>
              <a:t>🔥 Fire    0.457  		           </a:t>
            </a:r>
            <a:r>
              <a:rPr lang="en-US" sz="900" dirty="0">
                <a:latin typeface="Calibri"/>
              </a:rPr>
              <a:t>distinctive orange palette</a:t>
            </a:r>
          </a:p>
        </p:txBody>
      </p:sp>
      <p:sp>
        <p:nvSpPr>
          <p:cNvPr id="32" name="Bar2fill"/>
          <p:cNvSpPr/>
          <p:nvPr/>
        </p:nvSpPr>
        <p:spPr>
          <a:xfrm>
            <a:off x="4443154" y="1133280"/>
            <a:ext cx="1737360" cy="329184"/>
          </a:xfrm>
          <a:prstGeom prst="rect">
            <a:avLst/>
          </a:prstGeom>
          <a:solidFill>
            <a:srgbClr val="028090"/>
          </a:solidFill>
          <a:ln w="0">
            <a:noFill/>
          </a:ln>
        </p:spPr>
        <p:txBody>
          <a:bodyPr/>
          <a:lstStyle/>
          <a:p>
            <a:endParaRPr lang="en-US"/>
          </a:p>
        </p:txBody>
      </p:sp>
      <p:sp>
        <p:nvSpPr>
          <p:cNvPr id="33" name="Bar2txt"/>
          <p:cNvSpPr/>
          <p:nvPr/>
        </p:nvSpPr>
        <p:spPr>
          <a:xfrm>
            <a:off x="4443154" y="1133280"/>
            <a:ext cx="4480560" cy="329184"/>
          </a:xfrm>
          <a:prstGeom prst="rect">
            <a:avLst/>
          </a:prstGeom>
          <a:noFill/>
          <a:ln/>
        </p:spPr>
        <p:txBody>
          <a:bodyPr wrap="square" lIns="91440" tIns="0" rIns="0" bIns="0" rtlCol="0" anchor="ctr"/>
          <a:lstStyle/>
          <a:p>
            <a:pPr>
              <a:buNone/>
            </a:pPr>
            <a:r>
              <a:rPr lang="en-US" sz="1100" b="1" dirty="0">
                <a:solidFill>
                  <a:srgbClr val="FFFFFF"/>
                </a:solidFill>
                <a:latin typeface="Calibri"/>
              </a:rPr>
              <a:t>☠️ Poison  0.359                       </a:t>
            </a:r>
            <a:r>
              <a:rPr lang="en-US" sz="900" dirty="0">
                <a:solidFill>
                  <a:srgbClr val="1A2B3C"/>
                </a:solidFill>
                <a:latin typeface="Calibri"/>
              </a:rPr>
              <a:t>unique purple; LS prevents overconfidence</a:t>
            </a:r>
          </a:p>
        </p:txBody>
      </p:sp>
      <p:sp>
        <p:nvSpPr>
          <p:cNvPr id="34" name="Bar3fill"/>
          <p:cNvSpPr/>
          <p:nvPr/>
        </p:nvSpPr>
        <p:spPr>
          <a:xfrm>
            <a:off x="4443154" y="1517904"/>
            <a:ext cx="1600200" cy="329184"/>
          </a:xfrm>
          <a:prstGeom prst="rect">
            <a:avLst/>
          </a:prstGeom>
          <a:solidFill>
            <a:srgbClr val="028090"/>
          </a:solidFill>
          <a:ln w="0">
            <a:noFill/>
          </a:ln>
        </p:spPr>
        <p:txBody>
          <a:bodyPr/>
          <a:lstStyle/>
          <a:p>
            <a:endParaRPr lang="en-US"/>
          </a:p>
        </p:txBody>
      </p:sp>
      <p:sp>
        <p:nvSpPr>
          <p:cNvPr id="35" name="Bar3txt"/>
          <p:cNvSpPr/>
          <p:nvPr/>
        </p:nvSpPr>
        <p:spPr>
          <a:xfrm>
            <a:off x="4443154" y="1517904"/>
            <a:ext cx="4480560" cy="329184"/>
          </a:xfrm>
          <a:prstGeom prst="rect">
            <a:avLst/>
          </a:prstGeom>
          <a:noFill/>
          <a:ln/>
        </p:spPr>
        <p:txBody>
          <a:bodyPr wrap="square" lIns="91440" tIns="0" rIns="0" bIns="0" rtlCol="0" anchor="ctr"/>
          <a:lstStyle/>
          <a:p>
            <a:pPr>
              <a:buNone/>
            </a:pPr>
            <a:r>
              <a:rPr lang="en-US" sz="1100" b="1" dirty="0">
                <a:solidFill>
                  <a:srgbClr val="FFFFFF"/>
                </a:solidFill>
                <a:latin typeface="Calibri"/>
              </a:rPr>
              <a:t>💧 Water   0.332                  </a:t>
            </a:r>
            <a:r>
              <a:rPr lang="en-US" sz="900" dirty="0">
                <a:solidFill>
                  <a:srgbClr val="1A2B3C"/>
                </a:solidFill>
                <a:latin typeface="Calibri"/>
              </a:rPr>
              <a:t>blue palette helps; confused with Normal</a:t>
            </a:r>
          </a:p>
        </p:txBody>
      </p:sp>
      <p:sp>
        <p:nvSpPr>
          <p:cNvPr id="36" name="Bar4fill"/>
          <p:cNvSpPr/>
          <p:nvPr/>
        </p:nvSpPr>
        <p:spPr>
          <a:xfrm>
            <a:off x="4443154" y="1902528"/>
            <a:ext cx="1371600" cy="329184"/>
          </a:xfrm>
          <a:prstGeom prst="rect">
            <a:avLst/>
          </a:prstGeom>
          <a:solidFill>
            <a:srgbClr val="1C3A52"/>
          </a:solidFill>
          <a:ln w="0">
            <a:noFill/>
          </a:ln>
        </p:spPr>
        <p:txBody>
          <a:bodyPr/>
          <a:lstStyle/>
          <a:p>
            <a:endParaRPr lang="en-US"/>
          </a:p>
        </p:txBody>
      </p:sp>
      <p:sp>
        <p:nvSpPr>
          <p:cNvPr id="37" name="Bar4txt"/>
          <p:cNvSpPr/>
          <p:nvPr/>
        </p:nvSpPr>
        <p:spPr>
          <a:xfrm>
            <a:off x="4443154" y="1902528"/>
            <a:ext cx="4480560" cy="329184"/>
          </a:xfrm>
          <a:prstGeom prst="rect">
            <a:avLst/>
          </a:prstGeom>
          <a:noFill/>
          <a:ln/>
        </p:spPr>
        <p:txBody>
          <a:bodyPr wrap="square" lIns="91440" tIns="0" rIns="0" bIns="0" rtlCol="0" anchor="ctr"/>
          <a:lstStyle/>
          <a:p>
            <a:pPr>
              <a:buNone/>
            </a:pPr>
            <a:r>
              <a:rPr lang="en-US" sz="1100" b="1" dirty="0">
                <a:solidFill>
                  <a:srgbClr val="FFFFFF"/>
                </a:solidFill>
                <a:latin typeface="Calibri"/>
              </a:rPr>
              <a:t>🌿 Grass   0.286            </a:t>
            </a:r>
            <a:r>
              <a:rPr lang="en-US" sz="900" dirty="0">
                <a:solidFill>
                  <a:srgbClr val="1A2B3C"/>
                </a:solidFill>
                <a:latin typeface="Calibri"/>
              </a:rPr>
              <a:t>green palette; confused with Bug</a:t>
            </a:r>
          </a:p>
        </p:txBody>
      </p:sp>
      <p:sp>
        <p:nvSpPr>
          <p:cNvPr id="38" name="Bar5fill"/>
          <p:cNvSpPr/>
          <p:nvPr/>
        </p:nvSpPr>
        <p:spPr>
          <a:xfrm>
            <a:off x="4443154" y="2287152"/>
            <a:ext cx="1028160" cy="329184"/>
          </a:xfrm>
          <a:prstGeom prst="rect">
            <a:avLst/>
          </a:prstGeom>
          <a:solidFill>
            <a:srgbClr val="1C3A52"/>
          </a:solidFill>
          <a:ln w="0">
            <a:noFill/>
          </a:ln>
        </p:spPr>
        <p:txBody>
          <a:bodyPr/>
          <a:lstStyle/>
          <a:p>
            <a:endParaRPr lang="en-US"/>
          </a:p>
        </p:txBody>
      </p:sp>
      <p:sp>
        <p:nvSpPr>
          <p:cNvPr id="39" name="Bar5txt"/>
          <p:cNvSpPr/>
          <p:nvPr/>
        </p:nvSpPr>
        <p:spPr>
          <a:xfrm>
            <a:off x="4443154" y="2287152"/>
            <a:ext cx="4480560" cy="329184"/>
          </a:xfrm>
          <a:prstGeom prst="rect">
            <a:avLst/>
          </a:prstGeom>
          <a:noFill/>
          <a:ln/>
        </p:spPr>
        <p:txBody>
          <a:bodyPr wrap="square" lIns="91440" tIns="0" rIns="0" bIns="0" rtlCol="0" anchor="ctr"/>
          <a:lstStyle/>
          <a:p>
            <a:pPr>
              <a:buNone/>
            </a:pPr>
            <a:r>
              <a:rPr lang="en-US" sz="1100" b="1" dirty="0">
                <a:solidFill>
                  <a:schemeClr val="bg1"/>
                </a:solidFill>
                <a:latin typeface="Calibri"/>
              </a:rPr>
              <a:t>😐 Normal  0.2</a:t>
            </a:r>
            <a:r>
              <a:rPr lang="en-US" sz="1100" b="1" dirty="0">
                <a:latin typeface="Calibri"/>
              </a:rPr>
              <a:t>15</a:t>
            </a:r>
            <a:r>
              <a:rPr lang="en-US" sz="1100" b="1" dirty="0">
                <a:solidFill>
                  <a:schemeClr val="bg1"/>
                </a:solidFill>
                <a:latin typeface="Calibri"/>
              </a:rPr>
              <a:t> </a:t>
            </a:r>
            <a:r>
              <a:rPr lang="en-US" sz="1100" b="1" dirty="0">
                <a:solidFill>
                  <a:srgbClr val="1C3A52"/>
                </a:solidFill>
                <a:latin typeface="Calibri"/>
              </a:rPr>
              <a:t> </a:t>
            </a:r>
            <a:r>
              <a:rPr lang="en-US" sz="900" dirty="0">
                <a:solidFill>
                  <a:srgbClr val="1A2B3C"/>
                </a:solidFill>
                <a:latin typeface="Calibri"/>
              </a:rPr>
              <a:t>most diverse; no distinctive colour</a:t>
            </a:r>
          </a:p>
        </p:txBody>
      </p:sp>
      <p:sp>
        <p:nvSpPr>
          <p:cNvPr id="40" name="Bar6fill"/>
          <p:cNvSpPr/>
          <p:nvPr/>
        </p:nvSpPr>
        <p:spPr>
          <a:xfrm>
            <a:off x="4443154" y="2671776"/>
            <a:ext cx="668880" cy="329184"/>
          </a:xfrm>
          <a:prstGeom prst="rect">
            <a:avLst/>
          </a:prstGeom>
          <a:solidFill>
            <a:srgbClr val="C0392B"/>
          </a:solidFill>
          <a:ln w="0">
            <a:noFill/>
          </a:ln>
        </p:spPr>
        <p:txBody>
          <a:bodyPr/>
          <a:lstStyle/>
          <a:p>
            <a:endParaRPr lang="en-US"/>
          </a:p>
        </p:txBody>
      </p:sp>
      <p:sp>
        <p:nvSpPr>
          <p:cNvPr id="41" name="Bar6txt"/>
          <p:cNvSpPr/>
          <p:nvPr/>
        </p:nvSpPr>
        <p:spPr>
          <a:xfrm>
            <a:off x="4443154" y="2671776"/>
            <a:ext cx="4480560" cy="329184"/>
          </a:xfrm>
          <a:prstGeom prst="rect">
            <a:avLst/>
          </a:prstGeom>
          <a:noFill/>
          <a:ln/>
        </p:spPr>
        <p:txBody>
          <a:bodyPr wrap="square" lIns="91440" tIns="0" rIns="0" bIns="0" rtlCol="0" anchor="ctr"/>
          <a:lstStyle/>
          <a:p>
            <a:pPr>
              <a:buNone/>
            </a:pPr>
            <a:r>
              <a:rPr lang="en-US" sz="1100" b="1" dirty="0">
                <a:solidFill>
                  <a:srgbClr val="FFFFFF"/>
                </a:solidFill>
                <a:latin typeface="Calibri"/>
              </a:rPr>
              <a:t>🐛 Bug  </a:t>
            </a:r>
            <a:r>
              <a:rPr lang="en-US" sz="1100" b="1" dirty="0">
                <a:latin typeface="Calibri"/>
              </a:rPr>
              <a:t>   0.140  </a:t>
            </a:r>
            <a:r>
              <a:rPr lang="en-US" sz="900" dirty="0">
                <a:solidFill>
                  <a:srgbClr val="1A2B3C"/>
                </a:solidFill>
                <a:latin typeface="Calibri"/>
              </a:rPr>
              <a:t>green overlaps Grass; confused with Normal</a:t>
            </a:r>
          </a:p>
        </p:txBody>
      </p:sp>
      <p:sp>
        <p:nvSpPr>
          <p:cNvPr id="42" name="Bar7fill"/>
          <p:cNvSpPr/>
          <p:nvPr/>
        </p:nvSpPr>
        <p:spPr>
          <a:xfrm>
            <a:off x="4443154" y="3056400"/>
            <a:ext cx="640080" cy="329184"/>
          </a:xfrm>
          <a:prstGeom prst="rect">
            <a:avLst/>
          </a:prstGeom>
          <a:solidFill>
            <a:srgbClr val="C0392B"/>
          </a:solidFill>
          <a:ln w="0">
            <a:noFill/>
          </a:ln>
        </p:spPr>
        <p:txBody>
          <a:bodyPr/>
          <a:lstStyle/>
          <a:p>
            <a:endParaRPr lang="en-US"/>
          </a:p>
        </p:txBody>
      </p:sp>
      <p:sp>
        <p:nvSpPr>
          <p:cNvPr id="43" name="Bar7txt"/>
          <p:cNvSpPr/>
          <p:nvPr/>
        </p:nvSpPr>
        <p:spPr>
          <a:xfrm>
            <a:off x="4443154" y="3056400"/>
            <a:ext cx="4480560" cy="329184"/>
          </a:xfrm>
          <a:prstGeom prst="rect">
            <a:avLst/>
          </a:prstGeom>
          <a:noFill/>
          <a:ln/>
        </p:spPr>
        <p:txBody>
          <a:bodyPr wrap="square" lIns="91440" tIns="0" rIns="0" bIns="0" rtlCol="0" anchor="ctr"/>
          <a:lstStyle/>
          <a:p>
            <a:pPr>
              <a:buNone/>
            </a:pPr>
            <a:r>
              <a:rPr lang="en-US" sz="1100" b="1" dirty="0">
                <a:solidFill>
                  <a:srgbClr val="FFFFFF"/>
                </a:solidFill>
                <a:latin typeface="Calibri"/>
              </a:rPr>
              <a:t>🗿 Rock</a:t>
            </a:r>
            <a:r>
              <a:rPr lang="en-US" sz="1100" b="1" dirty="0">
                <a:latin typeface="Calibri"/>
              </a:rPr>
              <a:t>    0.134  </a:t>
            </a:r>
            <a:r>
              <a:rPr lang="en-US" sz="900" dirty="0">
                <a:solidFill>
                  <a:srgbClr val="1A2B3C"/>
                </a:solidFill>
                <a:latin typeface="Calibri"/>
              </a:rPr>
              <a:t>grey/brown shared with Ground and Fighting</a:t>
            </a:r>
          </a:p>
        </p:txBody>
      </p:sp>
      <p:sp>
        <p:nvSpPr>
          <p:cNvPr id="44" name="Bar8fill"/>
          <p:cNvSpPr/>
          <p:nvPr/>
        </p:nvSpPr>
        <p:spPr>
          <a:xfrm>
            <a:off x="4443154" y="3441024"/>
            <a:ext cx="602640" cy="329184"/>
          </a:xfrm>
          <a:prstGeom prst="rect">
            <a:avLst/>
          </a:prstGeom>
          <a:solidFill>
            <a:srgbClr val="C0392B"/>
          </a:solidFill>
          <a:ln w="0">
            <a:noFill/>
          </a:ln>
        </p:spPr>
        <p:txBody>
          <a:bodyPr/>
          <a:lstStyle/>
          <a:p>
            <a:endParaRPr lang="en-US"/>
          </a:p>
        </p:txBody>
      </p:sp>
      <p:sp>
        <p:nvSpPr>
          <p:cNvPr id="45" name="Bar8txt"/>
          <p:cNvSpPr/>
          <p:nvPr/>
        </p:nvSpPr>
        <p:spPr>
          <a:xfrm>
            <a:off x="4443154" y="3441024"/>
            <a:ext cx="4480560" cy="329184"/>
          </a:xfrm>
          <a:prstGeom prst="rect">
            <a:avLst/>
          </a:prstGeom>
          <a:noFill/>
          <a:ln/>
        </p:spPr>
        <p:txBody>
          <a:bodyPr wrap="square" lIns="91440" tIns="0" rIns="0" bIns="0" rtlCol="0" anchor="ctr"/>
          <a:lstStyle/>
          <a:p>
            <a:pPr>
              <a:buNone/>
            </a:pPr>
            <a:r>
              <a:rPr lang="en-US" sz="1100" b="1" dirty="0">
                <a:solidFill>
                  <a:srgbClr val="FFFFFF"/>
                </a:solidFill>
                <a:latin typeface="Calibri"/>
              </a:rPr>
              <a:t>⚔️ Fight </a:t>
            </a:r>
            <a:r>
              <a:rPr lang="en-US" sz="1100" b="1" dirty="0">
                <a:latin typeface="Calibri"/>
              </a:rPr>
              <a:t> 0.126  </a:t>
            </a:r>
            <a:r>
              <a:rPr lang="en-US" sz="900" dirty="0">
                <a:solidFill>
                  <a:srgbClr val="1A2B3C"/>
                </a:solidFill>
                <a:latin typeface="Calibri"/>
              </a:rPr>
              <a:t>humanoid silhouette = same as Normal for MLP</a:t>
            </a:r>
          </a:p>
        </p:txBody>
      </p:sp>
      <p:sp>
        <p:nvSpPr>
          <p:cNvPr id="46" name="Bar9fill"/>
          <p:cNvSpPr/>
          <p:nvPr/>
        </p:nvSpPr>
        <p:spPr>
          <a:xfrm>
            <a:off x="4443154" y="3825648"/>
            <a:ext cx="511200" cy="329184"/>
          </a:xfrm>
          <a:prstGeom prst="rect">
            <a:avLst/>
          </a:prstGeom>
          <a:solidFill>
            <a:srgbClr val="C0392B"/>
          </a:solidFill>
          <a:ln w="0">
            <a:noFill/>
          </a:ln>
        </p:spPr>
        <p:txBody>
          <a:bodyPr/>
          <a:lstStyle/>
          <a:p>
            <a:endParaRPr lang="en-US"/>
          </a:p>
        </p:txBody>
      </p:sp>
      <p:sp>
        <p:nvSpPr>
          <p:cNvPr id="47" name="Bar9txt"/>
          <p:cNvSpPr/>
          <p:nvPr/>
        </p:nvSpPr>
        <p:spPr>
          <a:xfrm>
            <a:off x="4443154" y="3825648"/>
            <a:ext cx="4480560" cy="329184"/>
          </a:xfrm>
          <a:prstGeom prst="rect">
            <a:avLst/>
          </a:prstGeom>
          <a:noFill/>
          <a:ln/>
        </p:spPr>
        <p:txBody>
          <a:bodyPr wrap="square" lIns="91440" tIns="0" rIns="0" bIns="0" rtlCol="0" anchor="ctr"/>
          <a:lstStyle/>
          <a:p>
            <a:pPr>
              <a:buNone/>
            </a:pPr>
            <a:r>
              <a:rPr lang="en-US" sz="1100" b="1" dirty="0">
                <a:solidFill>
                  <a:srgbClr val="FFFFFF"/>
                </a:solidFill>
                <a:latin typeface="Calibri"/>
              </a:rPr>
              <a:t>🌍 Gro</a:t>
            </a:r>
            <a:r>
              <a:rPr lang="en-US" sz="1100" b="1" dirty="0">
                <a:latin typeface="Calibri"/>
              </a:rPr>
              <a:t>und 0.107  </a:t>
            </a:r>
            <a:r>
              <a:rPr lang="en-US" sz="900" dirty="0">
                <a:solidFill>
                  <a:srgbClr val="1A2B3C"/>
                </a:solidFill>
                <a:latin typeface="Calibri"/>
              </a:rPr>
              <a:t>fewest samples (244) + brown/grey overlap</a:t>
            </a:r>
          </a:p>
        </p:txBody>
      </p:sp>
      <p:sp>
        <p:nvSpPr>
          <p:cNvPr id="50" name="InsightBG"/>
          <p:cNvSpPr/>
          <p:nvPr/>
        </p:nvSpPr>
        <p:spPr>
          <a:xfrm>
            <a:off x="274320" y="4628400"/>
            <a:ext cx="8595360" cy="457200"/>
          </a:xfrm>
          <a:prstGeom prst="rect">
            <a:avLst/>
          </a:prstGeom>
          <a:solidFill>
            <a:srgbClr val="1C3A52"/>
          </a:solidFill>
          <a:ln w="0">
            <a:noFill/>
          </a:ln>
        </p:spPr>
        <p:txBody>
          <a:bodyPr/>
          <a:lstStyle/>
          <a:p>
            <a:endParaRPr lang="en-US"/>
          </a:p>
        </p:txBody>
      </p:sp>
      <p:sp>
        <p:nvSpPr>
          <p:cNvPr id="51" name="InsightText"/>
          <p:cNvSpPr/>
          <p:nvPr/>
        </p:nvSpPr>
        <p:spPr>
          <a:xfrm>
            <a:off x="457200" y="4665480"/>
            <a:ext cx="8228160" cy="384840"/>
          </a:xfrm>
          <a:prstGeom prst="rect">
            <a:avLst/>
          </a:prstGeom>
          <a:noFill/>
          <a:ln/>
        </p:spPr>
        <p:txBody>
          <a:bodyPr wrap="square" rtlCol="0" anchor="ctr"/>
          <a:lstStyle/>
          <a:p>
            <a:pPr>
              <a:buNone/>
            </a:pPr>
            <a:r>
              <a:rPr lang="en-US" sz="1100" b="1" dirty="0">
                <a:solidFill>
                  <a:schemeClr val="accent2">
                    <a:lumMod val="40000"/>
                    <a:lumOff val="60000"/>
                  </a:schemeClr>
                </a:solidFill>
                <a:latin typeface="Trebuchet MS"/>
              </a:rPr>
              <a:t>Pattern: Color Palette Drives Performance - </a:t>
            </a:r>
            <a:r>
              <a:rPr lang="en-US" sz="1200" dirty="0">
                <a:solidFill>
                  <a:srgbClr val="AACCD8"/>
                </a:solidFill>
                <a:latin typeface="Calibri"/>
              </a:rPr>
              <a:t>distinctive colour = high F1 (Fire/Poison/Water); shared palette or humanoid shape = low F1 (Bug/Rock/Fighting/Ground). MLP on flat pixels is essentially a colour histogram classifier.</a:t>
            </a:r>
          </a:p>
        </p:txBody>
      </p:sp>
      <p:grpSp>
        <p:nvGrpSpPr>
          <p:cNvPr id="14" name="Group 13">
            <a:extLst>
              <a:ext uri="{FF2B5EF4-FFF2-40B4-BE49-F238E27FC236}">
                <a16:creationId xmlns:a16="http://schemas.microsoft.com/office/drawing/2014/main" id="{D7D7BD19-8433-4220-0326-4A5E6E9DD5F1}"/>
              </a:ext>
            </a:extLst>
          </p:cNvPr>
          <p:cNvGrpSpPr/>
          <p:nvPr/>
        </p:nvGrpSpPr>
        <p:grpSpPr>
          <a:xfrm>
            <a:off x="62346" y="704400"/>
            <a:ext cx="4159440" cy="3812241"/>
            <a:chOff x="328275" y="1078992"/>
            <a:chExt cx="5948798" cy="5452234"/>
          </a:xfrm>
        </p:grpSpPr>
        <p:pic>
          <p:nvPicPr>
            <p:cNvPr id="8" name="Picture 7">
              <a:extLst>
                <a:ext uri="{FF2B5EF4-FFF2-40B4-BE49-F238E27FC236}">
                  <a16:creationId xmlns:a16="http://schemas.microsoft.com/office/drawing/2014/main" id="{521649CF-B41C-41B2-9BCE-27EF28A8079C}"/>
                </a:ext>
              </a:extLst>
            </p:cNvPr>
            <p:cNvPicPr>
              <a:picLocks noChangeAspect="1"/>
            </p:cNvPicPr>
            <p:nvPr/>
          </p:nvPicPr>
          <p:blipFill>
            <a:blip r:embed="rId2"/>
            <a:srcRect l="7907" b="32403"/>
            <a:stretch>
              <a:fillRect/>
            </a:stretch>
          </p:blipFill>
          <p:spPr>
            <a:xfrm>
              <a:off x="328275" y="1078992"/>
              <a:ext cx="5894723" cy="5232293"/>
            </a:xfrm>
            <a:prstGeom prst="rect">
              <a:avLst/>
            </a:prstGeom>
          </p:spPr>
        </p:pic>
        <p:pic>
          <p:nvPicPr>
            <p:cNvPr id="9" name="Picture 8">
              <a:extLst>
                <a:ext uri="{FF2B5EF4-FFF2-40B4-BE49-F238E27FC236}">
                  <a16:creationId xmlns:a16="http://schemas.microsoft.com/office/drawing/2014/main" id="{A4C3F6E0-4B22-02B8-7D33-E48BFF2088EE}"/>
                </a:ext>
              </a:extLst>
            </p:cNvPr>
            <p:cNvPicPr>
              <a:picLocks noChangeAspect="1"/>
            </p:cNvPicPr>
            <p:nvPr/>
          </p:nvPicPr>
          <p:blipFill>
            <a:blip r:embed="rId2"/>
            <a:srcRect l="7907" t="93501"/>
            <a:stretch>
              <a:fillRect/>
            </a:stretch>
          </p:blipFill>
          <p:spPr>
            <a:xfrm>
              <a:off x="382349" y="6028195"/>
              <a:ext cx="5894724" cy="503031"/>
            </a:xfrm>
            <a:prstGeom prst="rect">
              <a:avLst/>
            </a:prstGeom>
          </p:spPr>
        </p:pic>
        <p:sp>
          <p:nvSpPr>
            <p:cNvPr id="12" name="Rectangle 11">
              <a:extLst>
                <a:ext uri="{FF2B5EF4-FFF2-40B4-BE49-F238E27FC236}">
                  <a16:creationId xmlns:a16="http://schemas.microsoft.com/office/drawing/2014/main" id="{CF15CF4F-F84D-2F98-42DC-4C7FCC704E0E}"/>
                </a:ext>
              </a:extLst>
            </p:cNvPr>
            <p:cNvSpPr/>
            <p:nvPr/>
          </p:nvSpPr>
          <p:spPr>
            <a:xfrm>
              <a:off x="484106" y="5453535"/>
              <a:ext cx="5351533" cy="574659"/>
            </a:xfrm>
            <a:prstGeom prst="rect">
              <a:avLst/>
            </a:prstGeom>
            <a:gradFill flip="none" rotWithShape="1">
              <a:gsLst>
                <a:gs pos="0">
                  <a:schemeClr val="bg1">
                    <a:alpha val="0"/>
                  </a:schemeClr>
                </a:gs>
                <a:gs pos="76000">
                  <a:schemeClr val="bg1"/>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3" name="TextBox 12">
              <a:extLst>
                <a:ext uri="{FF2B5EF4-FFF2-40B4-BE49-F238E27FC236}">
                  <a16:creationId xmlns:a16="http://schemas.microsoft.com/office/drawing/2014/main" id="{12A7E1E9-F967-D1E3-186E-9C912BC32AB9}"/>
                </a:ext>
              </a:extLst>
            </p:cNvPr>
            <p:cNvSpPr txBox="1"/>
            <p:nvPr/>
          </p:nvSpPr>
          <p:spPr>
            <a:xfrm>
              <a:off x="1197893" y="5754481"/>
              <a:ext cx="4769552" cy="370577"/>
            </a:xfrm>
            <a:prstGeom prst="rect">
              <a:avLst/>
            </a:prstGeom>
            <a:noFill/>
          </p:spPr>
          <p:txBody>
            <a:bodyPr wrap="square">
              <a:spAutoFit/>
            </a:bodyPr>
            <a:lstStyle/>
            <a:p>
              <a:pPr>
                <a:lnSpc>
                  <a:spcPts val="1425"/>
                </a:lnSpc>
              </a:pPr>
              <a:r>
                <a:rPr lang="pt-PT" sz="1000" dirty="0">
                  <a:solidFill>
                    <a:schemeClr val="bg1"/>
                  </a:solidFill>
                  <a:latin typeface="Consolas" panose="020B0609020204030204" pitchFamily="49" charset="0"/>
                </a:rPr>
                <a:t>🐛u⚔️ </a:t>
              </a:r>
              <a:r>
                <a:rPr lang="pt-PT" sz="1000" b="0" dirty="0">
                  <a:solidFill>
                    <a:schemeClr val="bg1"/>
                  </a:solidFill>
                  <a:effectLst/>
                  <a:latin typeface="Consolas" panose="020B0609020204030204" pitchFamily="49" charset="0"/>
                </a:rPr>
                <a:t>🔥  </a:t>
              </a:r>
              <a:r>
                <a:rPr lang="pt-PT" sz="1000" dirty="0">
                  <a:solidFill>
                    <a:schemeClr val="bg1"/>
                  </a:solidFill>
                  <a:latin typeface="Consolas" panose="020B0609020204030204" pitchFamily="49" charset="0"/>
                </a:rPr>
                <a:t>🌿  🌍 </a:t>
              </a:r>
              <a:r>
                <a:rPr lang="pt-PT" sz="1000" b="0" dirty="0">
                  <a:solidFill>
                    <a:schemeClr val="bg1"/>
                  </a:solidFill>
                  <a:effectLst/>
                  <a:latin typeface="Consolas" panose="020B0609020204030204" pitchFamily="49" charset="0"/>
                </a:rPr>
                <a:t>😐  </a:t>
              </a:r>
              <a:r>
                <a:rPr lang="pt-PT" sz="1000" dirty="0">
                  <a:solidFill>
                    <a:schemeClr val="bg1"/>
                  </a:solidFill>
                  <a:latin typeface="Consolas" panose="020B0609020204030204" pitchFamily="49" charset="0"/>
                </a:rPr>
                <a:t>☠️ </a:t>
              </a:r>
              <a:r>
                <a:rPr lang="pt-PT" sz="1000" b="0" dirty="0">
                  <a:solidFill>
                    <a:schemeClr val="bg1"/>
                  </a:solidFill>
                  <a:effectLst/>
                  <a:latin typeface="Consolas" panose="020B0609020204030204" pitchFamily="49" charset="0"/>
                </a:rPr>
                <a:t>🪨  </a:t>
              </a:r>
              <a:r>
                <a:rPr lang="pt-PT" sz="1000" dirty="0">
                  <a:solidFill>
                    <a:schemeClr val="bg1"/>
                  </a:solidFill>
                  <a:latin typeface="Consolas" panose="020B0609020204030204" pitchFamily="49" charset="0"/>
                </a:rPr>
                <a:t>💧</a:t>
              </a:r>
              <a:r>
                <a:rPr lang="pt-PT" sz="800" b="1" dirty="0">
                  <a:latin typeface="Consolas" panose="020B0609020204030204" pitchFamily="49" charset="0"/>
                </a:rPr>
                <a:t>  </a:t>
              </a:r>
              <a:r>
                <a:rPr lang="pt-PT" sz="800" b="1" dirty="0" err="1">
                  <a:latin typeface="Consolas" panose="020B0609020204030204" pitchFamily="49" charset="0"/>
                </a:rPr>
                <a:t>avg</a:t>
              </a:r>
              <a:endParaRPr lang="pt-PT" sz="1000" b="1" dirty="0">
                <a:effectLst/>
                <a:latin typeface="Consolas" panose="020B0609020204030204" pitchFamily="49" charset="0"/>
              </a:endParaRPr>
            </a:p>
          </p:txBody>
        </p:sp>
      </p:gr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opBar"/>
          <p:cNvSpPr/>
          <p:nvPr/>
        </p:nvSpPr>
        <p:spPr>
          <a:xfrm>
            <a:off x="0" y="0"/>
            <a:ext cx="9144000" cy="64008"/>
          </a:xfrm>
          <a:prstGeom prst="rect">
            <a:avLst/>
          </a:prstGeom>
          <a:solidFill>
            <a:srgbClr val="00A896"/>
          </a:solidFill>
          <a:ln w="12700">
            <a:solidFill>
              <a:srgbClr val="00A896"/>
            </a:solidFill>
            <a:prstDash val="solid"/>
          </a:ln>
        </p:spPr>
        <p:txBody>
          <a:bodyPr/>
          <a:lstStyle/>
          <a:p>
            <a:endParaRPr lang="en-US"/>
          </a:p>
        </p:txBody>
      </p:sp>
      <p:sp>
        <p:nvSpPr>
          <p:cNvPr id="3" name="Badge"/>
          <p:cNvSpPr/>
          <p:nvPr/>
        </p:nvSpPr>
        <p:spPr>
          <a:xfrm>
            <a:off x="7498079" y="82296"/>
            <a:ext cx="1557633" cy="329184"/>
          </a:xfrm>
          <a:prstGeom prst="rect">
            <a:avLst/>
          </a:prstGeom>
          <a:solidFill>
            <a:srgbClr val="1C3A52"/>
          </a:solidFill>
          <a:ln w="12700">
            <a:solidFill>
              <a:srgbClr val="1C3A52"/>
            </a:solidFill>
            <a:prstDash val="solid"/>
          </a:ln>
        </p:spPr>
        <p:txBody>
          <a:bodyPr/>
          <a:lstStyle/>
          <a:p>
            <a:pPr algn="ctr"/>
            <a:r>
              <a:rPr lang="en-US" b="1" dirty="0">
                <a:solidFill>
                  <a:srgbClr val="FFFFFF"/>
                </a:solidFill>
              </a:rPr>
              <a:t>Perf Eval</a:t>
            </a:r>
          </a:p>
        </p:txBody>
      </p:sp>
      <p:sp>
        <p:nvSpPr>
          <p:cNvPr id="4" name="NumCircle"/>
          <p:cNvSpPr/>
          <p:nvPr/>
        </p:nvSpPr>
        <p:spPr>
          <a:xfrm>
            <a:off x="7088176" y="4253"/>
            <a:ext cx="470123" cy="470912"/>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2800" b="1" dirty="0"/>
              <a:t>4</a:t>
            </a:r>
          </a:p>
        </p:txBody>
      </p:sp>
      <p:sp>
        <p:nvSpPr>
          <p:cNvPr id="5" name="Title"/>
          <p:cNvSpPr/>
          <p:nvPr/>
        </p:nvSpPr>
        <p:spPr>
          <a:xfrm>
            <a:off x="457200" y="109728"/>
            <a:ext cx="6400800" cy="530352"/>
          </a:xfrm>
          <a:prstGeom prst="rect">
            <a:avLst/>
          </a:prstGeom>
          <a:noFill/>
          <a:ln/>
        </p:spPr>
        <p:txBody>
          <a:bodyPr wrap="square" lIns="0" tIns="0" rIns="0" bIns="0" rtlCol="0" anchor="ctr"/>
          <a:lstStyle/>
          <a:p>
            <a:pPr marL="0" indent="0">
              <a:buNone/>
            </a:pPr>
            <a:r>
              <a:rPr lang="en-US" sz="2200" b="1" dirty="0">
                <a:solidFill>
                  <a:srgbClr val="0D1B2A"/>
                </a:solidFill>
                <a:latin typeface="Trebuchet MS" pitchFamily="34" charset="0"/>
              </a:rPr>
              <a:t>Confusion Matrix — Normal as the Catch-All Class</a:t>
            </a:r>
          </a:p>
        </p:txBody>
      </p:sp>
      <p:sp>
        <p:nvSpPr>
          <p:cNvPr id="30" name="CatchBG"/>
          <p:cNvSpPr/>
          <p:nvPr/>
        </p:nvSpPr>
        <p:spPr>
          <a:xfrm>
            <a:off x="190237" y="3980347"/>
            <a:ext cx="4205520" cy="954705"/>
          </a:xfrm>
          <a:prstGeom prst="rect">
            <a:avLst/>
          </a:prstGeom>
          <a:solidFill>
            <a:srgbClr val="0D1B2A"/>
          </a:solidFill>
          <a:ln w="0">
            <a:noFill/>
          </a:ln>
        </p:spPr>
        <p:txBody>
          <a:bodyPr/>
          <a:lstStyle/>
          <a:p>
            <a:endParaRPr lang="en-US"/>
          </a:p>
        </p:txBody>
      </p:sp>
      <p:sp>
        <p:nvSpPr>
          <p:cNvPr id="31" name="CatchText"/>
          <p:cNvSpPr/>
          <p:nvPr/>
        </p:nvSpPr>
        <p:spPr>
          <a:xfrm>
            <a:off x="373117" y="3941304"/>
            <a:ext cx="4022640" cy="1324344"/>
          </a:xfrm>
          <a:prstGeom prst="rect">
            <a:avLst/>
          </a:prstGeom>
          <a:noFill/>
          <a:ln/>
        </p:spPr>
        <p:txBody>
          <a:bodyPr wrap="square" rtlCol="0" anchor="t"/>
          <a:lstStyle/>
          <a:p>
            <a:pPr>
              <a:buNone/>
            </a:pPr>
            <a:r>
              <a:rPr lang="en-US" sz="1200" b="1" dirty="0">
                <a:solidFill>
                  <a:srgbClr val="00A896"/>
                </a:solidFill>
                <a:latin typeface="Trebuchet MS"/>
              </a:rPr>
              <a:t>Why Normal is the catch-all</a:t>
            </a:r>
          </a:p>
          <a:p>
            <a:pPr marL="228600" indent="-228600">
              <a:buChar char="•"/>
            </a:pPr>
            <a:r>
              <a:rPr lang="en-US" sz="1100" dirty="0">
                <a:solidFill>
                  <a:schemeClr val="bg1"/>
                </a:solidFill>
                <a:latin typeface="Calibri"/>
              </a:rPr>
              <a:t>Normal = most diverse class: humanoids of every shape and size, no dominant colour</a:t>
            </a:r>
          </a:p>
          <a:p>
            <a:pPr marL="228600" indent="-228600">
              <a:buChar char="•"/>
            </a:pPr>
            <a:r>
              <a:rPr lang="en-US" sz="1100" dirty="0">
                <a:solidFill>
                  <a:schemeClr val="bg1"/>
                </a:solidFill>
                <a:latin typeface="Calibri"/>
              </a:rPr>
              <a:t>Bug, Fighting and Ground all lack distinctive palettes — the MLP falls back to predicting Normal</a:t>
            </a:r>
          </a:p>
        </p:txBody>
      </p:sp>
      <p:graphicFrame>
        <p:nvGraphicFramePr>
          <p:cNvPr id="8" name="Table 0"/>
          <p:cNvGraphicFramePr>
            <a:graphicFrameLocks noGrp="1"/>
          </p:cNvGraphicFramePr>
          <p:nvPr>
            <p:extLst>
              <p:ext uri="{D42A27DB-BD31-4B8C-83A1-F6EECF244321}">
                <p14:modId xmlns:p14="http://schemas.microsoft.com/office/powerpoint/2010/main" val="4165694185"/>
              </p:ext>
            </p:extLst>
          </p:nvPr>
        </p:nvGraphicFramePr>
        <p:xfrm>
          <a:off x="4782312" y="679680"/>
          <a:ext cx="4171451" cy="4367808"/>
        </p:xfrm>
        <a:graphic>
          <a:graphicData uri="http://schemas.openxmlformats.org/drawingml/2006/table">
            <a:tbl>
              <a:tblPr/>
              <a:tblGrid>
                <a:gridCol w="844851">
                  <a:extLst>
                    <a:ext uri="{9D8B030D-6E8A-4147-A177-3AD203B41FA5}">
                      <a16:colId xmlns:a16="http://schemas.microsoft.com/office/drawing/2014/main" val="20000"/>
                    </a:ext>
                  </a:extLst>
                </a:gridCol>
                <a:gridCol w="580835">
                  <a:extLst>
                    <a:ext uri="{9D8B030D-6E8A-4147-A177-3AD203B41FA5}">
                      <a16:colId xmlns:a16="http://schemas.microsoft.com/office/drawing/2014/main" val="20001"/>
                    </a:ext>
                  </a:extLst>
                </a:gridCol>
                <a:gridCol w="2745765">
                  <a:extLst>
                    <a:ext uri="{9D8B030D-6E8A-4147-A177-3AD203B41FA5}">
                      <a16:colId xmlns:a16="http://schemas.microsoft.com/office/drawing/2014/main" val="20002"/>
                    </a:ext>
                  </a:extLst>
                </a:gridCol>
              </a:tblGrid>
              <a:tr h="279540">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Class</a:t>
                      </a:r>
                      <a:endParaRPr lang="en-US" sz="1100" dirty="0">
                        <a:latin typeface="Calibri" charset="0"/>
                        <a:ea typeface="Calibri" charset="0"/>
                        <a:cs typeface="Calibri" charset="0"/>
                      </a:endParaRPr>
                    </a:p>
                  </a:txBody>
                  <a:tcP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0D1B2A"/>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F1</a:t>
                      </a:r>
                      <a:endParaRPr lang="en-US" sz="1100" dirty="0">
                        <a:latin typeface="Calibri" charset="0"/>
                        <a:ea typeface="Calibri" charset="0"/>
                        <a:cs typeface="Calibri" charset="0"/>
                      </a:endParaRPr>
                    </a:p>
                  </a:txBody>
                  <a:tcP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0D1B2A"/>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Main confusion</a:t>
                      </a:r>
                      <a:endParaRPr lang="en-US" sz="1100" dirty="0">
                        <a:latin typeface="Calibri" charset="0"/>
                        <a:ea typeface="Calibri" charset="0"/>
                        <a:cs typeface="Calibri" charset="0"/>
                      </a:endParaRPr>
                    </a:p>
                  </a:txBody>
                  <a:tcP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0D1B2A"/>
                    </a:solidFill>
                  </a:tcPr>
                </a:tc>
                <a:extLst>
                  <a:ext uri="{0D108BD9-81ED-4DB2-BD59-A6C34878D82A}">
                    <a16:rowId xmlns:a16="http://schemas.microsoft.com/office/drawing/2014/main" val="10000"/>
                  </a:ext>
                </a:extLst>
              </a:tr>
              <a:tr h="454252">
                <a:tc>
                  <a:txBody>
                    <a:bodyPr/>
                    <a:lstStyle/>
                    <a:p>
                      <a:pPr marL="0" indent="0">
                        <a:buNone/>
                      </a:pPr>
                      <a:r>
                        <a:rPr lang="en-US" sz="1100" b="1" dirty="0">
                          <a:solidFill>
                            <a:srgbClr val="000000"/>
                          </a:solidFill>
                          <a:latin typeface="Calibri" pitchFamily="34" charset="0"/>
                          <a:ea typeface="Calibri" pitchFamily="34" charset="-122"/>
                          <a:cs typeface="Calibri" pitchFamily="34" charset="-120"/>
                        </a:rPr>
                        <a:t>Fire</a:t>
                      </a:r>
                      <a:endParaRPr lang="en-US" sz="1100" b="1" dirty="0">
                        <a:latin typeface="Calibri" charset="0"/>
                        <a:ea typeface="Calibri" charset="0"/>
                        <a:cs typeface="Calibri" charset="0"/>
                      </a:endParaRPr>
                    </a:p>
                  </a:txBody>
                  <a:tcPr anchor="ct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E97C35"/>
                          </a:solidFill>
                          <a:latin typeface="Calibri" pitchFamily="34" charset="0"/>
                          <a:ea typeface="Calibri" pitchFamily="34" charset="-122"/>
                          <a:cs typeface="Calibri" pitchFamily="34" charset="-120"/>
                        </a:rPr>
                        <a:t>0.49</a:t>
                      </a:r>
                      <a:endParaRPr lang="en-US" sz="1100" dirty="0">
                        <a:latin typeface="Calibri" charset="0"/>
                        <a:ea typeface="Calibri" charset="0"/>
                        <a:cs typeface="Calibri" charset="0"/>
                      </a:endParaRPr>
                    </a:p>
                  </a:txBody>
                  <a:tcPr anchor="ct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Gets 49% of own class right — warm orange unique</a:t>
                      </a:r>
                      <a:endParaRPr lang="en-US" sz="1100" dirty="0">
                        <a:latin typeface="Calibri" charset="0"/>
                        <a:ea typeface="Calibri" charset="0"/>
                        <a:cs typeface="Calibri" charset="0"/>
                      </a:endParaRPr>
                    </a:p>
                  </a:txBody>
                  <a:tcPr anchor="ct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4252">
                <a:tc>
                  <a:txBody>
                    <a:bodyPr/>
                    <a:lstStyle/>
                    <a:p>
                      <a:pPr marL="0" indent="0">
                        <a:buNone/>
                      </a:pPr>
                      <a:r>
                        <a:rPr lang="en-US" sz="1100" b="1" dirty="0">
                          <a:solidFill>
                            <a:srgbClr val="000000"/>
                          </a:solidFill>
                          <a:latin typeface="Calibri" pitchFamily="34" charset="0"/>
                          <a:ea typeface="Calibri" pitchFamily="34" charset="-122"/>
                          <a:cs typeface="Calibri" pitchFamily="34" charset="-120"/>
                        </a:rPr>
                        <a:t>Poison</a:t>
                      </a:r>
                      <a:endParaRPr lang="en-US" sz="1100" b="1" dirty="0">
                        <a:latin typeface="Calibri" charset="0"/>
                        <a:ea typeface="Calibri" charset="0"/>
                        <a:cs typeface="Calibri" charset="0"/>
                      </a:endParaRPr>
                    </a:p>
                  </a:txBody>
                  <a:tcPr anchor="ct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00A896"/>
                          </a:solidFill>
                          <a:latin typeface="Calibri" pitchFamily="34" charset="0"/>
                          <a:ea typeface="Calibri" pitchFamily="34" charset="-122"/>
                          <a:cs typeface="Calibri" pitchFamily="34" charset="-120"/>
                        </a:rPr>
                        <a:t>0.40</a:t>
                      </a:r>
                      <a:endParaRPr lang="en-US" sz="1100" dirty="0">
                        <a:latin typeface="Calibri" charset="0"/>
                        <a:ea typeface="Calibri" charset="0"/>
                        <a:cs typeface="Calibri" charset="0"/>
                      </a:endParaRPr>
                    </a:p>
                  </a:txBody>
                  <a:tcPr anchor="ct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40% correct; confused with Water (purple→blue)</a:t>
                      </a:r>
                      <a:endParaRPr lang="en-US" sz="1100" dirty="0">
                        <a:latin typeface="Calibri" charset="0"/>
                        <a:ea typeface="Calibri" charset="0"/>
                        <a:cs typeface="Calibri" charset="0"/>
                      </a:endParaRPr>
                    </a:p>
                  </a:txBody>
                  <a:tcPr anchor="ct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54252">
                <a:tc>
                  <a:txBody>
                    <a:bodyPr/>
                    <a:lstStyle/>
                    <a:p>
                      <a:pPr marL="0" indent="0">
                        <a:buNone/>
                      </a:pPr>
                      <a:r>
                        <a:rPr lang="en-US" sz="1100" b="1" dirty="0">
                          <a:solidFill>
                            <a:srgbClr val="000000"/>
                          </a:solidFill>
                          <a:latin typeface="Calibri" pitchFamily="34" charset="0"/>
                          <a:ea typeface="Calibri" pitchFamily="34" charset="-122"/>
                          <a:cs typeface="Calibri" pitchFamily="34" charset="-120"/>
                        </a:rPr>
                        <a:t>Water</a:t>
                      </a:r>
                      <a:endParaRPr lang="en-US" sz="1100" b="1" dirty="0">
                        <a:latin typeface="Calibri" charset="0"/>
                        <a:ea typeface="Calibri" charset="0"/>
                        <a:cs typeface="Calibri" charset="0"/>
                      </a:endParaRPr>
                    </a:p>
                  </a:txBody>
                  <a:tcPr anchor="ct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000000"/>
                          </a:solidFill>
                          <a:latin typeface="Calibri" pitchFamily="34" charset="0"/>
                          <a:ea typeface="Calibri" pitchFamily="34" charset="-122"/>
                          <a:cs typeface="Calibri" pitchFamily="34" charset="-120"/>
                        </a:rPr>
                        <a:t>0.33</a:t>
                      </a:r>
                      <a:endParaRPr lang="en-US" sz="1100" dirty="0">
                        <a:latin typeface="Calibri" charset="0"/>
                        <a:ea typeface="Calibri" charset="0"/>
                        <a:cs typeface="Calibri" charset="0"/>
                      </a:endParaRPr>
                    </a:p>
                  </a:txBody>
                  <a:tcPr anchor="ct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High precision, low recall — confused with Normal</a:t>
                      </a:r>
                      <a:endParaRPr lang="en-US" sz="1100" dirty="0">
                        <a:latin typeface="Calibri" charset="0"/>
                        <a:ea typeface="Calibri" charset="0"/>
                        <a:cs typeface="Calibri" charset="0"/>
                      </a:endParaRPr>
                    </a:p>
                  </a:txBody>
                  <a:tcPr anchor="ct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4252">
                <a:tc>
                  <a:txBody>
                    <a:bodyPr/>
                    <a:lstStyle/>
                    <a:p>
                      <a:pPr marL="0" indent="0">
                        <a:buNone/>
                      </a:pPr>
                      <a:r>
                        <a:rPr lang="en-US" sz="1100" b="1" dirty="0">
                          <a:solidFill>
                            <a:srgbClr val="000000"/>
                          </a:solidFill>
                          <a:latin typeface="Calibri" pitchFamily="34" charset="0"/>
                          <a:ea typeface="Calibri" pitchFamily="34" charset="-122"/>
                          <a:cs typeface="Calibri" pitchFamily="34" charset="-120"/>
                        </a:rPr>
                        <a:t>Grass</a:t>
                      </a:r>
                      <a:endParaRPr lang="en-US" sz="1100" b="1" dirty="0">
                        <a:latin typeface="Calibri" charset="0"/>
                        <a:ea typeface="Calibri" charset="0"/>
                        <a:cs typeface="Calibri" charset="0"/>
                      </a:endParaRPr>
                    </a:p>
                  </a:txBody>
                  <a:tcPr anchor="ct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000000"/>
                          </a:solidFill>
                          <a:latin typeface="Calibri" pitchFamily="34" charset="0"/>
                          <a:ea typeface="Calibri" pitchFamily="34" charset="-122"/>
                          <a:cs typeface="Calibri" pitchFamily="34" charset="-120"/>
                        </a:rPr>
                        <a:t>0.35</a:t>
                      </a:r>
                      <a:endParaRPr lang="en-US" sz="1100" dirty="0">
                        <a:latin typeface="Calibri" charset="0"/>
                        <a:ea typeface="Calibri" charset="0"/>
                        <a:cs typeface="Calibri" charset="0"/>
                      </a:endParaRPr>
                    </a:p>
                  </a:txBody>
                  <a:tcPr anchor="ct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35% correct; confused with Bug (green palette)</a:t>
                      </a:r>
                      <a:endParaRPr lang="en-US" sz="1100" dirty="0">
                        <a:latin typeface="Calibri" charset="0"/>
                        <a:ea typeface="Calibri" charset="0"/>
                        <a:cs typeface="Calibri" charset="0"/>
                      </a:endParaRPr>
                    </a:p>
                  </a:txBody>
                  <a:tcPr anchor="ct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54252">
                <a:tc>
                  <a:txBody>
                    <a:bodyPr/>
                    <a:lstStyle/>
                    <a:p>
                      <a:pPr marL="0" indent="0">
                        <a:buNone/>
                      </a:pPr>
                      <a:r>
                        <a:rPr lang="en-US" sz="1100" b="1" dirty="0">
                          <a:solidFill>
                            <a:srgbClr val="000000"/>
                          </a:solidFill>
                          <a:latin typeface="Calibri" pitchFamily="34" charset="0"/>
                          <a:ea typeface="Calibri" pitchFamily="34" charset="-122"/>
                          <a:cs typeface="Calibri" pitchFamily="34" charset="-120"/>
                        </a:rPr>
                        <a:t>Normal</a:t>
                      </a:r>
                      <a:endParaRPr lang="en-US" sz="1100" b="1" dirty="0">
                        <a:latin typeface="Calibri" charset="0"/>
                        <a:ea typeface="Calibri" charset="0"/>
                        <a:cs typeface="Calibri" charset="0"/>
                      </a:endParaRPr>
                    </a:p>
                  </a:txBody>
                  <a:tcPr anchor="ct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000000"/>
                          </a:solidFill>
                          <a:latin typeface="Calibri" pitchFamily="34" charset="0"/>
                          <a:ea typeface="Calibri" pitchFamily="34" charset="-122"/>
                          <a:cs typeface="Calibri" pitchFamily="34" charset="-120"/>
                        </a:rPr>
                        <a:t>0.20</a:t>
                      </a:r>
                      <a:endParaRPr lang="en-US" sz="1100" dirty="0">
                        <a:latin typeface="Calibri" charset="0"/>
                        <a:ea typeface="Calibri" charset="0"/>
                        <a:cs typeface="Calibri" charset="0"/>
                      </a:endParaRPr>
                    </a:p>
                  </a:txBody>
                  <a:tcPr anchor="ct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Diverse humanoids — confused with Fire, Bug, Poison</a:t>
                      </a:r>
                      <a:endParaRPr lang="en-US" sz="1100" dirty="0">
                        <a:latin typeface="Calibri" charset="0"/>
                        <a:ea typeface="Calibri" charset="0"/>
                        <a:cs typeface="Calibri" charset="0"/>
                      </a:endParaRPr>
                    </a:p>
                  </a:txBody>
                  <a:tcPr anchor="ct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54252">
                <a:tc>
                  <a:txBody>
                    <a:bodyPr/>
                    <a:lstStyle/>
                    <a:p>
                      <a:pPr marL="0" indent="0">
                        <a:buNone/>
                      </a:pPr>
                      <a:r>
                        <a:rPr lang="en-US" sz="1100" b="1" dirty="0">
                          <a:solidFill>
                            <a:srgbClr val="000000"/>
                          </a:solidFill>
                          <a:latin typeface="Calibri" pitchFamily="34" charset="0"/>
                          <a:ea typeface="Calibri" pitchFamily="34" charset="-122"/>
                          <a:cs typeface="Calibri" pitchFamily="34" charset="-120"/>
                        </a:rPr>
                        <a:t>Bug</a:t>
                      </a:r>
                      <a:endParaRPr lang="en-US" sz="1100" b="1" dirty="0">
                        <a:latin typeface="Calibri" charset="0"/>
                        <a:ea typeface="Calibri" charset="0"/>
                        <a:cs typeface="Calibri" charset="0"/>
                      </a:endParaRPr>
                    </a:p>
                  </a:txBody>
                  <a:tcPr anchor="ct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E74C3C"/>
                          </a:solidFill>
                          <a:latin typeface="Calibri" pitchFamily="34" charset="0"/>
                          <a:ea typeface="Calibri" pitchFamily="34" charset="-122"/>
                          <a:cs typeface="Calibri" pitchFamily="34" charset="-120"/>
                        </a:rPr>
                        <a:t>0.13</a:t>
                      </a:r>
                      <a:endParaRPr lang="en-US" sz="1100" dirty="0">
                        <a:latin typeface="Calibri" charset="0"/>
                        <a:ea typeface="Calibri" charset="0"/>
                        <a:cs typeface="Calibri" charset="0"/>
                      </a:endParaRPr>
                    </a:p>
                  </a:txBody>
                  <a:tcPr anchor="ct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Only 13% correct — near-identical to Grass</a:t>
                      </a:r>
                      <a:endParaRPr lang="en-US" sz="1100" dirty="0">
                        <a:latin typeface="Calibri" charset="0"/>
                        <a:ea typeface="Calibri" charset="0"/>
                        <a:cs typeface="Calibri" charset="0"/>
                      </a:endParaRPr>
                    </a:p>
                  </a:txBody>
                  <a:tcPr anchor="ct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54252">
                <a:tc>
                  <a:txBody>
                    <a:bodyPr/>
                    <a:lstStyle/>
                    <a:p>
                      <a:pPr marL="0" indent="0">
                        <a:buNone/>
                      </a:pPr>
                      <a:r>
                        <a:rPr lang="en-US" sz="1100" b="1" dirty="0">
                          <a:solidFill>
                            <a:srgbClr val="000000"/>
                          </a:solidFill>
                          <a:latin typeface="Calibri" pitchFamily="34" charset="0"/>
                          <a:ea typeface="Calibri" pitchFamily="34" charset="-122"/>
                          <a:cs typeface="Calibri" pitchFamily="34" charset="-120"/>
                        </a:rPr>
                        <a:t>Fighting</a:t>
                      </a:r>
                      <a:endParaRPr lang="en-US" sz="1100" b="1" dirty="0">
                        <a:latin typeface="Calibri" charset="0"/>
                        <a:ea typeface="Calibri" charset="0"/>
                        <a:cs typeface="Calibri" charset="0"/>
                      </a:endParaRPr>
                    </a:p>
                  </a:txBody>
                  <a:tcPr anchor="ct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E74C3C"/>
                          </a:solidFill>
                          <a:latin typeface="Calibri" pitchFamily="34" charset="0"/>
                          <a:ea typeface="Calibri" pitchFamily="34" charset="-122"/>
                          <a:cs typeface="Calibri" pitchFamily="34" charset="-120"/>
                        </a:rPr>
                        <a:t>0.14</a:t>
                      </a:r>
                      <a:endParaRPr lang="en-US" sz="1100" dirty="0">
                        <a:latin typeface="Calibri" charset="0"/>
                        <a:ea typeface="Calibri" charset="0"/>
                        <a:cs typeface="Calibri" charset="0"/>
                      </a:endParaRPr>
                    </a:p>
                  </a:txBody>
                  <a:tcPr anchor="ct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Humanoid; 16% sent to Normal, 12% to Bug</a:t>
                      </a:r>
                      <a:endParaRPr lang="en-US" sz="1100" dirty="0">
                        <a:latin typeface="Calibri" charset="0"/>
                        <a:ea typeface="Calibri" charset="0"/>
                        <a:cs typeface="Calibri" charset="0"/>
                      </a:endParaRPr>
                    </a:p>
                  </a:txBody>
                  <a:tcPr anchor="ct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454252">
                <a:tc>
                  <a:txBody>
                    <a:bodyPr/>
                    <a:lstStyle/>
                    <a:p>
                      <a:pPr marL="0" indent="0">
                        <a:buNone/>
                      </a:pPr>
                      <a:r>
                        <a:rPr lang="en-US" sz="1100" b="1" dirty="0">
                          <a:solidFill>
                            <a:srgbClr val="000000"/>
                          </a:solidFill>
                          <a:latin typeface="Calibri" pitchFamily="34" charset="0"/>
                          <a:ea typeface="Calibri" pitchFamily="34" charset="-122"/>
                          <a:cs typeface="Calibri" pitchFamily="34" charset="-120"/>
                        </a:rPr>
                        <a:t>Rock</a:t>
                      </a:r>
                      <a:endParaRPr lang="en-US" sz="1100" b="1" dirty="0">
                        <a:latin typeface="Calibri" charset="0"/>
                        <a:ea typeface="Calibri" charset="0"/>
                        <a:cs typeface="Calibri" charset="0"/>
                      </a:endParaRPr>
                    </a:p>
                  </a:txBody>
                  <a:tcPr anchor="ct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E74C3C"/>
                          </a:solidFill>
                          <a:latin typeface="Calibri" pitchFamily="34" charset="0"/>
                          <a:ea typeface="Calibri" pitchFamily="34" charset="-122"/>
                          <a:cs typeface="Calibri" pitchFamily="34" charset="-120"/>
                        </a:rPr>
                        <a:t>0.17</a:t>
                      </a:r>
                      <a:endParaRPr lang="en-US" sz="1100" dirty="0">
                        <a:latin typeface="Calibri" charset="0"/>
                        <a:ea typeface="Calibri" charset="0"/>
                        <a:cs typeface="Calibri" charset="0"/>
                      </a:endParaRPr>
                    </a:p>
                  </a:txBody>
                  <a:tcPr anchor="ct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Grey/brown; 17% sent to Normal, 15% to Poison</a:t>
                      </a:r>
                      <a:endParaRPr lang="en-US" sz="1100" dirty="0">
                        <a:latin typeface="Calibri" charset="0"/>
                        <a:ea typeface="Calibri" charset="0"/>
                        <a:cs typeface="Calibri" charset="0"/>
                      </a:endParaRPr>
                    </a:p>
                  </a:txBody>
                  <a:tcPr anchor="ct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454252">
                <a:tc>
                  <a:txBody>
                    <a:bodyPr/>
                    <a:lstStyle/>
                    <a:p>
                      <a:pPr marL="0" indent="0">
                        <a:buNone/>
                      </a:pPr>
                      <a:r>
                        <a:rPr lang="en-US" sz="1100" b="1" dirty="0">
                          <a:solidFill>
                            <a:srgbClr val="000000"/>
                          </a:solidFill>
                          <a:latin typeface="Calibri" pitchFamily="34" charset="0"/>
                          <a:ea typeface="Calibri" pitchFamily="34" charset="-122"/>
                          <a:cs typeface="Calibri" pitchFamily="34" charset="-120"/>
                        </a:rPr>
                        <a:t>Ground</a:t>
                      </a:r>
                      <a:endParaRPr lang="en-US" sz="1100" b="1" dirty="0">
                        <a:latin typeface="Calibri" charset="0"/>
                        <a:ea typeface="Calibri" charset="0"/>
                        <a:cs typeface="Calibri" charset="0"/>
                      </a:endParaRPr>
                    </a:p>
                  </a:txBody>
                  <a:tcPr anchor="ct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E74C3C"/>
                          </a:solidFill>
                          <a:latin typeface="Calibri" pitchFamily="34" charset="0"/>
                          <a:ea typeface="Calibri" pitchFamily="34" charset="-122"/>
                          <a:cs typeface="Calibri" pitchFamily="34" charset="-120"/>
                        </a:rPr>
                        <a:t>0.10</a:t>
                      </a:r>
                      <a:endParaRPr lang="en-US" sz="1100" dirty="0">
                        <a:latin typeface="Calibri" charset="0"/>
                        <a:ea typeface="Calibri" charset="0"/>
                        <a:cs typeface="Calibri" charset="0"/>
                      </a:endParaRPr>
                    </a:p>
                  </a:txBody>
                  <a:tcPr anchor="ct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Worst class; 24% sent to Normal (fewest samples)</a:t>
                      </a:r>
                      <a:endParaRPr lang="en-US" sz="1100" dirty="0">
                        <a:latin typeface="Calibri" charset="0"/>
                        <a:ea typeface="Calibri" charset="0"/>
                        <a:cs typeface="Calibri" charset="0"/>
                      </a:endParaRPr>
                    </a:p>
                  </a:txBody>
                  <a:tcPr anchor="ctr">
                    <a:lnL w="5080" cap="flat" cmpd="sng" algn="ctr">
                      <a:solidFill>
                        <a:srgbClr val="D8E4EC"/>
                      </a:solidFill>
                      <a:prstDash val="solid"/>
                      <a:round/>
                      <a:headEnd type="none" w="med" len="med"/>
                      <a:tailEnd type="none" w="med" len="med"/>
                    </a:lnL>
                    <a:lnR w="5080" cap="flat" cmpd="sng" algn="ctr">
                      <a:solidFill>
                        <a:srgbClr val="D8E4EC"/>
                      </a:solidFill>
                      <a:prstDash val="solid"/>
                      <a:round/>
                      <a:headEnd type="none" w="med" len="med"/>
                      <a:tailEnd type="none" w="med" len="med"/>
                    </a:lnR>
                    <a:lnT w="5080" cap="flat" cmpd="sng" algn="ctr">
                      <a:solidFill>
                        <a:srgbClr val="D8E4EC"/>
                      </a:solidFill>
                      <a:prstDash val="solid"/>
                      <a:round/>
                      <a:headEnd type="none" w="med" len="med"/>
                      <a:tailEnd type="none" w="med" len="med"/>
                    </a:lnT>
                    <a:lnB w="5080" cap="flat" cmpd="sng" algn="ctr">
                      <a:solidFill>
                        <a:srgbClr val="D8E4EC"/>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bl>
          </a:graphicData>
        </a:graphic>
      </p:graphicFrame>
      <p:pic>
        <p:nvPicPr>
          <p:cNvPr id="12" name="Picture 11">
            <a:extLst>
              <a:ext uri="{FF2B5EF4-FFF2-40B4-BE49-F238E27FC236}">
                <a16:creationId xmlns:a16="http://schemas.microsoft.com/office/drawing/2014/main" id="{CB407761-126A-8F2A-3A5B-4FDECE90D6C9}"/>
              </a:ext>
            </a:extLst>
          </p:cNvPr>
          <p:cNvPicPr>
            <a:picLocks noChangeAspect="1"/>
          </p:cNvPicPr>
          <p:nvPr/>
        </p:nvPicPr>
        <p:blipFill>
          <a:blip r:embed="rId2"/>
          <a:stretch>
            <a:fillRect/>
          </a:stretch>
        </p:blipFill>
        <p:spPr>
          <a:xfrm>
            <a:off x="248960" y="685800"/>
            <a:ext cx="4102764" cy="3255504"/>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opBar"/>
          <p:cNvSpPr/>
          <p:nvPr/>
        </p:nvSpPr>
        <p:spPr>
          <a:xfrm>
            <a:off x="0" y="0"/>
            <a:ext cx="9144000" cy="64008"/>
          </a:xfrm>
          <a:prstGeom prst="rect">
            <a:avLst/>
          </a:prstGeom>
          <a:solidFill>
            <a:srgbClr val="00A896"/>
          </a:solidFill>
          <a:ln w="12700">
            <a:solidFill>
              <a:srgbClr val="00A896"/>
            </a:solidFill>
            <a:prstDash val="solid"/>
          </a:ln>
        </p:spPr>
        <p:txBody>
          <a:bodyPr/>
          <a:lstStyle/>
          <a:p>
            <a:endParaRPr lang="en-US"/>
          </a:p>
        </p:txBody>
      </p:sp>
      <p:sp>
        <p:nvSpPr>
          <p:cNvPr id="3" name="Badge"/>
          <p:cNvSpPr/>
          <p:nvPr/>
        </p:nvSpPr>
        <p:spPr>
          <a:xfrm>
            <a:off x="7498079" y="82296"/>
            <a:ext cx="1557633" cy="329184"/>
          </a:xfrm>
          <a:prstGeom prst="rect">
            <a:avLst/>
          </a:prstGeom>
          <a:solidFill>
            <a:srgbClr val="1C3A52"/>
          </a:solidFill>
          <a:ln w="12700">
            <a:solidFill>
              <a:srgbClr val="1C3A52"/>
            </a:solidFill>
            <a:prstDash val="solid"/>
          </a:ln>
        </p:spPr>
        <p:txBody>
          <a:bodyPr/>
          <a:lstStyle/>
          <a:p>
            <a:pPr algn="ctr"/>
            <a:r>
              <a:rPr lang="en-US" b="1" dirty="0">
                <a:solidFill>
                  <a:srgbClr val="FFFFFF"/>
                </a:solidFill>
              </a:rPr>
              <a:t>Perf Eval</a:t>
            </a:r>
          </a:p>
        </p:txBody>
      </p:sp>
      <p:sp>
        <p:nvSpPr>
          <p:cNvPr id="4" name="NumCircle"/>
          <p:cNvSpPr/>
          <p:nvPr/>
        </p:nvSpPr>
        <p:spPr>
          <a:xfrm>
            <a:off x="7088176" y="4253"/>
            <a:ext cx="470123" cy="470912"/>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2800" b="1" dirty="0"/>
              <a:t>4</a:t>
            </a:r>
          </a:p>
        </p:txBody>
      </p:sp>
      <p:sp>
        <p:nvSpPr>
          <p:cNvPr id="5" name="Title"/>
          <p:cNvSpPr/>
          <p:nvPr/>
        </p:nvSpPr>
        <p:spPr>
          <a:xfrm>
            <a:off x="457200" y="109728"/>
            <a:ext cx="6400800" cy="530352"/>
          </a:xfrm>
          <a:prstGeom prst="rect">
            <a:avLst/>
          </a:prstGeom>
          <a:noFill/>
          <a:ln/>
        </p:spPr>
        <p:txBody>
          <a:bodyPr wrap="square" lIns="0" tIns="0" rIns="0" bIns="0" rtlCol="0" anchor="ctr"/>
          <a:lstStyle/>
          <a:p>
            <a:pPr marL="0" indent="0">
              <a:buNone/>
            </a:pPr>
            <a:r>
              <a:rPr lang="en-US" sz="2200" b="1" dirty="0">
                <a:solidFill>
                  <a:srgbClr val="0D1B2A"/>
                </a:solidFill>
                <a:latin typeface="Trebuchet MS" pitchFamily="34" charset="0"/>
              </a:rPr>
              <a:t>Ensemble Analysis &amp; Kaggle Gap</a:t>
            </a:r>
          </a:p>
        </p:txBody>
      </p:sp>
      <p:sp>
        <p:nvSpPr>
          <p:cNvPr id="10" name="EnsTblBG"/>
          <p:cNvSpPr/>
          <p:nvPr/>
        </p:nvSpPr>
        <p:spPr>
          <a:xfrm>
            <a:off x="274320" y="740160"/>
            <a:ext cx="8595360" cy="238140"/>
          </a:xfrm>
          <a:prstGeom prst="rect">
            <a:avLst/>
          </a:prstGeom>
          <a:solidFill>
            <a:srgbClr val="1C3A52"/>
          </a:solidFill>
          <a:ln w="0">
            <a:noFill/>
          </a:ln>
        </p:spPr>
        <p:txBody>
          <a:bodyPr rtlCol="0" anchor="ctr"/>
          <a:lstStyle/>
          <a:p>
            <a:pPr algn="ctr">
              <a:buNone/>
            </a:pPr>
            <a:r>
              <a:rPr lang="en-US" sz="1000" b="1" dirty="0">
                <a:solidFill>
                  <a:srgbClr val="FFFFFF"/>
                </a:solidFill>
                <a:latin typeface="Calibri"/>
              </a:rPr>
              <a:t>All 7 Ensemble Results (soft-average of softmax outputs)</a:t>
            </a:r>
          </a:p>
        </p:txBody>
      </p:sp>
      <p:sp>
        <p:nvSpPr>
          <p:cNvPr id="11" name="E1"/>
          <p:cNvSpPr/>
          <p:nvPr/>
        </p:nvSpPr>
        <p:spPr>
          <a:xfrm>
            <a:off x="274320" y="978300"/>
            <a:ext cx="8595360" cy="219960"/>
          </a:xfrm>
          <a:prstGeom prst="rect">
            <a:avLst/>
          </a:prstGeom>
          <a:solidFill>
            <a:srgbClr val="E8F8F6"/>
          </a:solidFill>
          <a:ln w="3175">
            <a:solidFill>
              <a:srgbClr val="00A896"/>
            </a:solidFill>
          </a:ln>
        </p:spPr>
        <p:txBody>
          <a:bodyPr/>
          <a:lstStyle/>
          <a:p>
            <a:endParaRPr lang="en-US"/>
          </a:p>
        </p:txBody>
      </p:sp>
      <p:sp>
        <p:nvSpPr>
          <p:cNvPr id="12" name="E1t"/>
          <p:cNvSpPr/>
          <p:nvPr/>
        </p:nvSpPr>
        <p:spPr>
          <a:xfrm>
            <a:off x="274320" y="978300"/>
            <a:ext cx="8595360" cy="219960"/>
          </a:xfrm>
          <a:prstGeom prst="rect">
            <a:avLst/>
          </a:prstGeom>
          <a:noFill/>
          <a:ln/>
        </p:spPr>
        <p:txBody>
          <a:bodyPr wrap="square" lIns="91440" tIns="0" rIns="0" bIns="0" rtlCol="0" anchor="ctr"/>
          <a:lstStyle/>
          <a:p>
            <a:pPr>
              <a:buNone/>
            </a:pPr>
            <a:r>
              <a:rPr lang="en-US" sz="1000" b="1" dirty="0">
                <a:solidFill>
                  <a:srgbClr val="00A896"/>
                </a:solidFill>
                <a:latin typeface="Calibri"/>
              </a:rPr>
              <a:t>ENS_C+E ★  F1=0.2428  acc=26.7%   </a:t>
            </a:r>
            <a:r>
              <a:rPr lang="en-US" sz="1000" dirty="0">
                <a:solidFill>
                  <a:srgbClr val="1A2B3C"/>
                </a:solidFill>
                <a:latin typeface="Calibri"/>
              </a:rPr>
              <a:t>SUBMITTED — C (class weights) + E (sampler) = complementary error patterns</a:t>
            </a:r>
          </a:p>
        </p:txBody>
      </p:sp>
      <p:sp>
        <p:nvSpPr>
          <p:cNvPr id="13" name="E2"/>
          <p:cNvSpPr/>
          <p:nvPr/>
        </p:nvSpPr>
        <p:spPr>
          <a:xfrm>
            <a:off x="274320" y="1198260"/>
            <a:ext cx="8595360" cy="219960"/>
          </a:xfrm>
          <a:prstGeom prst="rect">
            <a:avLst/>
          </a:prstGeom>
          <a:solidFill>
            <a:srgbClr val="FFFFFF"/>
          </a:solidFill>
          <a:ln w="3175">
            <a:solidFill>
              <a:srgbClr val="E0ECF4"/>
            </a:solidFill>
          </a:ln>
        </p:spPr>
        <p:txBody>
          <a:bodyPr/>
          <a:lstStyle/>
          <a:p>
            <a:endParaRPr lang="en-US"/>
          </a:p>
        </p:txBody>
      </p:sp>
      <p:sp>
        <p:nvSpPr>
          <p:cNvPr id="14" name="E2t"/>
          <p:cNvSpPr/>
          <p:nvPr/>
        </p:nvSpPr>
        <p:spPr>
          <a:xfrm>
            <a:off x="274320" y="1198260"/>
            <a:ext cx="8595360" cy="219960"/>
          </a:xfrm>
          <a:prstGeom prst="rect">
            <a:avLst/>
          </a:prstGeom>
          <a:noFill/>
          <a:ln/>
        </p:spPr>
        <p:txBody>
          <a:bodyPr wrap="square" lIns="91440" tIns="0" rIns="0" bIns="0" rtlCol="0" anchor="ctr"/>
          <a:lstStyle/>
          <a:p>
            <a:pPr>
              <a:buNone/>
            </a:pPr>
            <a:r>
              <a:rPr lang="en-US" sz="1000" b="1" dirty="0">
                <a:solidFill>
                  <a:srgbClr val="028090"/>
                </a:solidFill>
                <a:latin typeface="Calibri"/>
              </a:rPr>
              <a:t>ENS_R+E+P       F1=0.2427  acc=26.3%   </a:t>
            </a:r>
            <a:r>
              <a:rPr lang="en-US" sz="1000" dirty="0">
                <a:solidFill>
                  <a:srgbClr val="1A2B3C"/>
                </a:solidFill>
                <a:latin typeface="Calibri"/>
              </a:rPr>
              <a:t>Near-identical to C+E; 3-model ensemble</a:t>
            </a:r>
          </a:p>
        </p:txBody>
      </p:sp>
      <p:sp>
        <p:nvSpPr>
          <p:cNvPr id="15" name="E3"/>
          <p:cNvSpPr/>
          <p:nvPr/>
        </p:nvSpPr>
        <p:spPr>
          <a:xfrm>
            <a:off x="274320" y="1418220"/>
            <a:ext cx="8595360" cy="219960"/>
          </a:xfrm>
          <a:prstGeom prst="rect">
            <a:avLst/>
          </a:prstGeom>
          <a:solidFill>
            <a:srgbClr val="F4F7F9"/>
          </a:solidFill>
          <a:ln w="3175">
            <a:solidFill>
              <a:srgbClr val="E0ECF4"/>
            </a:solidFill>
          </a:ln>
        </p:spPr>
        <p:txBody>
          <a:bodyPr/>
          <a:lstStyle/>
          <a:p>
            <a:endParaRPr lang="en-US"/>
          </a:p>
        </p:txBody>
      </p:sp>
      <p:sp>
        <p:nvSpPr>
          <p:cNvPr id="16" name="E3t"/>
          <p:cNvSpPr/>
          <p:nvPr/>
        </p:nvSpPr>
        <p:spPr>
          <a:xfrm>
            <a:off x="274320" y="1418220"/>
            <a:ext cx="8595360" cy="219960"/>
          </a:xfrm>
          <a:prstGeom prst="rect">
            <a:avLst/>
          </a:prstGeom>
          <a:noFill/>
          <a:ln/>
        </p:spPr>
        <p:txBody>
          <a:bodyPr wrap="square" lIns="91440" tIns="0" rIns="0" bIns="0" rtlCol="0" anchor="ctr"/>
          <a:lstStyle/>
          <a:p>
            <a:pPr>
              <a:buNone/>
            </a:pPr>
            <a:r>
              <a:rPr lang="en-US" sz="1000" b="1" dirty="0">
                <a:solidFill>
                  <a:srgbClr val="1C3A52"/>
                </a:solidFill>
                <a:latin typeface="Calibri"/>
              </a:rPr>
              <a:t>ENS_C+E+P       F1=0.2405  acc=26.3%   </a:t>
            </a:r>
            <a:r>
              <a:rPr lang="en-US" sz="1000" dirty="0">
                <a:solidFill>
                  <a:srgbClr val="1A2B3C"/>
                </a:solidFill>
                <a:latin typeface="Calibri"/>
              </a:rPr>
              <a:t>P drags down slightly — weak model adds noise</a:t>
            </a:r>
          </a:p>
        </p:txBody>
      </p:sp>
      <p:sp>
        <p:nvSpPr>
          <p:cNvPr id="17" name="E4"/>
          <p:cNvSpPr/>
          <p:nvPr/>
        </p:nvSpPr>
        <p:spPr>
          <a:xfrm>
            <a:off x="274320" y="1638180"/>
            <a:ext cx="8595360" cy="219960"/>
          </a:xfrm>
          <a:prstGeom prst="rect">
            <a:avLst/>
          </a:prstGeom>
          <a:solidFill>
            <a:srgbClr val="FDF8F0"/>
          </a:solidFill>
          <a:ln w="3175">
            <a:solidFill>
              <a:srgbClr val="E8D8B8"/>
            </a:solidFill>
          </a:ln>
        </p:spPr>
        <p:txBody>
          <a:bodyPr/>
          <a:lstStyle/>
          <a:p>
            <a:endParaRPr lang="en-US"/>
          </a:p>
        </p:txBody>
      </p:sp>
      <p:sp>
        <p:nvSpPr>
          <p:cNvPr id="18" name="E4t"/>
          <p:cNvSpPr/>
          <p:nvPr/>
        </p:nvSpPr>
        <p:spPr>
          <a:xfrm>
            <a:off x="274320" y="1638180"/>
            <a:ext cx="8595360" cy="219960"/>
          </a:xfrm>
          <a:prstGeom prst="rect">
            <a:avLst/>
          </a:prstGeom>
          <a:noFill/>
          <a:ln/>
        </p:spPr>
        <p:txBody>
          <a:bodyPr wrap="square" lIns="91440" tIns="0" rIns="0" bIns="0" rtlCol="0" anchor="ctr"/>
          <a:lstStyle/>
          <a:p>
            <a:pPr>
              <a:buNone/>
            </a:pPr>
            <a:r>
              <a:rPr lang="en-US" sz="1000" b="1" dirty="0">
                <a:solidFill>
                  <a:srgbClr val="C0392B"/>
                </a:solidFill>
                <a:latin typeface="Calibri"/>
              </a:rPr>
              <a:t>ENS_C+R         F1=0.2339  acc=25.6%   </a:t>
            </a:r>
            <a:r>
              <a:rPr lang="en-US" sz="1000" dirty="0">
                <a:solidFill>
                  <a:srgbClr val="1A2B3C"/>
                </a:solidFill>
                <a:latin typeface="Calibri"/>
              </a:rPr>
              <a:t>Both use CW — same error patterns, no diversity benefit</a:t>
            </a:r>
          </a:p>
        </p:txBody>
      </p:sp>
      <p:sp>
        <p:nvSpPr>
          <p:cNvPr id="19" name="E567"/>
          <p:cNvSpPr/>
          <p:nvPr/>
        </p:nvSpPr>
        <p:spPr>
          <a:xfrm>
            <a:off x="274320" y="1858140"/>
            <a:ext cx="8595360" cy="219960"/>
          </a:xfrm>
          <a:prstGeom prst="rect">
            <a:avLst/>
          </a:prstGeom>
          <a:solidFill>
            <a:srgbClr val="FDF3F0"/>
          </a:solidFill>
          <a:ln w="3175">
            <a:solidFill>
              <a:srgbClr val="E8C4B8"/>
            </a:solidFill>
          </a:ln>
        </p:spPr>
        <p:txBody>
          <a:bodyPr/>
          <a:lstStyle/>
          <a:p>
            <a:endParaRPr lang="en-US"/>
          </a:p>
        </p:txBody>
      </p:sp>
      <p:sp>
        <p:nvSpPr>
          <p:cNvPr id="6" name="E567t"/>
          <p:cNvSpPr/>
          <p:nvPr/>
        </p:nvSpPr>
        <p:spPr>
          <a:xfrm>
            <a:off x="274320" y="1858140"/>
            <a:ext cx="8595360" cy="219960"/>
          </a:xfrm>
          <a:prstGeom prst="rect">
            <a:avLst/>
          </a:prstGeom>
          <a:noFill/>
          <a:ln/>
        </p:spPr>
        <p:txBody>
          <a:bodyPr wrap="square" lIns="91440" tIns="0" rIns="0" bIns="0" rtlCol="0" anchor="ctr"/>
          <a:lstStyle/>
          <a:p>
            <a:pPr>
              <a:buNone/>
            </a:pPr>
            <a:r>
              <a:rPr lang="en-US" sz="1000" b="1" dirty="0">
                <a:solidFill>
                  <a:srgbClr val="C0392B"/>
                </a:solidFill>
                <a:latin typeface="Calibri"/>
              </a:rPr>
              <a:t>ENS_R+E / ENS_C+R+M / ENS_R+P   </a:t>
            </a:r>
            <a:r>
              <a:rPr lang="en-US" sz="1000" dirty="0">
                <a:solidFill>
                  <a:srgbClr val="1A2B3C"/>
                </a:solidFill>
                <a:latin typeface="Calibri"/>
              </a:rPr>
              <a:t>F1=0.224–0.229  Too similar models or too weak — no diversity gain</a:t>
            </a:r>
          </a:p>
        </p:txBody>
      </p:sp>
      <p:sp>
        <p:nvSpPr>
          <p:cNvPr id="40" name="LBG"/>
          <p:cNvSpPr/>
          <p:nvPr/>
        </p:nvSpPr>
        <p:spPr>
          <a:xfrm>
            <a:off x="274320" y="2169540"/>
            <a:ext cx="4205520" cy="2394720"/>
          </a:xfrm>
          <a:prstGeom prst="rect">
            <a:avLst/>
          </a:prstGeom>
          <a:solidFill>
            <a:srgbClr val="FFFFFF"/>
          </a:solidFill>
          <a:ln w="6350">
            <a:solidFill>
              <a:srgbClr val="D8E4EC"/>
            </a:solidFill>
          </a:ln>
          <a:effectLst>
            <a:outerShdw blurRad="101600" dist="38100" dir="8100000" algn="bl" rotWithShape="0">
              <a:srgbClr val="000000">
                <a:alpha val="10000"/>
              </a:srgbClr>
            </a:outerShdw>
          </a:effectLst>
        </p:spPr>
        <p:txBody>
          <a:bodyPr/>
          <a:lstStyle/>
          <a:p>
            <a:endParaRPr lang="en-US"/>
          </a:p>
        </p:txBody>
      </p:sp>
      <p:sp>
        <p:nvSpPr>
          <p:cNvPr id="41" name="LText"/>
          <p:cNvSpPr/>
          <p:nvPr/>
        </p:nvSpPr>
        <p:spPr>
          <a:xfrm>
            <a:off x="457200" y="2243700"/>
            <a:ext cx="3840480" cy="2286000"/>
          </a:xfrm>
          <a:prstGeom prst="rect">
            <a:avLst/>
          </a:prstGeom>
          <a:noFill/>
          <a:ln/>
        </p:spPr>
        <p:txBody>
          <a:bodyPr wrap="square" rtlCol="0" anchor="t"/>
          <a:lstStyle/>
          <a:p>
            <a:pPr>
              <a:buNone/>
            </a:pPr>
            <a:r>
              <a:rPr lang="en-US" sz="1200" b="1" dirty="0">
                <a:solidFill>
                  <a:srgbClr val="028090"/>
                </a:solidFill>
                <a:latin typeface="Trebuchet MS"/>
              </a:rPr>
              <a:t>Why C+E wins over any solo</a:t>
            </a:r>
          </a:p>
          <a:p>
            <a:pPr marL="228600" indent="-228600">
              <a:buChar char="•"/>
            </a:pPr>
            <a:r>
              <a:rPr lang="en-US" sz="1100" dirty="0">
                <a:solidFill>
                  <a:srgbClr val="1A2B3C"/>
                </a:solidFill>
                <a:latin typeface="Calibri"/>
              </a:rPr>
              <a:t>C uses class weights — adjusts gradients per class</a:t>
            </a:r>
          </a:p>
          <a:p>
            <a:pPr marL="228600" indent="-228600">
              <a:buChar char="•"/>
            </a:pPr>
            <a:r>
              <a:rPr lang="en-US" sz="1100" dirty="0">
                <a:solidFill>
                  <a:srgbClr val="1A2B3C"/>
                </a:solidFill>
                <a:latin typeface="Calibri"/>
              </a:rPr>
              <a:t>E uses sampler — adjusts data frequency</a:t>
            </a:r>
          </a:p>
          <a:p>
            <a:pPr marL="228600" indent="-228600">
              <a:buChar char="•"/>
            </a:pPr>
            <a:r>
              <a:rPr lang="en-US" sz="1100" dirty="0">
                <a:solidFill>
                  <a:srgbClr val="1A2B3C"/>
                </a:solidFill>
                <a:latin typeface="Calibri"/>
              </a:rPr>
              <a:t>Different mechanisms = different mistakes = soft-average compensates</a:t>
            </a:r>
          </a:p>
          <a:p>
            <a:pPr marL="228600" indent="-228600">
              <a:buChar char="•"/>
            </a:pPr>
            <a:r>
              <a:rPr lang="en-US" sz="1100" b="1" dirty="0">
                <a:solidFill>
                  <a:srgbClr val="028090"/>
                </a:solidFill>
                <a:latin typeface="Calibri"/>
              </a:rPr>
              <a:t>+0.003 F1 over best solo</a:t>
            </a:r>
            <a:r>
              <a:rPr lang="en-US" sz="1100" dirty="0">
                <a:solidFill>
                  <a:srgbClr val="1A2B3C"/>
                </a:solidFill>
                <a:latin typeface="Calibri"/>
              </a:rPr>
              <a:t> — small but consistent</a:t>
            </a:r>
          </a:p>
          <a:p>
            <a:pPr marL="228600" indent="-228600">
              <a:buChar char="•"/>
            </a:pPr>
            <a:r>
              <a:rPr lang="en-US" sz="1100" dirty="0">
                <a:solidFill>
                  <a:srgbClr val="1A2B3C"/>
                </a:solidFill>
                <a:latin typeface="Calibri"/>
              </a:rPr>
              <a:t>C+R fails (0.234): both use CW — too similar, no error diversity</a:t>
            </a:r>
          </a:p>
        </p:txBody>
      </p:sp>
      <p:sp>
        <p:nvSpPr>
          <p:cNvPr id="50" name="RBG"/>
          <p:cNvSpPr/>
          <p:nvPr/>
        </p:nvSpPr>
        <p:spPr>
          <a:xfrm>
            <a:off x="4663920" y="2169540"/>
            <a:ext cx="4205520" cy="2394720"/>
          </a:xfrm>
          <a:prstGeom prst="rect">
            <a:avLst/>
          </a:prstGeom>
          <a:solidFill>
            <a:srgbClr val="0D1B2A"/>
          </a:solidFill>
          <a:ln w="0">
            <a:noFill/>
          </a:ln>
        </p:spPr>
        <p:txBody>
          <a:bodyPr/>
          <a:lstStyle/>
          <a:p>
            <a:endParaRPr lang="en-US"/>
          </a:p>
        </p:txBody>
      </p:sp>
      <p:sp>
        <p:nvSpPr>
          <p:cNvPr id="51" name="RText"/>
          <p:cNvSpPr/>
          <p:nvPr/>
        </p:nvSpPr>
        <p:spPr>
          <a:xfrm>
            <a:off x="4846800" y="2243700"/>
            <a:ext cx="3840480" cy="2286000"/>
          </a:xfrm>
          <a:prstGeom prst="rect">
            <a:avLst/>
          </a:prstGeom>
          <a:noFill/>
          <a:ln/>
        </p:spPr>
        <p:txBody>
          <a:bodyPr wrap="square" rtlCol="0" anchor="t"/>
          <a:lstStyle/>
          <a:p>
            <a:pPr>
              <a:buNone/>
            </a:pPr>
            <a:r>
              <a:rPr lang="en-US" sz="1200" b="1" dirty="0">
                <a:solidFill>
                  <a:srgbClr val="00A896"/>
                </a:solidFill>
                <a:latin typeface="Trebuchet MS"/>
              </a:rPr>
              <a:t>Kaggle validation gap</a:t>
            </a:r>
          </a:p>
          <a:p>
            <a:pPr>
              <a:buNone/>
            </a:pPr>
            <a:r>
              <a:rPr lang="en-US" sz="1200" b="1" dirty="0">
                <a:solidFill>
                  <a:srgbClr val="00A896"/>
                </a:solidFill>
                <a:latin typeface="Trebuchet MS"/>
              </a:rPr>
              <a:t>	</a:t>
            </a:r>
            <a:r>
              <a:rPr lang="en-US" sz="1200" b="1" dirty="0" err="1">
                <a:solidFill>
                  <a:srgbClr val="00A896"/>
                </a:solidFill>
                <a:latin typeface="Trebuchet MS"/>
              </a:rPr>
              <a:t>val</a:t>
            </a:r>
            <a:r>
              <a:rPr lang="en-US" sz="1200" b="1" dirty="0">
                <a:solidFill>
                  <a:srgbClr val="00A896"/>
                </a:solidFill>
                <a:latin typeface="Trebuchet MS"/>
              </a:rPr>
              <a:t> - 0.2428</a:t>
            </a:r>
          </a:p>
          <a:p>
            <a:pPr>
              <a:buNone/>
            </a:pPr>
            <a:r>
              <a:rPr lang="en-US" sz="1200" b="1" dirty="0">
                <a:solidFill>
                  <a:srgbClr val="00A896"/>
                </a:solidFill>
                <a:latin typeface="Trebuchet MS"/>
              </a:rPr>
              <a:t>	</a:t>
            </a:r>
            <a:r>
              <a:rPr lang="en-US" sz="1200" b="1" dirty="0" err="1">
                <a:solidFill>
                  <a:srgbClr val="00A896"/>
                </a:solidFill>
                <a:latin typeface="Trebuchet MS"/>
              </a:rPr>
              <a:t>kaggle</a:t>
            </a:r>
            <a:r>
              <a:rPr lang="en-US" sz="1200" b="1" dirty="0">
                <a:solidFill>
                  <a:srgbClr val="00A896"/>
                </a:solidFill>
                <a:latin typeface="Trebuchet MS"/>
              </a:rPr>
              <a:t> - 0.2288</a:t>
            </a:r>
          </a:p>
          <a:p>
            <a:pPr>
              <a:buNone/>
            </a:pPr>
            <a:r>
              <a:rPr lang="en-US" sz="2000" b="1" dirty="0">
                <a:solidFill>
                  <a:srgbClr val="FFFFFF"/>
                </a:solidFill>
                <a:latin typeface="Trebuchet MS"/>
              </a:rPr>
              <a:t>	−0.014</a:t>
            </a:r>
          </a:p>
          <a:p>
            <a:pPr>
              <a:buNone/>
            </a:pPr>
            <a:endParaRPr lang="en-US" sz="1000" b="1" dirty="0">
              <a:solidFill>
                <a:srgbClr val="00A896"/>
              </a:solidFill>
              <a:latin typeface="Calibri"/>
            </a:endParaRPr>
          </a:p>
          <a:p>
            <a:pPr>
              <a:buNone/>
            </a:pPr>
            <a:r>
              <a:rPr lang="en-US" sz="1000" b="1" dirty="0">
                <a:solidFill>
                  <a:srgbClr val="00A896"/>
                </a:solidFill>
                <a:latin typeface="Calibri"/>
              </a:rPr>
              <a:t>Why this gap is expected, not a pipeline bug:</a:t>
            </a:r>
          </a:p>
          <a:p>
            <a:pPr marL="228600" indent="-228600">
              <a:buChar char="•"/>
            </a:pPr>
            <a:r>
              <a:rPr lang="en-US" sz="1100" dirty="0">
                <a:solidFill>
                  <a:srgbClr val="AACCD8"/>
                </a:solidFill>
                <a:latin typeface="Calibri"/>
              </a:rPr>
              <a:t>Kaggle test may include harder or out-of-distribution sprites</a:t>
            </a:r>
          </a:p>
          <a:p>
            <a:pPr marL="228600" indent="-228600">
              <a:buChar char="•"/>
            </a:pPr>
            <a:r>
              <a:rPr lang="en-US" sz="1100" dirty="0">
                <a:solidFill>
                  <a:srgbClr val="AACCD8"/>
                </a:solidFill>
                <a:latin typeface="Calibri"/>
              </a:rPr>
              <a:t>It helps to, AFTER SELECTING A MODEL,</a:t>
            </a:r>
            <a:br>
              <a:rPr lang="en-US" sz="1100" dirty="0">
                <a:solidFill>
                  <a:srgbClr val="AACCD8"/>
                </a:solidFill>
                <a:latin typeface="Calibri"/>
              </a:rPr>
            </a:br>
            <a:r>
              <a:rPr lang="en-US" sz="1100" dirty="0">
                <a:solidFill>
                  <a:srgbClr val="AACCD8"/>
                </a:solidFill>
                <a:latin typeface="Calibri"/>
              </a:rPr>
              <a:t>to train it again with the full dataset</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0A896"/>
          </a:solidFill>
          <a:ln w="12700">
            <a:solidFill>
              <a:srgbClr val="00A896"/>
            </a:solidFill>
            <a:prstDash val="solid"/>
          </a:ln>
        </p:spPr>
        <p:txBody>
          <a:bodyPr/>
          <a:lstStyle/>
          <a:p>
            <a:endParaRPr lang="pt-PT"/>
          </a:p>
        </p:txBody>
      </p:sp>
      <p:sp>
        <p:nvSpPr>
          <p:cNvPr id="3" name="Text 1"/>
          <p:cNvSpPr/>
          <p:nvPr/>
        </p:nvSpPr>
        <p:spPr>
          <a:xfrm>
            <a:off x="457200" y="109728"/>
            <a:ext cx="7498080" cy="530352"/>
          </a:xfrm>
          <a:prstGeom prst="rect">
            <a:avLst/>
          </a:prstGeom>
          <a:noFill/>
          <a:ln/>
        </p:spPr>
        <p:txBody>
          <a:bodyPr wrap="square" lIns="0" tIns="0" rIns="0" bIns="0" rtlCol="0" anchor="ctr"/>
          <a:lstStyle/>
          <a:p>
            <a:pPr marL="0" indent="0">
              <a:buNone/>
            </a:pPr>
            <a:r>
              <a:rPr lang="en-US" sz="2200" b="1" dirty="0">
                <a:solidFill>
                  <a:srgbClr val="0D1B2A"/>
                </a:solidFill>
                <a:latin typeface="Trebuchet MS" pitchFamily="34" charset="0"/>
                <a:ea typeface="Trebuchet MS" pitchFamily="34" charset="-122"/>
                <a:cs typeface="Trebuchet MS" pitchFamily="34" charset="-120"/>
              </a:rPr>
              <a:t>Why MLP Has a Hard Ceiling on This Data</a:t>
            </a:r>
            <a:endParaRPr lang="en-US" sz="2200" dirty="0"/>
          </a:p>
        </p:txBody>
      </p:sp>
      <p:sp>
        <p:nvSpPr>
          <p:cNvPr id="4" name="Shape 2"/>
          <p:cNvSpPr/>
          <p:nvPr/>
        </p:nvSpPr>
        <p:spPr>
          <a:xfrm>
            <a:off x="7498080" y="109728"/>
            <a:ext cx="1463040" cy="301752"/>
          </a:xfrm>
          <a:prstGeom prst="rect">
            <a:avLst/>
          </a:prstGeom>
          <a:solidFill>
            <a:srgbClr val="1C3A52"/>
          </a:solidFill>
          <a:ln w="12700">
            <a:solidFill>
              <a:srgbClr val="1C3A52"/>
            </a:solidFill>
            <a:prstDash val="solid"/>
          </a:ln>
        </p:spPr>
        <p:txBody>
          <a:bodyPr/>
          <a:lstStyle/>
          <a:p>
            <a:endParaRPr lang="pt-PT"/>
          </a:p>
        </p:txBody>
      </p:sp>
      <p:sp>
        <p:nvSpPr>
          <p:cNvPr id="5" name="Text 3"/>
          <p:cNvSpPr/>
          <p:nvPr/>
        </p:nvSpPr>
        <p:spPr>
          <a:xfrm>
            <a:off x="7498080" y="109728"/>
            <a:ext cx="1463040" cy="301752"/>
          </a:xfrm>
          <a:prstGeom prst="rect">
            <a:avLst/>
          </a:prstGeom>
          <a:noFill/>
          <a:ln/>
        </p:spPr>
        <p:txBody>
          <a:bodyPr wrap="square" lIns="0" tIns="0" rIns="0" bIns="0" rtlCol="0" anchor="ctr"/>
          <a:lstStyle/>
          <a:p>
            <a:pPr marL="0" indent="0" algn="ctr">
              <a:buNone/>
            </a:pPr>
            <a:r>
              <a:rPr lang="en-US" sz="1000" b="1" dirty="0">
                <a:solidFill>
                  <a:srgbClr val="FFFFFF"/>
                </a:solidFill>
              </a:rPr>
              <a:t>Perf Eval</a:t>
            </a:r>
            <a:endParaRPr lang="en-US" sz="1000" dirty="0"/>
          </a:p>
        </p:txBody>
      </p:sp>
      <p:sp>
        <p:nvSpPr>
          <p:cNvPr id="6" name="Shape 4"/>
          <p:cNvSpPr/>
          <p:nvPr/>
        </p:nvSpPr>
        <p:spPr>
          <a:xfrm>
            <a:off x="347472" y="804672"/>
            <a:ext cx="4160520" cy="384048"/>
          </a:xfrm>
          <a:prstGeom prst="rect">
            <a:avLst/>
          </a:prstGeom>
          <a:solidFill>
            <a:srgbClr val="0D1B2A"/>
          </a:solidFill>
          <a:ln w="12700">
            <a:solidFill>
              <a:srgbClr val="0D1B2A"/>
            </a:solidFill>
            <a:prstDash val="solid"/>
          </a:ln>
        </p:spPr>
        <p:txBody>
          <a:bodyPr/>
          <a:lstStyle/>
          <a:p>
            <a:endParaRPr lang="pt-PT"/>
          </a:p>
        </p:txBody>
      </p:sp>
      <p:sp>
        <p:nvSpPr>
          <p:cNvPr id="7" name="Text 5"/>
          <p:cNvSpPr/>
          <p:nvPr/>
        </p:nvSpPr>
        <p:spPr>
          <a:xfrm>
            <a:off x="347472" y="804672"/>
            <a:ext cx="4160520"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Trebuchet MS" pitchFamily="34" charset="0"/>
                <a:ea typeface="Trebuchet MS" pitchFamily="34" charset="-122"/>
                <a:cs typeface="Trebuchet MS" pitchFamily="34" charset="-120"/>
              </a:rPr>
              <a:t>Theoretical reasons</a:t>
            </a:r>
            <a:endParaRPr lang="en-US" sz="1300" dirty="0"/>
          </a:p>
        </p:txBody>
      </p:sp>
      <p:sp>
        <p:nvSpPr>
          <p:cNvPr id="8" name="Shape 6"/>
          <p:cNvSpPr/>
          <p:nvPr/>
        </p:nvSpPr>
        <p:spPr>
          <a:xfrm>
            <a:off x="347472" y="1298448"/>
            <a:ext cx="4160520" cy="1078992"/>
          </a:xfrm>
          <a:prstGeom prst="rect">
            <a:avLst/>
          </a:prstGeom>
          <a:solidFill>
            <a:srgbClr val="FFFFFF"/>
          </a:solidFill>
          <a:ln w="6350">
            <a:solidFill>
              <a:srgbClr val="D8E4EC"/>
            </a:solidFill>
            <a:prstDash val="solid"/>
          </a:ln>
          <a:effectLst>
            <a:outerShdw blurRad="101600" dist="38100" dir="8100000" algn="bl" rotWithShape="0">
              <a:srgbClr val="000000">
                <a:alpha val="10000"/>
              </a:srgbClr>
            </a:outerShdw>
          </a:effectLst>
        </p:spPr>
        <p:txBody>
          <a:bodyPr/>
          <a:lstStyle/>
          <a:p>
            <a:endParaRPr lang="pt-PT"/>
          </a:p>
        </p:txBody>
      </p:sp>
      <p:sp>
        <p:nvSpPr>
          <p:cNvPr id="9" name="Shape 7"/>
          <p:cNvSpPr/>
          <p:nvPr/>
        </p:nvSpPr>
        <p:spPr>
          <a:xfrm>
            <a:off x="347472" y="1298448"/>
            <a:ext cx="73152" cy="1078992"/>
          </a:xfrm>
          <a:prstGeom prst="rect">
            <a:avLst/>
          </a:prstGeom>
          <a:solidFill>
            <a:srgbClr val="3D5A73"/>
          </a:solidFill>
          <a:ln w="12700">
            <a:solidFill>
              <a:srgbClr val="3D5A73"/>
            </a:solidFill>
            <a:prstDash val="solid"/>
          </a:ln>
        </p:spPr>
        <p:txBody>
          <a:bodyPr/>
          <a:lstStyle/>
          <a:p>
            <a:endParaRPr lang="pt-PT"/>
          </a:p>
        </p:txBody>
      </p:sp>
      <p:sp>
        <p:nvSpPr>
          <p:cNvPr id="10" name="Text 8"/>
          <p:cNvSpPr/>
          <p:nvPr/>
        </p:nvSpPr>
        <p:spPr>
          <a:xfrm>
            <a:off x="493776" y="1371600"/>
            <a:ext cx="3886200" cy="274320"/>
          </a:xfrm>
          <a:prstGeom prst="rect">
            <a:avLst/>
          </a:prstGeom>
          <a:noFill/>
          <a:ln/>
        </p:spPr>
        <p:txBody>
          <a:bodyPr wrap="square" lIns="0" tIns="0" rIns="0" bIns="0" rtlCol="0" anchor="ctr"/>
          <a:lstStyle/>
          <a:p>
            <a:pPr marL="0" indent="0">
              <a:buNone/>
            </a:pPr>
            <a:r>
              <a:rPr lang="en-US" sz="1200" b="1" dirty="0">
                <a:solidFill>
                  <a:srgbClr val="0D1B2A"/>
                </a:solidFill>
                <a:latin typeface="Trebuchet MS" pitchFamily="34" charset="0"/>
                <a:ea typeface="Trebuchet MS" pitchFamily="34" charset="-122"/>
                <a:cs typeface="Trebuchet MS" pitchFamily="34" charset="-120"/>
              </a:rPr>
              <a:t>No spatial inductive bias</a:t>
            </a:r>
            <a:endParaRPr lang="en-US" sz="1200" dirty="0"/>
          </a:p>
        </p:txBody>
      </p:sp>
      <p:sp>
        <p:nvSpPr>
          <p:cNvPr id="11" name="Text 9"/>
          <p:cNvSpPr/>
          <p:nvPr/>
        </p:nvSpPr>
        <p:spPr>
          <a:xfrm>
            <a:off x="493776" y="1682496"/>
            <a:ext cx="3886200" cy="640080"/>
          </a:xfrm>
          <a:prstGeom prst="rect">
            <a:avLst/>
          </a:prstGeom>
          <a:noFill/>
          <a:ln/>
        </p:spPr>
        <p:txBody>
          <a:bodyPr wrap="square" lIns="0" tIns="0" rIns="0" bIns="0" rtlCol="0" anchor="ctr"/>
          <a:lstStyle/>
          <a:p>
            <a:pPr marL="0" indent="0">
              <a:buNone/>
            </a:pPr>
            <a:r>
              <a:rPr lang="en-US" sz="1100" dirty="0">
                <a:solidFill>
                  <a:srgbClr val="3D5A73"/>
                </a:solidFill>
                <a:latin typeface="Calibri" pitchFamily="34" charset="0"/>
                <a:ea typeface="Calibri" pitchFamily="34" charset="-122"/>
                <a:cs typeface="Calibri" pitchFamily="34" charset="-120"/>
              </a:rPr>
              <a:t>A sprite at top-left and bottom-right = completely different 12 288-vector. MLP can't learn 'flame exists somewhere'.</a:t>
            </a:r>
            <a:endParaRPr lang="en-US" sz="1100" dirty="0"/>
          </a:p>
        </p:txBody>
      </p:sp>
      <p:sp>
        <p:nvSpPr>
          <p:cNvPr id="12" name="Shape 10"/>
          <p:cNvSpPr/>
          <p:nvPr/>
        </p:nvSpPr>
        <p:spPr>
          <a:xfrm>
            <a:off x="347472" y="2532888"/>
            <a:ext cx="4160520" cy="1078992"/>
          </a:xfrm>
          <a:prstGeom prst="rect">
            <a:avLst/>
          </a:prstGeom>
          <a:solidFill>
            <a:srgbClr val="FFFFFF"/>
          </a:solidFill>
          <a:ln w="6350">
            <a:solidFill>
              <a:srgbClr val="D8E4EC"/>
            </a:solidFill>
            <a:prstDash val="solid"/>
          </a:ln>
          <a:effectLst>
            <a:outerShdw blurRad="101600" dist="38100" dir="8100000" algn="bl" rotWithShape="0">
              <a:srgbClr val="000000">
                <a:alpha val="10000"/>
              </a:srgbClr>
            </a:outerShdw>
          </a:effectLst>
        </p:spPr>
        <p:txBody>
          <a:bodyPr/>
          <a:lstStyle/>
          <a:p>
            <a:endParaRPr lang="pt-PT"/>
          </a:p>
        </p:txBody>
      </p:sp>
      <p:sp>
        <p:nvSpPr>
          <p:cNvPr id="13" name="Shape 11"/>
          <p:cNvSpPr/>
          <p:nvPr/>
        </p:nvSpPr>
        <p:spPr>
          <a:xfrm>
            <a:off x="347472" y="2532888"/>
            <a:ext cx="73152" cy="1078992"/>
          </a:xfrm>
          <a:prstGeom prst="rect">
            <a:avLst/>
          </a:prstGeom>
          <a:solidFill>
            <a:srgbClr val="3D5A73"/>
          </a:solidFill>
          <a:ln w="12700">
            <a:solidFill>
              <a:srgbClr val="3D5A73"/>
            </a:solidFill>
            <a:prstDash val="solid"/>
          </a:ln>
        </p:spPr>
        <p:txBody>
          <a:bodyPr/>
          <a:lstStyle/>
          <a:p>
            <a:endParaRPr lang="pt-PT"/>
          </a:p>
        </p:txBody>
      </p:sp>
      <p:sp>
        <p:nvSpPr>
          <p:cNvPr id="14" name="Text 12"/>
          <p:cNvSpPr/>
          <p:nvPr/>
        </p:nvSpPr>
        <p:spPr>
          <a:xfrm>
            <a:off x="493776" y="2606040"/>
            <a:ext cx="3886200" cy="274320"/>
          </a:xfrm>
          <a:prstGeom prst="rect">
            <a:avLst/>
          </a:prstGeom>
          <a:noFill/>
          <a:ln/>
        </p:spPr>
        <p:txBody>
          <a:bodyPr wrap="square" lIns="0" tIns="0" rIns="0" bIns="0" rtlCol="0" anchor="ctr"/>
          <a:lstStyle/>
          <a:p>
            <a:pPr marL="0" indent="0">
              <a:buNone/>
            </a:pPr>
            <a:r>
              <a:rPr lang="en-US" sz="1200" b="1" dirty="0">
                <a:solidFill>
                  <a:srgbClr val="0D1B2A"/>
                </a:solidFill>
                <a:latin typeface="Trebuchet MS" pitchFamily="34" charset="0"/>
                <a:ea typeface="Trebuchet MS" pitchFamily="34" charset="-122"/>
                <a:cs typeface="Trebuchet MS" pitchFamily="34" charset="-120"/>
              </a:rPr>
              <a:t>Feature-to-sample ratio: 4.26:1</a:t>
            </a:r>
            <a:endParaRPr lang="en-US" sz="1200" dirty="0"/>
          </a:p>
        </p:txBody>
      </p:sp>
      <p:sp>
        <p:nvSpPr>
          <p:cNvPr id="15" name="Text 13"/>
          <p:cNvSpPr/>
          <p:nvPr/>
        </p:nvSpPr>
        <p:spPr>
          <a:xfrm>
            <a:off x="493776" y="2916936"/>
            <a:ext cx="3886200" cy="640080"/>
          </a:xfrm>
          <a:prstGeom prst="rect">
            <a:avLst/>
          </a:prstGeom>
          <a:noFill/>
          <a:ln/>
        </p:spPr>
        <p:txBody>
          <a:bodyPr wrap="square" lIns="0" tIns="0" rIns="0" bIns="0" rtlCol="0" anchor="ctr"/>
          <a:lstStyle/>
          <a:p>
            <a:pPr marL="0" indent="0">
              <a:buNone/>
            </a:pPr>
            <a:r>
              <a:rPr lang="en-US" sz="1100" dirty="0">
                <a:solidFill>
                  <a:srgbClr val="3D5A73"/>
                </a:solidFill>
                <a:latin typeface="Calibri" pitchFamily="34" charset="0"/>
                <a:ea typeface="Calibri" pitchFamily="34" charset="-122"/>
                <a:cs typeface="Calibri" pitchFamily="34" charset="-120"/>
              </a:rPr>
              <a:t>12 288 features vs 2 880 samples. Even with Dropout + BN, MLP memorises noise rather than learning patterns.</a:t>
            </a:r>
            <a:endParaRPr lang="en-US" sz="1100" dirty="0"/>
          </a:p>
        </p:txBody>
      </p:sp>
      <p:sp>
        <p:nvSpPr>
          <p:cNvPr id="16" name="Shape 14"/>
          <p:cNvSpPr/>
          <p:nvPr/>
        </p:nvSpPr>
        <p:spPr>
          <a:xfrm>
            <a:off x="347472" y="3767328"/>
            <a:ext cx="4160520" cy="1078992"/>
          </a:xfrm>
          <a:prstGeom prst="rect">
            <a:avLst/>
          </a:prstGeom>
          <a:solidFill>
            <a:srgbClr val="FFFFFF"/>
          </a:solidFill>
          <a:ln w="6350">
            <a:solidFill>
              <a:srgbClr val="D8E4EC"/>
            </a:solidFill>
            <a:prstDash val="solid"/>
          </a:ln>
          <a:effectLst>
            <a:outerShdw blurRad="101600" dist="38100" dir="8100000" algn="bl" rotWithShape="0">
              <a:srgbClr val="000000">
                <a:alpha val="10000"/>
              </a:srgbClr>
            </a:outerShdw>
          </a:effectLst>
        </p:spPr>
        <p:txBody>
          <a:bodyPr/>
          <a:lstStyle/>
          <a:p>
            <a:endParaRPr lang="pt-PT"/>
          </a:p>
        </p:txBody>
      </p:sp>
      <p:sp>
        <p:nvSpPr>
          <p:cNvPr id="17" name="Shape 15"/>
          <p:cNvSpPr/>
          <p:nvPr/>
        </p:nvSpPr>
        <p:spPr>
          <a:xfrm>
            <a:off x="347472" y="3767328"/>
            <a:ext cx="73152" cy="1078992"/>
          </a:xfrm>
          <a:prstGeom prst="rect">
            <a:avLst/>
          </a:prstGeom>
          <a:solidFill>
            <a:srgbClr val="3D5A73"/>
          </a:solidFill>
          <a:ln w="12700">
            <a:solidFill>
              <a:srgbClr val="3D5A73"/>
            </a:solidFill>
            <a:prstDash val="solid"/>
          </a:ln>
        </p:spPr>
        <p:txBody>
          <a:bodyPr/>
          <a:lstStyle/>
          <a:p>
            <a:endParaRPr lang="pt-PT"/>
          </a:p>
        </p:txBody>
      </p:sp>
      <p:sp>
        <p:nvSpPr>
          <p:cNvPr id="18" name="Text 16"/>
          <p:cNvSpPr/>
          <p:nvPr/>
        </p:nvSpPr>
        <p:spPr>
          <a:xfrm>
            <a:off x="493776" y="3840480"/>
            <a:ext cx="3886200" cy="274320"/>
          </a:xfrm>
          <a:prstGeom prst="rect">
            <a:avLst/>
          </a:prstGeom>
          <a:noFill/>
          <a:ln/>
        </p:spPr>
        <p:txBody>
          <a:bodyPr wrap="square" lIns="0" tIns="0" rIns="0" bIns="0" rtlCol="0" anchor="ctr"/>
          <a:lstStyle/>
          <a:p>
            <a:pPr marL="0" indent="0">
              <a:buNone/>
            </a:pPr>
            <a:r>
              <a:rPr lang="en-US" sz="1200" b="1" dirty="0">
                <a:solidFill>
                  <a:srgbClr val="0D1B2A"/>
                </a:solidFill>
                <a:latin typeface="Trebuchet MS" pitchFamily="34" charset="0"/>
                <a:ea typeface="Trebuchet MS" pitchFamily="34" charset="-122"/>
                <a:cs typeface="Trebuchet MS" pitchFamily="34" charset="-120"/>
              </a:rPr>
              <a:t>High intra-class variance</a:t>
            </a:r>
            <a:endParaRPr lang="en-US" sz="1200" dirty="0"/>
          </a:p>
        </p:txBody>
      </p:sp>
      <p:sp>
        <p:nvSpPr>
          <p:cNvPr id="19" name="Text 17"/>
          <p:cNvSpPr/>
          <p:nvPr/>
        </p:nvSpPr>
        <p:spPr>
          <a:xfrm>
            <a:off x="493776" y="4151376"/>
            <a:ext cx="3886200" cy="640080"/>
          </a:xfrm>
          <a:prstGeom prst="rect">
            <a:avLst/>
          </a:prstGeom>
          <a:noFill/>
          <a:ln/>
        </p:spPr>
        <p:txBody>
          <a:bodyPr wrap="square" lIns="0" tIns="0" rIns="0" bIns="0" rtlCol="0" anchor="ctr"/>
          <a:lstStyle/>
          <a:p>
            <a:pPr marL="0" indent="0">
              <a:buNone/>
            </a:pPr>
            <a:r>
              <a:rPr lang="en-US" sz="1100" dirty="0">
                <a:solidFill>
                  <a:srgbClr val="3D5A73"/>
                </a:solidFill>
                <a:latin typeface="Calibri" pitchFamily="34" charset="0"/>
                <a:ea typeface="Calibri" pitchFamily="34" charset="-122"/>
                <a:cs typeface="Calibri" pitchFamily="34" charset="-120"/>
              </a:rPr>
              <a:t>Blastoise and Vaporeon are both Water-type but look nothing alike. MLP can only learn average colour histograms.</a:t>
            </a:r>
            <a:endParaRPr lang="en-US" sz="1100" dirty="0"/>
          </a:p>
        </p:txBody>
      </p:sp>
      <p:sp>
        <p:nvSpPr>
          <p:cNvPr id="20" name="Shape 18"/>
          <p:cNvSpPr/>
          <p:nvPr/>
        </p:nvSpPr>
        <p:spPr>
          <a:xfrm>
            <a:off x="4681728" y="804672"/>
            <a:ext cx="4160520" cy="384048"/>
          </a:xfrm>
          <a:prstGeom prst="rect">
            <a:avLst/>
          </a:prstGeom>
          <a:solidFill>
            <a:srgbClr val="00A896"/>
          </a:solidFill>
          <a:ln w="12700">
            <a:solidFill>
              <a:srgbClr val="00A896"/>
            </a:solidFill>
            <a:prstDash val="solid"/>
          </a:ln>
        </p:spPr>
        <p:txBody>
          <a:bodyPr/>
          <a:lstStyle/>
          <a:p>
            <a:endParaRPr lang="pt-PT"/>
          </a:p>
        </p:txBody>
      </p:sp>
      <p:sp>
        <p:nvSpPr>
          <p:cNvPr id="21" name="Text 19"/>
          <p:cNvSpPr/>
          <p:nvPr/>
        </p:nvSpPr>
        <p:spPr>
          <a:xfrm>
            <a:off x="4681728" y="804672"/>
            <a:ext cx="4160520"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Trebuchet MS" pitchFamily="34" charset="0"/>
                <a:ea typeface="Trebuchet MS" pitchFamily="34" charset="-122"/>
                <a:cs typeface="Trebuchet MS" pitchFamily="34" charset="-120"/>
              </a:rPr>
              <a:t>Empirical confirmation</a:t>
            </a:r>
            <a:endParaRPr lang="en-US" sz="1300" dirty="0"/>
          </a:p>
        </p:txBody>
      </p:sp>
      <p:sp>
        <p:nvSpPr>
          <p:cNvPr id="22" name="Shape 20"/>
          <p:cNvSpPr/>
          <p:nvPr/>
        </p:nvSpPr>
        <p:spPr>
          <a:xfrm>
            <a:off x="4681728" y="1298448"/>
            <a:ext cx="4160520" cy="1078992"/>
          </a:xfrm>
          <a:prstGeom prst="rect">
            <a:avLst/>
          </a:prstGeom>
          <a:solidFill>
            <a:srgbClr val="FFFFFF"/>
          </a:solidFill>
          <a:ln w="6350">
            <a:solidFill>
              <a:srgbClr val="D8E4EC"/>
            </a:solidFill>
            <a:prstDash val="solid"/>
          </a:ln>
          <a:effectLst>
            <a:outerShdw blurRad="101600" dist="38100" dir="8100000" algn="bl" rotWithShape="0">
              <a:srgbClr val="000000">
                <a:alpha val="10000"/>
              </a:srgbClr>
            </a:outerShdw>
          </a:effectLst>
        </p:spPr>
        <p:txBody>
          <a:bodyPr/>
          <a:lstStyle/>
          <a:p>
            <a:endParaRPr lang="pt-PT"/>
          </a:p>
        </p:txBody>
      </p:sp>
      <p:sp>
        <p:nvSpPr>
          <p:cNvPr id="23" name="Shape 21"/>
          <p:cNvSpPr/>
          <p:nvPr/>
        </p:nvSpPr>
        <p:spPr>
          <a:xfrm>
            <a:off x="4681728" y="1298448"/>
            <a:ext cx="73152" cy="1078992"/>
          </a:xfrm>
          <a:prstGeom prst="rect">
            <a:avLst/>
          </a:prstGeom>
          <a:solidFill>
            <a:srgbClr val="E74C3C"/>
          </a:solidFill>
          <a:ln w="12700">
            <a:solidFill>
              <a:srgbClr val="E74C3C"/>
            </a:solidFill>
            <a:prstDash val="solid"/>
          </a:ln>
        </p:spPr>
        <p:txBody>
          <a:bodyPr/>
          <a:lstStyle/>
          <a:p>
            <a:endParaRPr lang="pt-PT"/>
          </a:p>
        </p:txBody>
      </p:sp>
      <p:sp>
        <p:nvSpPr>
          <p:cNvPr id="24" name="Text 22"/>
          <p:cNvSpPr/>
          <p:nvPr/>
        </p:nvSpPr>
        <p:spPr>
          <a:xfrm>
            <a:off x="4828032" y="1371600"/>
            <a:ext cx="3886200" cy="274320"/>
          </a:xfrm>
          <a:prstGeom prst="rect">
            <a:avLst/>
          </a:prstGeom>
          <a:noFill/>
          <a:ln/>
        </p:spPr>
        <p:txBody>
          <a:bodyPr wrap="square" lIns="0" tIns="0" rIns="0" bIns="0" rtlCol="0" anchor="ctr"/>
          <a:lstStyle/>
          <a:p>
            <a:pPr marL="0" indent="0">
              <a:buNone/>
            </a:pPr>
            <a:r>
              <a:rPr lang="en-US" sz="1200" b="1" dirty="0">
                <a:solidFill>
                  <a:srgbClr val="0D1B2A"/>
                </a:solidFill>
                <a:latin typeface="Trebuchet MS" pitchFamily="34" charset="0"/>
                <a:ea typeface="Trebuchet MS" pitchFamily="34" charset="-122"/>
                <a:cs typeface="Trebuchet MS" pitchFamily="34" charset="-120"/>
              </a:rPr>
              <a:t>Augmentation −0.047 F1</a:t>
            </a:r>
            <a:endParaRPr lang="en-US" sz="1200" dirty="0"/>
          </a:p>
        </p:txBody>
      </p:sp>
      <p:sp>
        <p:nvSpPr>
          <p:cNvPr id="25" name="Text 23"/>
          <p:cNvSpPr/>
          <p:nvPr/>
        </p:nvSpPr>
        <p:spPr>
          <a:xfrm>
            <a:off x="4828032" y="1682496"/>
            <a:ext cx="3886200" cy="640080"/>
          </a:xfrm>
          <a:prstGeom prst="rect">
            <a:avLst/>
          </a:prstGeom>
          <a:noFill/>
          <a:ln/>
        </p:spPr>
        <p:txBody>
          <a:bodyPr wrap="square" lIns="0" tIns="0" rIns="0" bIns="0" rtlCol="0" anchor="ctr"/>
          <a:lstStyle/>
          <a:p>
            <a:pPr marL="0" indent="0">
              <a:buNone/>
            </a:pPr>
            <a:r>
              <a:rPr lang="en-US" sz="1100" dirty="0">
                <a:solidFill>
                  <a:srgbClr val="3D5A73"/>
                </a:solidFill>
                <a:latin typeface="Calibri" pitchFamily="34" charset="0"/>
                <a:ea typeface="Calibri" pitchFamily="34" charset="-122"/>
                <a:cs typeface="Calibri" pitchFamily="34" charset="-120"/>
              </a:rPr>
              <a:t>Random flips/jitter/rotation break the pixel vector. CNN will benefit from the same augmentation because filters are position-invariant.</a:t>
            </a:r>
            <a:endParaRPr lang="en-US" sz="1100" dirty="0"/>
          </a:p>
        </p:txBody>
      </p:sp>
      <p:sp>
        <p:nvSpPr>
          <p:cNvPr id="26" name="Shape 24"/>
          <p:cNvSpPr/>
          <p:nvPr/>
        </p:nvSpPr>
        <p:spPr>
          <a:xfrm>
            <a:off x="4681728" y="2532888"/>
            <a:ext cx="4160520" cy="1078992"/>
          </a:xfrm>
          <a:prstGeom prst="rect">
            <a:avLst/>
          </a:prstGeom>
          <a:solidFill>
            <a:srgbClr val="FFFFFF"/>
          </a:solidFill>
          <a:ln w="6350">
            <a:solidFill>
              <a:srgbClr val="D8E4EC"/>
            </a:solidFill>
            <a:prstDash val="solid"/>
          </a:ln>
          <a:effectLst>
            <a:outerShdw blurRad="101600" dist="38100" dir="8100000" algn="bl" rotWithShape="0">
              <a:srgbClr val="000000">
                <a:alpha val="10000"/>
              </a:srgbClr>
            </a:outerShdw>
          </a:effectLst>
        </p:spPr>
        <p:txBody>
          <a:bodyPr/>
          <a:lstStyle/>
          <a:p>
            <a:endParaRPr lang="pt-PT"/>
          </a:p>
        </p:txBody>
      </p:sp>
      <p:sp>
        <p:nvSpPr>
          <p:cNvPr id="27" name="Shape 25"/>
          <p:cNvSpPr/>
          <p:nvPr/>
        </p:nvSpPr>
        <p:spPr>
          <a:xfrm>
            <a:off x="4681728" y="2532888"/>
            <a:ext cx="73152" cy="1078992"/>
          </a:xfrm>
          <a:prstGeom prst="rect">
            <a:avLst/>
          </a:prstGeom>
          <a:solidFill>
            <a:srgbClr val="E97C35"/>
          </a:solidFill>
          <a:ln w="12700">
            <a:solidFill>
              <a:srgbClr val="E97C35"/>
            </a:solidFill>
            <a:prstDash val="solid"/>
          </a:ln>
        </p:spPr>
        <p:txBody>
          <a:bodyPr/>
          <a:lstStyle/>
          <a:p>
            <a:endParaRPr lang="pt-PT"/>
          </a:p>
        </p:txBody>
      </p:sp>
      <p:sp>
        <p:nvSpPr>
          <p:cNvPr id="28" name="Text 26"/>
          <p:cNvSpPr/>
          <p:nvPr/>
        </p:nvSpPr>
        <p:spPr>
          <a:xfrm>
            <a:off x="4828032" y="2606040"/>
            <a:ext cx="3886200" cy="274320"/>
          </a:xfrm>
          <a:prstGeom prst="rect">
            <a:avLst/>
          </a:prstGeom>
          <a:noFill/>
          <a:ln/>
        </p:spPr>
        <p:txBody>
          <a:bodyPr wrap="square" lIns="0" tIns="0" rIns="0" bIns="0" rtlCol="0" anchor="ctr"/>
          <a:lstStyle/>
          <a:p>
            <a:pPr marL="0" indent="0">
              <a:buNone/>
            </a:pPr>
            <a:r>
              <a:rPr lang="en-US" sz="1200" b="1" dirty="0">
                <a:solidFill>
                  <a:srgbClr val="0D1B2A"/>
                </a:solidFill>
                <a:latin typeface="Trebuchet MS" pitchFamily="34" charset="0"/>
                <a:ea typeface="Trebuchet MS" pitchFamily="34" charset="-122"/>
                <a:cs typeface="Trebuchet MS" pitchFamily="34" charset="-120"/>
              </a:rPr>
              <a:t>Grayscale −0.103 F1</a:t>
            </a:r>
            <a:endParaRPr lang="en-US" sz="1200" dirty="0"/>
          </a:p>
        </p:txBody>
      </p:sp>
      <p:sp>
        <p:nvSpPr>
          <p:cNvPr id="29" name="Text 27"/>
          <p:cNvSpPr/>
          <p:nvPr/>
        </p:nvSpPr>
        <p:spPr>
          <a:xfrm>
            <a:off x="4828032" y="2916936"/>
            <a:ext cx="3886200" cy="640080"/>
          </a:xfrm>
          <a:prstGeom prst="rect">
            <a:avLst/>
          </a:prstGeom>
          <a:noFill/>
          <a:ln/>
        </p:spPr>
        <p:txBody>
          <a:bodyPr wrap="square" lIns="0" tIns="0" rIns="0" bIns="0" rtlCol="0" anchor="ctr"/>
          <a:lstStyle/>
          <a:p>
            <a:pPr marL="0" indent="0">
              <a:buNone/>
            </a:pPr>
            <a:r>
              <a:rPr lang="en-US" sz="1100" dirty="0">
                <a:solidFill>
                  <a:srgbClr val="3D5A73"/>
                </a:solidFill>
                <a:latin typeface="Calibri" pitchFamily="34" charset="0"/>
                <a:ea typeface="Calibri" pitchFamily="34" charset="-122"/>
                <a:cs typeface="Calibri" pitchFamily="34" charset="-120"/>
              </a:rPr>
              <a:t>Removing colour channels reduces dimensionality 3x, but loses the main discriminative signal. Colour is king for Pokémon types.</a:t>
            </a:r>
            <a:endParaRPr lang="en-US" sz="1100" dirty="0"/>
          </a:p>
        </p:txBody>
      </p:sp>
      <p:sp>
        <p:nvSpPr>
          <p:cNvPr id="30" name="Shape 28"/>
          <p:cNvSpPr/>
          <p:nvPr/>
        </p:nvSpPr>
        <p:spPr>
          <a:xfrm>
            <a:off x="4681728" y="3767328"/>
            <a:ext cx="4160520" cy="1078992"/>
          </a:xfrm>
          <a:prstGeom prst="rect">
            <a:avLst/>
          </a:prstGeom>
          <a:solidFill>
            <a:srgbClr val="FFFFFF"/>
          </a:solidFill>
          <a:ln w="6350">
            <a:solidFill>
              <a:srgbClr val="D8E4EC"/>
            </a:solidFill>
            <a:prstDash val="solid"/>
          </a:ln>
          <a:effectLst>
            <a:outerShdw blurRad="101600" dist="38100" dir="8100000" algn="bl" rotWithShape="0">
              <a:srgbClr val="000000">
                <a:alpha val="10000"/>
              </a:srgbClr>
            </a:outerShdw>
          </a:effectLst>
        </p:spPr>
        <p:txBody>
          <a:bodyPr/>
          <a:lstStyle/>
          <a:p>
            <a:endParaRPr lang="pt-PT"/>
          </a:p>
        </p:txBody>
      </p:sp>
      <p:sp>
        <p:nvSpPr>
          <p:cNvPr id="31" name="Shape 29"/>
          <p:cNvSpPr/>
          <p:nvPr/>
        </p:nvSpPr>
        <p:spPr>
          <a:xfrm>
            <a:off x="4681728" y="3767328"/>
            <a:ext cx="73152" cy="1078992"/>
          </a:xfrm>
          <a:prstGeom prst="rect">
            <a:avLst/>
          </a:prstGeom>
          <a:solidFill>
            <a:srgbClr val="3D5A73"/>
          </a:solidFill>
          <a:ln w="12700">
            <a:solidFill>
              <a:srgbClr val="3D5A73"/>
            </a:solidFill>
            <a:prstDash val="solid"/>
          </a:ln>
        </p:spPr>
        <p:txBody>
          <a:bodyPr/>
          <a:lstStyle/>
          <a:p>
            <a:endParaRPr lang="pt-PT"/>
          </a:p>
        </p:txBody>
      </p:sp>
      <p:sp>
        <p:nvSpPr>
          <p:cNvPr id="32" name="Text 30"/>
          <p:cNvSpPr/>
          <p:nvPr/>
        </p:nvSpPr>
        <p:spPr>
          <a:xfrm>
            <a:off x="4828032" y="3840480"/>
            <a:ext cx="3886200" cy="274320"/>
          </a:xfrm>
          <a:prstGeom prst="rect">
            <a:avLst/>
          </a:prstGeom>
          <a:noFill/>
          <a:ln/>
        </p:spPr>
        <p:txBody>
          <a:bodyPr wrap="square" lIns="0" tIns="0" rIns="0" bIns="0" rtlCol="0" anchor="ctr"/>
          <a:lstStyle/>
          <a:p>
            <a:pPr marL="0" indent="0">
              <a:buNone/>
            </a:pPr>
            <a:r>
              <a:rPr lang="en-US" sz="1200" b="1" dirty="0">
                <a:solidFill>
                  <a:srgbClr val="0D1B2A"/>
                </a:solidFill>
                <a:latin typeface="Trebuchet MS" pitchFamily="34" charset="0"/>
                <a:ea typeface="Trebuchet MS" pitchFamily="34" charset="-122"/>
                <a:cs typeface="Trebuchet MS" pitchFamily="34" charset="-120"/>
              </a:rPr>
              <a:t>val_loss ≈ random (2.197)</a:t>
            </a:r>
            <a:endParaRPr lang="en-US" sz="1200" dirty="0"/>
          </a:p>
        </p:txBody>
      </p:sp>
      <p:sp>
        <p:nvSpPr>
          <p:cNvPr id="33" name="Text 31"/>
          <p:cNvSpPr/>
          <p:nvPr/>
        </p:nvSpPr>
        <p:spPr>
          <a:xfrm>
            <a:off x="4828032" y="4151376"/>
            <a:ext cx="3886200" cy="640080"/>
          </a:xfrm>
          <a:prstGeom prst="rect">
            <a:avLst/>
          </a:prstGeom>
          <a:noFill/>
          <a:ln/>
        </p:spPr>
        <p:txBody>
          <a:bodyPr wrap="square" lIns="0" tIns="0" rIns="0" bIns="0" rtlCol="0" anchor="ctr"/>
          <a:lstStyle/>
          <a:p>
            <a:pPr marL="0" indent="0">
              <a:buNone/>
            </a:pPr>
            <a:r>
              <a:rPr lang="en-US" sz="1100" dirty="0">
                <a:solidFill>
                  <a:srgbClr val="3D5A73"/>
                </a:solidFill>
                <a:latin typeface="Calibri" pitchFamily="34" charset="0"/>
                <a:ea typeface="Calibri" pitchFamily="34" charset="-122"/>
                <a:cs typeface="Calibri" pitchFamily="34" charset="-120"/>
              </a:rPr>
              <a:t>Even the best model's val_loss hovers at ~2.22 — barely above log(9). The model discriminates but isn't confident.</a:t>
            </a:r>
            <a:endParaRPr lang="en-US" sz="1100" dirty="0"/>
          </a:p>
        </p:txBody>
      </p:sp>
      <p:sp>
        <p:nvSpPr>
          <p:cNvPr id="34" name="Shape 2">
            <a:extLst>
              <a:ext uri="{FF2B5EF4-FFF2-40B4-BE49-F238E27FC236}">
                <a16:creationId xmlns:a16="http://schemas.microsoft.com/office/drawing/2014/main" id="{165FD74B-79DA-23ED-55E8-07094F8039D1}"/>
              </a:ext>
            </a:extLst>
          </p:cNvPr>
          <p:cNvSpPr/>
          <p:nvPr/>
        </p:nvSpPr>
        <p:spPr>
          <a:xfrm>
            <a:off x="7498079" y="82296"/>
            <a:ext cx="1557633" cy="329184"/>
          </a:xfrm>
          <a:prstGeom prst="rect">
            <a:avLst/>
          </a:prstGeom>
          <a:solidFill>
            <a:srgbClr val="1C3A52"/>
          </a:solidFill>
          <a:ln w="12700">
            <a:solidFill>
              <a:srgbClr val="1C3A52"/>
            </a:solidFill>
            <a:prstDash val="solid"/>
          </a:ln>
        </p:spPr>
        <p:txBody>
          <a:bodyPr/>
          <a:lstStyle/>
          <a:p>
            <a:pPr algn="ctr"/>
            <a:r>
              <a:rPr lang="en-US" b="1" dirty="0">
                <a:solidFill>
                  <a:schemeClr val="bg1"/>
                </a:solidFill>
              </a:rPr>
              <a:t>Perf Eval</a:t>
            </a:r>
            <a:endParaRPr lang="pt-PT" b="1" dirty="0">
              <a:solidFill>
                <a:schemeClr val="bg1"/>
              </a:solidFill>
            </a:endParaRPr>
          </a:p>
        </p:txBody>
      </p:sp>
      <p:sp>
        <p:nvSpPr>
          <p:cNvPr id="35" name="Rectangle: Rounded Corners 34">
            <a:extLst>
              <a:ext uri="{FF2B5EF4-FFF2-40B4-BE49-F238E27FC236}">
                <a16:creationId xmlns:a16="http://schemas.microsoft.com/office/drawing/2014/main" id="{41064285-E4DC-E9BB-6886-354EDD050043}"/>
              </a:ext>
            </a:extLst>
          </p:cNvPr>
          <p:cNvSpPr/>
          <p:nvPr/>
        </p:nvSpPr>
        <p:spPr>
          <a:xfrm>
            <a:off x="7088176" y="4253"/>
            <a:ext cx="470123" cy="470912"/>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2800" b="1" dirty="0"/>
              <a:t>4</a:t>
            </a:r>
            <a:endParaRPr lang="pt-PT" sz="1600" b="1"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0A896"/>
          </a:solidFill>
          <a:ln w="12700">
            <a:solidFill>
              <a:srgbClr val="00A896"/>
            </a:solidFill>
            <a:prstDash val="solid"/>
          </a:ln>
        </p:spPr>
        <p:txBody>
          <a:bodyPr/>
          <a:lstStyle/>
          <a:p>
            <a:endParaRPr lang="pt-PT"/>
          </a:p>
        </p:txBody>
      </p:sp>
      <p:sp>
        <p:nvSpPr>
          <p:cNvPr id="3" name="Shape 1"/>
          <p:cNvSpPr/>
          <p:nvPr/>
        </p:nvSpPr>
        <p:spPr>
          <a:xfrm>
            <a:off x="6400800" y="-731520"/>
            <a:ext cx="4114800" cy="4114800"/>
          </a:xfrm>
          <a:prstGeom prst="ellipse">
            <a:avLst/>
          </a:prstGeom>
          <a:solidFill>
            <a:srgbClr val="1C3A52">
              <a:alpha val="60000"/>
            </a:srgbClr>
          </a:solidFill>
          <a:ln w="12700">
            <a:solidFill>
              <a:srgbClr val="1C3A52"/>
            </a:solidFill>
            <a:prstDash val="solid"/>
          </a:ln>
        </p:spPr>
        <p:txBody>
          <a:bodyPr/>
          <a:lstStyle/>
          <a:p>
            <a:endParaRPr lang="pt-PT"/>
          </a:p>
        </p:txBody>
      </p:sp>
      <p:sp>
        <p:nvSpPr>
          <p:cNvPr id="4" name="Shape 2"/>
          <p:cNvSpPr/>
          <p:nvPr/>
        </p:nvSpPr>
        <p:spPr>
          <a:xfrm>
            <a:off x="7498080" y="2103120"/>
            <a:ext cx="2560320" cy="2560320"/>
          </a:xfrm>
          <a:prstGeom prst="ellipse">
            <a:avLst/>
          </a:prstGeom>
          <a:solidFill>
            <a:srgbClr val="00A896">
              <a:alpha val="42000"/>
            </a:srgbClr>
          </a:solidFill>
          <a:ln w="12700">
            <a:solidFill>
              <a:srgbClr val="00A896"/>
            </a:solidFill>
            <a:prstDash val="solid"/>
          </a:ln>
        </p:spPr>
        <p:txBody>
          <a:bodyPr/>
          <a:lstStyle/>
          <a:p>
            <a:endParaRPr lang="pt-PT"/>
          </a:p>
        </p:txBody>
      </p:sp>
      <p:sp>
        <p:nvSpPr>
          <p:cNvPr id="5" name="Text 3"/>
          <p:cNvSpPr/>
          <p:nvPr/>
        </p:nvSpPr>
        <p:spPr>
          <a:xfrm>
            <a:off x="457200" y="109728"/>
            <a:ext cx="6858000" cy="530352"/>
          </a:xfrm>
          <a:prstGeom prst="rect">
            <a:avLst/>
          </a:prstGeom>
          <a:noFill/>
          <a:ln/>
        </p:spPr>
        <p:txBody>
          <a:bodyPr wrap="square" lIns="0" tIns="0" rIns="0" bIns="0" rtlCol="0" anchor="ctr"/>
          <a:lstStyle/>
          <a:p>
            <a:pPr marL="0" indent="0">
              <a:buNone/>
            </a:pPr>
            <a:r>
              <a:rPr lang="en-US" sz="2200" b="1" dirty="0">
                <a:solidFill>
                  <a:srgbClr val="FFFFFF"/>
                </a:solidFill>
                <a:latin typeface="Trebuchet MS" pitchFamily="34" charset="0"/>
                <a:ea typeface="Trebuchet MS" pitchFamily="34" charset="-122"/>
                <a:cs typeface="Trebuchet MS" pitchFamily="34" charset="-120"/>
              </a:rPr>
              <a:t>Conclusions &amp; What's Next</a:t>
            </a:r>
            <a:endParaRPr lang="en-US" sz="2200" dirty="0"/>
          </a:p>
        </p:txBody>
      </p:sp>
      <p:sp>
        <p:nvSpPr>
          <p:cNvPr id="6" name="Shape 4"/>
          <p:cNvSpPr/>
          <p:nvPr/>
        </p:nvSpPr>
        <p:spPr>
          <a:xfrm>
            <a:off x="347472" y="804672"/>
            <a:ext cx="5989320" cy="713232"/>
          </a:xfrm>
          <a:prstGeom prst="rect">
            <a:avLst/>
          </a:prstGeom>
          <a:solidFill>
            <a:srgbClr val="1C3A52"/>
          </a:solidFill>
          <a:ln w="6350">
            <a:solidFill>
              <a:srgbClr val="112233"/>
            </a:solidFill>
            <a:prstDash val="solid"/>
          </a:ln>
          <a:effectLst>
            <a:outerShdw blurRad="101600" dist="38100" dir="8100000" algn="bl" rotWithShape="0">
              <a:srgbClr val="000000">
                <a:alpha val="10000"/>
              </a:srgbClr>
            </a:outerShdw>
          </a:effectLst>
        </p:spPr>
        <p:txBody>
          <a:bodyPr/>
          <a:lstStyle/>
          <a:p>
            <a:endParaRPr lang="pt-PT"/>
          </a:p>
        </p:txBody>
      </p:sp>
      <p:sp>
        <p:nvSpPr>
          <p:cNvPr id="7" name="Shape 5"/>
          <p:cNvSpPr/>
          <p:nvPr/>
        </p:nvSpPr>
        <p:spPr>
          <a:xfrm>
            <a:off x="347472" y="804672"/>
            <a:ext cx="73152" cy="713232"/>
          </a:xfrm>
          <a:prstGeom prst="rect">
            <a:avLst/>
          </a:prstGeom>
          <a:solidFill>
            <a:srgbClr val="00A896"/>
          </a:solidFill>
          <a:ln w="12700">
            <a:solidFill>
              <a:srgbClr val="00A896"/>
            </a:solidFill>
            <a:prstDash val="solid"/>
          </a:ln>
        </p:spPr>
        <p:txBody>
          <a:bodyPr/>
          <a:lstStyle/>
          <a:p>
            <a:endParaRPr lang="pt-PT"/>
          </a:p>
        </p:txBody>
      </p:sp>
      <p:sp>
        <p:nvSpPr>
          <p:cNvPr id="8" name="Text 6"/>
          <p:cNvSpPr/>
          <p:nvPr/>
        </p:nvSpPr>
        <p:spPr>
          <a:xfrm>
            <a:off x="493776" y="859536"/>
            <a:ext cx="5715000" cy="256032"/>
          </a:xfrm>
          <a:prstGeom prst="rect">
            <a:avLst/>
          </a:prstGeom>
          <a:noFill/>
          <a:ln/>
        </p:spPr>
        <p:txBody>
          <a:bodyPr wrap="square" lIns="0" tIns="0" rIns="0" bIns="0" rtlCol="0" anchor="ctr"/>
          <a:lstStyle/>
          <a:p>
            <a:pPr marL="0" indent="0">
              <a:buNone/>
            </a:pPr>
            <a:r>
              <a:rPr lang="en-US" sz="1100" b="1" dirty="0">
                <a:solidFill>
                  <a:srgbClr val="FFFFFF"/>
                </a:solidFill>
                <a:latin typeface="Trebuchet MS" pitchFamily="34" charset="0"/>
                <a:ea typeface="Trebuchet MS" pitchFamily="34" charset="-122"/>
                <a:cs typeface="Trebuchet MS" pitchFamily="34" charset="-120"/>
              </a:rPr>
              <a:t>Best MLP result: 0.2428 val F1 (ensemble C+E), 0.2288 Kaggle</a:t>
            </a:r>
            <a:endParaRPr lang="en-US" sz="1100" dirty="0"/>
          </a:p>
        </p:txBody>
      </p:sp>
      <p:sp>
        <p:nvSpPr>
          <p:cNvPr id="9" name="Text 7"/>
          <p:cNvSpPr/>
          <p:nvPr/>
        </p:nvSpPr>
        <p:spPr>
          <a:xfrm>
            <a:off x="493776" y="1152144"/>
            <a:ext cx="5715000" cy="310896"/>
          </a:xfrm>
          <a:prstGeom prst="rect">
            <a:avLst/>
          </a:prstGeom>
          <a:noFill/>
          <a:ln/>
        </p:spPr>
        <p:txBody>
          <a:bodyPr wrap="square" lIns="0" tIns="0" rIns="0" bIns="0" rtlCol="0" anchor="ctr"/>
          <a:lstStyle/>
          <a:p>
            <a:pPr marL="0" indent="0">
              <a:buNone/>
            </a:pPr>
            <a:r>
              <a:rPr lang="en-US" sz="1050" dirty="0">
                <a:solidFill>
                  <a:schemeClr val="accent2">
                    <a:lumMod val="40000"/>
                    <a:lumOff val="60000"/>
                  </a:schemeClr>
                </a:solidFill>
                <a:latin typeface="Calibri" pitchFamily="34" charset="0"/>
                <a:ea typeface="Calibri" pitchFamily="34" charset="-122"/>
                <a:cs typeface="Calibri" pitchFamily="34" charset="-120"/>
              </a:rPr>
              <a:t>2.18x above random baseline. All 19 solo + 7 ensemble experiments are above random.</a:t>
            </a:r>
            <a:endParaRPr lang="en-US" sz="1050" dirty="0">
              <a:solidFill>
                <a:schemeClr val="accent2">
                  <a:lumMod val="40000"/>
                  <a:lumOff val="60000"/>
                </a:schemeClr>
              </a:solidFill>
            </a:endParaRPr>
          </a:p>
        </p:txBody>
      </p:sp>
      <p:sp>
        <p:nvSpPr>
          <p:cNvPr id="10" name="Shape 8"/>
          <p:cNvSpPr/>
          <p:nvPr/>
        </p:nvSpPr>
        <p:spPr>
          <a:xfrm>
            <a:off x="347472" y="1627632"/>
            <a:ext cx="5989320" cy="713232"/>
          </a:xfrm>
          <a:prstGeom prst="rect">
            <a:avLst/>
          </a:prstGeom>
          <a:solidFill>
            <a:srgbClr val="1C3A52"/>
          </a:solidFill>
          <a:ln w="6350">
            <a:solidFill>
              <a:srgbClr val="112233"/>
            </a:solidFill>
            <a:prstDash val="solid"/>
          </a:ln>
          <a:effectLst>
            <a:outerShdw blurRad="101600" dist="38100" dir="8100000" algn="bl" rotWithShape="0">
              <a:srgbClr val="000000">
                <a:alpha val="10000"/>
              </a:srgbClr>
            </a:outerShdw>
          </a:effectLst>
        </p:spPr>
        <p:txBody>
          <a:bodyPr/>
          <a:lstStyle/>
          <a:p>
            <a:endParaRPr lang="pt-PT"/>
          </a:p>
        </p:txBody>
      </p:sp>
      <p:sp>
        <p:nvSpPr>
          <p:cNvPr id="11" name="Shape 9"/>
          <p:cNvSpPr/>
          <p:nvPr/>
        </p:nvSpPr>
        <p:spPr>
          <a:xfrm>
            <a:off x="347472" y="1627632"/>
            <a:ext cx="73152" cy="713232"/>
          </a:xfrm>
          <a:prstGeom prst="rect">
            <a:avLst/>
          </a:prstGeom>
          <a:solidFill>
            <a:srgbClr val="02C39A"/>
          </a:solidFill>
          <a:ln w="12700">
            <a:solidFill>
              <a:srgbClr val="02C39A"/>
            </a:solidFill>
            <a:prstDash val="solid"/>
          </a:ln>
        </p:spPr>
        <p:txBody>
          <a:bodyPr/>
          <a:lstStyle/>
          <a:p>
            <a:endParaRPr lang="pt-PT"/>
          </a:p>
        </p:txBody>
      </p:sp>
      <p:sp>
        <p:nvSpPr>
          <p:cNvPr id="12" name="Text 10"/>
          <p:cNvSpPr/>
          <p:nvPr/>
        </p:nvSpPr>
        <p:spPr>
          <a:xfrm>
            <a:off x="493776" y="1682496"/>
            <a:ext cx="5715000" cy="256032"/>
          </a:xfrm>
          <a:prstGeom prst="rect">
            <a:avLst/>
          </a:prstGeom>
          <a:noFill/>
          <a:ln/>
        </p:spPr>
        <p:txBody>
          <a:bodyPr wrap="square" lIns="0" tIns="0" rIns="0" bIns="0" rtlCol="0" anchor="ctr"/>
          <a:lstStyle/>
          <a:p>
            <a:pPr marL="0" indent="0">
              <a:buNone/>
            </a:pPr>
            <a:r>
              <a:rPr lang="en-US" sz="1100" b="1" dirty="0">
                <a:solidFill>
                  <a:srgbClr val="FFFFFF"/>
                </a:solidFill>
                <a:latin typeface="Trebuchet MS" pitchFamily="34" charset="0"/>
                <a:ea typeface="Trebuchet MS" pitchFamily="34" charset="-122"/>
                <a:cs typeface="Trebuchet MS" pitchFamily="34" charset="-120"/>
              </a:rPr>
              <a:t>Label smoothing = most impactful technique</a:t>
            </a:r>
            <a:endParaRPr lang="en-US" sz="1100" dirty="0"/>
          </a:p>
        </p:txBody>
      </p:sp>
      <p:sp>
        <p:nvSpPr>
          <p:cNvPr id="13" name="Text 11"/>
          <p:cNvSpPr/>
          <p:nvPr/>
        </p:nvSpPr>
        <p:spPr>
          <a:xfrm>
            <a:off x="493776" y="1975104"/>
            <a:ext cx="5715000" cy="310896"/>
          </a:xfrm>
          <a:prstGeom prst="rect">
            <a:avLst/>
          </a:prstGeom>
          <a:noFill/>
          <a:ln/>
        </p:spPr>
        <p:txBody>
          <a:bodyPr wrap="square" lIns="0" tIns="0" rIns="0" bIns="0" rtlCol="0" anchor="ctr"/>
          <a:lstStyle/>
          <a:p>
            <a:pPr marL="0" indent="0">
              <a:buNone/>
            </a:pPr>
            <a:r>
              <a:rPr lang="en-US" sz="1050" dirty="0">
                <a:solidFill>
                  <a:schemeClr val="accent2">
                    <a:lumMod val="40000"/>
                    <a:lumOff val="60000"/>
                  </a:schemeClr>
                </a:solidFill>
                <a:latin typeface="Calibri" pitchFamily="34" charset="0"/>
                <a:ea typeface="Calibri" pitchFamily="34" charset="-122"/>
                <a:cs typeface="Calibri" pitchFamily="34" charset="-120"/>
              </a:rPr>
              <a:t>LS=0.15 rescued Rock from F1=0.000. All top-6 solo experiments use LS ≥ 0.1.</a:t>
            </a:r>
            <a:endParaRPr lang="en-US" sz="1050" dirty="0">
              <a:solidFill>
                <a:schemeClr val="accent2">
                  <a:lumMod val="40000"/>
                  <a:lumOff val="60000"/>
                </a:schemeClr>
              </a:solidFill>
            </a:endParaRPr>
          </a:p>
        </p:txBody>
      </p:sp>
      <p:sp>
        <p:nvSpPr>
          <p:cNvPr id="14" name="Shape 12"/>
          <p:cNvSpPr/>
          <p:nvPr/>
        </p:nvSpPr>
        <p:spPr>
          <a:xfrm>
            <a:off x="347472" y="2450592"/>
            <a:ext cx="5989320" cy="713232"/>
          </a:xfrm>
          <a:prstGeom prst="rect">
            <a:avLst/>
          </a:prstGeom>
          <a:solidFill>
            <a:srgbClr val="1C3A52"/>
          </a:solidFill>
          <a:ln w="6350">
            <a:solidFill>
              <a:srgbClr val="112233"/>
            </a:solidFill>
            <a:prstDash val="solid"/>
          </a:ln>
          <a:effectLst>
            <a:outerShdw blurRad="101600" dist="38100" dir="8100000" algn="bl" rotWithShape="0">
              <a:srgbClr val="000000">
                <a:alpha val="10000"/>
              </a:srgbClr>
            </a:outerShdw>
          </a:effectLst>
        </p:spPr>
        <p:txBody>
          <a:bodyPr/>
          <a:lstStyle/>
          <a:p>
            <a:endParaRPr lang="pt-PT" sz="2000">
              <a:solidFill>
                <a:schemeClr val="accent2">
                  <a:lumMod val="40000"/>
                  <a:lumOff val="60000"/>
                </a:schemeClr>
              </a:solidFill>
            </a:endParaRPr>
          </a:p>
        </p:txBody>
      </p:sp>
      <p:sp>
        <p:nvSpPr>
          <p:cNvPr id="15" name="Shape 13"/>
          <p:cNvSpPr/>
          <p:nvPr/>
        </p:nvSpPr>
        <p:spPr>
          <a:xfrm>
            <a:off x="347472" y="2450592"/>
            <a:ext cx="73152" cy="713232"/>
          </a:xfrm>
          <a:prstGeom prst="rect">
            <a:avLst/>
          </a:prstGeom>
          <a:solidFill>
            <a:srgbClr val="E97C35"/>
          </a:solidFill>
          <a:ln w="12700">
            <a:solidFill>
              <a:srgbClr val="E97C35"/>
            </a:solidFill>
            <a:prstDash val="solid"/>
          </a:ln>
        </p:spPr>
        <p:txBody>
          <a:bodyPr/>
          <a:lstStyle/>
          <a:p>
            <a:endParaRPr lang="pt-PT"/>
          </a:p>
        </p:txBody>
      </p:sp>
      <p:sp>
        <p:nvSpPr>
          <p:cNvPr id="16" name="Text 14"/>
          <p:cNvSpPr/>
          <p:nvPr/>
        </p:nvSpPr>
        <p:spPr>
          <a:xfrm>
            <a:off x="493776" y="2505456"/>
            <a:ext cx="5715000" cy="256032"/>
          </a:xfrm>
          <a:prstGeom prst="rect">
            <a:avLst/>
          </a:prstGeom>
          <a:noFill/>
          <a:ln/>
        </p:spPr>
        <p:txBody>
          <a:bodyPr wrap="square" lIns="0" tIns="0" rIns="0" bIns="0" rtlCol="0" anchor="ctr"/>
          <a:lstStyle/>
          <a:p>
            <a:pPr marL="0" indent="0">
              <a:buNone/>
            </a:pPr>
            <a:r>
              <a:rPr lang="en-US" sz="1100" b="1" dirty="0">
                <a:solidFill>
                  <a:srgbClr val="FFFFFF"/>
                </a:solidFill>
                <a:latin typeface="Trebuchet MS" pitchFamily="34" charset="0"/>
                <a:ea typeface="Trebuchet MS" pitchFamily="34" charset="-122"/>
                <a:cs typeface="Trebuchet MS" pitchFamily="34" charset="-120"/>
              </a:rPr>
              <a:t>Augmentation and depth both hurt</a:t>
            </a:r>
            <a:endParaRPr lang="en-US" sz="1100" dirty="0"/>
          </a:p>
        </p:txBody>
      </p:sp>
      <p:sp>
        <p:nvSpPr>
          <p:cNvPr id="17" name="Text 15"/>
          <p:cNvSpPr/>
          <p:nvPr/>
        </p:nvSpPr>
        <p:spPr>
          <a:xfrm>
            <a:off x="493776" y="2798064"/>
            <a:ext cx="5715000" cy="310896"/>
          </a:xfrm>
          <a:prstGeom prst="rect">
            <a:avLst/>
          </a:prstGeom>
          <a:noFill/>
          <a:ln/>
        </p:spPr>
        <p:txBody>
          <a:bodyPr wrap="square" lIns="0" tIns="0" rIns="0" bIns="0" rtlCol="0" anchor="ctr"/>
          <a:lstStyle/>
          <a:p>
            <a:pPr marL="0" indent="0">
              <a:buNone/>
            </a:pPr>
            <a:r>
              <a:rPr lang="en-US" sz="1050" dirty="0">
                <a:solidFill>
                  <a:schemeClr val="accent2">
                    <a:lumMod val="40000"/>
                    <a:lumOff val="60000"/>
                  </a:schemeClr>
                </a:solidFill>
                <a:latin typeface="Calibri" pitchFamily="34" charset="0"/>
                <a:ea typeface="Calibri" pitchFamily="34" charset="-122"/>
                <a:cs typeface="Calibri" pitchFamily="34" charset="-120"/>
              </a:rPr>
              <a:t>Confirmed empirically: MLP has no spatial invariance, and small data can't regularise deeper nets.</a:t>
            </a:r>
            <a:endParaRPr lang="en-US" sz="1050" dirty="0">
              <a:solidFill>
                <a:schemeClr val="accent2">
                  <a:lumMod val="40000"/>
                  <a:lumOff val="60000"/>
                </a:schemeClr>
              </a:solidFill>
            </a:endParaRPr>
          </a:p>
        </p:txBody>
      </p:sp>
      <p:sp>
        <p:nvSpPr>
          <p:cNvPr id="18" name="Shape 16"/>
          <p:cNvSpPr/>
          <p:nvPr/>
        </p:nvSpPr>
        <p:spPr>
          <a:xfrm>
            <a:off x="347472" y="3273552"/>
            <a:ext cx="5989320" cy="713232"/>
          </a:xfrm>
          <a:prstGeom prst="rect">
            <a:avLst/>
          </a:prstGeom>
          <a:solidFill>
            <a:srgbClr val="1C3A52"/>
          </a:solidFill>
          <a:ln w="6350">
            <a:solidFill>
              <a:srgbClr val="112233"/>
            </a:solidFill>
            <a:prstDash val="solid"/>
          </a:ln>
          <a:effectLst>
            <a:outerShdw blurRad="101600" dist="38100" dir="8100000" algn="bl" rotWithShape="0">
              <a:srgbClr val="000000">
                <a:alpha val="10000"/>
              </a:srgbClr>
            </a:outerShdw>
          </a:effectLst>
        </p:spPr>
        <p:txBody>
          <a:bodyPr/>
          <a:lstStyle/>
          <a:p>
            <a:endParaRPr lang="pt-PT"/>
          </a:p>
        </p:txBody>
      </p:sp>
      <p:sp>
        <p:nvSpPr>
          <p:cNvPr id="19" name="Shape 17"/>
          <p:cNvSpPr/>
          <p:nvPr/>
        </p:nvSpPr>
        <p:spPr>
          <a:xfrm>
            <a:off x="347472" y="3273552"/>
            <a:ext cx="73152" cy="713232"/>
          </a:xfrm>
          <a:prstGeom prst="rect">
            <a:avLst/>
          </a:prstGeom>
          <a:solidFill>
            <a:srgbClr val="E97C35"/>
          </a:solidFill>
          <a:ln w="12700">
            <a:solidFill>
              <a:srgbClr val="E97C35"/>
            </a:solidFill>
            <a:prstDash val="solid"/>
          </a:ln>
        </p:spPr>
        <p:txBody>
          <a:bodyPr/>
          <a:lstStyle/>
          <a:p>
            <a:endParaRPr lang="pt-PT"/>
          </a:p>
        </p:txBody>
      </p:sp>
      <p:sp>
        <p:nvSpPr>
          <p:cNvPr id="20" name="Text 18"/>
          <p:cNvSpPr/>
          <p:nvPr/>
        </p:nvSpPr>
        <p:spPr>
          <a:xfrm>
            <a:off x="493776" y="3328416"/>
            <a:ext cx="5715000" cy="256032"/>
          </a:xfrm>
          <a:prstGeom prst="rect">
            <a:avLst/>
          </a:prstGeom>
          <a:noFill/>
          <a:ln/>
        </p:spPr>
        <p:txBody>
          <a:bodyPr wrap="square" lIns="0" tIns="0" rIns="0" bIns="0" rtlCol="0" anchor="ctr"/>
          <a:lstStyle/>
          <a:p>
            <a:pPr marL="0" indent="0">
              <a:buNone/>
            </a:pPr>
            <a:r>
              <a:rPr lang="en-US" sz="1100" b="1" dirty="0">
                <a:solidFill>
                  <a:srgbClr val="FFFFFF"/>
                </a:solidFill>
                <a:latin typeface="Trebuchet MS" pitchFamily="34" charset="0"/>
                <a:ea typeface="Trebuchet MS" pitchFamily="34" charset="-122"/>
                <a:cs typeface="Trebuchet MS" pitchFamily="34" charset="-120"/>
              </a:rPr>
              <a:t>MLP ceiling is real and confirmed</a:t>
            </a:r>
            <a:endParaRPr lang="en-US" sz="1100" dirty="0"/>
          </a:p>
        </p:txBody>
      </p:sp>
      <p:sp>
        <p:nvSpPr>
          <p:cNvPr id="21" name="Text 19"/>
          <p:cNvSpPr/>
          <p:nvPr/>
        </p:nvSpPr>
        <p:spPr>
          <a:xfrm>
            <a:off x="493776" y="3621024"/>
            <a:ext cx="5715000" cy="310896"/>
          </a:xfrm>
          <a:prstGeom prst="rect">
            <a:avLst/>
          </a:prstGeom>
          <a:noFill/>
          <a:ln/>
        </p:spPr>
        <p:txBody>
          <a:bodyPr wrap="square" lIns="0" tIns="0" rIns="0" bIns="0" rtlCol="0" anchor="ctr"/>
          <a:lstStyle/>
          <a:p>
            <a:pPr marL="0" indent="0">
              <a:buNone/>
            </a:pPr>
            <a:r>
              <a:rPr lang="en-US" sz="1050" dirty="0">
                <a:solidFill>
                  <a:schemeClr val="accent2">
                    <a:lumMod val="40000"/>
                    <a:lumOff val="60000"/>
                  </a:schemeClr>
                </a:solidFill>
                <a:latin typeface="Calibri" pitchFamily="34" charset="0"/>
                <a:ea typeface="Calibri" pitchFamily="34" charset="-122"/>
                <a:cs typeface="Calibri" pitchFamily="34" charset="-120"/>
              </a:rPr>
              <a:t>val_loss ≈ log(9) = random. Feature-to-sample ratio 4.26:1 = no amount of tuning fixes this.</a:t>
            </a:r>
            <a:endParaRPr lang="en-US" sz="1050" dirty="0">
              <a:solidFill>
                <a:schemeClr val="accent2">
                  <a:lumMod val="40000"/>
                  <a:lumOff val="60000"/>
                </a:schemeClr>
              </a:solidFill>
            </a:endParaRPr>
          </a:p>
        </p:txBody>
      </p:sp>
      <p:sp>
        <p:nvSpPr>
          <p:cNvPr id="22" name="Shape 20"/>
          <p:cNvSpPr/>
          <p:nvPr/>
        </p:nvSpPr>
        <p:spPr>
          <a:xfrm>
            <a:off x="347472" y="4096512"/>
            <a:ext cx="5989320" cy="713232"/>
          </a:xfrm>
          <a:prstGeom prst="rect">
            <a:avLst/>
          </a:prstGeom>
          <a:solidFill>
            <a:srgbClr val="1C3A52"/>
          </a:solidFill>
          <a:ln w="6350">
            <a:solidFill>
              <a:srgbClr val="112233"/>
            </a:solidFill>
            <a:prstDash val="solid"/>
          </a:ln>
          <a:effectLst>
            <a:outerShdw blurRad="101600" dist="38100" dir="8100000" algn="bl" rotWithShape="0">
              <a:srgbClr val="000000">
                <a:alpha val="10000"/>
              </a:srgbClr>
            </a:outerShdw>
          </a:effectLst>
        </p:spPr>
        <p:txBody>
          <a:bodyPr/>
          <a:lstStyle/>
          <a:p>
            <a:endParaRPr lang="pt-PT"/>
          </a:p>
        </p:txBody>
      </p:sp>
      <p:sp>
        <p:nvSpPr>
          <p:cNvPr id="23" name="Shape 21"/>
          <p:cNvSpPr/>
          <p:nvPr/>
        </p:nvSpPr>
        <p:spPr>
          <a:xfrm>
            <a:off x="347472" y="4096512"/>
            <a:ext cx="73152" cy="713232"/>
          </a:xfrm>
          <a:prstGeom prst="rect">
            <a:avLst/>
          </a:prstGeom>
          <a:solidFill>
            <a:srgbClr val="27AE60"/>
          </a:solidFill>
          <a:ln w="12700">
            <a:solidFill>
              <a:srgbClr val="27AE60"/>
            </a:solidFill>
            <a:prstDash val="solid"/>
          </a:ln>
        </p:spPr>
        <p:txBody>
          <a:bodyPr/>
          <a:lstStyle/>
          <a:p>
            <a:endParaRPr lang="pt-PT"/>
          </a:p>
        </p:txBody>
      </p:sp>
      <p:sp>
        <p:nvSpPr>
          <p:cNvPr id="24" name="Text 22"/>
          <p:cNvSpPr/>
          <p:nvPr/>
        </p:nvSpPr>
        <p:spPr>
          <a:xfrm>
            <a:off x="493776" y="4151376"/>
            <a:ext cx="5715000" cy="256032"/>
          </a:xfrm>
          <a:prstGeom prst="rect">
            <a:avLst/>
          </a:prstGeom>
          <a:noFill/>
          <a:ln/>
        </p:spPr>
        <p:txBody>
          <a:bodyPr wrap="square" lIns="0" tIns="0" rIns="0" bIns="0" rtlCol="0" anchor="ctr"/>
          <a:lstStyle/>
          <a:p>
            <a:pPr marL="0" indent="0">
              <a:buNone/>
            </a:pPr>
            <a:r>
              <a:rPr lang="en-US" sz="1100" b="1" dirty="0">
                <a:solidFill>
                  <a:srgbClr val="FFFFFF"/>
                </a:solidFill>
                <a:latin typeface="Trebuchet MS" pitchFamily="34" charset="0"/>
                <a:ea typeface="Trebuchet MS" pitchFamily="34" charset="-122"/>
                <a:cs typeface="Trebuchet MS" pitchFamily="34" charset="-120"/>
              </a:rPr>
              <a:t>Ensemble diversity &gt; ensemble quality</a:t>
            </a:r>
            <a:endParaRPr lang="en-US" sz="1100" dirty="0"/>
          </a:p>
        </p:txBody>
      </p:sp>
      <p:sp>
        <p:nvSpPr>
          <p:cNvPr id="25" name="Text 23"/>
          <p:cNvSpPr/>
          <p:nvPr/>
        </p:nvSpPr>
        <p:spPr>
          <a:xfrm>
            <a:off x="493776" y="4443984"/>
            <a:ext cx="5715000" cy="310896"/>
          </a:xfrm>
          <a:prstGeom prst="rect">
            <a:avLst/>
          </a:prstGeom>
          <a:noFill/>
          <a:ln/>
        </p:spPr>
        <p:txBody>
          <a:bodyPr wrap="square" lIns="0" tIns="0" rIns="0" bIns="0" rtlCol="0" anchor="ctr"/>
          <a:lstStyle/>
          <a:p>
            <a:pPr marL="0" indent="0">
              <a:buNone/>
            </a:pPr>
            <a:r>
              <a:rPr lang="en-US" sz="1050" dirty="0">
                <a:solidFill>
                  <a:schemeClr val="accent2">
                    <a:lumMod val="40000"/>
                    <a:lumOff val="60000"/>
                  </a:schemeClr>
                </a:solidFill>
                <a:latin typeface="Calibri" pitchFamily="34" charset="0"/>
                <a:ea typeface="Calibri" pitchFamily="34" charset="-122"/>
                <a:cs typeface="Calibri" pitchFamily="34" charset="-120"/>
              </a:rPr>
              <a:t>C+E (0.2428) beats two top solos (C=0.2395, R=0.2396) because different imbalance mechanisms produce complementary errors.</a:t>
            </a:r>
            <a:endParaRPr lang="en-US" sz="1050" dirty="0">
              <a:solidFill>
                <a:schemeClr val="accent2">
                  <a:lumMod val="40000"/>
                  <a:lumOff val="60000"/>
                </a:schemeClr>
              </a:solidFill>
            </a:endParaRPr>
          </a:p>
        </p:txBody>
      </p:sp>
      <p:sp>
        <p:nvSpPr>
          <p:cNvPr id="26" name="Shape 24"/>
          <p:cNvSpPr/>
          <p:nvPr/>
        </p:nvSpPr>
        <p:spPr>
          <a:xfrm>
            <a:off x="6565392" y="804672"/>
            <a:ext cx="2331720" cy="3950208"/>
          </a:xfrm>
          <a:prstGeom prst="rect">
            <a:avLst/>
          </a:prstGeom>
          <a:solidFill>
            <a:srgbClr val="00A896"/>
          </a:solidFill>
          <a:ln w="12700">
            <a:solidFill>
              <a:srgbClr val="00A896"/>
            </a:solidFill>
            <a:prstDash val="solid"/>
          </a:ln>
          <a:effectLst>
            <a:outerShdw blurRad="101600" dist="38100" dir="8100000" algn="bl" rotWithShape="0">
              <a:srgbClr val="000000">
                <a:alpha val="10000"/>
              </a:srgbClr>
            </a:outerShdw>
          </a:effectLst>
        </p:spPr>
        <p:txBody>
          <a:bodyPr/>
          <a:lstStyle/>
          <a:p>
            <a:endParaRPr lang="pt-PT"/>
          </a:p>
        </p:txBody>
      </p:sp>
      <p:sp>
        <p:nvSpPr>
          <p:cNvPr id="27" name="Text 25"/>
          <p:cNvSpPr/>
          <p:nvPr/>
        </p:nvSpPr>
        <p:spPr>
          <a:xfrm>
            <a:off x="6565392" y="841248"/>
            <a:ext cx="2331720"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Trebuchet MS" pitchFamily="34" charset="0"/>
                <a:ea typeface="Trebuchet MS" pitchFamily="34" charset="-122"/>
                <a:cs typeface="Trebuchet MS" pitchFamily="34" charset="-120"/>
              </a:rPr>
              <a:t>Next: Task 2</a:t>
            </a:r>
            <a:endParaRPr lang="en-US" sz="1500" dirty="0"/>
          </a:p>
        </p:txBody>
      </p:sp>
      <p:sp>
        <p:nvSpPr>
          <p:cNvPr id="28" name="Text 26"/>
          <p:cNvSpPr/>
          <p:nvPr/>
        </p:nvSpPr>
        <p:spPr>
          <a:xfrm>
            <a:off x="6565392" y="1298448"/>
            <a:ext cx="2331720" cy="914400"/>
          </a:xfrm>
          <a:prstGeom prst="rect">
            <a:avLst/>
          </a:prstGeom>
          <a:noFill/>
          <a:ln/>
        </p:spPr>
        <p:txBody>
          <a:bodyPr wrap="square" rtlCol="0" anchor="ctr"/>
          <a:lstStyle/>
          <a:p>
            <a:pPr marL="0" indent="0" algn="ctr">
              <a:buNone/>
            </a:pPr>
            <a:r>
              <a:rPr lang="en-US" sz="2000" b="1" dirty="0">
                <a:solidFill>
                  <a:srgbClr val="FFFFFF"/>
                </a:solidFill>
                <a:latin typeface="Trebuchet MS" pitchFamily="34" charset="0"/>
                <a:ea typeface="Trebuchet MS" pitchFamily="34" charset="-122"/>
                <a:cs typeface="Trebuchet MS" pitchFamily="34" charset="-120"/>
              </a:rPr>
              <a:t>CNN</a:t>
            </a:r>
            <a:endParaRPr lang="en-US" sz="2000" dirty="0"/>
          </a:p>
          <a:p>
            <a:pPr marL="0" indent="0" algn="ctr">
              <a:buNone/>
            </a:pPr>
            <a:r>
              <a:rPr lang="en-US" sz="1200" dirty="0">
                <a:solidFill>
                  <a:srgbClr val="FFFFFF"/>
                </a:solidFill>
                <a:latin typeface="Trebuchet MS" pitchFamily="34" charset="0"/>
                <a:ea typeface="Trebuchet MS" pitchFamily="34" charset="-122"/>
                <a:cs typeface="Trebuchet MS" pitchFamily="34" charset="-120"/>
              </a:rPr>
              <a:t>Convolutional</a:t>
            </a:r>
            <a:endParaRPr lang="en-US" sz="2000" dirty="0"/>
          </a:p>
          <a:p>
            <a:pPr marL="0" indent="0" algn="ctr">
              <a:buNone/>
            </a:pPr>
            <a:r>
              <a:rPr lang="en-US" sz="1200" dirty="0">
                <a:solidFill>
                  <a:srgbClr val="FFFFFF"/>
                </a:solidFill>
                <a:latin typeface="Trebuchet MS" pitchFamily="34" charset="0"/>
                <a:ea typeface="Trebuchet MS" pitchFamily="34" charset="-122"/>
                <a:cs typeface="Trebuchet MS" pitchFamily="34" charset="-120"/>
              </a:rPr>
              <a:t>Neural Network</a:t>
            </a:r>
            <a:endParaRPr lang="en-US" sz="2000" dirty="0"/>
          </a:p>
        </p:txBody>
      </p:sp>
      <p:sp>
        <p:nvSpPr>
          <p:cNvPr id="29" name="Text 27"/>
          <p:cNvSpPr/>
          <p:nvPr/>
        </p:nvSpPr>
        <p:spPr>
          <a:xfrm>
            <a:off x="6629400" y="2304288"/>
            <a:ext cx="2212848" cy="2286000"/>
          </a:xfrm>
          <a:prstGeom prst="rect">
            <a:avLst/>
          </a:prstGeom>
          <a:noFill/>
          <a:ln/>
        </p:spPr>
        <p:txBody>
          <a:bodyPr wrap="square" rtlCol="0" anchor="ctr"/>
          <a:lstStyle/>
          <a:p>
            <a:pPr marL="342900" indent="-342900">
              <a:buSzPct val="100000"/>
              <a:buChar char="•"/>
            </a:pPr>
            <a:r>
              <a:rPr lang="en-US" sz="1000" dirty="0">
                <a:solidFill>
                  <a:srgbClr val="FFFFFF"/>
                </a:solidFill>
                <a:latin typeface="Calibri" pitchFamily="34" charset="0"/>
                <a:ea typeface="Calibri" pitchFamily="34" charset="-122"/>
                <a:cs typeface="Calibri" pitchFamily="34" charset="-120"/>
              </a:rPr>
              <a:t>Spatial inductive bias — same filters at every position</a:t>
            </a:r>
            <a:endParaRPr lang="en-US" sz="1000" dirty="0"/>
          </a:p>
          <a:p>
            <a:pPr marL="342900" indent="-342900">
              <a:buSzPct val="100000"/>
              <a:buChar char="•"/>
            </a:pPr>
            <a:r>
              <a:rPr lang="en-US" sz="1000" dirty="0">
                <a:solidFill>
                  <a:srgbClr val="FFFFFF"/>
                </a:solidFill>
                <a:latin typeface="Calibri" pitchFamily="34" charset="0"/>
                <a:ea typeface="Calibri" pitchFamily="34" charset="-122"/>
                <a:cs typeface="Calibri" pitchFamily="34" charset="-120"/>
              </a:rPr>
              <a:t>3×3 conv = 27 params vs 12 288 per MLP node</a:t>
            </a:r>
            <a:endParaRPr lang="en-US" sz="1000" dirty="0"/>
          </a:p>
          <a:p>
            <a:pPr marL="342900" indent="-342900">
              <a:buSzPct val="100000"/>
              <a:buChar char="•"/>
            </a:pPr>
            <a:r>
              <a:rPr lang="en-US" sz="1000" dirty="0">
                <a:solidFill>
                  <a:srgbClr val="FFFFFF"/>
                </a:solidFill>
                <a:latin typeface="Calibri" pitchFamily="34" charset="0"/>
                <a:ea typeface="Calibri" pitchFamily="34" charset="-122"/>
                <a:cs typeface="Calibri" pitchFamily="34" charset="-120"/>
              </a:rPr>
              <a:t>Augmentation will HELP (not hurt)</a:t>
            </a:r>
            <a:endParaRPr lang="en-US" sz="1000" dirty="0"/>
          </a:p>
          <a:p>
            <a:pPr marL="342900" indent="-342900">
              <a:buSzPct val="100000"/>
              <a:buChar char="•"/>
            </a:pPr>
            <a:r>
              <a:rPr lang="en-US" sz="1000" dirty="0">
                <a:solidFill>
                  <a:srgbClr val="FFFFFF"/>
                </a:solidFill>
                <a:latin typeface="Calibri" pitchFamily="34" charset="0"/>
                <a:ea typeface="Calibri" pitchFamily="34" charset="-122"/>
                <a:cs typeface="Calibri" pitchFamily="34" charset="-120"/>
              </a:rPr>
              <a:t>Target F1: 0.55 – 0.70</a:t>
            </a:r>
            <a:endParaRPr lang="en-US" sz="1000" dirty="0"/>
          </a:p>
        </p:txBody>
      </p:sp>
      <p:sp>
        <p:nvSpPr>
          <p:cNvPr id="30" name="Text 28"/>
          <p:cNvSpPr/>
          <p:nvPr/>
        </p:nvSpPr>
        <p:spPr>
          <a:xfrm>
            <a:off x="6629400" y="2304288"/>
            <a:ext cx="2212848" cy="1965960"/>
          </a:xfrm>
          <a:prstGeom prst="rect">
            <a:avLst/>
          </a:prstGeom>
          <a:noFill/>
          <a:ln/>
        </p:spPr>
        <p:txBody>
          <a:bodyPr wrap="square" rtlCol="0" anchor="ctr"/>
          <a:lstStyle/>
          <a:p>
            <a:pPr marL="342900" indent="-342900">
              <a:buSzPct val="100000"/>
              <a:buChar char="•"/>
            </a:pPr>
            <a:r>
              <a:rPr lang="en-US" sz="1000" dirty="0">
                <a:solidFill>
                  <a:srgbClr val="FFFFFF"/>
                </a:solidFill>
                <a:latin typeface="Calibri" pitchFamily="34" charset="0"/>
                <a:ea typeface="Calibri" pitchFamily="34" charset="-122"/>
                <a:cs typeface="Calibri" pitchFamily="34" charset="-120"/>
              </a:rPr>
              <a:t>Spatial inductive bias — same filters at every position</a:t>
            </a:r>
            <a:endParaRPr lang="en-US" sz="1000" dirty="0"/>
          </a:p>
          <a:p>
            <a:pPr marL="342900" indent="-342900">
              <a:buSzPct val="100000"/>
              <a:buChar char="•"/>
            </a:pPr>
            <a:r>
              <a:rPr lang="en-US" sz="1000" dirty="0">
                <a:solidFill>
                  <a:srgbClr val="FFFFFF"/>
                </a:solidFill>
                <a:latin typeface="Calibri" pitchFamily="34" charset="0"/>
                <a:ea typeface="Calibri" pitchFamily="34" charset="-122"/>
                <a:cs typeface="Calibri" pitchFamily="34" charset="-120"/>
              </a:rPr>
              <a:t>3×3 conv = 27 params vs 12 288 per MLP node</a:t>
            </a:r>
            <a:endParaRPr lang="en-US" sz="1000" dirty="0"/>
          </a:p>
          <a:p>
            <a:pPr marL="342900" indent="-342900">
              <a:buSzPct val="100000"/>
              <a:buChar char="•"/>
            </a:pPr>
            <a:r>
              <a:rPr lang="en-US" sz="1000" dirty="0">
                <a:solidFill>
                  <a:srgbClr val="FFFFFF"/>
                </a:solidFill>
                <a:latin typeface="Calibri" pitchFamily="34" charset="0"/>
                <a:ea typeface="Calibri" pitchFamily="34" charset="-122"/>
                <a:cs typeface="Calibri" pitchFamily="34" charset="-120"/>
              </a:rPr>
              <a:t>Augmentation will HELP (not hurt)</a:t>
            </a:r>
            <a:endParaRPr lang="en-US" sz="1000" dirty="0"/>
          </a:p>
          <a:p>
            <a:pPr marL="342900" indent="-342900">
              <a:buSzPct val="100000"/>
              <a:buChar char="•"/>
            </a:pPr>
            <a:r>
              <a:rPr lang="en-US" sz="1000" dirty="0">
                <a:solidFill>
                  <a:srgbClr val="FFFFFF"/>
                </a:solidFill>
                <a:latin typeface="Calibri" pitchFamily="34" charset="0"/>
                <a:ea typeface="Calibri" pitchFamily="34" charset="-122"/>
                <a:cs typeface="Calibri" pitchFamily="34" charset="-120"/>
              </a:rPr>
              <a:t>Target F1: 0.55 – 0.70</a:t>
            </a:r>
            <a:endParaRPr lang="en-US" sz="1000" dirty="0"/>
          </a:p>
        </p:txBody>
      </p:sp>
      <p:sp>
        <p:nvSpPr>
          <p:cNvPr id="31" name="Shape 29"/>
          <p:cNvSpPr/>
          <p:nvPr/>
        </p:nvSpPr>
        <p:spPr>
          <a:xfrm>
            <a:off x="0" y="4846320"/>
            <a:ext cx="9144000" cy="301752"/>
          </a:xfrm>
          <a:prstGeom prst="rect">
            <a:avLst/>
          </a:prstGeom>
          <a:solidFill>
            <a:srgbClr val="00A896">
              <a:alpha val="80000"/>
            </a:srgbClr>
          </a:solidFill>
          <a:ln w="12700">
            <a:solidFill>
              <a:srgbClr val="00A896"/>
            </a:solidFill>
            <a:prstDash val="solid"/>
          </a:ln>
        </p:spPr>
        <p:txBody>
          <a:bodyPr/>
          <a:lstStyle/>
          <a:p>
            <a:endParaRPr lang="pt-PT"/>
          </a:p>
        </p:txBody>
      </p:sp>
      <p:sp>
        <p:nvSpPr>
          <p:cNvPr id="32" name="Text 30"/>
          <p:cNvSpPr/>
          <p:nvPr/>
        </p:nvSpPr>
        <p:spPr>
          <a:xfrm>
            <a:off x="274320" y="4855464"/>
            <a:ext cx="8595360" cy="283464"/>
          </a:xfrm>
          <a:prstGeom prst="rect">
            <a:avLst/>
          </a:prstGeom>
          <a:noFill/>
          <a:ln/>
        </p:spPr>
        <p:txBody>
          <a:bodyPr wrap="square" lIns="0" tIns="0" rIns="0" bIns="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Task 1 complete  ·  Kaggle score: 0.2288  ·  22 experiments  ·  ~44 min on T4</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670555-57EC-4E35-5048-823A2DEFE641}"/>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1FB102AD-A2D7-3936-D7A6-04426D3643AD}"/>
              </a:ext>
            </a:extLst>
          </p:cNvPr>
          <p:cNvSpPr/>
          <p:nvPr/>
        </p:nvSpPr>
        <p:spPr>
          <a:xfrm>
            <a:off x="6217920" y="-822960"/>
            <a:ext cx="4754880" cy="4754880"/>
          </a:xfrm>
          <a:prstGeom prst="ellipse">
            <a:avLst/>
          </a:prstGeom>
          <a:solidFill>
            <a:srgbClr val="1C3A52">
              <a:alpha val="62000"/>
            </a:srgbClr>
          </a:solidFill>
          <a:ln w="12700">
            <a:solidFill>
              <a:srgbClr val="1C3A52"/>
            </a:solidFill>
            <a:prstDash val="solid"/>
          </a:ln>
        </p:spPr>
        <p:txBody>
          <a:bodyPr/>
          <a:lstStyle/>
          <a:p>
            <a:endParaRPr lang="pt-PT"/>
          </a:p>
        </p:txBody>
      </p:sp>
      <p:sp>
        <p:nvSpPr>
          <p:cNvPr id="3" name="Shape 1">
            <a:extLst>
              <a:ext uri="{FF2B5EF4-FFF2-40B4-BE49-F238E27FC236}">
                <a16:creationId xmlns:a16="http://schemas.microsoft.com/office/drawing/2014/main" id="{BB423936-36F1-D113-3DE6-5ABBB1D2EE5C}"/>
              </a:ext>
            </a:extLst>
          </p:cNvPr>
          <p:cNvSpPr/>
          <p:nvPr/>
        </p:nvSpPr>
        <p:spPr>
          <a:xfrm>
            <a:off x="7315200" y="2377440"/>
            <a:ext cx="2743200" cy="2743200"/>
          </a:xfrm>
          <a:prstGeom prst="ellipse">
            <a:avLst/>
          </a:prstGeom>
          <a:solidFill>
            <a:srgbClr val="00A896">
              <a:alpha val="45000"/>
            </a:srgbClr>
          </a:solidFill>
          <a:ln w="12700">
            <a:solidFill>
              <a:srgbClr val="00A896"/>
            </a:solidFill>
            <a:prstDash val="solid"/>
          </a:ln>
        </p:spPr>
        <p:txBody>
          <a:bodyPr/>
          <a:lstStyle/>
          <a:p>
            <a:endParaRPr lang="pt-PT"/>
          </a:p>
        </p:txBody>
      </p:sp>
      <p:sp>
        <p:nvSpPr>
          <p:cNvPr id="5" name="Text 3">
            <a:extLst>
              <a:ext uri="{FF2B5EF4-FFF2-40B4-BE49-F238E27FC236}">
                <a16:creationId xmlns:a16="http://schemas.microsoft.com/office/drawing/2014/main" id="{97924F36-4650-876C-64EC-5FD675153D5D}"/>
              </a:ext>
            </a:extLst>
          </p:cNvPr>
          <p:cNvSpPr/>
          <p:nvPr/>
        </p:nvSpPr>
        <p:spPr>
          <a:xfrm>
            <a:off x="347472" y="502920"/>
            <a:ext cx="6858000" cy="292608"/>
          </a:xfrm>
          <a:prstGeom prst="rect">
            <a:avLst/>
          </a:prstGeom>
          <a:noFill/>
          <a:ln/>
        </p:spPr>
        <p:txBody>
          <a:bodyPr wrap="square" lIns="0" tIns="0" rIns="0" bIns="0" rtlCol="0" anchor="ctr"/>
          <a:lstStyle/>
          <a:p>
            <a:pPr marL="0" indent="0">
              <a:buNone/>
            </a:pPr>
            <a:r>
              <a:rPr lang="en-US" sz="1000" b="1" kern="0" spc="200" dirty="0">
                <a:solidFill>
                  <a:srgbClr val="02C39A"/>
                </a:solidFill>
                <a:latin typeface="Calibri" pitchFamily="34" charset="0"/>
                <a:ea typeface="Calibri" pitchFamily="34" charset="-122"/>
                <a:cs typeface="Calibri" pitchFamily="34" charset="-120"/>
              </a:rPr>
              <a:t>DEEP LEARNING  ·  ASSIGNMENT 1  ·  TASK 1</a:t>
            </a:r>
            <a:endParaRPr lang="en-US" sz="1000" dirty="0"/>
          </a:p>
        </p:txBody>
      </p:sp>
      <p:sp>
        <p:nvSpPr>
          <p:cNvPr id="6" name="Text 4">
            <a:extLst>
              <a:ext uri="{FF2B5EF4-FFF2-40B4-BE49-F238E27FC236}">
                <a16:creationId xmlns:a16="http://schemas.microsoft.com/office/drawing/2014/main" id="{E29C7CFC-1327-6781-BDBC-2455C958B608}"/>
              </a:ext>
            </a:extLst>
          </p:cNvPr>
          <p:cNvSpPr/>
          <p:nvPr/>
        </p:nvSpPr>
        <p:spPr>
          <a:xfrm>
            <a:off x="347472" y="868680"/>
            <a:ext cx="6583680" cy="777240"/>
          </a:xfrm>
          <a:prstGeom prst="rect">
            <a:avLst/>
          </a:prstGeom>
          <a:noFill/>
          <a:ln/>
        </p:spPr>
        <p:txBody>
          <a:bodyPr wrap="square" lIns="0" tIns="0" rIns="0" bIns="0" rtlCol="0" anchor="ctr"/>
          <a:lstStyle/>
          <a:p>
            <a:pPr marL="0" indent="0">
              <a:buNone/>
            </a:pPr>
            <a:r>
              <a:rPr lang="en-US" sz="3400" b="1" dirty="0">
                <a:solidFill>
                  <a:srgbClr val="FFFFFF"/>
                </a:solidFill>
                <a:latin typeface="Trebuchet MS" pitchFamily="34" charset="0"/>
                <a:ea typeface="Trebuchet MS" pitchFamily="34" charset="-122"/>
                <a:cs typeface="Trebuchet MS" pitchFamily="34" charset="-120"/>
              </a:rPr>
              <a:t>Pokémon Type Classification</a:t>
            </a:r>
            <a:endParaRPr lang="en-US" sz="3400" dirty="0"/>
          </a:p>
        </p:txBody>
      </p:sp>
      <p:sp>
        <p:nvSpPr>
          <p:cNvPr id="7" name="Text 5">
            <a:extLst>
              <a:ext uri="{FF2B5EF4-FFF2-40B4-BE49-F238E27FC236}">
                <a16:creationId xmlns:a16="http://schemas.microsoft.com/office/drawing/2014/main" id="{947BC29D-0119-742E-B479-E6D99C580F5E}"/>
              </a:ext>
            </a:extLst>
          </p:cNvPr>
          <p:cNvSpPr/>
          <p:nvPr/>
        </p:nvSpPr>
        <p:spPr>
          <a:xfrm>
            <a:off x="347472" y="1719072"/>
            <a:ext cx="6583680" cy="438912"/>
          </a:xfrm>
          <a:prstGeom prst="rect">
            <a:avLst/>
          </a:prstGeom>
          <a:noFill/>
          <a:ln/>
        </p:spPr>
        <p:txBody>
          <a:bodyPr wrap="square" lIns="0" tIns="0" rIns="0" bIns="0" rtlCol="0" anchor="ctr"/>
          <a:lstStyle/>
          <a:p>
            <a:pPr marL="0" indent="0">
              <a:buNone/>
            </a:pPr>
            <a:r>
              <a:rPr lang="en-US" sz="1600" dirty="0">
                <a:solidFill>
                  <a:srgbClr val="7AADCC"/>
                </a:solidFill>
                <a:latin typeface="Calibri" pitchFamily="34" charset="0"/>
                <a:ea typeface="Calibri" pitchFamily="34" charset="-122"/>
                <a:cs typeface="Calibri" pitchFamily="34" charset="-120"/>
              </a:rPr>
              <a:t>TASK 1 —Multi-Layer Perceptron</a:t>
            </a:r>
            <a:endParaRPr lang="en-US" sz="1600" dirty="0"/>
          </a:p>
        </p:txBody>
      </p:sp>
      <p:sp>
        <p:nvSpPr>
          <p:cNvPr id="8" name="Shape 6">
            <a:extLst>
              <a:ext uri="{FF2B5EF4-FFF2-40B4-BE49-F238E27FC236}">
                <a16:creationId xmlns:a16="http://schemas.microsoft.com/office/drawing/2014/main" id="{AC89F985-F493-5CA9-B6A5-08BA6D32CAA8}"/>
              </a:ext>
            </a:extLst>
          </p:cNvPr>
          <p:cNvSpPr/>
          <p:nvPr/>
        </p:nvSpPr>
        <p:spPr>
          <a:xfrm>
            <a:off x="347472" y="2267712"/>
            <a:ext cx="3474720" cy="36576"/>
          </a:xfrm>
          <a:prstGeom prst="rect">
            <a:avLst/>
          </a:prstGeom>
          <a:solidFill>
            <a:srgbClr val="00A896"/>
          </a:solidFill>
          <a:ln w="12700">
            <a:solidFill>
              <a:srgbClr val="00A896"/>
            </a:solidFill>
            <a:prstDash val="solid"/>
          </a:ln>
        </p:spPr>
        <p:txBody>
          <a:bodyPr/>
          <a:lstStyle/>
          <a:p>
            <a:endParaRPr lang="pt-PT"/>
          </a:p>
        </p:txBody>
      </p:sp>
      <p:sp>
        <p:nvSpPr>
          <p:cNvPr id="9" name="Text 7">
            <a:extLst>
              <a:ext uri="{FF2B5EF4-FFF2-40B4-BE49-F238E27FC236}">
                <a16:creationId xmlns:a16="http://schemas.microsoft.com/office/drawing/2014/main" id="{F5F674C6-1E3F-AC7B-2B6A-E96DFE19657C}"/>
              </a:ext>
            </a:extLst>
          </p:cNvPr>
          <p:cNvSpPr/>
          <p:nvPr/>
        </p:nvSpPr>
        <p:spPr>
          <a:xfrm>
            <a:off x="347472" y="2377440"/>
            <a:ext cx="6858000" cy="914400"/>
          </a:xfrm>
          <a:prstGeom prst="rect">
            <a:avLst/>
          </a:prstGeom>
          <a:noFill/>
          <a:ln/>
        </p:spPr>
        <p:txBody>
          <a:bodyPr wrap="square" rtlCol="0" anchor="ctr"/>
          <a:lstStyle/>
          <a:p>
            <a:pPr marL="0" indent="0">
              <a:buNone/>
            </a:pPr>
            <a:r>
              <a:rPr lang="en-US" sz="1300" dirty="0">
                <a:solidFill>
                  <a:srgbClr val="AACDE0"/>
                </a:solidFill>
                <a:latin typeface="Calibri" pitchFamily="34" charset="0"/>
                <a:ea typeface="Calibri" pitchFamily="34" charset="-122"/>
                <a:cs typeface="Calibri" pitchFamily="34" charset="-120"/>
              </a:rPr>
              <a:t>70698 – Francisco Silva</a:t>
            </a:r>
          </a:p>
          <a:p>
            <a:r>
              <a:rPr lang="en-US" sz="1300" dirty="0">
                <a:solidFill>
                  <a:srgbClr val="AACDE0"/>
                </a:solidFill>
                <a:latin typeface="Calibri" pitchFamily="34" charset="0"/>
                <a:cs typeface="Calibri" pitchFamily="34" charset="-120"/>
              </a:rPr>
              <a:t>73208 </a:t>
            </a:r>
            <a:r>
              <a:rPr lang="en-US" sz="1300" dirty="0">
                <a:solidFill>
                  <a:srgbClr val="AACDE0"/>
                </a:solidFill>
                <a:latin typeface="Calibri" pitchFamily="34" charset="0"/>
                <a:ea typeface="Calibri" pitchFamily="34" charset="-122"/>
                <a:cs typeface="Calibri" pitchFamily="34" charset="-120"/>
              </a:rPr>
              <a:t>– Rúben Silva</a:t>
            </a:r>
            <a:endParaRPr lang="en-US" sz="1300" dirty="0"/>
          </a:p>
          <a:p>
            <a:pPr marL="0" indent="0">
              <a:buNone/>
            </a:pPr>
            <a:r>
              <a:rPr lang="en-US" sz="1300" dirty="0">
                <a:solidFill>
                  <a:srgbClr val="AACDE0"/>
                </a:solidFill>
                <a:latin typeface="Calibri" pitchFamily="34" charset="0"/>
                <a:ea typeface="Calibri" pitchFamily="34" charset="-122"/>
                <a:cs typeface="Calibri" pitchFamily="34" charset="-120"/>
              </a:rPr>
              <a:t>73554 – Miguel </a:t>
            </a:r>
            <a:r>
              <a:rPr lang="en-US" sz="1300" dirty="0" err="1">
                <a:solidFill>
                  <a:srgbClr val="AACDE0"/>
                </a:solidFill>
                <a:latin typeface="Calibri" pitchFamily="34" charset="0"/>
                <a:ea typeface="Calibri" pitchFamily="34" charset="-122"/>
                <a:cs typeface="Calibri" pitchFamily="34" charset="-120"/>
              </a:rPr>
              <a:t>Cangalhas</a:t>
            </a:r>
            <a:endParaRPr lang="en-US" sz="1300" dirty="0">
              <a:solidFill>
                <a:srgbClr val="AACDE0"/>
              </a:solidFill>
              <a:latin typeface="Calibri" pitchFamily="34" charset="0"/>
              <a:ea typeface="Calibri" pitchFamily="34" charset="-122"/>
              <a:cs typeface="Calibri" pitchFamily="34" charset="-120"/>
            </a:endParaRPr>
          </a:p>
        </p:txBody>
      </p:sp>
      <p:pic>
        <p:nvPicPr>
          <p:cNvPr id="1028" name="Picture 4" descr="NOVA FCT">
            <a:extLst>
              <a:ext uri="{FF2B5EF4-FFF2-40B4-BE49-F238E27FC236}">
                <a16:creationId xmlns:a16="http://schemas.microsoft.com/office/drawing/2014/main" id="{0676964B-354F-668D-B660-CAD8B1F02FD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22933" b="35200"/>
          <a:stretch/>
        </p:blipFill>
        <p:spPr bwMode="auto">
          <a:xfrm>
            <a:off x="5362525" y="-739257"/>
            <a:ext cx="1188684" cy="493776"/>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Quais os principais tipos de Pokémon que existem no anime e filmes  animados? - Olhar Digital">
            <a:extLst>
              <a:ext uri="{FF2B5EF4-FFF2-40B4-BE49-F238E27FC236}">
                <a16:creationId xmlns:a16="http://schemas.microsoft.com/office/drawing/2014/main" id="{823F5CCF-ED72-A15A-EF86-1D993A0B1219}"/>
              </a:ext>
            </a:extLst>
          </p:cNvPr>
          <p:cNvPicPr>
            <a:picLocks noChangeAspect="1" noChangeArrowheads="1"/>
          </p:cNvPicPr>
          <p:nvPr/>
        </p:nvPicPr>
        <p:blipFill>
          <a:blip r:embed="rId4">
            <a:extLst>
              <a:ext uri="{BEBA8EAE-BF5A-486C-A8C5-ECC9F3942E4B}">
                <a14:imgProps xmlns:a14="http://schemas.microsoft.com/office/drawing/2010/main">
                  <a14:imgLayer r:embed="rId5">
                    <a14:imgEffect>
                      <a14:backgroundRemoval t="10000" b="98750" l="4375" r="97773">
                        <a14:foregroundMark x1="6016" y1="58819" x2="5938" y2="87500"/>
                        <a14:foregroundMark x1="5938" y1="87500" x2="9609" y2="99236"/>
                        <a14:foregroundMark x1="9609" y1="99236" x2="18633" y2="94514"/>
                        <a14:foregroundMark x1="18633" y1="94514" x2="25547" y2="95972"/>
                        <a14:foregroundMark x1="25547" y1="95972" x2="20391" y2="85556"/>
                        <a14:foregroundMark x1="20391" y1="85556" x2="18516" y2="75208"/>
                        <a14:foregroundMark x1="18516" y1="75208" x2="20156" y2="60972"/>
                        <a14:foregroundMark x1="20156" y1="60972" x2="10469" y2="66250"/>
                        <a14:foregroundMark x1="10469" y1="66250" x2="11719" y2="82361"/>
                        <a14:foregroundMark x1="11719" y1="82361" x2="13750" y2="72292"/>
                        <a14:foregroundMark x1="5469" y1="57569" x2="5039" y2="79722"/>
                        <a14:foregroundMark x1="5039" y1="79722" x2="4414" y2="83889"/>
                        <a14:foregroundMark x1="7070" y1="95069" x2="8008" y2="98403"/>
                        <a14:foregroundMark x1="63594" y1="97639" x2="67852" y2="98819"/>
                        <a14:foregroundMark x1="16250" y1="73264" x2="16797" y2="77292"/>
                        <a14:foregroundMark x1="96133" y1="50278" x2="97031" y2="63264"/>
                        <a14:foregroundMark x1="97031" y1="63264" x2="94492" y2="76597"/>
                        <a14:foregroundMark x1="94492" y1="76597" x2="90391" y2="83333"/>
                        <a14:foregroundMark x1="90391" y1="83333" x2="86914" y2="85833"/>
                        <a14:foregroundMark x1="95859" y1="50278" x2="97546" y2="63683"/>
                        <a14:foregroundMark x1="96841" y1="69371" x2="94141" y2="80625"/>
                        <a14:foregroundMark x1="97461" y1="67292" x2="96406" y2="75139"/>
                        <a14:foregroundMark x1="96680" y1="40278" x2="96680" y2="45069"/>
                        <a14:backgroundMark x1="97617" y1="63681" x2="97695" y2="71875"/>
                      </a14:backgroundRemoval>
                    </a14:imgEffect>
                  </a14:imgLayer>
                </a14:imgProps>
              </a:ext>
              <a:ext uri="{28A0092B-C50C-407E-A947-70E740481C1C}">
                <a14:useLocalDpi xmlns:a14="http://schemas.microsoft.com/office/drawing/2010/main" val="0"/>
              </a:ext>
            </a:extLst>
          </a:blip>
          <a:srcRect/>
          <a:stretch>
            <a:fillRect/>
          </a:stretch>
        </p:blipFill>
        <p:spPr bwMode="auto">
          <a:xfrm>
            <a:off x="2917953" y="1645921"/>
            <a:ext cx="6226048" cy="3502152"/>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8" descr="NOSSA™ | NOVA School of Science &amp; Technology">
            <a:extLst>
              <a:ext uri="{FF2B5EF4-FFF2-40B4-BE49-F238E27FC236}">
                <a16:creationId xmlns:a16="http://schemas.microsoft.com/office/drawing/2014/main" id="{6549E42C-BAD7-D06C-8CBF-7F1BA5902D18}"/>
              </a:ext>
            </a:extLst>
          </p:cNvPr>
          <p:cNvPicPr>
            <a:picLocks noChangeAspect="1" noChangeArrowheads="1"/>
          </p:cNvPicPr>
          <p:nvPr/>
        </p:nvPicPr>
        <p:blipFill rotWithShape="1">
          <a:blip r:embed="rId6">
            <a:extLst>
              <a:ext uri="{BEBA8EAE-BF5A-486C-A8C5-ECC9F3942E4B}">
                <a14:imgProps xmlns:a14="http://schemas.microsoft.com/office/drawing/2010/main">
                  <a14:imgLayer r:embed="rId7">
                    <a14:imgEffect>
                      <a14:backgroundRemoval t="28056" b="59722" l="28750" r="70625">
                        <a14:foregroundMark x1="28750" y1="38889" x2="29375" y2="52778"/>
                        <a14:foregroundMark x1="66406" y1="39167" x2="64844" y2="49722"/>
                        <a14:foregroundMark x1="69063" y1="45278" x2="70781" y2="50833"/>
                        <a14:foregroundMark x1="38750" y1="54444" x2="46094" y2="59722"/>
                        <a14:foregroundMark x1="46094" y1="59722" x2="50938" y2="55000"/>
                        <a14:foregroundMark x1="51250" y1="33889" x2="42188" y2="30833"/>
                        <a14:foregroundMark x1="42188" y1="30833" x2="38281" y2="35000"/>
                        <a14:foregroundMark x1="51875" y1="36944" x2="55313" y2="41111"/>
                      </a14:backgroundRemoval>
                    </a14:imgEffect>
                  </a14:imgLayer>
                </a14:imgProps>
              </a:ext>
              <a:ext uri="{28A0092B-C50C-407E-A947-70E740481C1C}">
                <a14:useLocalDpi xmlns:a14="http://schemas.microsoft.com/office/drawing/2010/main" val="0"/>
              </a:ext>
            </a:extLst>
          </a:blip>
          <a:srcRect l="24369" t="25133" r="26983" b="39200"/>
          <a:stretch>
            <a:fillRect/>
          </a:stretch>
        </p:blipFill>
        <p:spPr bwMode="auto">
          <a:xfrm>
            <a:off x="7838728" y="83266"/>
            <a:ext cx="1250407" cy="515666"/>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2" descr="Brick Wall Speech Bubble Thank You Design Presentation Template">
            <a:extLst>
              <a:ext uri="{FF2B5EF4-FFF2-40B4-BE49-F238E27FC236}">
                <a16:creationId xmlns:a16="http://schemas.microsoft.com/office/drawing/2014/main" id="{96078CA1-7000-0C4A-46C3-970B1FE9EFE5}"/>
              </a:ext>
            </a:extLst>
          </p:cNvPr>
          <p:cNvPicPr>
            <a:picLocks noChangeAspect="1" noChangeArrowheads="1"/>
          </p:cNvPicPr>
          <p:nvPr/>
        </p:nvPicPr>
        <p:blipFill>
          <a:blip r:embed="rId8">
            <a:extLst>
              <a:ext uri="{BEBA8EAE-BF5A-486C-A8C5-ECC9F3942E4B}">
                <a14:imgProps xmlns:a14="http://schemas.microsoft.com/office/drawing/2010/main">
                  <a14:imgLayer r:embed="rId9">
                    <a14:imgEffect>
                      <a14:backgroundRemoval t="10000" b="90000" l="10000" r="90000">
                        <a14:foregroundMark x1="21979" y1="30417" x2="29896" y2="35139"/>
                        <a14:foregroundMark x1="29896" y1="35139" x2="41146" y2="33056"/>
                        <a14:foregroundMark x1="41146" y1="33056" x2="56458" y2="33750"/>
                        <a14:foregroundMark x1="48125" y1="63194" x2="77500" y2="66667"/>
                        <a14:foregroundMark x1="77500" y1="66667" x2="79063" y2="66667"/>
                        <a14:foregroundMark x1="78229" y1="58472" x2="76979" y2="64861"/>
                      </a14:backgroundRemoval>
                    </a14:imgEffect>
                  </a14:imgLayer>
                </a14:imgProps>
              </a:ext>
              <a:ext uri="{28A0092B-C50C-407E-A947-70E740481C1C}">
                <a14:useLocalDpi xmlns:a14="http://schemas.microsoft.com/office/drawing/2010/main" val="0"/>
              </a:ext>
            </a:extLst>
          </a:blip>
          <a:srcRect/>
          <a:stretch>
            <a:fillRect/>
          </a:stretch>
        </p:blipFill>
        <p:spPr bwMode="auto">
          <a:xfrm>
            <a:off x="3923792" y="1164859"/>
            <a:ext cx="3460537" cy="25954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42527038"/>
      </p:ext>
    </p:extLst>
  </p:cSld>
  <p:clrMapOvr>
    <a:masterClrMapping/>
  </p:clrMapOvr>
</p:sld>
</file>

<file path=ppt/theme/theme1.xml><?xml version="1.0" encoding="utf-8"?>
<a:theme xmlns:a="http://schemas.openxmlformats.org/drawingml/2006/main" name="Depth">
  <a:themeElements>
    <a:clrScheme name="Depth">
      <a:dk1>
        <a:sysClr val="windowText" lastClr="000000"/>
      </a:dk1>
      <a:lt1>
        <a:sysClr val="window" lastClr="FFFFFF"/>
      </a:lt1>
      <a:dk2>
        <a:srgbClr val="455F51"/>
      </a:dk2>
      <a:lt2>
        <a:srgbClr val="94D7E4"/>
      </a:lt2>
      <a:accent1>
        <a:srgbClr val="41AEBD"/>
      </a:accent1>
      <a:accent2>
        <a:srgbClr val="97E9D5"/>
      </a:accent2>
      <a:accent3>
        <a:srgbClr val="A2CF49"/>
      </a:accent3>
      <a:accent4>
        <a:srgbClr val="608F3D"/>
      </a:accent4>
      <a:accent5>
        <a:srgbClr val="F4DE3A"/>
      </a:accent5>
      <a:accent6>
        <a:srgbClr val="FCB11C"/>
      </a:accent6>
      <a:hlink>
        <a:srgbClr val="FBCA98"/>
      </a:hlink>
      <a:folHlink>
        <a:srgbClr val="D3B86D"/>
      </a:folHlink>
    </a:clrScheme>
    <a:fontScheme name="Depth">
      <a:majorFont>
        <a:latin typeface="Corbel" panose="020B0503020204020204"/>
        <a:ea typeface=""/>
        <a:cs typeface=""/>
        <a:font script="Jpan" typeface="メイリオ"/>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メイリオ"/>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epth">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epth" id="{7BEAFC2A-325C-49C4-AC08-2B765DA903F9}" vid="{1735E755-43E6-43AA-ABA2-C989ECC79AF5}"/>
    </a:ext>
  </a:extLst>
</a:theme>
</file>

<file path=ppt/theme/theme2.xml><?xml version="1.0" encoding="utf-8"?>
<a:theme xmlns:a="http://schemas.openxmlformats.org/drawingml/2006/main" name="Droplet">
  <a:themeElements>
    <a:clrScheme name="Droplet">
      <a:dk1>
        <a:sysClr val="windowText" lastClr="000000"/>
      </a:dk1>
      <a:lt1>
        <a:sysClr val="window" lastClr="FFFFFF"/>
      </a:lt1>
      <a:dk2>
        <a:srgbClr val="355071"/>
      </a:dk2>
      <a:lt2>
        <a:srgbClr val="AABED7"/>
      </a:lt2>
      <a:accent1>
        <a:srgbClr val="2FA3EE"/>
      </a:accent1>
      <a:accent2>
        <a:srgbClr val="4BCAAD"/>
      </a:accent2>
      <a:accent3>
        <a:srgbClr val="86C157"/>
      </a:accent3>
      <a:accent4>
        <a:srgbClr val="D99C3F"/>
      </a:accent4>
      <a:accent5>
        <a:srgbClr val="CE6633"/>
      </a:accent5>
      <a:accent6>
        <a:srgbClr val="A35DD1"/>
      </a:accent6>
      <a:hlink>
        <a:srgbClr val="56BCFE"/>
      </a:hlink>
      <a:folHlink>
        <a:srgbClr val="97C5E3"/>
      </a:folHlink>
    </a:clrScheme>
    <a:fontScheme name="Drople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roplet">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130000"/>
                <a:satMod val="150000"/>
                <a:lumMod val="112000"/>
              </a:schemeClr>
            </a:gs>
            <a:gs pos="100000">
              <a:schemeClr val="phClr">
                <a:shade val="92000"/>
                <a:satMod val="140000"/>
                <a:lumMod val="110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A633B6A3-9E7F-4C10-9C98-2517A3134361}"/>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TM04033925[[fn=Droplet]]</Template>
  <TotalTime>522</TotalTime>
  <Words>3877</Words>
  <Application>Microsoft Office PowerPoint</Application>
  <PresentationFormat>Apresentação no Ecrã (16:9)</PresentationFormat>
  <Paragraphs>680</Paragraphs>
  <Slides>30</Slides>
  <Notes>18</Notes>
  <HiddenSlides>0</HiddenSlides>
  <MMClips>0</MMClips>
  <ScaleCrop>false</ScaleCrop>
  <HeadingPairs>
    <vt:vector size="6" baseType="variant">
      <vt:variant>
        <vt:lpstr>Tipos de letra usados</vt:lpstr>
      </vt:variant>
      <vt:variant>
        <vt:i4>8</vt:i4>
      </vt:variant>
      <vt:variant>
        <vt:lpstr>Tema</vt:lpstr>
      </vt:variant>
      <vt:variant>
        <vt:i4>2</vt:i4>
      </vt:variant>
      <vt:variant>
        <vt:lpstr>Títulos dos diapositivos</vt:lpstr>
      </vt:variant>
      <vt:variant>
        <vt:i4>30</vt:i4>
      </vt:variant>
    </vt:vector>
  </HeadingPairs>
  <TitlesOfParts>
    <vt:vector size="40" baseType="lpstr">
      <vt:lpstr>Arial</vt:lpstr>
      <vt:lpstr>Berlin Sans FB</vt:lpstr>
      <vt:lpstr>Bierstadt</vt:lpstr>
      <vt:lpstr>Calibri</vt:lpstr>
      <vt:lpstr>Consolas</vt:lpstr>
      <vt:lpstr>Corbel</vt:lpstr>
      <vt:lpstr>Trebuchet MS</vt:lpstr>
      <vt:lpstr>Tw Cen MT</vt:lpstr>
      <vt:lpstr>Depth</vt:lpstr>
      <vt:lpstr>Droplet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Task 1 — MLP Pokémon Classification</dc:title>
  <dc:subject>PptxGenJS Presentation</dc:subject>
  <dc:creator>PptxGenJS</dc:creator>
  <cp:lastModifiedBy>Rúben Silva</cp:lastModifiedBy>
  <cp:revision>19</cp:revision>
  <dcterms:created xsi:type="dcterms:W3CDTF">2026-03-07T01:48:48Z</dcterms:created>
  <dcterms:modified xsi:type="dcterms:W3CDTF">2026-03-20T17:04:52Z</dcterms:modified>
</cp:coreProperties>
</file>