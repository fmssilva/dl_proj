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1" r:id="rId1"/>
    <p:sldMasterId id="2147483840" r:id="rId2"/>
  </p:sldMasterIdLst>
  <p:notesMasterIdLst>
    <p:notesMasterId r:id="rId35"/>
  </p:notesMasterIdLst>
  <p:sldIdLst>
    <p:sldId id="256" r:id="rId3"/>
    <p:sldId id="257" r:id="rId4"/>
    <p:sldId id="301" r:id="rId5"/>
    <p:sldId id="302" r:id="rId6"/>
    <p:sldId id="281" r:id="rId7"/>
    <p:sldId id="258" r:id="rId8"/>
    <p:sldId id="259" r:id="rId9"/>
    <p:sldId id="260" r:id="rId10"/>
    <p:sldId id="261" r:id="rId11"/>
    <p:sldId id="262" r:id="rId12"/>
    <p:sldId id="263" r:id="rId13"/>
    <p:sldId id="282" r:id="rId14"/>
    <p:sldId id="288" r:id="rId15"/>
    <p:sldId id="295" r:id="rId16"/>
    <p:sldId id="285" r:id="rId17"/>
    <p:sldId id="286" r:id="rId18"/>
    <p:sldId id="287" r:id="rId19"/>
    <p:sldId id="296" r:id="rId20"/>
    <p:sldId id="289" r:id="rId21"/>
    <p:sldId id="290" r:id="rId22"/>
    <p:sldId id="283" r:id="rId23"/>
    <p:sldId id="271" r:id="rId24"/>
    <p:sldId id="273" r:id="rId25"/>
    <p:sldId id="293" r:id="rId26"/>
    <p:sldId id="284" r:id="rId27"/>
    <p:sldId id="275" r:id="rId28"/>
    <p:sldId id="297" r:id="rId29"/>
    <p:sldId id="298" r:id="rId30"/>
    <p:sldId id="299" r:id="rId31"/>
    <p:sldId id="278" r:id="rId32"/>
    <p:sldId id="279" r:id="rId33"/>
    <p:sldId id="300" r:id="rId34"/>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F4F0F"/>
    <a:srgbClr val="61B2E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8D82EB-2A8A-3F88-C693-0BA1CD23B96F}" v="2" dt="2026-03-31T09:47:39.982"/>
    <p1510:client id="{FA7A8606-5183-1373-B595-25755B932D02}" v="553" dt="2026-03-31T12:52:55.54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66" d="100"/>
          <a:sy n="66" d="100"/>
        </p:scale>
        <p:origin x="1930" y="6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tableStyles" Target="tableStyles.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viewProps" Target="viewProps.xml"/><Relationship Id="rId40"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notesMaster" Target="notesMasters/notesMaster1.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3859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475A1-DEF6-D10E-8697-72BF654B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07DCD-71D3-A7FA-7B56-6929D2E1CC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C87203-1C5F-A086-5121-74702AC085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20D66F-EBA4-DA3B-7ABF-07C608793D13}"/>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589285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BFAA4-F991-26B2-8A0F-8376B111A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833D0B-4CBD-425B-310A-38E1C38BD4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68C936-3F6C-0B70-6277-E2C3377878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B0199C-FB5A-9A95-7D7A-3AAFB147A108}"/>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6523710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98400-0C3E-F44B-0F7F-FB447416E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F94077-DC70-7860-D88D-2E012B863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6C7627-08B3-EB64-5D9A-90C4A6AE72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10D99B-F0B4-C7DA-5A9B-D974AA8E4D9B}"/>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339834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3348021"/>
            <a:ext cx="6858000" cy="1231118"/>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657349" y="2770782"/>
            <a:ext cx="6858000" cy="565519"/>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490279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689774209"/>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3348021"/>
            <a:ext cx="6858000" cy="1231118"/>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640899" y="2770256"/>
            <a:ext cx="6858000" cy="565519"/>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000230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40000" y="1369219"/>
            <a:ext cx="3768912"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39880" y="1369219"/>
            <a:ext cx="377547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7212649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40000" y="1260872"/>
            <a:ext cx="3768912" cy="617934"/>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1878806"/>
            <a:ext cx="3768912"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39880" y="1260872"/>
            <a:ext cx="3776661" cy="617934"/>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0" y="1878806"/>
            <a:ext cx="377666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0232500"/>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73020505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10707079"/>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5641060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4827128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275370"/>
            <a:ext cx="7886700" cy="61451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29841" y="740569"/>
            <a:ext cx="7886700" cy="253480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3889887"/>
            <a:ext cx="7885509" cy="511854"/>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1476351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2650758"/>
          </a:xfrm>
        </p:spPr>
        <p:txBody>
          <a:bodyPr anchor="ctr"/>
          <a:lstStyle>
            <a:lvl1pP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29841" y="3367049"/>
            <a:ext cx="7885509" cy="1126370"/>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190648732"/>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273844"/>
            <a:ext cx="6977064" cy="2244678"/>
          </a:xfrm>
        </p:spPr>
        <p:txBody>
          <a:bodyPr anchor="ctr"/>
          <a:lstStyle>
            <a:lvl1pPr>
              <a:defRPr sz="33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3376297"/>
            <a:ext cx="7884318" cy="1117122"/>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9" name="TextBox 8"/>
          <p:cNvSpPr txBox="1"/>
          <p:nvPr/>
        </p:nvSpPr>
        <p:spPr>
          <a:xfrm>
            <a:off x="833283" y="590118"/>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057400"/>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92476660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1745226"/>
            <a:ext cx="7886700" cy="1883876"/>
          </a:xfrm>
        </p:spPr>
        <p:txBody>
          <a:bodyPr anchor="b">
            <a:normAutofit/>
          </a:bodyPr>
          <a:lstStyle>
            <a:lvl1pPr>
              <a:defRPr sz="4050"/>
            </a:lvl1pPr>
          </a:lstStyle>
          <a:p>
            <a:r>
              <a:rPr lang="en-US"/>
              <a:t>Click to edit Master title style</a:t>
            </a:r>
            <a:endParaRPr lang="en-US" dirty="0"/>
          </a:p>
        </p:txBody>
      </p:sp>
      <p:sp>
        <p:nvSpPr>
          <p:cNvPr id="4" name="Text Placeholder 3"/>
          <p:cNvSpPr>
            <a:spLocks noGrp="1"/>
          </p:cNvSpPr>
          <p:nvPr>
            <p:ph type="body" sz="half" idx="2"/>
          </p:nvPr>
        </p:nvSpPr>
        <p:spPr>
          <a:xfrm>
            <a:off x="629841" y="3637936"/>
            <a:ext cx="7885509" cy="855483"/>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20857124"/>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7" name="Text Placeholder 2"/>
          <p:cNvSpPr>
            <a:spLocks noGrp="1"/>
          </p:cNvSpPr>
          <p:nvPr>
            <p:ph type="body" idx="1"/>
          </p:nvPr>
        </p:nvSpPr>
        <p:spPr>
          <a:xfrm>
            <a:off x="1002961" y="1414462"/>
            <a:ext cx="2210150" cy="432197"/>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8" y="1928812"/>
            <a:ext cx="2195513"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6" y="1414462"/>
            <a:ext cx="2202181" cy="432197"/>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1928812"/>
            <a:ext cx="2210096"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7" y="1414462"/>
            <a:ext cx="2199085" cy="432197"/>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7" y="1928812"/>
            <a:ext cx="2199085"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92792762"/>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99064" y="3223127"/>
            <a:ext cx="2205038"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1692266"/>
            <a:ext cx="2205038"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999064" y="3655324"/>
            <a:ext cx="220503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3223127"/>
            <a:ext cx="2197894"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1692266"/>
            <a:ext cx="2197894"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425733" y="3655323"/>
            <a:ext cx="2200805"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2" y="3223127"/>
            <a:ext cx="2199085"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1" y="1692266"/>
            <a:ext cx="2199085"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853148" y="3655322"/>
            <a:ext cx="220199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8194021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5574217"/>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5472819"/>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508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1313259" y="975589"/>
            <a:ext cx="6517482" cy="1881910"/>
          </a:xfrm>
        </p:spPr>
        <p:txBody>
          <a:bodyPr anchor="b">
            <a:normAutofit/>
          </a:bodyPr>
          <a:lstStyle>
            <a:lvl1pPr algn="ctr">
              <a:defRPr sz="3600"/>
            </a:lvl1pPr>
          </a:lstStyle>
          <a:p>
            <a:r>
              <a:rPr lang="en-US"/>
              <a:t>Click to edit Master title style</a:t>
            </a:r>
            <a:endParaRPr lang="en-US" dirty="0"/>
          </a:p>
        </p:txBody>
      </p:sp>
      <p:sp>
        <p:nvSpPr>
          <p:cNvPr id="3" name="Subtitle 2"/>
          <p:cNvSpPr>
            <a:spLocks noGrp="1"/>
          </p:cNvSpPr>
          <p:nvPr>
            <p:ph type="subTitle" idx="1"/>
          </p:nvPr>
        </p:nvSpPr>
        <p:spPr>
          <a:xfrm>
            <a:off x="1313259" y="2914651"/>
            <a:ext cx="6517482" cy="1028699"/>
          </a:xfrm>
        </p:spPr>
        <p:txBody>
          <a:bodyPr>
            <a:normAutofit/>
          </a:bodyPr>
          <a:lstStyle>
            <a:lvl1pPr marL="0" indent="0" algn="ctr">
              <a:buNone/>
              <a:defRPr sz="1650">
                <a:solidFill>
                  <a:schemeClr val="bg1">
                    <a:lumMod val="50000"/>
                  </a:schemeClr>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839203006"/>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777287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60113442"/>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621423"/>
            <a:ext cx="7763814" cy="2052614"/>
          </a:xfrm>
        </p:spPr>
        <p:txBody>
          <a:bodyPr anchor="b">
            <a:normAutofit/>
          </a:bodyPr>
          <a:lstStyle>
            <a:lvl1pPr>
              <a:defRPr sz="3000"/>
            </a:lvl1pPr>
          </a:lstStyle>
          <a:p>
            <a:r>
              <a:rPr lang="en-US"/>
              <a:t>Click to edit Master title style</a:t>
            </a:r>
            <a:endParaRPr lang="en-US" dirty="0"/>
          </a:p>
        </p:txBody>
      </p:sp>
      <p:sp>
        <p:nvSpPr>
          <p:cNvPr id="3" name="Text Placeholder 2"/>
          <p:cNvSpPr>
            <a:spLocks noGrp="1"/>
          </p:cNvSpPr>
          <p:nvPr>
            <p:ph type="body" idx="1"/>
          </p:nvPr>
        </p:nvSpPr>
        <p:spPr>
          <a:xfrm>
            <a:off x="685331" y="2743093"/>
            <a:ext cx="7763814" cy="1026137"/>
          </a:xfrm>
        </p:spPr>
        <p:txBody>
          <a:bodyPr>
            <a:normAutofit/>
          </a:bodyPr>
          <a:lstStyle>
            <a:lvl1pPr marL="0" indent="0" algn="ctr">
              <a:buNone/>
              <a:defRPr sz="1500">
                <a:solidFill>
                  <a:schemeClr val="bg1">
                    <a:lumMod val="50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4652945"/>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382952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1775320"/>
            <a:ext cx="382905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699694362"/>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1778263"/>
            <a:ext cx="3655106"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3"/>
          <p:cNvSpPr>
            <a:spLocks noGrp="1"/>
          </p:cNvSpPr>
          <p:nvPr>
            <p:ph sz="quarter" idx="13"/>
          </p:nvPr>
        </p:nvSpPr>
        <p:spPr>
          <a:xfrm>
            <a:off x="685331" y="2288260"/>
            <a:ext cx="3829520"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1778263"/>
            <a:ext cx="3661353"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3" name="Content Placeholder 5"/>
          <p:cNvSpPr>
            <a:spLocks noGrp="1"/>
          </p:cNvSpPr>
          <p:nvPr>
            <p:ph sz="quarter" idx="14"/>
          </p:nvPr>
        </p:nvSpPr>
        <p:spPr>
          <a:xfrm>
            <a:off x="4629150" y="2288260"/>
            <a:ext cx="3829051"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36937495"/>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85448440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Date Placeholder 1"/>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507790090"/>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2951766" cy="1517439"/>
          </a:xfrm>
        </p:spPr>
        <p:txBody>
          <a:bodyPr anchor="b"/>
          <a:lstStyle>
            <a:lvl1pPr algn="ctr">
              <a:defRPr sz="2400"/>
            </a:lvl1pPr>
          </a:lstStyle>
          <a:p>
            <a:r>
              <a:rPr lang="en-US"/>
              <a:t>Click to edit Master title style</a:t>
            </a:r>
            <a:endParaRPr lang="en-US" dirty="0"/>
          </a:p>
        </p:txBody>
      </p:sp>
      <p:sp>
        <p:nvSpPr>
          <p:cNvPr id="10" name="Content Placeholder 2"/>
          <p:cNvSpPr>
            <a:spLocks noGrp="1"/>
          </p:cNvSpPr>
          <p:nvPr>
            <p:ph sz="quarter" idx="13"/>
          </p:nvPr>
        </p:nvSpPr>
        <p:spPr>
          <a:xfrm>
            <a:off x="3808547" y="457201"/>
            <a:ext cx="4650122" cy="38861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1974639"/>
            <a:ext cx="2951767" cy="2368761"/>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464754"/>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4451227" cy="1517441"/>
          </a:xfrm>
        </p:spPr>
        <p:txBody>
          <a:bodyPr anchor="b"/>
          <a:lstStyle>
            <a:lvl1pPr algn="ct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68602" y="457201"/>
            <a:ext cx="2441519" cy="38862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46" y="1974639"/>
            <a:ext cx="4451212" cy="2368760"/>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5906301"/>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46" y="3217030"/>
            <a:ext cx="7773324" cy="608708"/>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523696"/>
            <a:ext cx="7366899" cy="2410602"/>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31" y="3831546"/>
            <a:ext cx="7773339" cy="511854"/>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78210890"/>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7773339" cy="2570434"/>
          </a:xfrm>
        </p:spPr>
        <p:txBody>
          <a:bodyPr anchor="ctr"/>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153616"/>
            <a:ext cx="7773339" cy="1189785"/>
          </a:xfrm>
        </p:spPr>
        <p:txBody>
          <a:bodyPr anchor="ct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82293182"/>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1084659" y="457200"/>
            <a:ext cx="6977064" cy="2244678"/>
          </a:xfrm>
        </p:spPr>
        <p:txBody>
          <a:bodyPr anchor="ctr"/>
          <a:lstStyle>
            <a:lvl1pPr>
              <a:defRPr sz="24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707524"/>
            <a:ext cx="6564224" cy="446091"/>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85331" y="3279597"/>
            <a:ext cx="7773339" cy="1065790"/>
          </a:xfrm>
        </p:spPr>
        <p:txBody>
          <a:bodyPr anchor="ctr">
            <a:normAutofit/>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13" name="TextBox 12"/>
          <p:cNvSpPr txBox="1"/>
          <p:nvPr/>
        </p:nvSpPr>
        <p:spPr>
          <a:xfrm>
            <a:off x="751116" y="565625"/>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4" name="TextBox 13"/>
          <p:cNvSpPr txBox="1"/>
          <p:nvPr/>
        </p:nvSpPr>
        <p:spPr>
          <a:xfrm>
            <a:off x="7918169" y="2245184"/>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1883424276"/>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1604041"/>
            <a:ext cx="7773339" cy="1883876"/>
          </a:xfrm>
        </p:spPr>
        <p:txBody>
          <a:bodyPr anchor="b"/>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496751"/>
            <a:ext cx="7773339" cy="855483"/>
          </a:xfrm>
        </p:spPr>
        <p:txBody>
          <a:bodyPr anchor="t"/>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754657086"/>
      </p:ext>
    </p:extLst>
  </p:cSld>
  <p:clrMapOvr>
    <a:masterClrMapping/>
  </p:clrMapOvr>
  <p:hf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Title 1"/>
          <p:cNvSpPr>
            <a:spLocks noGrp="1"/>
          </p:cNvSpPr>
          <p:nvPr>
            <p:ph type="title"/>
          </p:nvPr>
        </p:nvSpPr>
        <p:spPr>
          <a:xfrm>
            <a:off x="685331" y="457200"/>
            <a:ext cx="7773339" cy="1203821"/>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1775320"/>
            <a:ext cx="2474232"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685331" y="2207517"/>
            <a:ext cx="2474232"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339292" y="1775320"/>
            <a:ext cx="2468641"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3"/>
          <p:cNvSpPr>
            <a:spLocks noGrp="1"/>
          </p:cNvSpPr>
          <p:nvPr>
            <p:ph type="body" sz="half" idx="16"/>
          </p:nvPr>
        </p:nvSpPr>
        <p:spPr>
          <a:xfrm>
            <a:off x="3331012" y="2207517"/>
            <a:ext cx="2477513"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979974" y="1775320"/>
            <a:ext cx="2478696"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Text Placeholder 3"/>
          <p:cNvSpPr>
            <a:spLocks noGrp="1"/>
          </p:cNvSpPr>
          <p:nvPr>
            <p:ph type="body" sz="half" idx="17"/>
          </p:nvPr>
        </p:nvSpPr>
        <p:spPr>
          <a:xfrm>
            <a:off x="5979974" y="2207517"/>
            <a:ext cx="2478696"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244322476"/>
      </p:ext>
    </p:extLst>
  </p:cSld>
  <p:clrMapOvr>
    <a:masterClrMapping/>
  </p:clrMapOvr>
  <p:hf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30" name="Title 1"/>
          <p:cNvSpPr>
            <a:spLocks noGrp="1"/>
          </p:cNvSpPr>
          <p:nvPr>
            <p:ph type="title"/>
          </p:nvPr>
        </p:nvSpPr>
        <p:spPr>
          <a:xfrm>
            <a:off x="685331" y="458079"/>
            <a:ext cx="7773339" cy="120294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3153615"/>
            <a:ext cx="2472307"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685331" y="1775320"/>
            <a:ext cx="2472307" cy="1143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685331" y="3585811"/>
            <a:ext cx="2472307"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332069" y="3153615"/>
            <a:ext cx="247637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331011" y="1775320"/>
            <a:ext cx="2477514"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331011" y="3585811"/>
            <a:ext cx="2477514"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979974" y="3153615"/>
            <a:ext cx="247551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979974" y="1775320"/>
            <a:ext cx="2478696"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979880" y="3585809"/>
            <a:ext cx="2478790" cy="757591"/>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534475446"/>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1775320"/>
            <a:ext cx="7773339" cy="25680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85221913"/>
      </p:ext>
    </p:extLst>
  </p:cSld>
  <p:clrMapOvr>
    <a:masterClrMapping/>
  </p:clrMapOvr>
  <p:hf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Vertical Title 1"/>
          <p:cNvSpPr>
            <a:spLocks noGrp="1"/>
          </p:cNvSpPr>
          <p:nvPr>
            <p:ph type="title" orient="vert"/>
          </p:nvPr>
        </p:nvSpPr>
        <p:spPr>
          <a:xfrm>
            <a:off x="6543675" y="457201"/>
            <a:ext cx="1914995" cy="38861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457201"/>
            <a:ext cx="5744043" cy="38861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2307999"/>
      </p:ext>
    </p:extLst>
  </p:cSld>
  <p:clrMapOvr>
    <a:masterClrMapping/>
  </p:clrMapOvr>
  <p:hf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85825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image" Target="../media/image2.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40000" y="1369219"/>
            <a:ext cx="767535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AAD347D-5ACD-4C99-B74B-A9C85AD731AF}" type="datetimeFigureOut">
              <a:rPr lang="en-US" smtClean="0"/>
              <a:t>3/31/2026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842644415"/>
      </p:ext>
    </p:extLst>
  </p:cSld>
  <p:clrMap bg1="dk1" tx1="lt1" bg2="dk2" tx2="lt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 id="2147483833" r:id="rId12"/>
    <p:sldLayoutId id="2147483834" r:id="rId13"/>
    <p:sldLayoutId id="2147483835" r:id="rId14"/>
    <p:sldLayoutId id="2147483836" r:id="rId15"/>
    <p:sldLayoutId id="2147483837" r:id="rId16"/>
    <p:sldLayoutId id="2147483838" r:id="rId17"/>
    <p:sldLayoutId id="2147483839" r:id="rId18"/>
  </p:sldLayoutIdLst>
  <p:hf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1" y="-1"/>
            <a:ext cx="9144002" cy="51435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463888"/>
            <a:ext cx="7773338" cy="119713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1775320"/>
            <a:ext cx="7773339" cy="25680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4412457"/>
            <a:ext cx="2057400" cy="273844"/>
          </a:xfrm>
          <a:prstGeom prst="rect">
            <a:avLst/>
          </a:prstGeom>
        </p:spPr>
        <p:txBody>
          <a:bodyPr vert="horz" lIns="91440" tIns="45720" rIns="91440" bIns="45720" rtlCol="0" anchor="ctr"/>
          <a:lstStyle>
            <a:lvl1pPr algn="r">
              <a:defRPr sz="750">
                <a:solidFill>
                  <a:schemeClr val="tx1"/>
                </a:solidFill>
              </a:defRPr>
            </a:lvl1pPr>
          </a:lstStyle>
          <a:p>
            <a:fld id="{4AAD347D-5ACD-4C99-B74B-A9C85AD731AF}" type="datetimeFigureOut">
              <a:rPr lang="en-US" smtClean="0"/>
              <a:t>3/31/2026</a:t>
            </a:fld>
            <a:endParaRPr lang="en-US" dirty="0"/>
          </a:p>
        </p:txBody>
      </p:sp>
      <p:sp>
        <p:nvSpPr>
          <p:cNvPr id="5" name="Footer Placeholder 4"/>
          <p:cNvSpPr>
            <a:spLocks noGrp="1"/>
          </p:cNvSpPr>
          <p:nvPr>
            <p:ph type="ftr" sz="quarter" idx="3"/>
          </p:nvPr>
        </p:nvSpPr>
        <p:spPr>
          <a:xfrm>
            <a:off x="685331" y="4412457"/>
            <a:ext cx="5004665" cy="273844"/>
          </a:xfrm>
          <a:prstGeom prst="rect">
            <a:avLst/>
          </a:prstGeom>
        </p:spPr>
        <p:txBody>
          <a:bodyPr vert="horz" lIns="91440" tIns="45720" rIns="91440" bIns="45720" rtlCol="0" anchor="ctr"/>
          <a:lstStyle>
            <a:lvl1pPr algn="l">
              <a:defRPr sz="750">
                <a:solidFill>
                  <a:schemeClr val="tx1"/>
                </a:solidFill>
              </a:defRPr>
            </a:lvl1pPr>
          </a:lstStyle>
          <a:p>
            <a:endParaRPr lang="en-US" dirty="0"/>
          </a:p>
        </p:txBody>
      </p:sp>
      <p:sp>
        <p:nvSpPr>
          <p:cNvPr id="6" name="Slide Number Placeholder 5"/>
          <p:cNvSpPr>
            <a:spLocks noGrp="1"/>
          </p:cNvSpPr>
          <p:nvPr>
            <p:ph type="sldNum" sz="quarter" idx="4"/>
          </p:nvPr>
        </p:nvSpPr>
        <p:spPr>
          <a:xfrm>
            <a:off x="7885509" y="4412457"/>
            <a:ext cx="573161" cy="273844"/>
          </a:xfrm>
          <a:prstGeom prst="rect">
            <a:avLst/>
          </a:prstGeom>
        </p:spPr>
        <p:txBody>
          <a:bodyPr vert="horz" lIns="91440" tIns="45720" rIns="91440" bIns="45720" rtlCol="0" anchor="ctr"/>
          <a:lstStyle>
            <a:lvl1pPr algn="r">
              <a:defRPr sz="750">
                <a:solidFill>
                  <a:schemeClr val="tx1"/>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4106938611"/>
      </p:ext>
    </p:extLst>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 id="2147483858" r:id="rId18"/>
  </p:sldLayoutIdLst>
  <p:hf hdr="0" ftr="0" dt="0"/>
  <p:txStyles>
    <p:titleStyle>
      <a:lvl1pPr algn="ctr" defTabSz="685800" rtl="0" eaLnBrk="1" latinLnBrk="0" hangingPunct="1">
        <a:lnSpc>
          <a:spcPct val="90000"/>
        </a:lnSpc>
        <a:spcBef>
          <a:spcPct val="0"/>
        </a:spcBef>
        <a:buNone/>
        <a:defRPr sz="2700" kern="1200" cap="all" baseline="0">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tx1"/>
        </a:buClr>
        <a:buFont typeface="Arial" panose="020B0604020202020204" pitchFamily="34" charset="0"/>
        <a:buChar char="•"/>
        <a:defRPr sz="1500" kern="1200" cap="all" baseline="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tx1"/>
        </a:buClr>
        <a:buFont typeface="Arial" panose="020B0604020202020204" pitchFamily="34" charset="0"/>
        <a:buChar char="•"/>
        <a:defRPr sz="1350" kern="1200" cap="all"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tx1"/>
        </a:buClr>
        <a:buFont typeface="Arial" panose="020B0604020202020204" pitchFamily="34" charset="0"/>
        <a:buChar char="•"/>
        <a:defRPr sz="1200" kern="1200" cap="all" baseline="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8.xml"/><Relationship Id="rId4" Type="http://schemas.microsoft.com/office/2007/relationships/hdphoto" Target="../media/hdphoto2.wdp"/></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4.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5.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8.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8.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2.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6.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6.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6.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6.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6.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6.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6.png"/><Relationship Id="rId7"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18.xml"/><Relationship Id="rId6" Type="http://schemas.microsoft.com/office/2007/relationships/hdphoto" Target="../media/hdphoto2.wdp"/><Relationship Id="rId5" Type="http://schemas.openxmlformats.org/officeDocument/2006/relationships/image" Target="../media/image7.pn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a:solidFill>
                  <a:srgbClr val="02C39A"/>
                </a:solidFill>
                <a:latin typeface="Calibri"/>
                <a:ea typeface="Calibri"/>
                <a:cs typeface="Calibri"/>
              </a:rPr>
              <a:t>DEEP LEARNING  ·  ASSIGNMENT 1</a:t>
            </a:r>
            <a:endParaRPr lang="en-US" sz="1000">
              <a:latin typeface="Calibri"/>
              <a:ea typeface="Calibri"/>
              <a:cs typeface="Calibri"/>
            </a:endParaRPr>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347472" y="1719072"/>
            <a:ext cx="6583680" cy="438912"/>
          </a:xfrm>
          <a:prstGeom prst="rect">
            <a:avLst/>
          </a:prstGeom>
          <a:noFill/>
          <a:ln/>
        </p:spPr>
        <p:txBody>
          <a:bodyPr wrap="square" lIns="0" tIns="0" rIns="0" bIns="0" rtlCol="0" anchor="ctr"/>
          <a:lstStyle/>
          <a:p>
            <a:r>
              <a:rPr lang="en-US" sz="1600">
                <a:solidFill>
                  <a:srgbClr val="7AADCC"/>
                </a:solidFill>
                <a:latin typeface="Calibri"/>
                <a:ea typeface="Calibri"/>
                <a:cs typeface="Calibri"/>
              </a:rPr>
              <a:t>TASK 1 - Multi-Layer Perceptron</a:t>
            </a:r>
          </a:p>
          <a:p>
            <a:r>
              <a:rPr lang="en-US" sz="1600">
                <a:solidFill>
                  <a:srgbClr val="7AADCC"/>
                </a:solidFill>
                <a:latin typeface="Calibri"/>
                <a:ea typeface="Calibri"/>
                <a:cs typeface="Calibri"/>
              </a:rPr>
              <a:t>TASK 2 - Convolutional Neural Network</a:t>
            </a:r>
            <a:endParaRPr lang="en-US" sz="1600" dirty="0">
              <a:solidFill>
                <a:srgbClr val="7AADCC"/>
              </a:solidFill>
              <a:latin typeface="Calibri"/>
              <a:ea typeface="Calibri"/>
              <a:cs typeface="Calibri"/>
            </a:endParaRPr>
          </a:p>
        </p:txBody>
      </p:sp>
      <p:sp>
        <p:nvSpPr>
          <p:cNvPr id="8" name="Shape 6"/>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sp>
        <p:nvSpPr>
          <p:cNvPr id="3" name="Text 1"/>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 (Task 1)</a:t>
            </a:r>
            <a:endParaRPr lang="en-US" sz="2200" dirty="0"/>
          </a:p>
        </p:txBody>
      </p:sp>
      <p:sp>
        <p:nvSpPr>
          <p:cNvPr id="4" name="Shape 2"/>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1.1</a:t>
            </a:r>
            <a:endParaRPr lang="en-US" sz="2200" dirty="0"/>
          </a:p>
        </p:txBody>
      </p:sp>
      <p:sp>
        <p:nvSpPr>
          <p:cNvPr id="9" name="Text 7"/>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Data Exploration &amp; Analysis</a:t>
            </a:r>
            <a:endParaRPr lang="en-US" sz="1400" dirty="0"/>
          </a:p>
        </p:txBody>
      </p:sp>
      <p:sp>
        <p:nvSpPr>
          <p:cNvPr id="10" name="Text 8"/>
          <p:cNvSpPr/>
          <p:nvPr/>
        </p:nvSpPr>
        <p:spPr>
          <a:xfrm>
            <a:off x="1027176" y="138988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EDA  ·  class imbalance  ·  pixel stats  ·  t-SNE</a:t>
            </a:r>
            <a:endParaRPr lang="en-US" sz="1400" dirty="0"/>
          </a:p>
        </p:txBody>
      </p:sp>
      <p:sp>
        <p:nvSpPr>
          <p:cNvPr id="11" name="Shape 9"/>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1.2</a:t>
            </a:r>
            <a:endParaRPr lang="en-US" sz="2200" dirty="0"/>
          </a:p>
        </p:txBody>
      </p:sp>
      <p:sp>
        <p:nvSpPr>
          <p:cNvPr id="16" name="Text 14"/>
          <p:cNvSpPr/>
          <p:nvPr/>
        </p:nvSpPr>
        <p:spPr>
          <a:xfrm>
            <a:off x="5440680" y="93268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Model</a:t>
            </a:r>
            <a:r>
              <a:rPr lang="en-US" sz="1400" b="1" dirty="0">
                <a:solidFill>
                  <a:srgbClr val="FFFFFF"/>
                </a:solidFill>
                <a:latin typeface="Trebuchet MS"/>
                <a:ea typeface="Trebuchet MS" pitchFamily="34" charset="-122"/>
                <a:cs typeface="Trebuchet MS" pitchFamily="34" charset="-120"/>
              </a:rPr>
              <a:t> Development</a:t>
            </a:r>
            <a:endParaRPr lang="en-US" sz="1400" dirty="0">
              <a:latin typeface="Corbel"/>
            </a:endParaRPr>
          </a:p>
        </p:txBody>
      </p:sp>
      <p:sp>
        <p:nvSpPr>
          <p:cNvPr id="17" name="Text 15"/>
          <p:cNvSpPr/>
          <p:nvPr/>
        </p:nvSpPr>
        <p:spPr>
          <a:xfrm>
            <a:off x="5416296" y="138988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a:ea typeface="Calibri"/>
                <a:cs typeface="Calibri"/>
              </a:rPr>
              <a:t>Architecture  ·  19 experiments  ·  </a:t>
            </a:r>
            <a:r>
              <a:rPr lang="en-US" sz="1400">
                <a:solidFill>
                  <a:srgbClr val="7AADCC"/>
                </a:solidFill>
                <a:latin typeface="Calibri"/>
                <a:ea typeface="Calibri"/>
                <a:cs typeface="Calibri"/>
              </a:rPr>
              <a:t>regularization</a:t>
            </a:r>
            <a:endParaRPr lang="en-US" sz="1400" dirty="0"/>
          </a:p>
        </p:txBody>
      </p:sp>
      <p:sp>
        <p:nvSpPr>
          <p:cNvPr id="18" name="Shape 16"/>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1.3</a:t>
            </a:r>
            <a:endParaRPr lang="en-US" sz="2200" dirty="0"/>
          </a:p>
        </p:txBody>
      </p:sp>
      <p:sp>
        <p:nvSpPr>
          <p:cNvPr id="23" name="Text 21"/>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Training Efficiency</a:t>
            </a:r>
            <a:endParaRPr lang="en-US" sz="1400">
              <a:latin typeface="Corbel"/>
            </a:endParaRPr>
          </a:p>
        </p:txBody>
      </p:sp>
      <p:sp>
        <p:nvSpPr>
          <p:cNvPr id="24" name="Text 22"/>
          <p:cNvSpPr/>
          <p:nvPr/>
        </p:nvSpPr>
        <p:spPr>
          <a:xfrm>
            <a:off x="1027176" y="335584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Early stopping  ·  GPU budget  ·  checkpointing</a:t>
            </a:r>
            <a:endParaRPr lang="en-US" sz="1400" dirty="0"/>
          </a:p>
        </p:txBody>
      </p:sp>
      <p:sp>
        <p:nvSpPr>
          <p:cNvPr id="25" name="Shape 23"/>
          <p:cNvSpPr/>
          <p:nvPr/>
        </p:nvSpPr>
        <p:spPr>
          <a:xfrm>
            <a:off x="475488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6" name="Shape 24"/>
          <p:cNvSpPr/>
          <p:nvPr/>
        </p:nvSpPr>
        <p:spPr>
          <a:xfrm>
            <a:off x="475488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7" name="Text 25"/>
          <p:cNvSpPr/>
          <p:nvPr/>
        </p:nvSpPr>
        <p:spPr>
          <a:xfrm>
            <a:off x="491032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1.4</a:t>
            </a:r>
            <a:endParaRPr lang="en-US" sz="2200" dirty="0"/>
          </a:p>
        </p:txBody>
      </p:sp>
      <p:sp>
        <p:nvSpPr>
          <p:cNvPr id="30" name="Text 28"/>
          <p:cNvSpPr/>
          <p:nvPr/>
        </p:nvSpPr>
        <p:spPr>
          <a:xfrm>
            <a:off x="5440680" y="289864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Performance Evaluation</a:t>
            </a:r>
            <a:endParaRPr lang="en-US" sz="1400">
              <a:latin typeface="Corbel"/>
            </a:endParaRPr>
          </a:p>
        </p:txBody>
      </p:sp>
      <p:sp>
        <p:nvSpPr>
          <p:cNvPr id="31" name="Text 29"/>
          <p:cNvSpPr/>
          <p:nvPr/>
        </p:nvSpPr>
        <p:spPr>
          <a:xfrm>
            <a:off x="5416295" y="3355848"/>
            <a:ext cx="3674195"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Macro-F1  ·  per-class  ·  confusion matrix</a:t>
            </a:r>
            <a:endParaRPr lang="en-US" sz="1400" dirty="0"/>
          </a:p>
        </p:txBody>
      </p:sp>
      <p:pic>
        <p:nvPicPr>
          <p:cNvPr id="7" name="Picture 8" descr="NOSSA™ | NOVA School of Science &amp; Technology">
            <a:extLst>
              <a:ext uri="{FF2B5EF4-FFF2-40B4-BE49-F238E27FC236}">
                <a16:creationId xmlns:a16="http://schemas.microsoft.com/office/drawing/2014/main" id="{468AEAC2-1FE2-5767-8EC3-4A82ADED1E0D}"/>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E0AD6CE1-8DD7-EA0E-3A10-D977ED071647}"/>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F7BD48B3-01CF-732B-559B-5C2A8608FA95}"/>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 (Task 2)</a:t>
            </a:r>
            <a:endParaRPr lang="en-US" sz="2200" dirty="0"/>
          </a:p>
        </p:txBody>
      </p:sp>
      <p:sp>
        <p:nvSpPr>
          <p:cNvPr id="4" name="Shape 2">
            <a:extLst>
              <a:ext uri="{FF2B5EF4-FFF2-40B4-BE49-F238E27FC236}">
                <a16:creationId xmlns:a16="http://schemas.microsoft.com/office/drawing/2014/main" id="{18B8DBFB-A82A-8A1F-30D1-B682A18B7B3C}"/>
              </a:ext>
            </a:extLst>
          </p:cNvPr>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616973DD-8CF0-26D8-0FD0-784620FC065F}"/>
              </a:ext>
            </a:extLst>
          </p:cNvPr>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E6B1FF23-D968-7974-6A9F-DB933B190302}"/>
              </a:ext>
            </a:extLst>
          </p:cNvPr>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2.1</a:t>
            </a:r>
          </a:p>
        </p:txBody>
      </p:sp>
      <p:sp>
        <p:nvSpPr>
          <p:cNvPr id="9" name="Text 7">
            <a:extLst>
              <a:ext uri="{FF2B5EF4-FFF2-40B4-BE49-F238E27FC236}">
                <a16:creationId xmlns:a16="http://schemas.microsoft.com/office/drawing/2014/main" id="{1A4EEA4D-82B3-CDAD-BFA0-3D31AA35C5CA}"/>
              </a:ext>
            </a:extLst>
          </p:cNvPr>
          <p:cNvSpPr/>
          <p:nvPr/>
        </p:nvSpPr>
        <p:spPr>
          <a:xfrm>
            <a:off x="1051560" y="932688"/>
            <a:ext cx="3200400" cy="411480"/>
          </a:xfrm>
          <a:prstGeom prst="rect">
            <a:avLst/>
          </a:prstGeom>
          <a:noFill/>
          <a:ln/>
        </p:spPr>
        <p:txBody>
          <a:bodyPr wrap="square" lIns="0" tIns="0" rIns="0" bIns="0" rtlCol="0" anchor="ctr"/>
          <a:lstStyle/>
          <a:p>
            <a:r>
              <a:rPr lang="en-US" sz="1400" b="1">
                <a:solidFill>
                  <a:srgbClr val="FFFFFF"/>
                </a:solidFill>
                <a:latin typeface="Trebuchet MS"/>
              </a:rPr>
              <a:t>CNN Model Development</a:t>
            </a:r>
            <a:endParaRPr lang="en-US"/>
          </a:p>
        </p:txBody>
      </p:sp>
      <p:sp>
        <p:nvSpPr>
          <p:cNvPr id="11" name="Shape 9">
            <a:extLst>
              <a:ext uri="{FF2B5EF4-FFF2-40B4-BE49-F238E27FC236}">
                <a16:creationId xmlns:a16="http://schemas.microsoft.com/office/drawing/2014/main" id="{06E21292-5A68-2116-F8F3-E4B71CE1CDA2}"/>
              </a:ext>
            </a:extLst>
          </p:cNvPr>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a:extLst>
              <a:ext uri="{FF2B5EF4-FFF2-40B4-BE49-F238E27FC236}">
                <a16:creationId xmlns:a16="http://schemas.microsoft.com/office/drawing/2014/main" id="{26953524-E134-78EB-E1F9-011FF455373E}"/>
              </a:ext>
            </a:extLst>
          </p:cNvPr>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a:extLst>
              <a:ext uri="{FF2B5EF4-FFF2-40B4-BE49-F238E27FC236}">
                <a16:creationId xmlns:a16="http://schemas.microsoft.com/office/drawing/2014/main" id="{84200415-3E31-8607-B56A-FF3FC7673127}"/>
              </a:ext>
            </a:extLst>
          </p:cNvPr>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2.2</a:t>
            </a:r>
            <a:endParaRPr lang="en-US" sz="2200" b="1" dirty="0">
              <a:solidFill>
                <a:srgbClr val="00A896"/>
              </a:solidFill>
              <a:latin typeface="Trebuchet MS"/>
            </a:endParaRPr>
          </a:p>
        </p:txBody>
      </p:sp>
      <p:sp>
        <p:nvSpPr>
          <p:cNvPr id="16" name="Text 14">
            <a:extLst>
              <a:ext uri="{FF2B5EF4-FFF2-40B4-BE49-F238E27FC236}">
                <a16:creationId xmlns:a16="http://schemas.microsoft.com/office/drawing/2014/main" id="{534DEB6F-45FC-AEF5-C409-D5FF250BAA50}"/>
              </a:ext>
            </a:extLst>
          </p:cNvPr>
          <p:cNvSpPr/>
          <p:nvPr/>
        </p:nvSpPr>
        <p:spPr>
          <a:xfrm>
            <a:off x="5440680" y="932688"/>
            <a:ext cx="3200400" cy="411480"/>
          </a:xfrm>
          <a:prstGeom prst="rect">
            <a:avLst/>
          </a:prstGeom>
          <a:noFill/>
          <a:ln/>
        </p:spPr>
        <p:txBody>
          <a:bodyPr wrap="square" lIns="0" tIns="0" rIns="0" bIns="0" rtlCol="0" anchor="ctr"/>
          <a:lstStyle/>
          <a:p>
            <a:r>
              <a:rPr lang="en-US" sz="1400" b="1" dirty="0">
                <a:solidFill>
                  <a:srgbClr val="FFFFFF"/>
                </a:solidFill>
                <a:latin typeface="Trebuchet MS"/>
                <a:ea typeface="Trebuchet MS" pitchFamily="34" charset="-122"/>
                <a:cs typeface="Trebuchet MS" pitchFamily="34" charset="-120"/>
              </a:rPr>
              <a:t>CNN </a:t>
            </a:r>
            <a:r>
              <a:rPr lang="en-US" sz="1400" b="1">
                <a:solidFill>
                  <a:srgbClr val="FFFFFF"/>
                </a:solidFill>
                <a:latin typeface="Trebuchet MS"/>
                <a:ea typeface="Trebuchet MS" pitchFamily="34" charset="-122"/>
                <a:cs typeface="Trebuchet MS" pitchFamily="34" charset="-120"/>
              </a:rPr>
              <a:t>Training Efficiency</a:t>
            </a:r>
            <a:endParaRPr lang="en-US" sz="1400">
              <a:latin typeface="Corbel"/>
            </a:endParaRPr>
          </a:p>
        </p:txBody>
      </p:sp>
      <p:sp>
        <p:nvSpPr>
          <p:cNvPr id="18" name="Shape 16">
            <a:extLst>
              <a:ext uri="{FF2B5EF4-FFF2-40B4-BE49-F238E27FC236}">
                <a16:creationId xmlns:a16="http://schemas.microsoft.com/office/drawing/2014/main" id="{077BC993-03BE-47AA-C96D-25FC5BFC0858}"/>
              </a:ext>
            </a:extLst>
          </p:cNvPr>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a:extLst>
              <a:ext uri="{FF2B5EF4-FFF2-40B4-BE49-F238E27FC236}">
                <a16:creationId xmlns:a16="http://schemas.microsoft.com/office/drawing/2014/main" id="{B0DAF62F-D0FC-382A-9C0D-4579869576AF}"/>
              </a:ext>
            </a:extLst>
          </p:cNvPr>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a:extLst>
              <a:ext uri="{FF2B5EF4-FFF2-40B4-BE49-F238E27FC236}">
                <a16:creationId xmlns:a16="http://schemas.microsoft.com/office/drawing/2014/main" id="{A1DC5693-2DC8-CD0B-D57E-21AB8B659DDB}"/>
              </a:ext>
            </a:extLst>
          </p:cNvPr>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2.3</a:t>
            </a:r>
            <a:endParaRPr lang="en-US" sz="2200" b="1" dirty="0">
              <a:solidFill>
                <a:srgbClr val="00A896"/>
              </a:solidFill>
              <a:latin typeface="Trebuchet MS"/>
            </a:endParaRPr>
          </a:p>
        </p:txBody>
      </p:sp>
      <p:sp>
        <p:nvSpPr>
          <p:cNvPr id="23" name="Text 21">
            <a:extLst>
              <a:ext uri="{FF2B5EF4-FFF2-40B4-BE49-F238E27FC236}">
                <a16:creationId xmlns:a16="http://schemas.microsoft.com/office/drawing/2014/main" id="{7BA1232D-3B7D-9344-6B80-EAE9DCEA4D7E}"/>
              </a:ext>
            </a:extLst>
          </p:cNvPr>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rPr>
              <a:t>CNN Performance Evaluation</a:t>
            </a:r>
            <a:endParaRPr lang="en-US"/>
          </a:p>
        </p:txBody>
      </p:sp>
      <p:pic>
        <p:nvPicPr>
          <p:cNvPr id="7" name="Picture 8" descr="NOSSA™ | NOVA School of Science &amp; Technology">
            <a:extLst>
              <a:ext uri="{FF2B5EF4-FFF2-40B4-BE49-F238E27FC236}">
                <a16:creationId xmlns:a16="http://schemas.microsoft.com/office/drawing/2014/main" id="{FE1E5FDD-EC68-36C1-3496-C70F89340CF9}"/>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45582F91-F82F-6695-5ABA-AC153DC16ABC}"/>
              </a:ext>
            </a:extLst>
          </p:cNvPr>
          <p:cNvSpPr/>
          <p:nvPr/>
        </p:nvSpPr>
        <p:spPr>
          <a:xfrm>
            <a:off x="1027176" y="138988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Architectures  · Experiments · Augmentation · Regularization · Ensembles · Results</a:t>
            </a:r>
          </a:p>
        </p:txBody>
      </p:sp>
      <p:sp>
        <p:nvSpPr>
          <p:cNvPr id="8" name="Text 15">
            <a:extLst>
              <a:ext uri="{FF2B5EF4-FFF2-40B4-BE49-F238E27FC236}">
                <a16:creationId xmlns:a16="http://schemas.microsoft.com/office/drawing/2014/main" id="{E1A1C06B-B22B-F4BE-84EA-F8CC56FA0683}"/>
              </a:ext>
            </a:extLst>
          </p:cNvPr>
          <p:cNvSpPr/>
          <p:nvPr/>
        </p:nvSpPr>
        <p:spPr>
          <a:xfrm>
            <a:off x="5416296" y="138988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Early Stopping · GPU budget · Checkpointing</a:t>
            </a:r>
          </a:p>
          <a:p>
            <a:pPr marL="0" indent="0">
              <a:buNone/>
            </a:pPr>
            <a:endParaRPr lang="en-US" sz="1400" dirty="0">
              <a:solidFill>
                <a:srgbClr val="7AADCC"/>
              </a:solidFill>
              <a:latin typeface="Calibri"/>
              <a:ea typeface="Calibri"/>
              <a:cs typeface="Calibri"/>
            </a:endParaRPr>
          </a:p>
        </p:txBody>
      </p:sp>
      <p:sp>
        <p:nvSpPr>
          <p:cNvPr id="14" name="Text 22">
            <a:extLst>
              <a:ext uri="{FF2B5EF4-FFF2-40B4-BE49-F238E27FC236}">
                <a16:creationId xmlns:a16="http://schemas.microsoft.com/office/drawing/2014/main" id="{E7CF663A-2942-4EC2-15F0-D01B7DC858F3}"/>
              </a:ext>
            </a:extLst>
          </p:cNvPr>
          <p:cNvSpPr/>
          <p:nvPr/>
        </p:nvSpPr>
        <p:spPr>
          <a:xfrm>
            <a:off x="1027176" y="335584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Macro-F1 · Per-class · Confusion Matrix</a:t>
            </a:r>
          </a:p>
          <a:p>
            <a:pPr marL="0" indent="0">
              <a:buNone/>
            </a:pPr>
            <a:endParaRPr lang="en-US" sz="1400" dirty="0">
              <a:solidFill>
                <a:srgbClr val="7AADCC"/>
              </a:solidFill>
              <a:latin typeface="Calibri"/>
              <a:ea typeface="Calibri"/>
              <a:cs typeface="Calibri"/>
            </a:endParaRPr>
          </a:p>
        </p:txBody>
      </p:sp>
    </p:spTree>
    <p:extLst>
      <p:ext uri="{BB962C8B-B14F-4D97-AF65-F5344CB8AC3E}">
        <p14:creationId xmlns:p14="http://schemas.microsoft.com/office/powerpoint/2010/main" val="1626159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r>
              <a:rPr lang="en-US" sz="1000" b="1" kern="0" spc="200">
                <a:solidFill>
                  <a:srgbClr val="02C39A"/>
                </a:solidFill>
                <a:latin typeface="Calibri"/>
                <a:ea typeface="Calibri"/>
                <a:cs typeface="Calibri"/>
              </a:rPr>
              <a:t>DEEP LEARNING  ·  ASSIGNMENT 1  ·  TASK 1</a:t>
            </a:r>
            <a:endParaRPr lang="en-US" sz="1000">
              <a:latin typeface="Corbel" panose="020B0503020204020204"/>
              <a:ea typeface="Calibri"/>
              <a:cs typeface="Calibri"/>
            </a:endParaRPr>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1463532" y="2039329"/>
            <a:ext cx="5907749" cy="438912"/>
          </a:xfrm>
          <a:prstGeom prst="rect">
            <a:avLst/>
          </a:prstGeom>
          <a:noFill/>
          <a:ln/>
        </p:spPr>
        <p:txBody>
          <a:bodyPr wrap="square" lIns="0" tIns="0" rIns="0" bIns="0" rtlCol="0" anchor="ctr"/>
          <a:lstStyle/>
          <a:p>
            <a:r>
              <a:rPr lang="en-US" sz="3600">
                <a:solidFill>
                  <a:srgbClr val="7AADCC"/>
                </a:solidFill>
                <a:latin typeface="Calibri"/>
                <a:ea typeface="Calibri"/>
                <a:cs typeface="Calibri"/>
              </a:rPr>
              <a:t>Task 1 - Multi-Layer Perceptron</a:t>
            </a:r>
            <a:endParaRPr lang="en-US" sz="3600">
              <a:latin typeface="Calibri"/>
              <a:ea typeface="Calibri"/>
              <a:cs typeface="Calibri"/>
            </a:endParaRPr>
          </a:p>
        </p:txBody>
      </p:sp>
      <p:sp>
        <p:nvSpPr>
          <p:cNvPr id="8" name="Shape 6"/>
          <p:cNvSpPr/>
          <p:nvPr/>
        </p:nvSpPr>
        <p:spPr>
          <a:xfrm flipV="1">
            <a:off x="1466558" y="2488937"/>
            <a:ext cx="5825801" cy="6104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65568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Data Exploration &amp; Analysis</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1.1</a:t>
            </a:r>
            <a:endParaRPr lang="pt-PT"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494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The Dataset at a Glance</a:t>
            </a:r>
            <a:endParaRPr lang="en-US" sz="2200" dirty="0"/>
          </a:p>
        </p:txBody>
      </p:sp>
      <p:sp>
        <p:nvSpPr>
          <p:cNvPr id="6" name="Shape 4"/>
          <p:cNvSpPr/>
          <p:nvPr/>
        </p:nvSpPr>
        <p:spPr>
          <a:xfrm>
            <a:off x="36576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Text 5"/>
          <p:cNvSpPr/>
          <p:nvPr/>
        </p:nvSpPr>
        <p:spPr>
          <a:xfrm>
            <a:off x="36576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3 600</a:t>
            </a:r>
            <a:endParaRPr lang="en-US" sz="2800" dirty="0"/>
          </a:p>
        </p:txBody>
      </p:sp>
      <p:sp>
        <p:nvSpPr>
          <p:cNvPr id="8" name="Text 6"/>
          <p:cNvSpPr/>
          <p:nvPr/>
        </p:nvSpPr>
        <p:spPr>
          <a:xfrm>
            <a:off x="36576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training images</a:t>
            </a:r>
            <a:endParaRPr lang="en-US" sz="1100" dirty="0"/>
          </a:p>
        </p:txBody>
      </p:sp>
      <p:sp>
        <p:nvSpPr>
          <p:cNvPr id="9" name="Shape 7"/>
          <p:cNvSpPr/>
          <p:nvPr/>
        </p:nvSpPr>
        <p:spPr>
          <a:xfrm>
            <a:off x="256032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0" name="Text 8"/>
          <p:cNvSpPr/>
          <p:nvPr/>
        </p:nvSpPr>
        <p:spPr>
          <a:xfrm>
            <a:off x="256032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900</a:t>
            </a:r>
            <a:endParaRPr lang="en-US" sz="2800" dirty="0"/>
          </a:p>
        </p:txBody>
      </p:sp>
      <p:sp>
        <p:nvSpPr>
          <p:cNvPr id="11" name="Text 9"/>
          <p:cNvSpPr/>
          <p:nvPr/>
        </p:nvSpPr>
        <p:spPr>
          <a:xfrm>
            <a:off x="256032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test images</a:t>
            </a:r>
            <a:endParaRPr lang="en-US" sz="1100" dirty="0"/>
          </a:p>
        </p:txBody>
      </p:sp>
      <p:sp>
        <p:nvSpPr>
          <p:cNvPr id="12" name="Shape 10"/>
          <p:cNvSpPr/>
          <p:nvPr/>
        </p:nvSpPr>
        <p:spPr>
          <a:xfrm>
            <a:off x="475488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Text 11"/>
          <p:cNvSpPr/>
          <p:nvPr/>
        </p:nvSpPr>
        <p:spPr>
          <a:xfrm>
            <a:off x="475488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a:t>
            </a:r>
            <a:endParaRPr lang="en-US" sz="2800" dirty="0"/>
          </a:p>
        </p:txBody>
      </p:sp>
      <p:sp>
        <p:nvSpPr>
          <p:cNvPr id="14" name="Text 12"/>
          <p:cNvSpPr/>
          <p:nvPr/>
        </p:nvSpPr>
        <p:spPr>
          <a:xfrm>
            <a:off x="475488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Pokémon types</a:t>
            </a:r>
            <a:endParaRPr lang="en-US" sz="1100" dirty="0"/>
          </a:p>
        </p:txBody>
      </p:sp>
      <p:sp>
        <p:nvSpPr>
          <p:cNvPr id="15" name="Shape 13"/>
          <p:cNvSpPr/>
          <p:nvPr/>
        </p:nvSpPr>
        <p:spPr>
          <a:xfrm>
            <a:off x="694944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6" name="Text 14"/>
          <p:cNvSpPr/>
          <p:nvPr/>
        </p:nvSpPr>
        <p:spPr>
          <a:xfrm>
            <a:off x="6949440" y="822960"/>
            <a:ext cx="2011680" cy="530352"/>
          </a:xfrm>
          <a:prstGeom prst="rect">
            <a:avLst/>
          </a:prstGeom>
          <a:noFill/>
          <a:ln/>
        </p:spPr>
        <p:txBody>
          <a:bodyPr wrap="square" lIns="0" tIns="0" rIns="0" bIns="0" rtlCol="0" anchor="ctr"/>
          <a:lstStyle/>
          <a:p>
            <a:pPr marL="0" indent="0" algn="ctr">
              <a:buNone/>
            </a:pPr>
            <a:r>
              <a:rPr lang="en-US" sz="2800" b="1" dirty="0">
                <a:solidFill>
                  <a:srgbClr val="3D5A73"/>
                </a:solidFill>
                <a:latin typeface="Trebuchet MS" pitchFamily="34" charset="0"/>
                <a:ea typeface="Trebuchet MS" pitchFamily="34" charset="-122"/>
                <a:cs typeface="Trebuchet MS" pitchFamily="34" charset="-120"/>
              </a:rPr>
              <a:t>64x64</a:t>
            </a:r>
            <a:endParaRPr lang="en-US" sz="2800" dirty="0"/>
          </a:p>
        </p:txBody>
      </p:sp>
      <p:sp>
        <p:nvSpPr>
          <p:cNvPr id="17" name="Text 15"/>
          <p:cNvSpPr/>
          <p:nvPr/>
        </p:nvSpPr>
        <p:spPr>
          <a:xfrm>
            <a:off x="694944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px resolution</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345690298"/>
              </p:ext>
            </p:extLst>
          </p:nvPr>
        </p:nvGraphicFramePr>
        <p:xfrm>
          <a:off x="365760" y="1920240"/>
          <a:ext cx="4114800" cy="2834640"/>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8346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Count</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 train</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Water</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b="1" dirty="0">
                          <a:solidFill>
                            <a:srgbClr val="E97C35"/>
                          </a:solidFill>
                          <a:latin typeface="Calibri" pitchFamily="34" charset="0"/>
                          <a:ea typeface="Calibri" pitchFamily="34" charset="-122"/>
                          <a:cs typeface="Calibri" pitchFamily="34" charset="-120"/>
                        </a:rPr>
                        <a:t>674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E97C35"/>
                          </a:solidFill>
                          <a:latin typeface="Calibri" pitchFamily="34" charset="0"/>
                          <a:ea typeface="Calibri" pitchFamily="34" charset="-122"/>
                          <a:cs typeface="Calibri" pitchFamily="34" charset="-120"/>
                        </a:rPr>
                        <a:t>18.7% ▲</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16.8%</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Poison</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467</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Fire</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381</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10.6%</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4"/>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Bug</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374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10.4%</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5"/>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Grass</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299</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8.3%</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6"/>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Fighting</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291</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8.1%</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7"/>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Rock</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7.3%</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8"/>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Ground</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b="1" dirty="0">
                          <a:solidFill>
                            <a:srgbClr val="E74C3C"/>
                          </a:solidFill>
                          <a:latin typeface="Calibri" pitchFamily="34" charset="0"/>
                          <a:ea typeface="Calibri" pitchFamily="34" charset="-122"/>
                          <a:cs typeface="Calibri" pitchFamily="34" charset="-120"/>
                        </a:rPr>
                        <a:t>244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E74C3C"/>
                          </a:solidFill>
                          <a:latin typeface="Calibri" pitchFamily="34" charset="0"/>
                          <a:ea typeface="Calibri" pitchFamily="34" charset="-122"/>
                          <a:cs typeface="Calibri" pitchFamily="34" charset="-120"/>
                        </a:rPr>
                        <a:t>6.8% ▼</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19" name="Shape 16"/>
          <p:cNvSpPr/>
          <p:nvPr/>
        </p:nvSpPr>
        <p:spPr>
          <a:xfrm>
            <a:off x="4709160" y="1920240"/>
            <a:ext cx="4114800" cy="1325880"/>
          </a:xfrm>
          <a:prstGeom prst="rect">
            <a:avLst/>
          </a:prstGeom>
          <a:solidFill>
            <a:srgbClr val="FFF8E1"/>
          </a:solidFill>
          <a:ln w="10160">
            <a:solidFill>
              <a:srgbClr val="FFD54F"/>
            </a:solidFill>
            <a:prstDash val="solid"/>
          </a:ln>
        </p:spPr>
        <p:txBody>
          <a:bodyPr/>
          <a:lstStyle/>
          <a:p>
            <a:endParaRPr lang="pt-PT"/>
          </a:p>
        </p:txBody>
      </p:sp>
      <p:sp>
        <p:nvSpPr>
          <p:cNvPr id="20" name="Shape 17"/>
          <p:cNvSpPr/>
          <p:nvPr/>
        </p:nvSpPr>
        <p:spPr>
          <a:xfrm>
            <a:off x="4709160" y="1920239"/>
            <a:ext cx="82296" cy="1325879"/>
          </a:xfrm>
          <a:prstGeom prst="rect">
            <a:avLst/>
          </a:prstGeom>
          <a:solidFill>
            <a:srgbClr val="E97C35"/>
          </a:solidFill>
          <a:ln w="12700">
            <a:solidFill>
              <a:srgbClr val="E97C35"/>
            </a:solidFill>
            <a:prstDash val="solid"/>
          </a:ln>
        </p:spPr>
        <p:txBody>
          <a:bodyPr/>
          <a:lstStyle/>
          <a:p>
            <a:endParaRPr lang="pt-PT"/>
          </a:p>
        </p:txBody>
      </p:sp>
      <p:sp>
        <p:nvSpPr>
          <p:cNvPr id="21" name="Text 18"/>
          <p:cNvSpPr/>
          <p:nvPr/>
        </p:nvSpPr>
        <p:spPr>
          <a:xfrm>
            <a:off x="4846320" y="1965960"/>
            <a:ext cx="3840480" cy="347472"/>
          </a:xfrm>
          <a:prstGeom prst="rect">
            <a:avLst/>
          </a:prstGeom>
          <a:noFill/>
          <a:ln/>
        </p:spPr>
        <p:txBody>
          <a:bodyPr wrap="square" lIns="0" tIns="0" rIns="0" bIns="0" rtlCol="0" anchor="ctr"/>
          <a:lstStyle/>
          <a:p>
            <a:pPr marL="0" indent="0">
              <a:buNone/>
            </a:pPr>
            <a:r>
              <a:rPr lang="en-US" sz="1300" b="1" dirty="0">
                <a:solidFill>
                  <a:srgbClr val="E97C35"/>
                </a:solidFill>
                <a:latin typeface="Trebuchet MS" pitchFamily="34" charset="0"/>
                <a:ea typeface="Trebuchet MS" pitchFamily="34" charset="-122"/>
                <a:cs typeface="Trebuchet MS" pitchFamily="34" charset="-120"/>
              </a:rPr>
              <a:t>Imbalance ratio: 2.76x</a:t>
            </a:r>
            <a:endParaRPr lang="en-US" sz="1300" dirty="0"/>
          </a:p>
        </p:txBody>
      </p:sp>
      <p:sp>
        <p:nvSpPr>
          <p:cNvPr id="22" name="Text 19"/>
          <p:cNvSpPr/>
          <p:nvPr/>
        </p:nvSpPr>
        <p:spPr>
          <a:xfrm>
            <a:off x="4846320" y="2340864"/>
            <a:ext cx="3840480" cy="713232"/>
          </a:xfrm>
          <a:prstGeom prst="rect">
            <a:avLst/>
          </a:prstGeom>
          <a:noFill/>
          <a:ln/>
        </p:spPr>
        <p:txBody>
          <a:bodyPr wrap="square" lIns="0" tIns="0" rIns="0" bIns="0" rtlCol="0" anchor="ctr"/>
          <a:lstStyle/>
          <a:p>
            <a:pPr marL="0" indent="0">
              <a:buNone/>
            </a:pPr>
            <a:r>
              <a:rPr lang="en-US" sz="1100" b="1" dirty="0">
                <a:solidFill>
                  <a:srgbClr val="1A2B3C"/>
                </a:solidFill>
                <a:latin typeface="Calibri" pitchFamily="34" charset="0"/>
                <a:ea typeface="Calibri" pitchFamily="34" charset="-122"/>
                <a:cs typeface="Calibri" pitchFamily="34" charset="-120"/>
              </a:rPr>
              <a:t>Implications: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Predicting "Water" every time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gives 18.7% accuracy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but macro-F1 = 0.021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So accuracy hides the real failure on minority classes.</a:t>
            </a:r>
            <a:endParaRPr lang="en-US" sz="1100" dirty="0"/>
          </a:p>
        </p:txBody>
      </p:sp>
      <p:sp>
        <p:nvSpPr>
          <p:cNvPr id="23" name="Shape 20"/>
          <p:cNvSpPr/>
          <p:nvPr/>
        </p:nvSpPr>
        <p:spPr>
          <a:xfrm>
            <a:off x="4709160" y="3383280"/>
            <a:ext cx="4114800" cy="14630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4" name="Shape 21"/>
          <p:cNvSpPr/>
          <p:nvPr/>
        </p:nvSpPr>
        <p:spPr>
          <a:xfrm>
            <a:off x="4709160" y="3246120"/>
            <a:ext cx="82296" cy="1600200"/>
          </a:xfrm>
          <a:prstGeom prst="rect">
            <a:avLst/>
          </a:prstGeom>
          <a:solidFill>
            <a:srgbClr val="00A896"/>
          </a:solidFill>
          <a:ln w="12700">
            <a:solidFill>
              <a:srgbClr val="00A896"/>
            </a:solidFill>
            <a:prstDash val="solid"/>
          </a:ln>
        </p:spPr>
        <p:txBody>
          <a:bodyPr/>
          <a:lstStyle/>
          <a:p>
            <a:endParaRPr lang="pt-PT"/>
          </a:p>
        </p:txBody>
      </p:sp>
      <p:sp>
        <p:nvSpPr>
          <p:cNvPr id="25" name="Text 22"/>
          <p:cNvSpPr/>
          <p:nvPr/>
        </p:nvSpPr>
        <p:spPr>
          <a:xfrm>
            <a:off x="4846320" y="3483864"/>
            <a:ext cx="3840480" cy="329184"/>
          </a:xfrm>
          <a:prstGeom prst="rect">
            <a:avLst/>
          </a:prstGeom>
          <a:noFill/>
          <a:ln/>
        </p:spPr>
        <p:txBody>
          <a:bodyPr wrap="square" lIns="0" tIns="0" rIns="0" bIns="0" rtlCol="0" anchor="ctr"/>
          <a:lstStyle/>
          <a:p>
            <a:pPr marL="0" indent="0">
              <a:buNone/>
            </a:pPr>
            <a:r>
              <a:rPr lang="en-US" sz="1300" b="1" dirty="0">
                <a:solidFill>
                  <a:srgbClr val="0D1B2A"/>
                </a:solidFill>
                <a:latin typeface="Trebuchet MS" pitchFamily="34" charset="0"/>
                <a:ea typeface="Trebuchet MS" pitchFamily="34" charset="-122"/>
                <a:cs typeface="Trebuchet MS" pitchFamily="34" charset="-120"/>
              </a:rPr>
              <a:t>Solution:</a:t>
            </a:r>
          </a:p>
        </p:txBody>
      </p:sp>
      <p:sp>
        <p:nvSpPr>
          <p:cNvPr id="26" name="Text 23"/>
          <p:cNvSpPr/>
          <p:nvPr/>
        </p:nvSpPr>
        <p:spPr>
          <a:xfrm>
            <a:off x="5638059" y="3330114"/>
            <a:ext cx="3840480" cy="1115568"/>
          </a:xfrm>
          <a:prstGeom prst="rect">
            <a:avLst/>
          </a:prstGeom>
          <a:noFill/>
          <a:ln/>
        </p:spPr>
        <p:txBody>
          <a:bodyPr wrap="square" rtlCol="0" anchor="ctr"/>
          <a:lstStyle/>
          <a:p>
            <a:pPr>
              <a:buSzPct val="100000"/>
            </a:pPr>
            <a:r>
              <a:rPr lang="en-US" sz="1200" b="1" u="sng" dirty="0">
                <a:solidFill>
                  <a:srgbClr val="0D1B2A"/>
                </a:solidFill>
                <a:latin typeface="Trebuchet MS" pitchFamily="34" charset="0"/>
                <a:ea typeface="Trebuchet MS" pitchFamily="34" charset="-122"/>
                <a:cs typeface="Trebuchet MS" pitchFamily="34" charset="-120"/>
              </a:rPr>
              <a:t>macro-averaged F1</a:t>
            </a:r>
            <a:endParaRPr lang="en-US" sz="1200" u="sng" dirty="0"/>
          </a:p>
          <a:p>
            <a:pPr>
              <a:buSzPct val="100000"/>
            </a:pPr>
            <a:endParaRPr lang="en-US" sz="1100" dirty="0">
              <a:solidFill>
                <a:srgbClr val="1A2B3C"/>
              </a:solidFill>
              <a:latin typeface="Calibri" pitchFamily="34" charset="0"/>
              <a:ea typeface="Calibri" pitchFamily="34" charset="-122"/>
              <a:cs typeface="Calibri" pitchFamily="34" charset="-120"/>
            </a:endParaRPr>
          </a:p>
          <a:p>
            <a:pPr>
              <a:buSzPct val="100000"/>
            </a:pPr>
            <a:r>
              <a:rPr lang="en-US" sz="1100" dirty="0">
                <a:solidFill>
                  <a:srgbClr val="1A2B3C"/>
                </a:solidFill>
                <a:latin typeface="Calibri" pitchFamily="34" charset="0"/>
                <a:ea typeface="Calibri" pitchFamily="34" charset="-122"/>
                <a:cs typeface="Calibri" pitchFamily="34" charset="-120"/>
              </a:rPr>
              <a:t>Weights all 9 classes equally</a:t>
            </a:r>
          </a:p>
          <a:p>
            <a:pPr>
              <a:buSzPct val="100000"/>
            </a:pPr>
            <a:r>
              <a:rPr lang="en-US" sz="1100" dirty="0">
                <a:solidFill>
                  <a:srgbClr val="1A2B3C"/>
                </a:solidFill>
                <a:latin typeface="Calibri" pitchFamily="34" charset="0"/>
                <a:ea typeface="Calibri" pitchFamily="34" charset="-122"/>
                <a:cs typeface="Calibri" pitchFamily="34" charset="-120"/>
              </a:rPr>
              <a:t>No advantage for majority classes</a:t>
            </a:r>
            <a:endParaRPr lang="en-US" sz="1100" dirty="0"/>
          </a:p>
        </p:txBody>
      </p:sp>
      <p:sp>
        <p:nvSpPr>
          <p:cNvPr id="30" name="Shape 2">
            <a:extLst>
              <a:ext uri="{FF2B5EF4-FFF2-40B4-BE49-F238E27FC236}">
                <a16:creationId xmlns:a16="http://schemas.microsoft.com/office/drawing/2014/main" id="{1E90EFAE-8972-B0E0-CBA7-CDEF2DB59607}"/>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7" name="Rectangle: Rounded Corners 26">
            <a:extLst>
              <a:ext uri="{FF2B5EF4-FFF2-40B4-BE49-F238E27FC236}">
                <a16:creationId xmlns:a16="http://schemas.microsoft.com/office/drawing/2014/main" id="{2A144D38-9B3B-674D-9016-6CF8AF967FB9}"/>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
        <p:nvSpPr>
          <p:cNvPr id="28" name="TextBox 27">
            <a:extLst>
              <a:ext uri="{FF2B5EF4-FFF2-40B4-BE49-F238E27FC236}">
                <a16:creationId xmlns:a16="http://schemas.microsoft.com/office/drawing/2014/main" id="{00A481E2-A33B-89CB-9618-FA80712A9EAF}"/>
              </a:ext>
            </a:extLst>
          </p:cNvPr>
          <p:cNvSpPr txBox="1"/>
          <p:nvPr/>
        </p:nvSpPr>
        <p:spPr>
          <a:xfrm>
            <a:off x="78154" y="2095937"/>
            <a:ext cx="2173165" cy="2657266"/>
          </a:xfrm>
          <a:prstGeom prst="rect">
            <a:avLst/>
          </a:prstGeom>
          <a:noFill/>
        </p:spPr>
        <p:txBody>
          <a:bodyPr wrap="square">
            <a:spAutoFit/>
          </a:bodyPr>
          <a:lstStyle/>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buNone/>
            </a:pPr>
            <a:r>
              <a:rPr lang="pt-PT" sz="1250" dirty="0">
                <a:solidFill>
                  <a:schemeClr val="bg1"/>
                </a:solidFill>
                <a:latin typeface="Consolas" panose="020B0609020204030204" pitchFamily="49" charset="0"/>
              </a:rPr>
              <a:t>🗿</a:t>
            </a:r>
            <a:endParaRPr lang="pt-PT" sz="1250" b="0" dirty="0">
              <a:solidFill>
                <a:schemeClr val="bg1"/>
              </a:solidFill>
              <a:effectLst/>
              <a:latin typeface="Consolas" panose="020B0609020204030204" pitchFamily="49" charset="0"/>
            </a:endParaRPr>
          </a:p>
          <a:p>
            <a:pPr>
              <a:lnSpc>
                <a:spcPct val="150000"/>
              </a:lnSpc>
            </a:pPr>
            <a:r>
              <a:rPr lang="pt-PT" sz="1250" dirty="0">
                <a:solidFill>
                  <a:schemeClr val="bg1"/>
                </a:solidFill>
                <a:latin typeface="Consolas" panose="020B0609020204030204" pitchFamily="49"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Class Imbalance — Visual Overview</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365760" y="7498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Class distribution (train set)</a:t>
            </a:r>
            <a:endParaRPr lang="en-US" sz="1200" dirty="0"/>
          </a:p>
        </p:txBody>
      </p:sp>
      <p:sp>
        <p:nvSpPr>
          <p:cNvPr id="8" name="Shape 5"/>
          <p:cNvSpPr/>
          <p:nvPr/>
        </p:nvSpPr>
        <p:spPr>
          <a:xfrm>
            <a:off x="5257800" y="709227"/>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5257800" y="709227"/>
            <a:ext cx="73152" cy="896112"/>
          </a:xfrm>
          <a:prstGeom prst="rect">
            <a:avLst/>
          </a:prstGeom>
          <a:solidFill>
            <a:srgbClr val="E97C35"/>
          </a:solidFill>
          <a:ln w="12700">
            <a:solidFill>
              <a:srgbClr val="E97C35"/>
            </a:solidFill>
            <a:prstDash val="solid"/>
          </a:ln>
        </p:spPr>
        <p:txBody>
          <a:bodyPr/>
          <a:lstStyle/>
          <a:p>
            <a:endParaRPr lang="pt-PT"/>
          </a:p>
        </p:txBody>
      </p:sp>
      <p:sp>
        <p:nvSpPr>
          <p:cNvPr id="10" name="Text 7"/>
          <p:cNvSpPr/>
          <p:nvPr/>
        </p:nvSpPr>
        <p:spPr>
          <a:xfrm>
            <a:off x="5394960" y="745803"/>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2.76×</a:t>
            </a:r>
            <a:endParaRPr lang="en-US" sz="2400" dirty="0"/>
          </a:p>
        </p:txBody>
      </p:sp>
      <p:sp>
        <p:nvSpPr>
          <p:cNvPr id="11" name="Text 8"/>
          <p:cNvSpPr/>
          <p:nvPr/>
        </p:nvSpPr>
        <p:spPr>
          <a:xfrm>
            <a:off x="5394960" y="1221291"/>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Water / Ground imbalance ratio</a:t>
            </a:r>
            <a:endParaRPr lang="en-US" sz="1400" dirty="0"/>
          </a:p>
        </p:txBody>
      </p:sp>
      <p:sp>
        <p:nvSpPr>
          <p:cNvPr id="12" name="Shape 9"/>
          <p:cNvSpPr/>
          <p:nvPr/>
        </p:nvSpPr>
        <p:spPr>
          <a:xfrm>
            <a:off x="5257800" y="1801746"/>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5257800" y="1801746"/>
            <a:ext cx="73152" cy="896112"/>
          </a:xfrm>
          <a:prstGeom prst="rect">
            <a:avLst/>
          </a:prstGeom>
          <a:solidFill>
            <a:srgbClr val="E97C35"/>
          </a:solidFill>
          <a:ln w="12700">
            <a:solidFill>
              <a:srgbClr val="E97C35"/>
            </a:solidFill>
            <a:prstDash val="solid"/>
          </a:ln>
        </p:spPr>
        <p:txBody>
          <a:bodyPr/>
          <a:lstStyle/>
          <a:p>
            <a:endParaRPr lang="pt-PT"/>
          </a:p>
        </p:txBody>
      </p:sp>
      <p:sp>
        <p:nvSpPr>
          <p:cNvPr id="14" name="Text 11"/>
          <p:cNvSpPr/>
          <p:nvPr/>
        </p:nvSpPr>
        <p:spPr>
          <a:xfrm>
            <a:off x="5394960" y="1838322"/>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18.7%</a:t>
            </a:r>
            <a:endParaRPr lang="en-US" sz="2400" dirty="0"/>
          </a:p>
        </p:txBody>
      </p:sp>
      <p:sp>
        <p:nvSpPr>
          <p:cNvPr id="15" name="Text 12"/>
          <p:cNvSpPr/>
          <p:nvPr/>
        </p:nvSpPr>
        <p:spPr>
          <a:xfrm>
            <a:off x="5394960" y="2313810"/>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Water  (most common class)</a:t>
            </a:r>
            <a:endParaRPr lang="en-US" sz="1400" dirty="0"/>
          </a:p>
        </p:txBody>
      </p:sp>
      <p:sp>
        <p:nvSpPr>
          <p:cNvPr id="16" name="Shape 13"/>
          <p:cNvSpPr/>
          <p:nvPr/>
        </p:nvSpPr>
        <p:spPr>
          <a:xfrm>
            <a:off x="5257800" y="2894265"/>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5257800" y="2894265"/>
            <a:ext cx="73152" cy="896112"/>
          </a:xfrm>
          <a:prstGeom prst="rect">
            <a:avLst/>
          </a:prstGeom>
          <a:solidFill>
            <a:srgbClr val="E74C3C"/>
          </a:solidFill>
          <a:ln w="12700">
            <a:solidFill>
              <a:srgbClr val="E74C3C"/>
            </a:solidFill>
            <a:prstDash val="solid"/>
          </a:ln>
        </p:spPr>
        <p:txBody>
          <a:bodyPr/>
          <a:lstStyle/>
          <a:p>
            <a:endParaRPr lang="pt-PT"/>
          </a:p>
        </p:txBody>
      </p:sp>
      <p:sp>
        <p:nvSpPr>
          <p:cNvPr id="18" name="Text 15"/>
          <p:cNvSpPr/>
          <p:nvPr/>
        </p:nvSpPr>
        <p:spPr>
          <a:xfrm>
            <a:off x="5394960" y="2930841"/>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6.8%</a:t>
            </a:r>
            <a:endParaRPr lang="en-US" sz="2400" dirty="0"/>
          </a:p>
        </p:txBody>
      </p:sp>
      <p:sp>
        <p:nvSpPr>
          <p:cNvPr id="19" name="Text 16"/>
          <p:cNvSpPr/>
          <p:nvPr/>
        </p:nvSpPr>
        <p:spPr>
          <a:xfrm>
            <a:off x="5394960" y="3406329"/>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Ground (rarest class)</a:t>
            </a:r>
            <a:endParaRPr lang="en-US" sz="1400" dirty="0"/>
          </a:p>
        </p:txBody>
      </p:sp>
      <p:sp>
        <p:nvSpPr>
          <p:cNvPr id="20" name="Shape 17"/>
          <p:cNvSpPr/>
          <p:nvPr/>
        </p:nvSpPr>
        <p:spPr>
          <a:xfrm>
            <a:off x="5257800" y="3986784"/>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5257800" y="3986784"/>
            <a:ext cx="73152" cy="896112"/>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5394960" y="4023360"/>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0.021</a:t>
            </a:r>
            <a:endParaRPr lang="en-US" sz="2400" dirty="0"/>
          </a:p>
        </p:txBody>
      </p:sp>
      <p:sp>
        <p:nvSpPr>
          <p:cNvPr id="23" name="Text 20"/>
          <p:cNvSpPr/>
          <p:nvPr/>
        </p:nvSpPr>
        <p:spPr>
          <a:xfrm>
            <a:off x="5394960" y="4498848"/>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Naive baseline: always predict Water</a:t>
            </a:r>
            <a:endParaRPr lang="en-US" sz="1400" dirty="0"/>
          </a:p>
        </p:txBody>
      </p:sp>
      <p:sp>
        <p:nvSpPr>
          <p:cNvPr id="24" name="Shape 21"/>
          <p:cNvSpPr/>
          <p:nvPr/>
        </p:nvSpPr>
        <p:spPr>
          <a:xfrm>
            <a:off x="274320" y="3749040"/>
            <a:ext cx="4754880" cy="1188720"/>
          </a:xfrm>
          <a:prstGeom prst="rect">
            <a:avLst/>
          </a:prstGeom>
          <a:solidFill>
            <a:srgbClr val="E8F8F5"/>
          </a:solidFill>
          <a:ln w="8890">
            <a:solidFill>
              <a:srgbClr val="00A896"/>
            </a:solidFill>
            <a:prstDash val="solid"/>
          </a:ln>
        </p:spPr>
        <p:txBody>
          <a:bodyPr/>
          <a:lstStyle/>
          <a:p>
            <a:endParaRPr lang="pt-PT"/>
          </a:p>
        </p:txBody>
      </p:sp>
      <p:sp>
        <p:nvSpPr>
          <p:cNvPr id="25" name="Shape 22"/>
          <p:cNvSpPr/>
          <p:nvPr/>
        </p:nvSpPr>
        <p:spPr>
          <a:xfrm>
            <a:off x="274320" y="3749040"/>
            <a:ext cx="82296" cy="1188720"/>
          </a:xfrm>
          <a:prstGeom prst="rect">
            <a:avLst/>
          </a:prstGeom>
          <a:solidFill>
            <a:srgbClr val="00A896"/>
          </a:solidFill>
          <a:ln w="12700">
            <a:solidFill>
              <a:srgbClr val="00A896"/>
            </a:solidFill>
            <a:prstDash val="solid"/>
          </a:ln>
        </p:spPr>
        <p:txBody>
          <a:bodyPr/>
          <a:lstStyle/>
          <a:p>
            <a:endParaRPr lang="pt-PT"/>
          </a:p>
        </p:txBody>
      </p:sp>
      <p:sp>
        <p:nvSpPr>
          <p:cNvPr id="26" name="Text 23"/>
          <p:cNvSpPr/>
          <p:nvPr/>
        </p:nvSpPr>
        <p:spPr>
          <a:xfrm>
            <a:off x="411480" y="3794760"/>
            <a:ext cx="448056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Our mitigation strategy</a:t>
            </a:r>
            <a:endParaRPr lang="en-US" sz="1200" dirty="0"/>
          </a:p>
        </p:txBody>
      </p:sp>
      <p:sp>
        <p:nvSpPr>
          <p:cNvPr id="27" name="Text 24"/>
          <p:cNvSpPr/>
          <p:nvPr/>
        </p:nvSpPr>
        <p:spPr>
          <a:xfrm>
            <a:off x="411480" y="4142232"/>
            <a:ext cx="4480560" cy="749808"/>
          </a:xfrm>
          <a:prstGeom prst="rect">
            <a:avLst/>
          </a:prstGeom>
          <a:noFill/>
          <a:ln/>
        </p:spPr>
        <p:txBody>
          <a:bodyPr wrap="square" rtlCol="0" anchor="ctr"/>
          <a:lstStyle/>
          <a:p>
            <a:pPr>
              <a:buSzPct val="100000"/>
            </a:pPr>
            <a:r>
              <a:rPr lang="en-US" sz="1400" dirty="0">
                <a:solidFill>
                  <a:srgbClr val="1A2B3C"/>
                </a:solidFill>
                <a:latin typeface="Calibri" pitchFamily="34" charset="0"/>
                <a:ea typeface="Calibri" pitchFamily="34" charset="-122"/>
                <a:cs typeface="Calibri" pitchFamily="34" charset="-120"/>
              </a:rPr>
              <a:t>- Inverse-frequency class weights in </a:t>
            </a:r>
            <a:r>
              <a:rPr lang="en-US" sz="1400" dirty="0" err="1">
                <a:solidFill>
                  <a:srgbClr val="1A2B3C"/>
                </a:solidFill>
                <a:latin typeface="Calibri" pitchFamily="34" charset="0"/>
                <a:ea typeface="Calibri" pitchFamily="34" charset="-122"/>
                <a:cs typeface="Calibri" pitchFamily="34" charset="-120"/>
              </a:rPr>
              <a:t>CrossEntropyLoss</a:t>
            </a:r>
            <a:endParaRPr lang="en-US" sz="1400" dirty="0">
              <a:solidFill>
                <a:schemeClr val="bg2"/>
              </a:solidFill>
              <a:latin typeface="Calibri" pitchFamily="34" charset="0"/>
              <a:ea typeface="Calibri" pitchFamily="34" charset="-122"/>
              <a:cs typeface="Calibri" pitchFamily="34" charset="-120"/>
            </a:endParaRPr>
          </a:p>
          <a:p>
            <a:pPr>
              <a:buSzPct val="100000"/>
            </a:pPr>
            <a:r>
              <a:rPr lang="en-US" sz="1400" dirty="0">
                <a:solidFill>
                  <a:schemeClr val="bg2"/>
                </a:solidFill>
              </a:rPr>
              <a:t>	Used in experiments like B, C, D, F, G, J, L, R, S,</a:t>
            </a:r>
          </a:p>
          <a:p>
            <a:pPr>
              <a:buSzPct val="100000"/>
            </a:pPr>
            <a:r>
              <a:rPr lang="en-US" sz="1400" dirty="0">
                <a:solidFill>
                  <a:srgbClr val="1A2B3C"/>
                </a:solidFill>
                <a:latin typeface="Calibri" pitchFamily="34" charset="0"/>
                <a:ea typeface="Calibri" pitchFamily="34" charset="-122"/>
                <a:cs typeface="Calibri" pitchFamily="34" charset="-120"/>
              </a:rPr>
              <a:t>- </a:t>
            </a:r>
            <a:r>
              <a:rPr lang="en-US" sz="1400" dirty="0" err="1">
                <a:solidFill>
                  <a:srgbClr val="1A2B3C"/>
                </a:solidFill>
                <a:latin typeface="Calibri" pitchFamily="34" charset="0"/>
                <a:ea typeface="Calibri" pitchFamily="34" charset="-122"/>
                <a:cs typeface="Calibri" pitchFamily="34" charset="-120"/>
              </a:rPr>
              <a:t>WeightedRandomSampler</a:t>
            </a:r>
            <a:endParaRPr lang="en-US" sz="1400" dirty="0">
              <a:solidFill>
                <a:schemeClr val="bg2"/>
              </a:solidFill>
              <a:latin typeface="Calibri" pitchFamily="34" charset="0"/>
              <a:ea typeface="Calibri" pitchFamily="34" charset="-122"/>
              <a:cs typeface="Calibri" pitchFamily="34" charset="-120"/>
            </a:endParaRPr>
          </a:p>
          <a:p>
            <a:pPr>
              <a:buSzPct val="100000"/>
            </a:pPr>
            <a:r>
              <a:rPr lang="en-US" sz="1400" dirty="0">
                <a:solidFill>
                  <a:schemeClr val="bg2"/>
                </a:solidFill>
              </a:rPr>
              <a:t>	Used in experiments like E, M, O, Q, </a:t>
            </a:r>
          </a:p>
        </p:txBody>
      </p:sp>
      <p:pic>
        <p:nvPicPr>
          <p:cNvPr id="31" name="Picture 30">
            <a:extLst>
              <a:ext uri="{FF2B5EF4-FFF2-40B4-BE49-F238E27FC236}">
                <a16:creationId xmlns:a16="http://schemas.microsoft.com/office/drawing/2014/main" id="{90D6123E-BBEF-E8BC-24FD-E57574C72F62}"/>
              </a:ext>
            </a:extLst>
          </p:cNvPr>
          <p:cNvPicPr>
            <a:picLocks noChangeAspect="1"/>
          </p:cNvPicPr>
          <p:nvPr/>
        </p:nvPicPr>
        <p:blipFill>
          <a:blip r:embed="rId3"/>
          <a:stretch>
            <a:fillRect/>
          </a:stretch>
        </p:blipFill>
        <p:spPr>
          <a:xfrm>
            <a:off x="274320" y="666471"/>
            <a:ext cx="4754880" cy="2955464"/>
          </a:xfrm>
          <a:prstGeom prst="rect">
            <a:avLst/>
          </a:prstGeom>
          <a:effectLst>
            <a:outerShdw blurRad="50800" dist="38100" dir="5400000" algn="t" rotWithShape="0">
              <a:prstClr val="black">
                <a:alpha val="40000"/>
              </a:prstClr>
            </a:outerShdw>
          </a:effectLst>
        </p:spPr>
      </p:pic>
      <p:sp>
        <p:nvSpPr>
          <p:cNvPr id="32" name="TextBox 31">
            <a:extLst>
              <a:ext uri="{FF2B5EF4-FFF2-40B4-BE49-F238E27FC236}">
                <a16:creationId xmlns:a16="http://schemas.microsoft.com/office/drawing/2014/main" id="{1C23FBE8-B458-276C-5AB6-17273D18538A}"/>
              </a:ext>
            </a:extLst>
          </p:cNvPr>
          <p:cNvSpPr txBox="1"/>
          <p:nvPr/>
        </p:nvSpPr>
        <p:spPr>
          <a:xfrm>
            <a:off x="-54802" y="859932"/>
            <a:ext cx="2173165" cy="2349489"/>
          </a:xfrm>
          <a:prstGeom prst="rect">
            <a:avLst/>
          </a:prstGeom>
          <a:noFill/>
        </p:spPr>
        <p:txBody>
          <a:bodyPr wrap="square">
            <a:spAutoFit/>
          </a:bodyPr>
          <a:lstStyle/>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buNone/>
            </a:pPr>
            <a:r>
              <a:rPr lang="pt-PT" sz="1100" dirty="0">
                <a:solidFill>
                  <a:schemeClr val="bg1"/>
                </a:solidFill>
                <a:latin typeface="Consolas" panose="020B0609020204030204" pitchFamily="49" charset="0"/>
              </a:rPr>
              <a:t>🗿</a:t>
            </a:r>
            <a:endParaRPr lang="pt-PT" sz="1100" b="0" dirty="0">
              <a:solidFill>
                <a:schemeClr val="bg1"/>
              </a:solidFill>
              <a:effectLst/>
              <a:latin typeface="Consolas" panose="020B0609020204030204" pitchFamily="49" charset="0"/>
            </a:endParaRPr>
          </a:p>
          <a:p>
            <a:pPr>
              <a:lnSpc>
                <a:spcPct val="150000"/>
              </a:lnSpc>
            </a:pPr>
            <a:r>
              <a:rPr lang="pt-PT" sz="1100" dirty="0">
                <a:solidFill>
                  <a:schemeClr val="bg1"/>
                </a:solidFill>
                <a:latin typeface="Consolas" panose="020B0609020204030204" pitchFamily="49" charset="0"/>
              </a:rPr>
              <a:t>🌍</a:t>
            </a:r>
          </a:p>
        </p:txBody>
      </p:sp>
      <p:sp>
        <p:nvSpPr>
          <p:cNvPr id="30" name="Shape 2">
            <a:extLst>
              <a:ext uri="{FF2B5EF4-FFF2-40B4-BE49-F238E27FC236}">
                <a16:creationId xmlns:a16="http://schemas.microsoft.com/office/drawing/2014/main" id="{C97CE7CB-555D-96D8-720C-C2A9DB9265D2}"/>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34" name="Rectangle: Rounded Corners 33">
            <a:extLst>
              <a:ext uri="{FF2B5EF4-FFF2-40B4-BE49-F238E27FC236}">
                <a16:creationId xmlns:a16="http://schemas.microsoft.com/office/drawing/2014/main" id="{3B2B809C-E84E-88F3-98EC-81813C3A8EB8}"/>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What the Data Looks Like</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134112" y="615676"/>
            <a:ext cx="841248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4 samples per class (</a:t>
            </a:r>
            <a:r>
              <a:rPr lang="en-US" sz="1200" b="1" dirty="0" err="1">
                <a:solidFill>
                  <a:srgbClr val="3D5A73"/>
                </a:solidFill>
                <a:latin typeface="Calibri" pitchFamily="34" charset="0"/>
                <a:ea typeface="Calibri" pitchFamily="34" charset="-122"/>
                <a:cs typeface="Calibri" pitchFamily="34" charset="-120"/>
              </a:rPr>
              <a:t>pokemons</a:t>
            </a:r>
            <a:r>
              <a:rPr lang="en-US" sz="1200" b="1" dirty="0">
                <a:solidFill>
                  <a:srgbClr val="3D5A73"/>
                </a:solidFill>
                <a:latin typeface="Calibri" pitchFamily="34" charset="0"/>
                <a:ea typeface="Calibri" pitchFamily="34" charset="-122"/>
                <a:cs typeface="Calibri" pitchFamily="34" charset="-120"/>
              </a:rPr>
              <a:t> overlaid on real-world backgrounds)  »»»</a:t>
            </a:r>
            <a:endParaRPr lang="en-US" sz="1200" b="1" dirty="0"/>
          </a:p>
        </p:txBody>
      </p:sp>
      <p:sp>
        <p:nvSpPr>
          <p:cNvPr id="8" name="Shape 5"/>
          <p:cNvSpPr/>
          <p:nvPr/>
        </p:nvSpPr>
        <p:spPr>
          <a:xfrm>
            <a:off x="347472" y="960120"/>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347472" y="960120"/>
            <a:ext cx="73152" cy="886968"/>
          </a:xfrm>
          <a:prstGeom prst="rect">
            <a:avLst/>
          </a:prstGeom>
          <a:solidFill>
            <a:srgbClr val="27AE60"/>
          </a:solidFill>
          <a:ln w="12700">
            <a:solidFill>
              <a:srgbClr val="27AE60"/>
            </a:solidFill>
            <a:prstDash val="solid"/>
          </a:ln>
        </p:spPr>
        <p:txBody>
          <a:bodyPr/>
          <a:lstStyle/>
          <a:p>
            <a:endParaRPr lang="pt-PT"/>
          </a:p>
        </p:txBody>
      </p:sp>
      <p:sp>
        <p:nvSpPr>
          <p:cNvPr id="10" name="Text 7"/>
          <p:cNvSpPr/>
          <p:nvPr/>
        </p:nvSpPr>
        <p:spPr>
          <a:xfrm>
            <a:off x="484632" y="1005840"/>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Bug vs Grass</a:t>
            </a:r>
            <a:endParaRPr lang="en-US" sz="1200" dirty="0"/>
          </a:p>
        </p:txBody>
      </p:sp>
      <p:sp>
        <p:nvSpPr>
          <p:cNvPr id="11" name="Text 8"/>
          <p:cNvSpPr/>
          <p:nvPr/>
        </p:nvSpPr>
        <p:spPr>
          <a:xfrm>
            <a:off x="484632" y="1325880"/>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Both dominated by green/yellow tones </a:t>
            </a:r>
          </a:p>
          <a:p>
            <a:pPr marL="0" indent="0">
              <a:buNone/>
            </a:pPr>
            <a:r>
              <a:rPr lang="en-US" sz="1200" dirty="0">
                <a:solidFill>
                  <a:srgbClr val="3D5A73"/>
                </a:solidFill>
                <a:latin typeface="Calibri" pitchFamily="34" charset="0"/>
                <a:ea typeface="Calibri" pitchFamily="34" charset="-122"/>
                <a:cs typeface="Calibri" pitchFamily="34" charset="-120"/>
              </a:rPr>
              <a:t>» color histograms overlap heavily</a:t>
            </a:r>
            <a:endParaRPr lang="en-US" sz="1200" dirty="0"/>
          </a:p>
        </p:txBody>
      </p:sp>
      <p:sp>
        <p:nvSpPr>
          <p:cNvPr id="12" name="Shape 9"/>
          <p:cNvSpPr/>
          <p:nvPr/>
        </p:nvSpPr>
        <p:spPr>
          <a:xfrm>
            <a:off x="347472" y="1984248"/>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347472" y="1984248"/>
            <a:ext cx="73152" cy="886968"/>
          </a:xfrm>
          <a:prstGeom prst="rect">
            <a:avLst/>
          </a:prstGeom>
          <a:solidFill>
            <a:srgbClr val="3D5A73"/>
          </a:solidFill>
          <a:ln w="12700">
            <a:solidFill>
              <a:srgbClr val="3D5A73"/>
            </a:solidFill>
            <a:prstDash val="solid"/>
          </a:ln>
        </p:spPr>
        <p:txBody>
          <a:bodyPr/>
          <a:lstStyle/>
          <a:p>
            <a:endParaRPr lang="pt-PT"/>
          </a:p>
        </p:txBody>
      </p:sp>
      <p:sp>
        <p:nvSpPr>
          <p:cNvPr id="14" name="Text 11"/>
          <p:cNvSpPr/>
          <p:nvPr/>
        </p:nvSpPr>
        <p:spPr>
          <a:xfrm>
            <a:off x="484632" y="2029968"/>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Fighting vs Normal</a:t>
            </a:r>
            <a:endParaRPr lang="en-US" sz="1200" dirty="0"/>
          </a:p>
        </p:txBody>
      </p:sp>
      <p:sp>
        <p:nvSpPr>
          <p:cNvPr id="15" name="Text 12"/>
          <p:cNvSpPr/>
          <p:nvPr/>
        </p:nvSpPr>
        <p:spPr>
          <a:xfrm>
            <a:off x="484632" y="2350008"/>
            <a:ext cx="3840480" cy="457200"/>
          </a:xfrm>
          <a:prstGeom prst="rect">
            <a:avLst/>
          </a:prstGeom>
          <a:noFill/>
          <a:ln/>
        </p:spPr>
        <p:txBody>
          <a:bodyPr wrap="square" lIns="0" tIns="0" rIns="0" bIns="0" rtlCol="0" anchor="ctr"/>
          <a:lstStyle/>
          <a:p>
            <a:r>
              <a:rPr lang="en-US" sz="1200" dirty="0">
                <a:solidFill>
                  <a:srgbClr val="3D5A73"/>
                </a:solidFill>
                <a:latin typeface="Calibri" pitchFamily="34" charset="0"/>
                <a:ea typeface="Calibri" pitchFamily="34" charset="-122"/>
                <a:cs typeface="Calibri" pitchFamily="34" charset="-120"/>
              </a:rPr>
              <a:t>Both dominated by brown tones </a:t>
            </a:r>
          </a:p>
          <a:p>
            <a:r>
              <a:rPr lang="en-US" sz="1200" dirty="0">
                <a:solidFill>
                  <a:srgbClr val="3D5A73"/>
                </a:solidFill>
                <a:latin typeface="Calibri" pitchFamily="34" charset="0"/>
                <a:ea typeface="Calibri" pitchFamily="34" charset="-122"/>
                <a:cs typeface="Calibri" pitchFamily="34" charset="-120"/>
              </a:rPr>
              <a:t>» color histograms overlap heavily</a:t>
            </a:r>
            <a:endParaRPr lang="en-US" sz="1200" dirty="0"/>
          </a:p>
        </p:txBody>
      </p:sp>
      <p:sp>
        <p:nvSpPr>
          <p:cNvPr id="16" name="Shape 13"/>
          <p:cNvSpPr/>
          <p:nvPr/>
        </p:nvSpPr>
        <p:spPr>
          <a:xfrm>
            <a:off x="347472" y="3008376"/>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347472" y="3008376"/>
            <a:ext cx="73152" cy="886968"/>
          </a:xfrm>
          <a:prstGeom prst="rect">
            <a:avLst/>
          </a:prstGeom>
          <a:solidFill>
            <a:srgbClr val="E97C35"/>
          </a:solidFill>
          <a:ln w="12700">
            <a:solidFill>
              <a:srgbClr val="E97C35"/>
            </a:solidFill>
            <a:prstDash val="solid"/>
          </a:ln>
        </p:spPr>
        <p:txBody>
          <a:bodyPr/>
          <a:lstStyle/>
          <a:p>
            <a:endParaRPr lang="pt-PT"/>
          </a:p>
        </p:txBody>
      </p:sp>
      <p:sp>
        <p:nvSpPr>
          <p:cNvPr id="18" name="Text 15"/>
          <p:cNvSpPr/>
          <p:nvPr/>
        </p:nvSpPr>
        <p:spPr>
          <a:xfrm>
            <a:off x="484632" y="3054096"/>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Rock vs Ground</a:t>
            </a:r>
            <a:endParaRPr lang="en-US" sz="1200" dirty="0"/>
          </a:p>
        </p:txBody>
      </p:sp>
      <p:sp>
        <p:nvSpPr>
          <p:cNvPr id="19" name="Text 16"/>
          <p:cNvSpPr/>
          <p:nvPr/>
        </p:nvSpPr>
        <p:spPr>
          <a:xfrm>
            <a:off x="484632" y="3374136"/>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Brown/grey palettes </a:t>
            </a:r>
          </a:p>
          <a:p>
            <a:pPr marL="0" indent="0">
              <a:buNone/>
            </a:pPr>
            <a:r>
              <a:rPr lang="en-US" sz="1200" dirty="0">
                <a:solidFill>
                  <a:srgbClr val="3D5A73"/>
                </a:solidFill>
                <a:latin typeface="Calibri" pitchFamily="34" charset="0"/>
                <a:ea typeface="Calibri" pitchFamily="34" charset="-122"/>
                <a:cs typeface="Calibri" pitchFamily="34" charset="-120"/>
              </a:rPr>
              <a:t>» hardest confusion pair in our results</a:t>
            </a:r>
            <a:endParaRPr lang="en-US" sz="1200" dirty="0"/>
          </a:p>
        </p:txBody>
      </p:sp>
      <p:sp>
        <p:nvSpPr>
          <p:cNvPr id="20" name="Shape 17"/>
          <p:cNvSpPr/>
          <p:nvPr/>
        </p:nvSpPr>
        <p:spPr>
          <a:xfrm>
            <a:off x="347472" y="4032504"/>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347472" y="4032504"/>
            <a:ext cx="73152" cy="886968"/>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484632" y="4078224"/>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Real backgrounds</a:t>
            </a:r>
            <a:endParaRPr lang="en-US" sz="1200" dirty="0"/>
          </a:p>
        </p:txBody>
      </p:sp>
      <p:sp>
        <p:nvSpPr>
          <p:cNvPr id="23" name="Text 20"/>
          <p:cNvSpPr/>
          <p:nvPr/>
        </p:nvSpPr>
        <p:spPr>
          <a:xfrm>
            <a:off x="484632" y="4398264"/>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Sprites on street photos </a:t>
            </a:r>
          </a:p>
          <a:p>
            <a:pPr marL="0" indent="0">
              <a:buNone/>
            </a:pPr>
            <a:r>
              <a:rPr lang="en-US" sz="1200" dirty="0">
                <a:solidFill>
                  <a:srgbClr val="3D5A73"/>
                </a:solidFill>
                <a:latin typeface="Calibri" pitchFamily="34" charset="0"/>
                <a:ea typeface="Calibri" pitchFamily="34" charset="-122"/>
                <a:cs typeface="Calibri" pitchFamily="34" charset="-120"/>
              </a:rPr>
              <a:t>» random background noise adds pixel variability</a:t>
            </a:r>
            <a:endParaRPr lang="en-US" sz="1200" dirty="0"/>
          </a:p>
        </p:txBody>
      </p:sp>
      <p:pic>
        <p:nvPicPr>
          <p:cNvPr id="27" name="Picture 26">
            <a:extLst>
              <a:ext uri="{FF2B5EF4-FFF2-40B4-BE49-F238E27FC236}">
                <a16:creationId xmlns:a16="http://schemas.microsoft.com/office/drawing/2014/main" id="{0B8A0DFE-3DE1-15D9-A237-72DB73AEBD07}"/>
              </a:ext>
            </a:extLst>
          </p:cNvPr>
          <p:cNvPicPr>
            <a:picLocks noChangeAspect="1"/>
          </p:cNvPicPr>
          <p:nvPr/>
        </p:nvPicPr>
        <p:blipFill>
          <a:blip r:embed="rId3"/>
          <a:stretch>
            <a:fillRect/>
          </a:stretch>
        </p:blipFill>
        <p:spPr>
          <a:xfrm>
            <a:off x="4803648" y="301667"/>
            <a:ext cx="2372972" cy="4826763"/>
          </a:xfrm>
          <a:prstGeom prst="rect">
            <a:avLst/>
          </a:prstGeom>
        </p:spPr>
      </p:pic>
      <p:sp>
        <p:nvSpPr>
          <p:cNvPr id="29" name="TextBox 28">
            <a:extLst>
              <a:ext uri="{FF2B5EF4-FFF2-40B4-BE49-F238E27FC236}">
                <a16:creationId xmlns:a16="http://schemas.microsoft.com/office/drawing/2014/main" id="{224F8F92-0060-1C99-43D7-5A8A01C5F7FD}"/>
              </a:ext>
            </a:extLst>
          </p:cNvPr>
          <p:cNvSpPr txBox="1"/>
          <p:nvPr/>
        </p:nvSpPr>
        <p:spPr>
          <a:xfrm>
            <a:off x="7114195" y="588305"/>
            <a:ext cx="2173165" cy="4593758"/>
          </a:xfrm>
          <a:prstGeom prst="rect">
            <a:avLst/>
          </a:prstGeom>
          <a:noFill/>
        </p:spPr>
        <p:txBody>
          <a:bodyPr wrap="square">
            <a:spAutoFit/>
          </a:bodyPr>
          <a:lstStyle/>
          <a:p>
            <a:pPr>
              <a:lnSpc>
                <a:spcPts val="1425"/>
              </a:lnSpc>
            </a:pPr>
            <a:r>
              <a:rPr lang="pt-PT" dirty="0">
                <a:solidFill>
                  <a:schemeClr val="bg1"/>
                </a:solidFill>
                <a:latin typeface="Bierstadt" panose="020B0004020202020204" pitchFamily="34" charset="0"/>
              </a:rPr>
              <a:t>🐛 Bug</a:t>
            </a:r>
          </a:p>
          <a:p>
            <a:pPr>
              <a:lnSpc>
                <a:spcPts val="1425"/>
              </a:lnSpc>
            </a:pPr>
            <a:r>
              <a:rPr lang="pt-PT" dirty="0">
                <a:solidFill>
                  <a:schemeClr val="bg1"/>
                </a:solidFill>
                <a:latin typeface="Bierstadt" panose="020B0004020202020204" pitchFamily="34" charset="0"/>
              </a:rPr>
              <a:t> </a:t>
            </a: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Fighting</a:t>
            </a:r>
            <a:endParaRPr lang="pt-PT" dirty="0">
              <a:solidFill>
                <a:schemeClr val="bg1"/>
              </a:solidFill>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sz="4000" b="0" dirty="0">
              <a:solidFill>
                <a:schemeClr val="bg1"/>
              </a:solidFill>
              <a:effectLst/>
              <a:latin typeface="Bierstadt" panose="020B0004020202020204" pitchFamily="34" charset="0"/>
            </a:endParaRPr>
          </a:p>
          <a:p>
            <a:pPr>
              <a:lnSpc>
                <a:spcPts val="1425"/>
              </a:lnSpc>
              <a:buNone/>
            </a:pPr>
            <a:r>
              <a:rPr lang="pt-PT" b="0" dirty="0">
                <a:solidFill>
                  <a:schemeClr val="bg1"/>
                </a:solidFill>
                <a:effectLst/>
                <a:latin typeface="Bierstadt" panose="020B0004020202020204" pitchFamily="34" charset="0"/>
              </a:rPr>
              <a:t>🔥 </a:t>
            </a:r>
            <a:r>
              <a:rPr lang="pt-PT" b="0" dirty="0" err="1">
                <a:solidFill>
                  <a:schemeClr val="bg1"/>
                </a:solidFill>
                <a:effectLst/>
                <a:latin typeface="Bierstadt" panose="020B0004020202020204" pitchFamily="34" charset="0"/>
              </a:rPr>
              <a:t>Fire</a:t>
            </a:r>
            <a:endParaRPr lang="pt-PT" b="0" dirty="0">
              <a:solidFill>
                <a:schemeClr val="bg1"/>
              </a:solidFill>
              <a:effectLst/>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Grass</a:t>
            </a:r>
            <a:r>
              <a:rPr lang="pt-PT" dirty="0">
                <a:solidFill>
                  <a:schemeClr val="bg1"/>
                </a:solidFill>
                <a:latin typeface="Bierstadt" panose="020B0004020202020204" pitchFamily="34" charset="0"/>
              </a:rPr>
              <a:t> </a:t>
            </a:r>
          </a:p>
          <a:p>
            <a:pPr>
              <a:lnSpc>
                <a:spcPts val="1425"/>
              </a:lnSpc>
              <a:buNone/>
            </a:pPr>
            <a:endParaRPr lang="pt-PT" b="0" dirty="0">
              <a:solidFill>
                <a:schemeClr val="bg1"/>
              </a:solidFill>
              <a:effectLst/>
              <a:latin typeface="Bierstadt" panose="020B0004020202020204" pitchFamily="34" charset="0"/>
            </a:endParaRP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Ground</a:t>
            </a:r>
            <a:endParaRPr lang="pt-PT" dirty="0">
              <a:solidFill>
                <a:schemeClr val="bg1"/>
              </a:solidFill>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r>
              <a:rPr lang="pt-PT" b="0" dirty="0">
                <a:solidFill>
                  <a:schemeClr val="bg1"/>
                </a:solidFill>
                <a:effectLst/>
                <a:latin typeface="Bierstadt" panose="020B0004020202020204" pitchFamily="34" charset="0"/>
              </a:rPr>
              <a:t>😐 Normal </a:t>
            </a: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dirty="0">
              <a:solidFill>
                <a:schemeClr val="bg1"/>
              </a:solidFill>
              <a:latin typeface="Bierstadt" panose="020B0004020202020204" pitchFamily="34" charset="0"/>
            </a:endParaRPr>
          </a:p>
          <a:p>
            <a:pPr>
              <a:lnSpc>
                <a:spcPts val="1425"/>
              </a:lnSpc>
              <a:buNone/>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Poison</a:t>
            </a:r>
            <a:endParaRPr lang="pt-PT" dirty="0">
              <a:solidFill>
                <a:schemeClr val="bg1"/>
              </a:solidFill>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r>
              <a:rPr lang="pt-PT" dirty="0">
                <a:solidFill>
                  <a:schemeClr val="bg1"/>
                </a:solidFill>
                <a:latin typeface="Bierstadt" panose="020B0004020202020204" pitchFamily="34" charset="0"/>
              </a:rPr>
              <a:t> 🗿	</a:t>
            </a:r>
            <a:r>
              <a:rPr lang="pt-PT" b="0" dirty="0">
                <a:solidFill>
                  <a:schemeClr val="bg1"/>
                </a:solidFill>
                <a:effectLst/>
                <a:latin typeface="Bierstadt" panose="020B0004020202020204" pitchFamily="34" charset="0"/>
              </a:rPr>
              <a:t>Rock</a:t>
            </a:r>
          </a:p>
          <a:p>
            <a:pPr>
              <a:lnSpc>
                <a:spcPts val="1425"/>
              </a:lnSpc>
              <a:buNone/>
            </a:pPr>
            <a:endParaRPr lang="pt-PT" dirty="0">
              <a:solidFill>
                <a:schemeClr val="bg1"/>
              </a:solidFill>
              <a:latin typeface="Bierstadt" panose="020B0004020202020204" pitchFamily="34" charset="0"/>
            </a:endParaRP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 </a:t>
            </a:r>
            <a:r>
              <a:rPr lang="pt-PT" dirty="0" err="1">
                <a:solidFill>
                  <a:schemeClr val="bg1"/>
                </a:solidFill>
                <a:latin typeface="Bierstadt" panose="020B0004020202020204" pitchFamily="34" charset="0"/>
              </a:rPr>
              <a:t>Water</a:t>
            </a:r>
            <a:r>
              <a:rPr lang="pt-PT" dirty="0">
                <a:solidFill>
                  <a:schemeClr val="bg1"/>
                </a:solidFill>
                <a:latin typeface="Bierstadt" panose="020B0004020202020204" pitchFamily="34" charset="0"/>
              </a:rPr>
              <a:t> </a:t>
            </a:r>
            <a:r>
              <a:rPr lang="pt-PT" b="0" dirty="0">
                <a:solidFill>
                  <a:schemeClr val="bg1"/>
                </a:solidFill>
                <a:effectLst/>
                <a:latin typeface="Bierstadt" panose="020B0004020202020204" pitchFamily="34" charset="0"/>
              </a:rPr>
              <a:t> </a:t>
            </a:r>
          </a:p>
        </p:txBody>
      </p:sp>
      <p:sp>
        <p:nvSpPr>
          <p:cNvPr id="26" name="Shape 2">
            <a:extLst>
              <a:ext uri="{FF2B5EF4-FFF2-40B4-BE49-F238E27FC236}">
                <a16:creationId xmlns:a16="http://schemas.microsoft.com/office/drawing/2014/main" id="{56D2C831-6AE7-5AE2-A165-DDA50D185E23}"/>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30" name="Rectangle: Rounded Corners 29">
            <a:extLst>
              <a:ext uri="{FF2B5EF4-FFF2-40B4-BE49-F238E27FC236}">
                <a16:creationId xmlns:a16="http://schemas.microsoft.com/office/drawing/2014/main" id="{CA3501BA-CB5C-AA52-8009-5EDE058CDD70}"/>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Average Image Per Class &amp; Pixel Statistics</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a:solidFill>
                  <a:srgbClr val="FFFFFF"/>
                </a:solidFill>
              </a:rPr>
              <a:t>DA</a:t>
            </a:r>
            <a:endParaRPr lang="en-US" sz="1000" dirty="0"/>
          </a:p>
        </p:txBody>
      </p:sp>
      <p:sp>
        <p:nvSpPr>
          <p:cNvPr id="6" name="Text 4"/>
          <p:cNvSpPr/>
          <p:nvPr/>
        </p:nvSpPr>
        <p:spPr>
          <a:xfrm>
            <a:off x="365760" y="749808"/>
            <a:ext cx="841248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Average image per class — blurriness reveals intra-class variance </a:t>
            </a:r>
            <a:r>
              <a:rPr lang="en-US" sz="1200" dirty="0">
                <a:solidFill>
                  <a:srgbClr val="3D5A73"/>
                </a:solidFill>
                <a:latin typeface="Calibri" pitchFamily="34" charset="0"/>
                <a:ea typeface="Calibri" pitchFamily="34" charset="-122"/>
                <a:cs typeface="Calibri" pitchFamily="34" charset="-120"/>
              </a:rPr>
              <a:t>(e.g.: we can expect that Fire will be more correctly identified)</a:t>
            </a:r>
            <a:endParaRPr lang="en-US" sz="1200" dirty="0"/>
          </a:p>
        </p:txBody>
      </p:sp>
      <p:pic>
        <p:nvPicPr>
          <p:cNvPr id="7" name="Image 0" descr="/mnt/user-data/uploads/plot_average_image_per_class.png"/>
          <p:cNvPicPr>
            <a:picLocks noChangeAspect="1"/>
          </p:cNvPicPr>
          <p:nvPr/>
        </p:nvPicPr>
        <p:blipFill>
          <a:blip r:embed="rId3"/>
          <a:stretch>
            <a:fillRect/>
          </a:stretch>
        </p:blipFill>
        <p:spPr>
          <a:xfrm>
            <a:off x="274320" y="1005840"/>
            <a:ext cx="8595360" cy="1417320"/>
          </a:xfrm>
          <a:prstGeom prst="rect">
            <a:avLst/>
          </a:prstGeom>
        </p:spPr>
      </p:pic>
      <p:sp>
        <p:nvSpPr>
          <p:cNvPr id="8" name="Text 5"/>
          <p:cNvSpPr/>
          <p:nvPr/>
        </p:nvSpPr>
        <p:spPr>
          <a:xfrm>
            <a:off x="365760" y="25786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Per-channel mean &amp; standard deviation (train split, no leakage)</a:t>
            </a:r>
            <a:endParaRPr lang="en-US" sz="1200" dirty="0"/>
          </a:p>
        </p:txBody>
      </p:sp>
      <p:pic>
        <p:nvPicPr>
          <p:cNvPr id="9" name="Image 1" descr="/mnt/user-data/uploads/plot_pixel_statistics.png"/>
          <p:cNvPicPr>
            <a:picLocks noChangeAspect="1"/>
          </p:cNvPicPr>
          <p:nvPr/>
        </p:nvPicPr>
        <p:blipFill>
          <a:blip r:embed="rId4"/>
          <a:stretch>
            <a:fillRect/>
          </a:stretch>
        </p:blipFill>
        <p:spPr>
          <a:xfrm>
            <a:off x="274320" y="2834640"/>
            <a:ext cx="4572000" cy="2103120"/>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2869798500"/>
              </p:ext>
            </p:extLst>
          </p:nvPr>
        </p:nvGraphicFramePr>
        <p:xfrm>
          <a:off x="5074920" y="2834640"/>
          <a:ext cx="3749040" cy="1316736"/>
        </p:xfrm>
        <a:graphic>
          <a:graphicData uri="http://schemas.openxmlformats.org/drawingml/2006/table">
            <a:tbl>
              <a:tblPr/>
              <a:tblGrid>
                <a:gridCol w="457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2918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Ch</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Std</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ImageNet 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0.257</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0.485</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0.445</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0.246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0.456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0.414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0.266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0.406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6"/>
          <p:cNvSpPr/>
          <p:nvPr/>
        </p:nvSpPr>
        <p:spPr>
          <a:xfrm>
            <a:off x="5074920" y="4315968"/>
            <a:ext cx="3749040" cy="621792"/>
          </a:xfrm>
          <a:prstGeom prst="rect">
            <a:avLst/>
          </a:prstGeom>
          <a:solidFill>
            <a:srgbClr val="E8F8F5"/>
          </a:solidFill>
          <a:ln w="7620">
            <a:solidFill>
              <a:srgbClr val="00A896"/>
            </a:solidFill>
            <a:prstDash val="solid"/>
          </a:ln>
        </p:spPr>
        <p:txBody>
          <a:bodyPr/>
          <a:lstStyle/>
          <a:p>
            <a:endParaRPr lang="pt-PT"/>
          </a:p>
        </p:txBody>
      </p:sp>
      <p:sp>
        <p:nvSpPr>
          <p:cNvPr id="12" name="Text 7"/>
          <p:cNvSpPr/>
          <p:nvPr/>
        </p:nvSpPr>
        <p:spPr>
          <a:xfrm>
            <a:off x="5136132" y="4335843"/>
            <a:ext cx="3749040" cy="576072"/>
          </a:xfrm>
          <a:prstGeom prst="rect">
            <a:avLst/>
          </a:prstGeom>
          <a:noFill/>
          <a:ln/>
        </p:spPr>
        <p:txBody>
          <a:bodyPr wrap="square" lIns="0" tIns="0" rIns="0" bIns="0" rtlCol="0" anchor="ctr"/>
          <a:lstStyle/>
          <a:p>
            <a:pPr marL="0" indent="0">
              <a:buNone/>
            </a:pPr>
            <a:r>
              <a:rPr lang="en-US" sz="1000" dirty="0">
                <a:solidFill>
                  <a:srgbClr val="1A2B3C"/>
                </a:solidFill>
                <a:latin typeface="Calibri" pitchFamily="34" charset="0"/>
                <a:ea typeface="Calibri" pitchFamily="34" charset="-122"/>
                <a:cs typeface="Calibri" pitchFamily="34" charset="-120"/>
              </a:rPr>
              <a:t>&lt; 0.05 difference on all channels between our data set and ImageNet </a:t>
            </a:r>
          </a:p>
          <a:p>
            <a:r>
              <a:rPr lang="en-US" sz="1000" dirty="0">
                <a:solidFill>
                  <a:srgbClr val="1A2B3C"/>
                </a:solidFill>
                <a:latin typeface="Calibri" pitchFamily="34" charset="0"/>
                <a:ea typeface="Calibri" pitchFamily="34" charset="-122"/>
                <a:cs typeface="Calibri" pitchFamily="34" charset="-120"/>
              </a:rPr>
              <a:t>   - Stats computed from train split only: no val leakage.</a:t>
            </a:r>
          </a:p>
          <a:p>
            <a:r>
              <a:rPr lang="en-US" sz="1000" dirty="0">
                <a:solidFill>
                  <a:srgbClr val="1A2B3C"/>
                </a:solidFill>
                <a:latin typeface="Calibri" pitchFamily="34" charset="0"/>
                <a:ea typeface="Calibri" pitchFamily="34" charset="-122"/>
                <a:cs typeface="Calibri" pitchFamily="34" charset="-120"/>
              </a:rPr>
              <a:t>   - ImageNet </a:t>
            </a:r>
            <a:r>
              <a:rPr lang="en-US" sz="1000" dirty="0" err="1">
                <a:solidFill>
                  <a:srgbClr val="1A2B3C"/>
                </a:solidFill>
                <a:latin typeface="Calibri" pitchFamily="34" charset="0"/>
                <a:ea typeface="Calibri" pitchFamily="34" charset="-122"/>
                <a:cs typeface="Calibri" pitchFamily="34" charset="-120"/>
              </a:rPr>
              <a:t>normalisation</a:t>
            </a:r>
            <a:r>
              <a:rPr lang="en-US" sz="1000" dirty="0">
                <a:solidFill>
                  <a:srgbClr val="1A2B3C"/>
                </a:solidFill>
                <a:latin typeface="Calibri" pitchFamily="34" charset="0"/>
                <a:ea typeface="Calibri" pitchFamily="34" charset="-122"/>
                <a:cs typeface="Calibri" pitchFamily="34" charset="-120"/>
              </a:rPr>
              <a:t> is acceptable, and possibly useful for task 3. </a:t>
            </a:r>
            <a:endParaRPr lang="en-US" sz="1000" dirty="0"/>
          </a:p>
        </p:txBody>
      </p:sp>
      <p:sp>
        <p:nvSpPr>
          <p:cNvPr id="15" name="TextBox 14">
            <a:extLst>
              <a:ext uri="{FF2B5EF4-FFF2-40B4-BE49-F238E27FC236}">
                <a16:creationId xmlns:a16="http://schemas.microsoft.com/office/drawing/2014/main" id="{1F16FE53-248E-A4A6-82B9-ACD4A4EDEF7F}"/>
              </a:ext>
            </a:extLst>
          </p:cNvPr>
          <p:cNvSpPr txBox="1"/>
          <p:nvPr/>
        </p:nvSpPr>
        <p:spPr>
          <a:xfrm>
            <a:off x="306627" y="1033272"/>
            <a:ext cx="8517334" cy="262380"/>
          </a:xfrm>
          <a:prstGeom prst="rect">
            <a:avLst/>
          </a:prstGeom>
          <a:solidFill>
            <a:schemeClr val="tx1"/>
          </a:solidFill>
        </p:spPr>
        <p:txBody>
          <a:bodyPr wrap="square">
            <a:spAutoFit/>
          </a:bodyPr>
          <a:lstStyle/>
          <a:p>
            <a:pPr>
              <a:lnSpc>
                <a:spcPts val="1425"/>
              </a:lnSpc>
            </a:pPr>
            <a:r>
              <a:rPr lang="pt-PT" sz="1100" dirty="0">
                <a:solidFill>
                  <a:schemeClr val="bg1"/>
                </a:solidFill>
                <a:latin typeface="Berlin Sans FB" panose="020E0602020502020306" pitchFamily="34" charset="0"/>
              </a:rPr>
              <a:t>🐛 Bug	 ⚔️ </a:t>
            </a:r>
            <a:r>
              <a:rPr lang="pt-PT" sz="1100" dirty="0" err="1">
                <a:solidFill>
                  <a:schemeClr val="bg1"/>
                </a:solidFill>
                <a:latin typeface="Berlin Sans FB" panose="020E0602020502020306" pitchFamily="34" charset="0"/>
              </a:rPr>
              <a:t>Fighting</a:t>
            </a:r>
            <a:r>
              <a:rPr lang="pt-PT" sz="1100" dirty="0">
                <a:solidFill>
                  <a:schemeClr val="bg1"/>
                </a:solidFill>
                <a:latin typeface="Berlin Sans FB" panose="020E0602020502020306" pitchFamily="34" charset="0"/>
              </a:rPr>
              <a:t>	     </a:t>
            </a:r>
            <a:r>
              <a:rPr lang="pt-PT" sz="1100" b="0" dirty="0">
                <a:solidFill>
                  <a:schemeClr val="bg1"/>
                </a:solidFill>
                <a:effectLst/>
                <a:latin typeface="Berlin Sans FB" panose="020E0602020502020306" pitchFamily="34" charset="0"/>
              </a:rPr>
              <a:t>🔥 </a:t>
            </a:r>
            <a:r>
              <a:rPr lang="pt-PT" sz="1100" b="0" dirty="0" err="1">
                <a:solidFill>
                  <a:schemeClr val="bg1"/>
                </a:solidFill>
                <a:effectLst/>
                <a:latin typeface="Berlin Sans FB" panose="020E0602020502020306" pitchFamily="34" charset="0"/>
              </a:rPr>
              <a:t>Fire</a:t>
            </a:r>
            <a:r>
              <a:rPr lang="pt-PT" sz="1100" b="0" dirty="0">
                <a:solidFill>
                  <a:schemeClr val="bg1"/>
                </a:solidFill>
                <a:effectLst/>
                <a:latin typeface="Berlin Sans FB" panose="020E0602020502020306" pitchFamily="34" charset="0"/>
              </a:rPr>
              <a:t>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Grass</a:t>
            </a:r>
            <a:r>
              <a:rPr lang="pt-PT" sz="1100" dirty="0">
                <a:solidFill>
                  <a:schemeClr val="bg1"/>
                </a:solidFill>
                <a:latin typeface="Berlin Sans FB" panose="020E0602020502020306" pitchFamily="34" charset="0"/>
              </a:rPr>
              <a:t>            🌍 </a:t>
            </a:r>
            <a:r>
              <a:rPr lang="pt-PT" sz="1100" dirty="0" err="1">
                <a:solidFill>
                  <a:schemeClr val="bg1"/>
                </a:solidFill>
                <a:latin typeface="Berlin Sans FB" panose="020E0602020502020306" pitchFamily="34" charset="0"/>
              </a:rPr>
              <a:t>Ground</a:t>
            </a:r>
            <a:r>
              <a:rPr lang="pt-PT" sz="1100" dirty="0">
                <a:solidFill>
                  <a:schemeClr val="bg1"/>
                </a:solidFill>
                <a:latin typeface="Berlin Sans FB" panose="020E0602020502020306" pitchFamily="34" charset="0"/>
              </a:rPr>
              <a:t>        </a:t>
            </a:r>
            <a:r>
              <a:rPr lang="pt-PT" sz="1100" b="0" dirty="0">
                <a:solidFill>
                  <a:schemeClr val="bg1"/>
                </a:solidFill>
                <a:effectLst/>
                <a:latin typeface="Berlin Sans FB" panose="020E0602020502020306" pitchFamily="34" charset="0"/>
              </a:rPr>
              <a:t>😐 Normal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Poison</a:t>
            </a:r>
            <a:r>
              <a:rPr lang="pt-PT" sz="1100" dirty="0">
                <a:solidFill>
                  <a:schemeClr val="bg1"/>
                </a:solidFill>
                <a:latin typeface="Berlin Sans FB" panose="020E0602020502020306" pitchFamily="34" charset="0"/>
              </a:rPr>
              <a:t>           🗿 </a:t>
            </a:r>
            <a:r>
              <a:rPr lang="pt-PT" sz="1100" b="0" dirty="0">
                <a:solidFill>
                  <a:schemeClr val="bg1"/>
                </a:solidFill>
                <a:effectLst/>
                <a:latin typeface="Berlin Sans FB" panose="020E0602020502020306" pitchFamily="34" charset="0"/>
              </a:rPr>
              <a:t>Rock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Water</a:t>
            </a:r>
            <a:endParaRPr lang="pt-PT" sz="1100" b="0" dirty="0">
              <a:solidFill>
                <a:schemeClr val="bg1"/>
              </a:solidFill>
              <a:effectLst/>
              <a:latin typeface="Berlin Sans FB" panose="020E0602020502020306" pitchFamily="34" charset="0"/>
            </a:endParaRPr>
          </a:p>
        </p:txBody>
      </p:sp>
      <p:sp>
        <p:nvSpPr>
          <p:cNvPr id="21" name="Shape 2">
            <a:extLst>
              <a:ext uri="{FF2B5EF4-FFF2-40B4-BE49-F238E27FC236}">
                <a16:creationId xmlns:a16="http://schemas.microsoft.com/office/drawing/2014/main" id="{429B8A0B-72F7-44EC-A58B-A63B2167CC25}"/>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3" name="Rectangle: Rounded Corners 22">
            <a:extLst>
              <a:ext uri="{FF2B5EF4-FFF2-40B4-BE49-F238E27FC236}">
                <a16:creationId xmlns:a16="http://schemas.microsoft.com/office/drawing/2014/main" id="{C0A4E6B6-E510-51B8-CC9A-C1220A590D06}"/>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Pixel Intensity Distribution</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7" name="Shape 4"/>
          <p:cNvSpPr/>
          <p:nvPr/>
        </p:nvSpPr>
        <p:spPr>
          <a:xfrm>
            <a:off x="5745897" y="703398"/>
            <a:ext cx="3154680" cy="12344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8" name="Shape 5"/>
          <p:cNvSpPr/>
          <p:nvPr/>
        </p:nvSpPr>
        <p:spPr>
          <a:xfrm>
            <a:off x="5745897" y="703398"/>
            <a:ext cx="73152" cy="1234440"/>
          </a:xfrm>
          <a:prstGeom prst="rect">
            <a:avLst/>
          </a:prstGeom>
          <a:solidFill>
            <a:srgbClr val="00A896"/>
          </a:solidFill>
          <a:ln w="12700">
            <a:solidFill>
              <a:srgbClr val="00A896"/>
            </a:solidFill>
            <a:prstDash val="solid"/>
          </a:ln>
        </p:spPr>
        <p:txBody>
          <a:bodyPr/>
          <a:lstStyle/>
          <a:p>
            <a:endParaRPr lang="pt-PT"/>
          </a:p>
        </p:txBody>
      </p:sp>
      <p:sp>
        <p:nvSpPr>
          <p:cNvPr id="9" name="Text 6"/>
          <p:cNvSpPr/>
          <p:nvPr/>
        </p:nvSpPr>
        <p:spPr>
          <a:xfrm>
            <a:off x="5883057" y="758262"/>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Bimodal distribution</a:t>
            </a:r>
            <a:endParaRPr lang="en-US" sz="1200" dirty="0"/>
          </a:p>
        </p:txBody>
      </p:sp>
      <p:sp>
        <p:nvSpPr>
          <p:cNvPr id="10" name="Text 7"/>
          <p:cNvSpPr/>
          <p:nvPr/>
        </p:nvSpPr>
        <p:spPr>
          <a:xfrm>
            <a:off x="5883057" y="1105734"/>
            <a:ext cx="2834640" cy="768096"/>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Two peaks: dark backgrounds (~50) and bright sprites (~200). Pokémon dataset is brighter overall than ImageNet.</a:t>
            </a:r>
            <a:endParaRPr lang="en-US" sz="1200" dirty="0"/>
          </a:p>
        </p:txBody>
      </p:sp>
      <p:sp>
        <p:nvSpPr>
          <p:cNvPr id="11" name="Shape 8"/>
          <p:cNvSpPr/>
          <p:nvPr/>
        </p:nvSpPr>
        <p:spPr>
          <a:xfrm>
            <a:off x="5745897" y="2093286"/>
            <a:ext cx="3154680" cy="2830927"/>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9"/>
          <p:cNvSpPr/>
          <p:nvPr/>
        </p:nvSpPr>
        <p:spPr>
          <a:xfrm>
            <a:off x="5745897" y="2093286"/>
            <a:ext cx="73152" cy="2830927"/>
          </a:xfrm>
          <a:prstGeom prst="rect">
            <a:avLst/>
          </a:prstGeom>
          <a:solidFill>
            <a:srgbClr val="61B2E9"/>
          </a:solidFill>
          <a:ln w="12700">
            <a:noFill/>
            <a:prstDash val="solid"/>
          </a:ln>
        </p:spPr>
        <p:txBody>
          <a:bodyPr/>
          <a:lstStyle/>
          <a:p>
            <a:endParaRPr lang="pt-PT"/>
          </a:p>
        </p:txBody>
      </p:sp>
      <p:sp>
        <p:nvSpPr>
          <p:cNvPr id="13" name="Text 10"/>
          <p:cNvSpPr/>
          <p:nvPr/>
        </p:nvSpPr>
        <p:spPr>
          <a:xfrm>
            <a:off x="5883057" y="2148150"/>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 channel prominent at high values</a:t>
            </a:r>
            <a:endParaRPr lang="en-US" sz="1200" dirty="0"/>
          </a:p>
        </p:txBody>
      </p:sp>
      <p:sp>
        <p:nvSpPr>
          <p:cNvPr id="14" name="Text 11"/>
          <p:cNvSpPr/>
          <p:nvPr/>
        </p:nvSpPr>
        <p:spPr>
          <a:xfrm>
            <a:off x="5883057" y="2308170"/>
            <a:ext cx="2834640" cy="768096"/>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Blue channel spikes above R and G near value 200  — confirms blue bias (Water...)</a:t>
            </a:r>
            <a:endParaRPr lang="en-US" sz="1200" dirty="0"/>
          </a:p>
        </p:txBody>
      </p:sp>
      <p:pic>
        <p:nvPicPr>
          <p:cNvPr id="22" name="Picture 21">
            <a:extLst>
              <a:ext uri="{FF2B5EF4-FFF2-40B4-BE49-F238E27FC236}">
                <a16:creationId xmlns:a16="http://schemas.microsoft.com/office/drawing/2014/main" id="{8B965BCC-D636-2C74-C6C9-87F68CA6EDA5}"/>
              </a:ext>
            </a:extLst>
          </p:cNvPr>
          <p:cNvPicPr>
            <a:picLocks noChangeAspect="1"/>
          </p:cNvPicPr>
          <p:nvPr/>
        </p:nvPicPr>
        <p:blipFill>
          <a:blip r:embed="rId3"/>
          <a:stretch>
            <a:fillRect/>
          </a:stretch>
        </p:blipFill>
        <p:spPr>
          <a:xfrm>
            <a:off x="266073" y="1307592"/>
            <a:ext cx="5357488" cy="2642049"/>
          </a:xfrm>
          <a:prstGeom prst="rect">
            <a:avLst/>
          </a:prstGeom>
        </p:spPr>
      </p:pic>
      <p:pic>
        <p:nvPicPr>
          <p:cNvPr id="24" name="Picture 23">
            <a:extLst>
              <a:ext uri="{FF2B5EF4-FFF2-40B4-BE49-F238E27FC236}">
                <a16:creationId xmlns:a16="http://schemas.microsoft.com/office/drawing/2014/main" id="{5AB13EB0-BECB-44AE-DE79-7DBAA15D8838}"/>
              </a:ext>
            </a:extLst>
          </p:cNvPr>
          <p:cNvPicPr>
            <a:picLocks noChangeAspect="1"/>
          </p:cNvPicPr>
          <p:nvPr/>
        </p:nvPicPr>
        <p:blipFill>
          <a:blip r:embed="rId4"/>
          <a:stretch>
            <a:fillRect/>
          </a:stretch>
        </p:blipFill>
        <p:spPr>
          <a:xfrm>
            <a:off x="5964577" y="2968738"/>
            <a:ext cx="2893314" cy="1798381"/>
          </a:xfrm>
          <a:prstGeom prst="rect">
            <a:avLst/>
          </a:prstGeom>
          <a:effectLst/>
        </p:spPr>
      </p:pic>
      <p:sp>
        <p:nvSpPr>
          <p:cNvPr id="25" name="TextBox 24">
            <a:extLst>
              <a:ext uri="{FF2B5EF4-FFF2-40B4-BE49-F238E27FC236}">
                <a16:creationId xmlns:a16="http://schemas.microsoft.com/office/drawing/2014/main" id="{E43B9399-FAD0-58DC-DB83-B20432D6A3A6}"/>
              </a:ext>
            </a:extLst>
          </p:cNvPr>
          <p:cNvSpPr txBox="1"/>
          <p:nvPr/>
        </p:nvSpPr>
        <p:spPr>
          <a:xfrm>
            <a:off x="5782474" y="3054265"/>
            <a:ext cx="2173165" cy="1528688"/>
          </a:xfrm>
          <a:prstGeom prst="rect">
            <a:avLst/>
          </a:prstGeom>
          <a:noFill/>
        </p:spPr>
        <p:txBody>
          <a:bodyPr wrap="square">
            <a:spAutoFit/>
          </a:bodyPr>
          <a:lstStyle/>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buNone/>
            </a:pPr>
            <a:r>
              <a:rPr lang="pt-PT" sz="700" b="0" dirty="0">
                <a:solidFill>
                  <a:schemeClr val="bg1"/>
                </a:solidFill>
                <a:effectLst/>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p:txBody>
      </p:sp>
      <p:sp>
        <p:nvSpPr>
          <p:cNvPr id="15" name="Shape 2">
            <a:extLst>
              <a:ext uri="{FF2B5EF4-FFF2-40B4-BE49-F238E27FC236}">
                <a16:creationId xmlns:a16="http://schemas.microsoft.com/office/drawing/2014/main" id="{9A605828-3D8A-F68E-4712-67EC42EC219D}"/>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17" name="Rectangle: Rounded Corners 16">
            <a:extLst>
              <a:ext uri="{FF2B5EF4-FFF2-40B4-BE49-F238E27FC236}">
                <a16:creationId xmlns:a16="http://schemas.microsoft.com/office/drawing/2014/main" id="{270E14DA-4288-3076-76BC-692B4E3F7B3D}"/>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t-SNE: Can Flat Pixels Separate the 9 Classes?</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pic>
        <p:nvPicPr>
          <p:cNvPr id="6" name="Image 0" descr="/mnt/user-data/uploads/plot_pca_tsne.png"/>
          <p:cNvPicPr>
            <a:picLocks noChangeAspect="1"/>
          </p:cNvPicPr>
          <p:nvPr/>
        </p:nvPicPr>
        <p:blipFill>
          <a:blip r:embed="rId3"/>
          <a:stretch>
            <a:fillRect/>
          </a:stretch>
        </p:blipFill>
        <p:spPr>
          <a:xfrm>
            <a:off x="274320" y="749808"/>
            <a:ext cx="5029200" cy="4160520"/>
          </a:xfrm>
          <a:prstGeom prst="rect">
            <a:avLst/>
          </a:prstGeom>
        </p:spPr>
      </p:pic>
      <p:sp>
        <p:nvSpPr>
          <p:cNvPr id="7" name="Shape 4"/>
          <p:cNvSpPr/>
          <p:nvPr/>
        </p:nvSpPr>
        <p:spPr>
          <a:xfrm>
            <a:off x="5532120" y="1293876"/>
            <a:ext cx="3337560" cy="1444752"/>
          </a:xfrm>
          <a:prstGeom prst="rect">
            <a:avLst/>
          </a:prstGeom>
          <a:solidFill>
            <a:srgbClr val="FEE8E7"/>
          </a:solidFill>
          <a:ln w="7620">
            <a:solidFill>
              <a:srgbClr val="E74C3C"/>
            </a:solidFill>
            <a:prstDash val="solid"/>
          </a:ln>
        </p:spPr>
        <p:txBody>
          <a:bodyPr/>
          <a:lstStyle/>
          <a:p>
            <a:endParaRPr lang="pt-PT"/>
          </a:p>
        </p:txBody>
      </p:sp>
      <p:sp>
        <p:nvSpPr>
          <p:cNvPr id="8" name="Shape 5"/>
          <p:cNvSpPr/>
          <p:nvPr/>
        </p:nvSpPr>
        <p:spPr>
          <a:xfrm>
            <a:off x="5532120" y="1293876"/>
            <a:ext cx="73152" cy="1444752"/>
          </a:xfrm>
          <a:prstGeom prst="rect">
            <a:avLst/>
          </a:prstGeom>
          <a:solidFill>
            <a:srgbClr val="E74C3C"/>
          </a:solidFill>
          <a:ln w="12700">
            <a:solidFill>
              <a:srgbClr val="E74C3C"/>
            </a:solidFill>
            <a:prstDash val="solid"/>
          </a:ln>
        </p:spPr>
        <p:txBody>
          <a:bodyPr/>
          <a:lstStyle/>
          <a:p>
            <a:endParaRPr lang="pt-PT"/>
          </a:p>
        </p:txBody>
      </p:sp>
      <p:sp>
        <p:nvSpPr>
          <p:cNvPr id="9" name="Text 6"/>
          <p:cNvSpPr/>
          <p:nvPr/>
        </p:nvSpPr>
        <p:spPr>
          <a:xfrm>
            <a:off x="5669280" y="1348740"/>
            <a:ext cx="3108960" cy="347472"/>
          </a:xfrm>
          <a:prstGeom prst="rect">
            <a:avLst/>
          </a:prstGeom>
          <a:noFill/>
          <a:ln/>
        </p:spPr>
        <p:txBody>
          <a:bodyPr wrap="square" lIns="0" tIns="0" rIns="0" bIns="0" rtlCol="0" anchor="ctr"/>
          <a:lstStyle/>
          <a:p>
            <a:pPr marL="0" indent="0">
              <a:buNone/>
            </a:pPr>
            <a:r>
              <a:rPr lang="en-US" sz="1300" b="1" dirty="0">
                <a:solidFill>
                  <a:srgbClr val="E74C3C"/>
                </a:solidFill>
                <a:latin typeface="Trebuchet MS" pitchFamily="34" charset="0"/>
                <a:ea typeface="Trebuchet MS" pitchFamily="34" charset="-122"/>
                <a:cs typeface="Trebuchet MS" pitchFamily="34" charset="-120"/>
              </a:rPr>
              <a:t>No clean clusters</a:t>
            </a:r>
            <a:endParaRPr lang="en-US" sz="1300" dirty="0"/>
          </a:p>
        </p:txBody>
      </p:sp>
      <p:sp>
        <p:nvSpPr>
          <p:cNvPr id="10" name="Text 7"/>
          <p:cNvSpPr/>
          <p:nvPr/>
        </p:nvSpPr>
        <p:spPr>
          <a:xfrm>
            <a:off x="5669280" y="1714500"/>
            <a:ext cx="3108960" cy="950976"/>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All 9 types heavily overlap in flat pixel space. </a:t>
            </a:r>
          </a:p>
          <a:p>
            <a:pPr marL="0" indent="0">
              <a:buNone/>
            </a:pPr>
            <a:r>
              <a:rPr lang="en-US" sz="1200" dirty="0">
                <a:solidFill>
                  <a:srgbClr val="1A2B3C"/>
                </a:solidFill>
                <a:latin typeface="Calibri" pitchFamily="34" charset="0"/>
                <a:ea typeface="Calibri" pitchFamily="34" charset="-122"/>
                <a:cs typeface="Calibri" pitchFamily="34" charset="-120"/>
              </a:rPr>
              <a:t>Even with PCA-50 preprocessing, classes are not linearly separable.</a:t>
            </a:r>
            <a:endParaRPr lang="en-US" sz="1200" dirty="0"/>
          </a:p>
        </p:txBody>
      </p:sp>
      <p:sp>
        <p:nvSpPr>
          <p:cNvPr id="15" name="Shape 12"/>
          <p:cNvSpPr/>
          <p:nvPr/>
        </p:nvSpPr>
        <p:spPr>
          <a:xfrm>
            <a:off x="5532120" y="3063240"/>
            <a:ext cx="3337560" cy="1115568"/>
          </a:xfrm>
          <a:prstGeom prst="rect">
            <a:avLst/>
          </a:prstGeom>
          <a:solidFill>
            <a:srgbClr val="FFF3E0"/>
          </a:solidFill>
          <a:ln w="7620">
            <a:solidFill>
              <a:srgbClr val="E97C35"/>
            </a:solidFill>
            <a:prstDash val="solid"/>
          </a:ln>
        </p:spPr>
        <p:txBody>
          <a:bodyPr/>
          <a:lstStyle/>
          <a:p>
            <a:endParaRPr lang="pt-PT"/>
          </a:p>
        </p:txBody>
      </p:sp>
      <p:sp>
        <p:nvSpPr>
          <p:cNvPr id="16" name="Shape 13"/>
          <p:cNvSpPr/>
          <p:nvPr/>
        </p:nvSpPr>
        <p:spPr>
          <a:xfrm>
            <a:off x="5532120" y="3063240"/>
            <a:ext cx="73152" cy="1115568"/>
          </a:xfrm>
          <a:prstGeom prst="rect">
            <a:avLst/>
          </a:prstGeom>
          <a:solidFill>
            <a:srgbClr val="E97C35"/>
          </a:solidFill>
          <a:ln w="12700">
            <a:solidFill>
              <a:srgbClr val="E97C35"/>
            </a:solidFill>
            <a:prstDash val="solid"/>
          </a:ln>
        </p:spPr>
        <p:txBody>
          <a:bodyPr/>
          <a:lstStyle/>
          <a:p>
            <a:endParaRPr lang="pt-PT"/>
          </a:p>
        </p:txBody>
      </p:sp>
      <p:sp>
        <p:nvSpPr>
          <p:cNvPr id="17" name="Text 14"/>
          <p:cNvSpPr/>
          <p:nvPr/>
        </p:nvSpPr>
        <p:spPr>
          <a:xfrm>
            <a:off x="5669280" y="3118104"/>
            <a:ext cx="3108960" cy="320040"/>
          </a:xfrm>
          <a:prstGeom prst="rect">
            <a:avLst/>
          </a:prstGeom>
          <a:noFill/>
          <a:ln/>
        </p:spPr>
        <p:txBody>
          <a:bodyPr wrap="square" lIns="0" tIns="0" rIns="0" bIns="0" rtlCol="0" anchor="ctr"/>
          <a:lstStyle/>
          <a:p>
            <a:pPr marL="0" indent="0">
              <a:buNone/>
            </a:pPr>
            <a:r>
              <a:rPr lang="en-US" sz="1200" b="1" dirty="0">
                <a:solidFill>
                  <a:srgbClr val="E97C35"/>
                </a:solidFill>
                <a:latin typeface="Trebuchet MS" pitchFamily="34" charset="0"/>
                <a:ea typeface="Trebuchet MS" pitchFamily="34" charset="-122"/>
                <a:cs typeface="Trebuchet MS" pitchFamily="34" charset="-120"/>
              </a:rPr>
              <a:t>Direct motivation for CNN</a:t>
            </a:r>
            <a:endParaRPr lang="en-US" sz="1200" dirty="0"/>
          </a:p>
        </p:txBody>
      </p:sp>
      <p:sp>
        <p:nvSpPr>
          <p:cNvPr id="18" name="Text 15"/>
          <p:cNvSpPr/>
          <p:nvPr/>
        </p:nvSpPr>
        <p:spPr>
          <a:xfrm>
            <a:off x="5669280" y="3465576"/>
            <a:ext cx="3108960" cy="667512"/>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This scatter is exactly why MLP hits a ceiling. </a:t>
            </a:r>
          </a:p>
          <a:p>
            <a:pPr marL="0" indent="0">
              <a:buNone/>
            </a:pPr>
            <a:r>
              <a:rPr lang="en-US" sz="1200" dirty="0">
                <a:solidFill>
                  <a:srgbClr val="1A2B3C"/>
                </a:solidFill>
                <a:latin typeface="Calibri" pitchFamily="34" charset="0"/>
                <a:ea typeface="Calibri" pitchFamily="34" charset="-122"/>
                <a:cs typeface="Calibri" pitchFamily="34" charset="-120"/>
              </a:rPr>
              <a:t>CNN adds spatial inductive bias — learns position</a:t>
            </a:r>
          </a:p>
          <a:p>
            <a:pPr marL="0" indent="0">
              <a:buNone/>
            </a:pPr>
            <a:r>
              <a:rPr lang="en-US" sz="1200" dirty="0">
                <a:solidFill>
                  <a:srgbClr val="1A2B3C"/>
                </a:solidFill>
                <a:latin typeface="Calibri" pitchFamily="34" charset="0"/>
                <a:ea typeface="Calibri" pitchFamily="34" charset="-122"/>
                <a:cs typeface="Calibri" pitchFamily="34" charset="-120"/>
              </a:rPr>
              <a:t>   » MLP physically cannot.</a:t>
            </a:r>
            <a:endParaRPr lang="en-US" sz="1200" dirty="0"/>
          </a:p>
        </p:txBody>
      </p:sp>
      <p:sp>
        <p:nvSpPr>
          <p:cNvPr id="12" name="Shape 2">
            <a:extLst>
              <a:ext uri="{FF2B5EF4-FFF2-40B4-BE49-F238E27FC236}">
                <a16:creationId xmlns:a16="http://schemas.microsoft.com/office/drawing/2014/main" id="{5FB775F5-5D33-0E04-0D1B-CBE7DB899FC6}"/>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14" name="Rectangle: Rounded Corners 13">
            <a:extLst>
              <a:ext uri="{FF2B5EF4-FFF2-40B4-BE49-F238E27FC236}">
                <a16:creationId xmlns:a16="http://schemas.microsoft.com/office/drawing/2014/main" id="{300FADC4-E5DA-A443-33C7-4B78BD9440DB}"/>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612FD-8A88-7E3C-003F-FB521ABB58B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6627774-99A8-6A50-9787-9CDDF0D644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221A4E8F-252D-CD53-1B4D-A230C6176559}"/>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B4A7E438-65B4-0936-3122-55D765DEE1A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1E2EE57-0C32-11FE-DE81-43C0472D8FDD}"/>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CD83C3C-BC12-BF36-A466-D10D569A24B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D44035D-AB1C-53F3-0CCD-B524807CC57E}"/>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Model Development</a:t>
            </a:r>
          </a:p>
        </p:txBody>
      </p:sp>
      <p:sp>
        <p:nvSpPr>
          <p:cNvPr id="14" name="Rectangle: Rounded Corners 13">
            <a:extLst>
              <a:ext uri="{FF2B5EF4-FFF2-40B4-BE49-F238E27FC236}">
                <a16:creationId xmlns:a16="http://schemas.microsoft.com/office/drawing/2014/main" id="{7C19D1E8-29E0-C8E9-DB41-05034A11BC46}"/>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1.2</a:t>
            </a:r>
            <a:endParaRPr lang="pt-PT" b="1" dirty="0"/>
          </a:p>
        </p:txBody>
      </p:sp>
      <p:cxnSp>
        <p:nvCxnSpPr>
          <p:cNvPr id="16" name="Straight Connector 15">
            <a:extLst>
              <a:ext uri="{FF2B5EF4-FFF2-40B4-BE49-F238E27FC236}">
                <a16:creationId xmlns:a16="http://schemas.microsoft.com/office/drawing/2014/main" id="{34917CEF-86E5-D829-841E-5B8C94B2AD23}"/>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3921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4" name="NumCircle"/>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extLst>
              <p:ext uri="{D42A27DB-BD31-4B8C-83A1-F6EECF244321}">
                <p14:modId xmlns:p14="http://schemas.microsoft.com/office/powerpoint/2010/main" val="503810305"/>
              </p:ext>
            </p:extLst>
          </p:nvPr>
        </p:nvGraphicFramePr>
        <p:xfrm>
          <a:off x="203982" y="1593556"/>
          <a:ext cx="8595360" cy="3396876"/>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808024">
                  <a:extLst>
                    <a:ext uri="{9D8B030D-6E8A-4147-A177-3AD203B41FA5}">
                      <a16:colId xmlns:a16="http://schemas.microsoft.com/office/drawing/2014/main" val="3394786443"/>
                    </a:ext>
                  </a:extLst>
                </a:gridCol>
                <a:gridCol w="1727151">
                  <a:extLst>
                    <a:ext uri="{9D8B030D-6E8A-4147-A177-3AD203B41FA5}">
                      <a16:colId xmlns:a16="http://schemas.microsoft.com/office/drawing/2014/main" val="2858452526"/>
                    </a:ext>
                  </a:extLst>
                </a:gridCol>
                <a:gridCol w="1807955">
                  <a:extLst>
                    <a:ext uri="{9D8B030D-6E8A-4147-A177-3AD203B41FA5}">
                      <a16:colId xmlns:a16="http://schemas.microsoft.com/office/drawing/2014/main" val="2404321311"/>
                    </a:ext>
                  </a:extLst>
                </a:gridCol>
                <a:gridCol w="1616049">
                  <a:extLst>
                    <a:ext uri="{9D8B030D-6E8A-4147-A177-3AD203B41FA5}">
                      <a16:colId xmlns:a16="http://schemas.microsoft.com/office/drawing/2014/main" val="4148939698"/>
                    </a:ext>
                  </a:extLst>
                </a:gridCol>
                <a:gridCol w="2484676">
                  <a:extLst>
                    <a:ext uri="{9D8B030D-6E8A-4147-A177-3AD203B41FA5}">
                      <a16:colId xmlns:a16="http://schemas.microsoft.com/office/drawing/2014/main" val="3476846084"/>
                    </a:ext>
                  </a:extLst>
                </a:gridCol>
              </a:tblGrid>
              <a:tr h="216000">
                <a:tc>
                  <a:txBody>
                    <a:bodyPr/>
                    <a:lstStyle/>
                    <a:p>
                      <a:pPr algn="l" fontAlgn="ctr">
                        <a:buNone/>
                      </a:pPr>
                      <a:r>
                        <a:rPr lang="pt-PT" sz="1050" b="1" u="none" strike="noStrike" dirty="0">
                          <a:effectLst/>
                          <a:latin typeface="Calibri" panose="020F0502020204030204" pitchFamily="34" charset="0"/>
                          <a:ea typeface="Calibri" panose="020F0502020204030204" pitchFamily="34" charset="0"/>
                          <a:cs typeface="Calibri" panose="020F0502020204030204" pitchFamily="34" charset="0"/>
                        </a:rPr>
                        <a:t>ID</a:t>
                      </a:r>
                      <a:endParaRPr lang="pt-PT" sz="105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Name</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Model</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Criterion</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loss</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function</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Optimizer</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Purpose</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vanilla</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MLP([128, 64], drop=0, no BN)</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CrossEntropy</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True bare baseline — no regularisation at all</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B</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mlp_base</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drop=0.4)</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class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weights</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First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Colab</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run result (~0.193)</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ls01_drop03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Softer targets + lighter dropout</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D</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wd1e4</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weights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label_smoothing</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=0.1</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 WD=1e-4</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L2 reg on top of C</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1571945709"/>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E</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sampler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label_smoothing=0.1 (sampler used instead of class-weights)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WeightedRandomSampler replaces class weights</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F</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narrow</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MLP([256, 128, 64, 32],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Fewer params per layer — less overfit?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G</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bottleneck</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1024,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Wide middle captures more combinations?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69149533"/>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M</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c_sampler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 + WeightedSampler</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label_smoothing=0.1 (sampler replaces class-weights)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Sampler on top of C — ~same as E (val_macro_f1=0.2361)</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N</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cosine_lr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 + CosineAnnealing</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 CosineAnnealingLR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Cosine schedule, no improvement (val_macro_f1=0.2251)</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R</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ls015_drop03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label_smoothing=0.15</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Best</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solo — LS=0.15 &gt; LS=0.10 (val_macro_f1=0.2396)</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203982" y="670810"/>
            <a:ext cx="8595360" cy="850692"/>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386862" y="722880"/>
            <a:ext cx="8228160" cy="70308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we started by exploring different base models with different characteristics (number and size of layers, batch normalization, dropout, regularization L2/weight decay, label smoothing, weighted sampler, etc. </a:t>
            </a:r>
          </a:p>
          <a:p>
            <a:pPr>
              <a:buNone/>
            </a:pPr>
            <a:r>
              <a:rPr lang="en-US" sz="1200" dirty="0">
                <a:solidFill>
                  <a:schemeClr val="bg1"/>
                </a:solidFill>
                <a:latin typeface="Calibri" pitchFamily="34" charset="0"/>
              </a:rPr>
              <a:t>Then, having a sense of the best models so we explored different small variations of them.</a:t>
            </a:r>
          </a:p>
          <a:p>
            <a:pPr>
              <a:buNone/>
            </a:pPr>
            <a:r>
              <a:rPr lang="en-US" sz="1200" dirty="0">
                <a:solidFill>
                  <a:schemeClr val="bg1"/>
                </a:solidFill>
                <a:latin typeface="Calibri" pitchFamily="34" charset="0"/>
              </a:rPr>
              <a:t>We explored over 20 different models. Here we present a small sample of them.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Having the best model we tried to apply different pipelines of pre-processing and data augmentation. </a:t>
            </a: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rtlCol="0" anchor="ctr"/>
          <a:lstStyle/>
          <a:p>
            <a:pPr algn="ctr">
              <a:buNone/>
            </a:pPr>
            <a:r>
              <a:rPr lang="en-US" sz="1300" b="1" dirty="0">
                <a:solidFill>
                  <a:srgbClr val="028090"/>
                </a:solidFill>
                <a:latin typeface="Calibri"/>
              </a:rPr>
              <a:t>Grayscale </a:t>
            </a:r>
          </a:p>
          <a:p>
            <a:pPr algn="ctr">
              <a:buNone/>
            </a:pPr>
            <a:r>
              <a:rPr lang="en-US" sz="1300" dirty="0">
                <a:solidFill>
                  <a:srgbClr val="1A2B3C"/>
                </a:solidFill>
                <a:latin typeface="Calibri"/>
              </a:rPr>
              <a:t>A 64x64 RGB image results in an initial vector of length = 12.288. If we convert to grayscale it would be a vector of 4096. Could a smaller vector preserve all the necessary important information for the model?  Turns out no. </a:t>
            </a:r>
            <a:r>
              <a:rPr lang="en-US" sz="1300" dirty="0" err="1">
                <a:solidFill>
                  <a:srgbClr val="1A2B3C"/>
                </a:solidFill>
                <a:latin typeface="Calibri"/>
              </a:rPr>
              <a:t>Pokemon</a:t>
            </a:r>
            <a:r>
              <a:rPr lang="en-US" sz="1300" dirty="0">
                <a:solidFill>
                  <a:srgbClr val="1A2B3C"/>
                </a:solidFill>
                <a:latin typeface="Calibri"/>
              </a:rPr>
              <a:t> classification is strongly color-dependent (Fire=orange, water=blue, poison=purple, grass=green)</a:t>
            </a:r>
          </a:p>
          <a:p>
            <a:pPr algn="ctr">
              <a:buNone/>
            </a:pPr>
            <a:endParaRPr lang="en-US" sz="1300" dirty="0">
              <a:solidFill>
                <a:srgbClr val="1A2B3C"/>
              </a:solidFill>
              <a:latin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chemeClr val="accent1">
              <a:lumMod val="20000"/>
              <a:lumOff val="80000"/>
            </a:schemeClr>
          </a:solidFill>
          <a:ln w="6350">
            <a:noFill/>
          </a:ln>
        </p:spPr>
        <p:txBody>
          <a:bodyPr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buNone/>
            </a:pPr>
            <a:r>
              <a:rPr lang="en-US" sz="1400" dirty="0">
                <a:solidFill>
                  <a:srgbClr val="1C3A52"/>
                </a:solidFill>
                <a:latin typeface="Calibri"/>
              </a:rPr>
              <a:t>Could we improve the quality of our training dataset and help the model to generalize better? </a:t>
            </a:r>
            <a:br>
              <a:rPr lang="en-US" sz="1400" dirty="0">
                <a:solidFill>
                  <a:srgbClr val="1C3A52"/>
                </a:solidFill>
                <a:latin typeface="Calibri"/>
              </a:rPr>
            </a:br>
            <a:r>
              <a:rPr lang="en-US" sz="1400" dirty="0">
                <a:solidFill>
                  <a:srgbClr val="1C3A52"/>
                </a:solidFill>
                <a:latin typeface="Calibri"/>
              </a:rPr>
              <a:t>This is a valid hypothesis for CNN, but as expected, not for MLP, because MLPs convert the image to a simple vector losing all spatial sense. </a:t>
            </a:r>
          </a:p>
        </p:txBody>
      </p:sp>
      <p:pic>
        <p:nvPicPr>
          <p:cNvPr id="9" name="Picture 8">
            <a:extLst>
              <a:ext uri="{FF2B5EF4-FFF2-40B4-BE49-F238E27FC236}">
                <a16:creationId xmlns:a16="http://schemas.microsoft.com/office/drawing/2014/main" id="{3939D8D5-762B-DF5A-34F0-EFCCA0391EBA}"/>
              </a:ext>
            </a:extLst>
          </p:cNvPr>
          <p:cNvPicPr>
            <a:picLocks noChangeAspect="1"/>
          </p:cNvPicPr>
          <p:nvPr/>
        </p:nvPicPr>
        <p:blipFill>
          <a:blip r:embed="rId2"/>
          <a:stretch>
            <a:fillRect/>
          </a:stretch>
        </p:blipFill>
        <p:spPr>
          <a:xfrm>
            <a:off x="4286209" y="3715434"/>
            <a:ext cx="4583470" cy="1063516"/>
          </a:xfrm>
          <a:prstGeom prst="rect">
            <a:avLst/>
          </a:prstGeom>
        </p:spPr>
      </p:pic>
      <p:pic>
        <p:nvPicPr>
          <p:cNvPr id="13" name="Picture 12">
            <a:extLst>
              <a:ext uri="{FF2B5EF4-FFF2-40B4-BE49-F238E27FC236}">
                <a16:creationId xmlns:a16="http://schemas.microsoft.com/office/drawing/2014/main" id="{C78762B1-040A-2553-A6DB-B04AE33FB775}"/>
              </a:ext>
            </a:extLst>
          </p:cNvPr>
          <p:cNvPicPr>
            <a:picLocks noChangeAspect="1"/>
          </p:cNvPicPr>
          <p:nvPr/>
        </p:nvPicPr>
        <p:blipFill>
          <a:blip r:embed="rId3"/>
          <a:stretch>
            <a:fillRect/>
          </a:stretch>
        </p:blipFill>
        <p:spPr>
          <a:xfrm>
            <a:off x="218467" y="3676965"/>
            <a:ext cx="3962835" cy="1410658"/>
          </a:xfrm>
          <a:prstGeom prst="rect">
            <a:avLst/>
          </a:prstGeom>
        </p:spPr>
      </p:pic>
      <p:sp>
        <p:nvSpPr>
          <p:cNvPr id="7" name="Badge">
            <a:extLst>
              <a:ext uri="{FF2B5EF4-FFF2-40B4-BE49-F238E27FC236}">
                <a16:creationId xmlns:a16="http://schemas.microsoft.com/office/drawing/2014/main" id="{5A5B2A81-691E-A679-9F5F-969EEF0BD4AC}"/>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2" name="NumCircle">
            <a:extLst>
              <a:ext uri="{FF2B5EF4-FFF2-40B4-BE49-F238E27FC236}">
                <a16:creationId xmlns:a16="http://schemas.microsoft.com/office/drawing/2014/main" id="{EAFA10C9-1E9C-7508-54B4-6106E94654A0}"/>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extLst>
      <p:ext uri="{BB962C8B-B14F-4D97-AF65-F5344CB8AC3E}">
        <p14:creationId xmlns:p14="http://schemas.microsoft.com/office/powerpoint/2010/main" val="37728897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20" name="InputBox"/>
          <p:cNvSpPr/>
          <p:nvPr/>
        </p:nvSpPr>
        <p:spPr>
          <a:xfrm>
            <a:off x="274799" y="1297287"/>
            <a:ext cx="1280160" cy="640080"/>
          </a:xfrm>
          <a:prstGeom prst="rect">
            <a:avLst/>
          </a:prstGeom>
          <a:solidFill>
            <a:srgbClr val="1C3A52"/>
          </a:solidFill>
          <a:ln w="12700">
            <a:solidFill>
              <a:srgbClr val="1C3A52"/>
            </a:solidFill>
          </a:ln>
        </p:spPr>
        <p:txBody>
          <a:bodyPr rtlCol="0" anchor="ctr"/>
          <a:lstStyle/>
          <a:p>
            <a:pPr algn="ctr">
              <a:buNone/>
            </a:pPr>
            <a:r>
              <a:rPr lang="en-US" sz="1000" b="1" dirty="0">
                <a:solidFill>
                  <a:srgbClr val="AACCD8"/>
                </a:solidFill>
                <a:latin typeface="Calibri"/>
              </a:rPr>
              <a:t>Input</a:t>
            </a:r>
          </a:p>
          <a:p>
            <a:pPr algn="ctr">
              <a:buNone/>
            </a:pPr>
            <a:r>
              <a:rPr lang="en-US" sz="1800" b="1" dirty="0">
                <a:solidFill>
                  <a:schemeClr val="accent2">
                    <a:lumMod val="40000"/>
                    <a:lumOff val="60000"/>
                  </a:schemeClr>
                </a:solidFill>
                <a:latin typeface="Calibri"/>
              </a:rPr>
              <a:t>12 288</a:t>
            </a:r>
          </a:p>
          <a:p>
            <a:pPr algn="ctr">
              <a:buNone/>
            </a:pPr>
            <a:r>
              <a:rPr lang="en-US" sz="900" dirty="0">
                <a:solidFill>
                  <a:srgbClr val="AACCD8"/>
                </a:solidFill>
                <a:latin typeface="Calibri"/>
              </a:rPr>
              <a:t>64x64x3 flat</a:t>
            </a:r>
          </a:p>
        </p:txBody>
      </p:sp>
      <p:sp>
        <p:nvSpPr>
          <p:cNvPr id="21" name="Arrow1"/>
          <p:cNvSpPr/>
          <p:nvPr/>
        </p:nvSpPr>
        <p:spPr>
          <a:xfrm>
            <a:off x="1645679" y="1577367"/>
            <a:ext cx="274320" cy="91440"/>
          </a:xfrm>
          <a:prstGeom prst="rightArrow">
            <a:avLst/>
          </a:prstGeom>
          <a:solidFill>
            <a:srgbClr val="00A896"/>
          </a:solidFill>
          <a:ln w="0">
            <a:noFill/>
          </a:ln>
        </p:spPr>
        <p:txBody>
          <a:bodyPr/>
          <a:lstStyle/>
          <a:p>
            <a:endParaRPr lang="en-US"/>
          </a:p>
        </p:txBody>
      </p:sp>
      <p:sp>
        <p:nvSpPr>
          <p:cNvPr id="22" name="H1Box"/>
          <p:cNvSpPr/>
          <p:nvPr/>
        </p:nvSpPr>
        <p:spPr>
          <a:xfrm>
            <a:off x="2012159" y="1260207"/>
            <a:ext cx="1371600" cy="73152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1</a:t>
            </a:r>
          </a:p>
          <a:p>
            <a:pPr algn="ctr">
              <a:buNone/>
            </a:pPr>
            <a:r>
              <a:rPr lang="en-US" sz="1800" b="1" dirty="0">
                <a:solidFill>
                  <a:srgbClr val="FFFFFF"/>
                </a:solidFill>
                <a:latin typeface="Calibri"/>
              </a:rPr>
              <a:t>512</a:t>
            </a:r>
          </a:p>
          <a:p>
            <a:pPr algn="ctr">
              <a:buNone/>
            </a:pPr>
            <a:r>
              <a:rPr lang="en-US" sz="900" dirty="0">
                <a:solidFill>
                  <a:srgbClr val="AACCD8"/>
                </a:solidFill>
                <a:latin typeface="Calibri"/>
              </a:rPr>
              <a:t>BN + ReLU + D(0.3)</a:t>
            </a:r>
          </a:p>
        </p:txBody>
      </p:sp>
      <p:sp>
        <p:nvSpPr>
          <p:cNvPr id="23" name="Arrow2"/>
          <p:cNvSpPr/>
          <p:nvPr/>
        </p:nvSpPr>
        <p:spPr>
          <a:xfrm>
            <a:off x="3474479" y="1577367"/>
            <a:ext cx="274320" cy="91440"/>
          </a:xfrm>
          <a:prstGeom prst="rightArrow">
            <a:avLst/>
          </a:prstGeom>
          <a:solidFill>
            <a:srgbClr val="00A896"/>
          </a:solidFill>
          <a:ln w="0">
            <a:noFill/>
          </a:ln>
        </p:spPr>
        <p:txBody>
          <a:bodyPr/>
          <a:lstStyle/>
          <a:p>
            <a:endParaRPr lang="en-US"/>
          </a:p>
        </p:txBody>
      </p:sp>
      <p:sp>
        <p:nvSpPr>
          <p:cNvPr id="24" name="H2Box"/>
          <p:cNvSpPr/>
          <p:nvPr/>
        </p:nvSpPr>
        <p:spPr>
          <a:xfrm>
            <a:off x="384095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2</a:t>
            </a:r>
          </a:p>
          <a:p>
            <a:pPr algn="ctr">
              <a:buNone/>
            </a:pPr>
            <a:r>
              <a:rPr lang="en-US" sz="1800" b="1" dirty="0">
                <a:solidFill>
                  <a:srgbClr val="FFFFFF"/>
                </a:solidFill>
                <a:latin typeface="Calibri"/>
              </a:rPr>
              <a:t>256</a:t>
            </a:r>
          </a:p>
          <a:p>
            <a:pPr algn="ctr">
              <a:buNone/>
            </a:pPr>
            <a:r>
              <a:rPr lang="en-US" sz="900" dirty="0">
                <a:solidFill>
                  <a:srgbClr val="AACCD8"/>
                </a:solidFill>
                <a:latin typeface="Calibri"/>
              </a:rPr>
              <a:t>BN + ReLU + D(0.3)</a:t>
            </a:r>
          </a:p>
        </p:txBody>
      </p:sp>
      <p:sp>
        <p:nvSpPr>
          <p:cNvPr id="25" name="Arrow3"/>
          <p:cNvSpPr/>
          <p:nvPr/>
        </p:nvSpPr>
        <p:spPr>
          <a:xfrm>
            <a:off x="5303279" y="1577367"/>
            <a:ext cx="274320" cy="91440"/>
          </a:xfrm>
          <a:prstGeom prst="rightArrow">
            <a:avLst/>
          </a:prstGeom>
          <a:solidFill>
            <a:srgbClr val="00A896"/>
          </a:solidFill>
          <a:ln w="0">
            <a:noFill/>
          </a:ln>
        </p:spPr>
        <p:txBody>
          <a:bodyPr/>
          <a:lstStyle/>
          <a:p>
            <a:endParaRPr lang="en-US"/>
          </a:p>
        </p:txBody>
      </p:sp>
      <p:sp>
        <p:nvSpPr>
          <p:cNvPr id="26" name="H3Box"/>
          <p:cNvSpPr/>
          <p:nvPr/>
        </p:nvSpPr>
        <p:spPr>
          <a:xfrm>
            <a:off x="566903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3</a:t>
            </a:r>
          </a:p>
          <a:p>
            <a:pPr algn="ctr">
              <a:buNone/>
            </a:pPr>
            <a:r>
              <a:rPr lang="en-US" sz="1800" b="1" dirty="0">
                <a:solidFill>
                  <a:srgbClr val="FFFFFF"/>
                </a:solidFill>
                <a:latin typeface="Calibri"/>
              </a:rPr>
              <a:t>128</a:t>
            </a:r>
          </a:p>
          <a:p>
            <a:pPr algn="ctr">
              <a:buNone/>
            </a:pPr>
            <a:r>
              <a:rPr lang="en-US" sz="900" dirty="0">
                <a:solidFill>
                  <a:srgbClr val="AACCD8"/>
                </a:solidFill>
                <a:latin typeface="Calibri"/>
              </a:rPr>
              <a:t>BN + ReLU + D(0.3)</a:t>
            </a:r>
          </a:p>
        </p:txBody>
      </p:sp>
      <p:sp>
        <p:nvSpPr>
          <p:cNvPr id="27" name="Arrow4"/>
          <p:cNvSpPr/>
          <p:nvPr/>
        </p:nvSpPr>
        <p:spPr>
          <a:xfrm>
            <a:off x="7131839" y="1577367"/>
            <a:ext cx="274320" cy="91440"/>
          </a:xfrm>
          <a:prstGeom prst="rightArrow">
            <a:avLst/>
          </a:prstGeom>
          <a:solidFill>
            <a:srgbClr val="00A896"/>
          </a:solidFill>
          <a:ln w="0">
            <a:noFill/>
          </a:ln>
        </p:spPr>
        <p:txBody>
          <a:bodyPr/>
          <a:lstStyle/>
          <a:p>
            <a:endParaRPr lang="en-US"/>
          </a:p>
        </p:txBody>
      </p:sp>
      <p:sp>
        <p:nvSpPr>
          <p:cNvPr id="28" name="OutBox"/>
          <p:cNvSpPr/>
          <p:nvPr/>
        </p:nvSpPr>
        <p:spPr>
          <a:xfrm>
            <a:off x="7498079" y="1297287"/>
            <a:ext cx="1279440" cy="640080"/>
          </a:xfrm>
          <a:prstGeom prst="rect">
            <a:avLst/>
          </a:prstGeom>
          <a:solidFill>
            <a:srgbClr val="00A896"/>
          </a:solidFill>
          <a:ln w="12700">
            <a:solidFill>
              <a:srgbClr val="00A896"/>
            </a:solidFill>
          </a:ln>
        </p:spPr>
        <p:txBody>
          <a:bodyPr rtlCol="0" anchor="ctr"/>
          <a:lstStyle/>
          <a:p>
            <a:pPr algn="ctr">
              <a:buNone/>
            </a:pPr>
            <a:r>
              <a:rPr lang="en-US" sz="1000" b="1" dirty="0">
                <a:solidFill>
                  <a:srgbClr val="E8F8F6"/>
                </a:solidFill>
                <a:latin typeface="Calibri"/>
              </a:rPr>
              <a:t>Output</a:t>
            </a:r>
          </a:p>
          <a:p>
            <a:pPr algn="ctr">
              <a:buNone/>
            </a:pPr>
            <a:r>
              <a:rPr lang="en-US" sz="1800" b="1" dirty="0">
                <a:solidFill>
                  <a:srgbClr val="FFFFFF"/>
                </a:solidFill>
                <a:latin typeface="Calibri"/>
              </a:rPr>
              <a:t>9</a:t>
            </a:r>
          </a:p>
          <a:p>
            <a:pPr algn="ctr">
              <a:buNone/>
            </a:pPr>
            <a:r>
              <a:rPr lang="en-US" sz="900" dirty="0">
                <a:solidFill>
                  <a:srgbClr val="E8F8F6"/>
                </a:solidFill>
                <a:latin typeface="Calibri"/>
              </a:rPr>
              <a:t>logits</a:t>
            </a:r>
          </a:p>
        </p:txBody>
      </p:sp>
      <p:sp>
        <p:nvSpPr>
          <p:cNvPr id="40" name="LeftCard"/>
          <p:cNvSpPr/>
          <p:nvPr/>
        </p:nvSpPr>
        <p:spPr>
          <a:xfrm>
            <a:off x="2747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p:cNvSpPr/>
          <p:nvPr/>
        </p:nvSpPr>
        <p:spPr>
          <a:xfrm>
            <a:off x="4576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Funnel Design </a:t>
            </a:r>
          </a:p>
          <a:p>
            <a:pPr marL="228600" indent="-228600">
              <a:buChar char="•"/>
            </a:pPr>
            <a:r>
              <a:rPr lang="en-US" sz="1100" dirty="0">
                <a:solidFill>
                  <a:srgbClr val="1A2B3C"/>
                </a:solidFill>
                <a:latin typeface="Calibri" pitchFamily="34" charset="0"/>
              </a:rPr>
              <a:t>Progressive compression forces generalisation</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pitchFamily="34" charset="0"/>
              </a:rPr>
              <a:t>Narrow (256-128-64-32): too bottlenecked for colour histogram learning</a:t>
            </a:r>
          </a:p>
          <a:p>
            <a:pPr marL="685800" lvl="1" indent="-228600">
              <a:buChar char="•"/>
            </a:pPr>
            <a:r>
              <a:rPr lang="en-US" sz="1100" dirty="0">
                <a:solidFill>
                  <a:srgbClr val="1A2B3C"/>
                </a:solidFill>
                <a:latin typeface="Calibri" pitchFamily="34" charset="0"/>
              </a:rPr>
              <a:t>Wider first layer (1024): more capacity = more memorisation</a:t>
            </a:r>
          </a:p>
          <a:p>
            <a:pPr marL="685800" lvl="1" indent="-228600">
              <a:buChar char="•"/>
            </a:pPr>
            <a:r>
              <a:rPr lang="en-US" sz="1100" dirty="0">
                <a:solidFill>
                  <a:srgbClr val="1A2B3C"/>
                </a:solidFill>
                <a:latin typeface="Calibri" pitchFamily="34" charset="0"/>
              </a:rPr>
              <a:t>4-layer deep: harder to regularise on small data</a:t>
            </a:r>
          </a:p>
          <a:p>
            <a:pPr lvl="1"/>
            <a:endParaRPr lang="en-US" sz="1100" dirty="0">
              <a:solidFill>
                <a:srgbClr val="1A2B3C"/>
              </a:solidFill>
              <a:latin typeface="Calibri" pitchFamily="34" charset="0"/>
            </a:endParaRPr>
          </a:p>
        </p:txBody>
      </p:sp>
      <p:sp>
        <p:nvSpPr>
          <p:cNvPr id="42" name="RightCard"/>
          <p:cNvSpPr/>
          <p:nvPr/>
        </p:nvSpPr>
        <p:spPr>
          <a:xfrm>
            <a:off x="46643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p:cNvSpPr/>
          <p:nvPr/>
        </p:nvSpPr>
        <p:spPr>
          <a:xfrm>
            <a:off x="48472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BatchNorm + ReLU + Output Logits</a:t>
            </a:r>
          </a:p>
          <a:p>
            <a:endParaRPr lang="en-US" sz="1100" b="1" dirty="0">
              <a:solidFill>
                <a:srgbClr val="1A2B3C"/>
              </a:solidFill>
              <a:latin typeface="Calibri" pitchFamily="34" charset="0"/>
            </a:endParaRPr>
          </a:p>
          <a:p>
            <a:pPr marL="228600" indent="-228600">
              <a:buChar char="•"/>
            </a:pPr>
            <a:r>
              <a:rPr lang="en-US" sz="1100" b="1" dirty="0">
                <a:solidFill>
                  <a:srgbClr val="1A2B3C"/>
                </a:solidFill>
                <a:latin typeface="Calibri" pitchFamily="34" charset="0"/>
              </a:rPr>
              <a:t>BatchNorm1d after every Linear</a:t>
            </a:r>
          </a:p>
          <a:p>
            <a:pPr lvl="1"/>
            <a:r>
              <a:rPr lang="en-US" sz="1100" dirty="0" err="1">
                <a:solidFill>
                  <a:srgbClr val="1A2B3C"/>
                </a:solidFill>
                <a:latin typeface="Calibri" pitchFamily="34" charset="0"/>
              </a:rPr>
              <a:t>stabilises</a:t>
            </a:r>
            <a:r>
              <a:rPr lang="en-US" sz="1100" dirty="0">
                <a:solidFill>
                  <a:srgbClr val="1A2B3C"/>
                </a:solidFill>
                <a:latin typeface="Calibri" pitchFamily="34" charset="0"/>
              </a:rPr>
              <a:t> gradients on 12 288-dim flat input</a:t>
            </a: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pitchFamily="34" charset="0"/>
              </a:rPr>
              <a:t>no vanishing gradient for positive activations, simple and efficient</a:t>
            </a:r>
          </a:p>
          <a:p>
            <a:pPr marL="228600" indent="-228600">
              <a:buChar char="•"/>
            </a:pPr>
            <a:r>
              <a:rPr lang="en-US" sz="1100" b="1" dirty="0">
                <a:solidFill>
                  <a:srgbClr val="1A2B3C"/>
                </a:solidFill>
                <a:latin typeface="Calibri" pitchFamily="34" charset="0"/>
              </a:rPr>
              <a:t>Raw logits at output </a:t>
            </a:r>
          </a:p>
          <a:p>
            <a:pPr lvl="1"/>
            <a:r>
              <a:rPr lang="en-US" sz="1100" dirty="0" err="1">
                <a:solidFill>
                  <a:srgbClr val="1A2B3C"/>
                </a:solidFill>
                <a:latin typeface="Calibri" pitchFamily="34" charset="0"/>
              </a:rPr>
              <a:t>CrossEntropyLoss</a:t>
            </a:r>
            <a:r>
              <a:rPr lang="en-US" sz="1100" dirty="0">
                <a:solidFill>
                  <a:srgbClr val="1A2B3C"/>
                </a:solidFill>
                <a:latin typeface="Calibri" pitchFamily="34" charset="0"/>
              </a:rPr>
              <a:t> fuses log_softmax internally (numerically stable)</a:t>
            </a:r>
          </a:p>
          <a:p>
            <a:pPr lvl="1"/>
            <a:r>
              <a:rPr lang="en-US" sz="1100" dirty="0">
                <a:solidFill>
                  <a:srgbClr val="1A2B3C"/>
                </a:solidFill>
                <a:latin typeface="Calibri" pitchFamily="34" charset="0"/>
              </a:rPr>
              <a:t>argmax(logits) == argmax(softmax(logits)) — so no softmax needed at inference</a:t>
            </a:r>
          </a:p>
          <a:p>
            <a:pPr lvl="1"/>
            <a:r>
              <a:rPr lang="en-US" sz="1100" dirty="0">
                <a:solidFill>
                  <a:srgbClr val="1A2B3C"/>
                </a:solidFill>
                <a:latin typeface="Calibri" pitchFamily="34" charset="0"/>
              </a:rPr>
              <a:t>Exception: ensemble averages </a:t>
            </a:r>
            <a:r>
              <a:rPr lang="en-US" sz="1100" dirty="0" err="1">
                <a:solidFill>
                  <a:srgbClr val="1A2B3C"/>
                </a:solidFill>
                <a:latin typeface="Calibri" pitchFamily="34" charset="0"/>
              </a:rPr>
              <a:t>softmax</a:t>
            </a:r>
            <a:r>
              <a:rPr lang="en-US" sz="1100" dirty="0">
                <a:solidFill>
                  <a:srgbClr val="1A2B3C"/>
                </a:solidFill>
                <a:latin typeface="Calibri" pitchFamily="34" charset="0"/>
              </a:rPr>
              <a:t> outputs — raw logit scales differ across models</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sp>
        <p:nvSpPr>
          <p:cNvPr id="8" name="Badge">
            <a:extLst>
              <a:ext uri="{FF2B5EF4-FFF2-40B4-BE49-F238E27FC236}">
                <a16:creationId xmlns:a16="http://schemas.microsoft.com/office/drawing/2014/main" id="{C95928A0-326F-DF7D-1423-B428A0AFF4E7}"/>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0" name="NumCircle">
            <a:extLst>
              <a:ext uri="{FF2B5EF4-FFF2-40B4-BE49-F238E27FC236}">
                <a16:creationId xmlns:a16="http://schemas.microsoft.com/office/drawing/2014/main" id="{FA6BDE23-2C30-81F2-E74D-1AB06CEC6990}"/>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rtlCol="0" anchor="t"/>
          <a:lstStyle/>
          <a:p>
            <a:pPr>
              <a:buNone/>
            </a:pPr>
            <a:r>
              <a:rPr lang="en-US" sz="1400" b="1" dirty="0">
                <a:solidFill>
                  <a:srgbClr val="028090"/>
                </a:solidFill>
                <a:latin typeface="Trebuchet MS" pitchFamily="34" charset="0"/>
              </a:rPr>
              <a:t>Dropout (0.3)</a:t>
            </a:r>
          </a:p>
          <a:p>
            <a:pPr>
              <a:buNone/>
            </a:pPr>
            <a:r>
              <a:rPr lang="en-US" sz="1100" b="1" dirty="0">
                <a:solidFill>
                  <a:srgbClr val="1C3A52"/>
                </a:solidFill>
                <a:latin typeface="Calibri" pitchFamily="34" charset="0"/>
              </a:rPr>
              <a:t>Applied after every hidden layer</a:t>
            </a:r>
          </a:p>
          <a:p>
            <a:pPr marL="228600" indent="-228600">
              <a:buChar char="•"/>
            </a:pPr>
            <a:r>
              <a:rPr lang="en-US" sz="1100" dirty="0">
                <a:solidFill>
                  <a:srgbClr val="1A2B3C"/>
                </a:solidFill>
                <a:latin typeface="Calibri" pitchFamily="34" charset="0"/>
              </a:rPr>
              <a:t>Randomly zeroes 30% of neurons each forward pass</a:t>
            </a:r>
          </a:p>
          <a:p>
            <a:pPr marL="228600" indent="-228600">
              <a:buChar char="•"/>
            </a:pPr>
            <a:r>
              <a:rPr lang="en-US" sz="1100" dirty="0">
                <a:solidFill>
                  <a:srgbClr val="1A2B3C"/>
                </a:solidFill>
                <a:latin typeface="Calibri" pitchFamily="34" charset="0"/>
              </a:rPr>
              <a:t>Prevents co-adaptation, forces redundant representations</a:t>
            </a:r>
          </a:p>
          <a:p>
            <a:pPr>
              <a:buNone/>
            </a:pPr>
            <a:r>
              <a:rPr lang="en-US" sz="1100" b="1" dirty="0">
                <a:solidFill>
                  <a:srgbClr val="1C3A52"/>
                </a:solidFill>
                <a:latin typeface="Calibri" pitchFamily="34" charset="0"/>
              </a:rPr>
              <a:t>Why 0.3? — Search result:</a:t>
            </a:r>
          </a:p>
          <a:p>
            <a:pPr marL="228600" indent="-228600">
              <a:buChar char="•"/>
            </a:pPr>
            <a:r>
              <a:rPr lang="en-US" sz="1100" dirty="0">
                <a:solidFill>
                  <a:srgbClr val="1A2B3C"/>
                </a:solidFill>
                <a:latin typeface="Calibri" pitchFamily="34" charset="0"/>
              </a:rPr>
              <a:t>Drop 0.4 (model B) = 0.222 — too aggressive</a:t>
            </a:r>
          </a:p>
          <a:p>
            <a:pPr marL="228600" indent="-228600">
              <a:buChar char="•"/>
            </a:pPr>
            <a:r>
              <a:rPr lang="en-US" sz="1100" dirty="0">
                <a:solidFill>
                  <a:srgbClr val="1A2B3C"/>
                </a:solidFill>
                <a:latin typeface="Calibri" pitchFamily="34" charset="0"/>
              </a:rPr>
              <a:t>Drop 0.2 (model J) = 0.236 — close but weaker</a:t>
            </a:r>
          </a:p>
          <a:p>
            <a:pPr marL="228600" indent="-228600">
              <a:buChar char="•"/>
            </a:pPr>
            <a:r>
              <a:rPr lang="en-US" sz="1100" dirty="0">
                <a:solidFill>
                  <a:srgbClr val="1A2B3C"/>
                </a:solidFill>
                <a:latin typeface="Calibri" pitchFamily="34" charset="0"/>
              </a:rPr>
              <a:t>Drop 0.15 (model P) = 0.217 — too light</a:t>
            </a:r>
          </a:p>
          <a:p>
            <a:pPr marL="228600" indent="-228600">
              <a:buChar char="•"/>
            </a:pPr>
            <a:r>
              <a:rPr lang="en-US" sz="1100" b="1" dirty="0">
                <a:solidFill>
                  <a:srgbClr val="00A896"/>
                </a:solidFill>
                <a:latin typeface="Calibri" pitchFamily="34" charset="0"/>
              </a:rPr>
              <a:t>Drop 0.3 = 0.240 — sweet spot confirmed</a:t>
            </a: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rtlCol="0" anchor="t"/>
          <a:lstStyle/>
          <a:p>
            <a:pPr>
              <a:buNone/>
            </a:pPr>
            <a:r>
              <a:rPr lang="en-US" sz="1400" b="1" dirty="0">
                <a:solidFill>
                  <a:srgbClr val="00A896"/>
                </a:solidFill>
                <a:latin typeface="Trebuchet MS" pitchFamily="34" charset="0"/>
              </a:rPr>
              <a:t>Label Smoothing (0.15)</a:t>
            </a:r>
          </a:p>
          <a:p>
            <a:pPr>
              <a:buNone/>
            </a:pPr>
            <a:r>
              <a:rPr lang="en-US" sz="1100" b="1" dirty="0">
                <a:solidFill>
                  <a:srgbClr val="1C3A52"/>
                </a:solidFill>
                <a:latin typeface="Calibri" pitchFamily="34" charset="0"/>
              </a:rPr>
              <a:t>Most impactful single change</a:t>
            </a:r>
          </a:p>
          <a:p>
            <a:pPr marL="228600" indent="-228600">
              <a:buChar char="•"/>
            </a:pPr>
            <a:r>
              <a:rPr lang="en-US" sz="1100" dirty="0">
                <a:solidFill>
                  <a:srgbClr val="1A2B3C"/>
                </a:solidFill>
                <a:latin typeface="Calibri" pitchFamily="34" charset="0"/>
              </a:rPr>
              <a:t>Softens hard one-hot targets (0.85/0.15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pitchFamily="34" charset="0"/>
              </a:rPr>
              <a:t>Key on noisy boundaries — Bug/Grass and Rock/Ground share colour palettes</a:t>
            </a:r>
          </a:p>
          <a:p>
            <a:pPr>
              <a:buNone/>
            </a:pPr>
            <a:r>
              <a:rPr lang="en-US" sz="1100" b="1" dirty="0">
                <a:solidFill>
                  <a:srgbClr val="1C3A52"/>
                </a:solidFill>
                <a:latin typeface="Calibri" pitchFamily="34" charset="0"/>
              </a:rPr>
              <a:t>Evidence:</a:t>
            </a:r>
          </a:p>
          <a:p>
            <a:pPr marL="228600" indent="-228600">
              <a:buChar char="•"/>
            </a:pPr>
            <a:r>
              <a:rPr lang="en-US" sz="1100" dirty="0">
                <a:solidFill>
                  <a:srgbClr val="1A2B3C"/>
                </a:solidFill>
                <a:latin typeface="Calibri" pitchFamily="34" charset="0"/>
              </a:rPr>
              <a:t>All 6 top-tier solos (F1 &gt; 0.235) use LS &gt;= 0.1</a:t>
            </a:r>
          </a:p>
          <a:p>
            <a:pPr marL="228600" indent="-228600">
              <a:buChar char="•"/>
            </a:pPr>
            <a:r>
              <a:rPr lang="en-US" sz="1100" dirty="0">
                <a:solidFill>
                  <a:srgbClr val="1A2B3C"/>
                </a:solidFill>
                <a:latin typeface="Calibri" pitchFamily="34" charset="0"/>
              </a:rPr>
              <a:t>LS=0.15 (R) = 0.2396 vs LS=0.10 (C) = 0.2395 — tiny but consistent</a:t>
            </a:r>
          </a:p>
          <a:p>
            <a:pPr marL="228600" indent="-228600">
              <a:buChar char="•"/>
            </a:pPr>
            <a:r>
              <a:rPr lang="en-US" sz="1100" b="1" dirty="0">
                <a:solidFill>
                  <a:srgbClr val="00A896"/>
                </a:solidFill>
                <a:latin typeface="Calibri" pitchFamily="34" charset="0"/>
              </a:rPr>
              <a:t>+0.017-0.019 F1 vs baselines with no LS</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rtlCol="0" anchor="t"/>
          <a:lstStyle/>
          <a:p>
            <a:pPr>
              <a:buNone/>
            </a:pPr>
            <a:r>
              <a:rPr lang="en-US" sz="1400" b="1" dirty="0">
                <a:solidFill>
                  <a:srgbClr val="1C3A52"/>
                </a:solidFill>
                <a:latin typeface="Trebuchet MS" pitchFamily="34" charset="0"/>
              </a:rPr>
              <a:t>Imbalance Handling</a:t>
            </a:r>
          </a:p>
          <a:p>
            <a:pPr>
              <a:buNone/>
            </a:pPr>
            <a:r>
              <a:rPr lang="en-US" sz="1100" b="1" dirty="0">
                <a:solidFill>
                  <a:srgbClr val="1C3A52"/>
                </a:solidFill>
                <a:latin typeface="Calibri" pitchFamily="34" charset="0"/>
              </a:rPr>
              <a:t>Weighted CrossEntropyLoss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pPr>
              <a:buNone/>
            </a:pPr>
            <a:r>
              <a:rPr lang="en-US" sz="1100" b="1" dirty="0">
                <a:solidFill>
                  <a:srgbClr val="1C3A52"/>
                </a:solidFill>
                <a:latin typeface="Calibri" pitchFamily="34" charset="0"/>
              </a:rPr>
              <a:t>WeightedRandomSampler (tested separately)</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pPr>
              <a:buNone/>
            </a:pPr>
            <a:r>
              <a:rPr lang="en-US" sz="1100" b="1" dirty="0">
                <a:solidFill>
                  <a:srgbClr val="C0392B"/>
                </a:solidFill>
                <a:latin typeface="Calibri" pitchFamily="34" charset="0"/>
              </a:rPr>
              <a:t>Pitfall: CW + Sampler together</a:t>
            </a:r>
          </a:p>
          <a:p>
            <a:pPr marL="228600" indent="-228600">
              <a:buChar char="•"/>
            </a:pPr>
            <a:r>
              <a:rPr lang="en-US" sz="1100" dirty="0">
                <a:solidFill>
                  <a:srgbClr val="1A2B3C"/>
                </a:solidFill>
                <a:latin typeface="Calibri" pitchFamily="34" charset="0"/>
              </a:rPr>
              <a:t>Model O (double-compensating) = F1 0.192 — over-correcting imbalance hurts</a:t>
            </a:r>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8" name="Badge">
            <a:extLst>
              <a:ext uri="{FF2B5EF4-FFF2-40B4-BE49-F238E27FC236}">
                <a16:creationId xmlns:a16="http://schemas.microsoft.com/office/drawing/2014/main" id="{D06DF965-1775-427C-29A9-1D68602C43E4}"/>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3" name="NumCircle">
            <a:extLst>
              <a:ext uri="{FF2B5EF4-FFF2-40B4-BE49-F238E27FC236}">
                <a16:creationId xmlns:a16="http://schemas.microsoft.com/office/drawing/2014/main" id="{2A58F658-5D1D-696C-65F4-5A6BA3A796E4}"/>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34237" y="1485550"/>
            <a:ext cx="3657600" cy="1645920"/>
          </a:xfrm>
          <a:prstGeom prst="rect">
            <a:avLst/>
          </a:prstGeom>
          <a:noFill/>
          <a:ln/>
        </p:spPr>
        <p:txBody>
          <a:bodyPr wrap="square" rtlCol="0" anchor="t"/>
          <a:lstStyle/>
          <a:p>
            <a:pPr>
              <a:buNone/>
            </a:pPr>
            <a:r>
              <a:rPr lang="en-US" sz="1400" b="1" dirty="0">
                <a:solidFill>
                  <a:srgbClr val="028090"/>
                </a:solidFill>
                <a:latin typeface="Trebuchet MS" pitchFamily="34" charset="0"/>
              </a:rPr>
              <a:t>Optimiser + Scheduler</a:t>
            </a:r>
          </a:p>
          <a:p>
            <a:pPr marL="228600" indent="-228600">
              <a:buChar char="•"/>
            </a:pPr>
            <a:r>
              <a:rPr lang="en-US" sz="1200" b="1" dirty="0">
                <a:solidFill>
                  <a:srgbClr val="1C3A52"/>
                </a:solidFill>
                <a:latin typeface="Calibri" pitchFamily="34" charset="0"/>
              </a:rPr>
              <a:t>Adam lr=1e-3 </a:t>
            </a:r>
            <a:r>
              <a:rPr lang="en-US" sz="1200" dirty="0">
                <a:solidFill>
                  <a:srgbClr val="1A2B3C"/>
                </a:solidFill>
                <a:latin typeface="Calibri" pitchFamily="34" charset="0"/>
              </a:rPr>
              <a:t>— robust adaptive LR, standard for MLPs (Kingma &amp; Ba, 2015)</a:t>
            </a:r>
          </a:p>
          <a:p>
            <a:pPr marL="228600" indent="-228600">
              <a:buChar char="•"/>
            </a:pPr>
            <a:r>
              <a:rPr lang="en-US" sz="1200" b="1" dirty="0">
                <a:solidFill>
                  <a:srgbClr val="1C3A52"/>
                </a:solidFill>
                <a:latin typeface="Calibri" pitchFamily="34" charset="0"/>
              </a:rPr>
              <a:t>StepLR(step=5, gamma=0.5) </a:t>
            </a:r>
            <a:r>
              <a:rPr lang="en-US" sz="1200" dirty="0">
                <a:solidFill>
                  <a:srgbClr val="1A2B3C"/>
                </a:solidFill>
                <a:latin typeface="Calibri" pitchFamily="34" charset="0"/>
              </a:rPr>
              <a:t>— halves LR every 5 epochs; CosineAnnealingLR also tested but no improvement (N=0.225)</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484063"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9" name="Badge">
            <a:extLst>
              <a:ext uri="{FF2B5EF4-FFF2-40B4-BE49-F238E27FC236}">
                <a16:creationId xmlns:a16="http://schemas.microsoft.com/office/drawing/2014/main" id="{59B33DDC-370B-CCFB-B224-AD5043795C84}"/>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5" name="NumCircle">
            <a:extLst>
              <a:ext uri="{FF2B5EF4-FFF2-40B4-BE49-F238E27FC236}">
                <a16:creationId xmlns:a16="http://schemas.microsoft.com/office/drawing/2014/main" id="{BD5D33FC-FABD-FED6-F415-D1C5B4575DFA}"/>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Having the best models we tried to combine them to see if we got better results by using some better characteristic of some model to compensate for worse performance in other model. </a:t>
            </a:r>
          </a:p>
          <a:p>
            <a:pPr>
              <a:buNone/>
            </a:pPr>
            <a:r>
              <a:rPr lang="en-US" sz="1200" dirty="0">
                <a:solidFill>
                  <a:schemeClr val="bg1"/>
                </a:solidFill>
                <a:latin typeface="Calibri" pitchFamily="34" charset="0"/>
              </a:rPr>
              <a:t>» To help analyze possible good combinations we draw a heat map so we can  see the results of each model for each class. </a:t>
            </a:r>
          </a:p>
        </p:txBody>
      </p:sp>
      <p:grpSp>
        <p:nvGrpSpPr>
          <p:cNvPr id="14" name="Group 13">
            <a:extLst>
              <a:ext uri="{FF2B5EF4-FFF2-40B4-BE49-F238E27FC236}">
                <a16:creationId xmlns:a16="http://schemas.microsoft.com/office/drawing/2014/main" id="{A1FA2E3B-4D55-BF1E-8734-63932BA7467A}"/>
              </a:ext>
            </a:extLst>
          </p:cNvPr>
          <p:cNvGrpSpPr/>
          <p:nvPr/>
        </p:nvGrpSpPr>
        <p:grpSpPr>
          <a:xfrm>
            <a:off x="-64008" y="1656778"/>
            <a:ext cx="6549292" cy="3240421"/>
            <a:chOff x="0" y="1580400"/>
            <a:chExt cx="7237378" cy="3580868"/>
          </a:xfrm>
        </p:grpSpPr>
        <p:pic>
          <p:nvPicPr>
            <p:cNvPr id="7" name="Picture 6">
              <a:extLst>
                <a:ext uri="{FF2B5EF4-FFF2-40B4-BE49-F238E27FC236}">
                  <a16:creationId xmlns:a16="http://schemas.microsoft.com/office/drawing/2014/main" id="{95F15C9D-4CD5-3B44-6ACC-8974EF41C8A2}"/>
                </a:ext>
              </a:extLst>
            </p:cNvPr>
            <p:cNvPicPr>
              <a:picLocks noChangeAspect="1"/>
            </p:cNvPicPr>
            <p:nvPr/>
          </p:nvPicPr>
          <p:blipFill>
            <a:blip r:embed="rId2"/>
            <a:srcRect l="9540" b="61978"/>
            <a:stretch>
              <a:fillRect/>
            </a:stretch>
          </p:blipFill>
          <p:spPr>
            <a:xfrm>
              <a:off x="235776" y="1580400"/>
              <a:ext cx="7001602" cy="3558847"/>
            </a:xfrm>
            <a:prstGeom prst="rect">
              <a:avLst/>
            </a:prstGeom>
          </p:spPr>
        </p:pic>
        <p:sp>
          <p:nvSpPr>
            <p:cNvPr id="12" name="Rectangle 11">
              <a:extLst>
                <a:ext uri="{FF2B5EF4-FFF2-40B4-BE49-F238E27FC236}">
                  <a16:creationId xmlns:a16="http://schemas.microsoft.com/office/drawing/2014/main" id="{00DAC33D-3163-C1D8-3C9C-09345D442B34}"/>
                </a:ext>
              </a:extLst>
            </p:cNvPr>
            <p:cNvSpPr/>
            <p:nvPr/>
          </p:nvSpPr>
          <p:spPr>
            <a:xfrm>
              <a:off x="0" y="4474723"/>
              <a:ext cx="7237378" cy="668777"/>
            </a:xfrm>
            <a:prstGeom prst="rect">
              <a:avLst/>
            </a:prstGeom>
            <a:gradFill flip="none" rotWithShape="1">
              <a:gsLst>
                <a:gs pos="0">
                  <a:schemeClr val="bg1">
                    <a:alpha val="0"/>
                  </a:schemeClr>
                </a:gs>
                <a:gs pos="56000">
                  <a:schemeClr val="bg1">
                    <a:alpha val="94000"/>
                  </a:schemeClr>
                </a:gs>
                <a:gs pos="100000">
                  <a:schemeClr val="lt1">
                    <a:shade val="100000"/>
                    <a:satMod val="115000"/>
                  </a:schemeClr>
                </a:gs>
              </a:gsLst>
              <a:lin ang="5400000" scaled="1"/>
              <a:tileRect/>
            </a:gradFill>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pt-PT"/>
            </a:p>
          </p:txBody>
        </p:sp>
        <p:sp>
          <p:nvSpPr>
            <p:cNvPr id="8" name="TextBox 7">
              <a:extLst>
                <a:ext uri="{FF2B5EF4-FFF2-40B4-BE49-F238E27FC236}">
                  <a16:creationId xmlns:a16="http://schemas.microsoft.com/office/drawing/2014/main" id="{56C30EFE-9F1F-2C44-00D6-C80BA31F0E5D}"/>
                </a:ext>
              </a:extLst>
            </p:cNvPr>
            <p:cNvSpPr txBox="1"/>
            <p:nvPr/>
          </p:nvSpPr>
          <p:spPr>
            <a:xfrm>
              <a:off x="1270777" y="4871322"/>
              <a:ext cx="4964708" cy="289946"/>
            </a:xfrm>
            <a:prstGeom prst="rect">
              <a:avLst/>
            </a:prstGeom>
            <a:noFill/>
          </p:spPr>
          <p:txBody>
            <a:bodyPr wrap="square">
              <a:spAutoFit/>
            </a:bodyPr>
            <a:lstStyle/>
            <a:p>
              <a:pPr>
                <a:lnSpc>
                  <a:spcPts val="1425"/>
                </a:lnSpc>
              </a:pP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  </a:t>
              </a:r>
              <a:r>
                <a:rPr lang="pt-PT" sz="1100" b="1" dirty="0" err="1">
                  <a:solidFill>
                    <a:sysClr val="windowText" lastClr="000000"/>
                  </a:solidFill>
                  <a:latin typeface="Consolas" panose="020B0609020204030204" pitchFamily="49" charset="0"/>
                </a:rPr>
                <a:t>avg</a:t>
              </a:r>
              <a:endParaRPr lang="pt-PT" sz="1100" b="1" dirty="0">
                <a:solidFill>
                  <a:sysClr val="windowText" lastClr="000000"/>
                </a:solidFill>
                <a:effectLst/>
                <a:latin typeface="Consolas" panose="020B0609020204030204" pitchFamily="49" charset="0"/>
              </a:endParaRPr>
            </a:p>
          </p:txBody>
        </p:sp>
      </p:grpSp>
      <p:sp>
        <p:nvSpPr>
          <p:cNvPr id="15" name="Shape 5">
            <a:extLst>
              <a:ext uri="{FF2B5EF4-FFF2-40B4-BE49-F238E27FC236}">
                <a16:creationId xmlns:a16="http://schemas.microsoft.com/office/drawing/2014/main" id="{D51A13EB-D56E-43FD-5C19-116163EF8193}"/>
              </a:ext>
            </a:extLst>
          </p:cNvPr>
          <p:cNvSpPr/>
          <p:nvPr/>
        </p:nvSpPr>
        <p:spPr>
          <a:xfrm>
            <a:off x="6557498" y="1717559"/>
            <a:ext cx="2296942" cy="1005543"/>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CD316DB7-5963-8D65-757D-F2AEEA0AE4E3}"/>
              </a:ext>
            </a:extLst>
          </p:cNvPr>
          <p:cNvSpPr/>
          <p:nvPr/>
        </p:nvSpPr>
        <p:spPr>
          <a:xfrm>
            <a:off x="6694657" y="1754136"/>
            <a:ext cx="2221523" cy="457200"/>
          </a:xfrm>
          <a:prstGeom prst="rect">
            <a:avLst/>
          </a:prstGeom>
          <a:noFill/>
          <a:ln/>
        </p:spPr>
        <p:txBody>
          <a:bodyPr wrap="square" lIns="0" tIns="0" rIns="0" bIns="0" rtlCol="0" anchor="ctr"/>
          <a:lstStyle/>
          <a:p>
            <a:pPr marL="0" indent="0">
              <a:buNone/>
            </a:pPr>
            <a:r>
              <a:rPr lang="en-US" sz="2000" b="1" dirty="0">
                <a:solidFill>
                  <a:srgbClr val="E97C35"/>
                </a:solidFill>
                <a:latin typeface="Trebuchet MS" pitchFamily="34" charset="0"/>
                <a:ea typeface="Trebuchet MS" pitchFamily="34" charset="-122"/>
                <a:cs typeface="Trebuchet MS" pitchFamily="34" charset="-120"/>
              </a:rPr>
              <a:t>Ensemble &gt; Solo</a:t>
            </a:r>
            <a:endParaRPr lang="en-US" sz="2000" dirty="0"/>
          </a:p>
        </p:txBody>
      </p:sp>
      <p:sp>
        <p:nvSpPr>
          <p:cNvPr id="18" name="Text 8">
            <a:extLst>
              <a:ext uri="{FF2B5EF4-FFF2-40B4-BE49-F238E27FC236}">
                <a16:creationId xmlns:a16="http://schemas.microsoft.com/office/drawing/2014/main" id="{5F933E2D-A508-CDF2-D627-41385D1FF461}"/>
              </a:ext>
            </a:extLst>
          </p:cNvPr>
          <p:cNvSpPr/>
          <p:nvPr/>
        </p:nvSpPr>
        <p:spPr>
          <a:xfrm>
            <a:off x="6694658" y="2229624"/>
            <a:ext cx="2159782"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As we could confirm some ensembles allowed us to achieve better performance than solo models</a:t>
            </a:r>
            <a:endParaRPr lang="en-US" sz="1100" dirty="0"/>
          </a:p>
        </p:txBody>
      </p:sp>
      <p:pic>
        <p:nvPicPr>
          <p:cNvPr id="22" name="Picture 21">
            <a:extLst>
              <a:ext uri="{FF2B5EF4-FFF2-40B4-BE49-F238E27FC236}">
                <a16:creationId xmlns:a16="http://schemas.microsoft.com/office/drawing/2014/main" id="{E35450A7-A6BC-02ED-01D9-126858FADB8E}"/>
              </a:ext>
            </a:extLst>
          </p:cNvPr>
          <p:cNvPicPr>
            <a:picLocks noChangeAspect="1"/>
          </p:cNvPicPr>
          <p:nvPr/>
        </p:nvPicPr>
        <p:blipFill>
          <a:blip r:embed="rId3"/>
          <a:stretch>
            <a:fillRect/>
          </a:stretch>
        </p:blipFill>
        <p:spPr>
          <a:xfrm>
            <a:off x="6632917" y="2786616"/>
            <a:ext cx="2221523" cy="2154204"/>
          </a:xfrm>
          <a:prstGeom prst="rect">
            <a:avLst/>
          </a:prstGeom>
          <a:effectLst>
            <a:outerShdw blurRad="50800" dist="38100" dir="5400000" algn="t" rotWithShape="0">
              <a:prstClr val="black">
                <a:alpha val="40000"/>
              </a:prstClr>
            </a:outerShdw>
          </a:effectLst>
        </p:spPr>
      </p:pic>
      <p:sp>
        <p:nvSpPr>
          <p:cNvPr id="16" name="Shape 6">
            <a:extLst>
              <a:ext uri="{FF2B5EF4-FFF2-40B4-BE49-F238E27FC236}">
                <a16:creationId xmlns:a16="http://schemas.microsoft.com/office/drawing/2014/main" id="{BD1B1707-4C81-7C17-0B63-7827F2B1DF31}"/>
              </a:ext>
            </a:extLst>
          </p:cNvPr>
          <p:cNvSpPr/>
          <p:nvPr/>
        </p:nvSpPr>
        <p:spPr>
          <a:xfrm>
            <a:off x="6557497" y="1717559"/>
            <a:ext cx="75419" cy="3220493"/>
          </a:xfrm>
          <a:prstGeom prst="rect">
            <a:avLst/>
          </a:prstGeom>
          <a:solidFill>
            <a:srgbClr val="E97C35"/>
          </a:solidFill>
          <a:ln w="12700">
            <a:solidFill>
              <a:srgbClr val="E97C35"/>
            </a:solidFill>
            <a:prstDash val="solid"/>
          </a:ln>
        </p:spPr>
        <p:txBody>
          <a:bodyPr/>
          <a:lstStyle/>
          <a:p>
            <a:endParaRPr lang="pt-PT"/>
          </a:p>
        </p:txBody>
      </p:sp>
      <p:sp>
        <p:nvSpPr>
          <p:cNvPr id="9" name="Badge">
            <a:extLst>
              <a:ext uri="{FF2B5EF4-FFF2-40B4-BE49-F238E27FC236}">
                <a16:creationId xmlns:a16="http://schemas.microsoft.com/office/drawing/2014/main" id="{D27BAA50-3721-B136-154F-384533ABA0B9}"/>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9" name="NumCircle">
            <a:extLst>
              <a:ext uri="{FF2B5EF4-FFF2-40B4-BE49-F238E27FC236}">
                <a16:creationId xmlns:a16="http://schemas.microsoft.com/office/drawing/2014/main" id="{94AEA59D-634C-B234-84B8-D8CA82E2926B}"/>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extLst>
      <p:ext uri="{BB962C8B-B14F-4D97-AF65-F5344CB8AC3E}">
        <p14:creationId xmlns:p14="http://schemas.microsoft.com/office/powerpoint/2010/main" val="23890972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rtlCol="0" anchor="t"/>
          <a:lstStyle/>
          <a:p>
            <a:pPr>
              <a:buNone/>
            </a:pPr>
            <a:r>
              <a:rPr lang="en-US" sz="1400" b="1" dirty="0">
                <a:solidFill>
                  <a:srgbClr val="00A896"/>
                </a:solidFill>
                <a:latin typeface="Trebuchet MS" pitchFamily="34" charset="0"/>
              </a:rPr>
              <a:t>What Worked</a:t>
            </a:r>
          </a:p>
          <a:p>
            <a:pPr marL="228600" indent="-228600">
              <a:buChar char="✓"/>
            </a:pPr>
            <a:r>
              <a:rPr lang="en-US" sz="1100" b="1" dirty="0">
                <a:solidFill>
                  <a:srgbClr val="028090"/>
                </a:solidFill>
                <a:latin typeface="Calibri" pitchFamily="34" charset="0"/>
              </a:rPr>
              <a:t>Label smoothing (0.10-0.15)</a:t>
            </a:r>
          </a:p>
          <a:p>
            <a:pPr lvl="1"/>
            <a:r>
              <a:rPr lang="en-US" sz="1000" dirty="0">
                <a:solidFill>
                  <a:srgbClr val="1A2B3C"/>
                </a:solidFill>
                <a:latin typeface="Calibri" pitchFamily="34" charset="0"/>
              </a:rPr>
              <a:t>- all top-6 solos use it; </a:t>
            </a:r>
          </a:p>
          <a:p>
            <a:pPr lvl="1"/>
            <a:r>
              <a:rPr lang="en-US" sz="1000" dirty="0">
                <a:solidFill>
                  <a:srgbClr val="1A2B3C"/>
                </a:solidFill>
                <a:latin typeface="Calibri" pitchFamily="34" charset="0"/>
              </a:rPr>
              <a:t>- +0.017-0.019 vs no-LS baselines</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creates diversity for ensembles</a:t>
            </a:r>
          </a:p>
          <a:p>
            <a:pPr marL="228600" indent="-228600">
              <a:buChar char="✓"/>
            </a:pPr>
            <a:r>
              <a:rPr lang="en-US" sz="1100" b="1" dirty="0">
                <a:solidFill>
                  <a:srgbClr val="028090"/>
                </a:solidFill>
                <a:latin typeface="Calibri" pitchFamily="34" charset="0"/>
              </a:rPr>
              <a:t>BatchNorm1d</a:t>
            </a:r>
          </a:p>
          <a:p>
            <a:pPr lvl="1"/>
            <a:r>
              <a:rPr lang="en-US" sz="1000" dirty="0">
                <a:solidFill>
                  <a:srgbClr val="1A2B3C"/>
                </a:solidFill>
                <a:latin typeface="Calibri" pitchFamily="34" charset="0"/>
              </a:rPr>
              <a:t>- stabilizes gradients on 12 288-dim flat input </a:t>
            </a:r>
          </a:p>
          <a:p>
            <a:pPr lvl="1"/>
            <a:r>
              <a:rPr lang="en-US" sz="1000" dirty="0">
                <a:solidFill>
                  <a:srgbClr val="1A2B3C"/>
                </a:solidFill>
                <a:latin typeface="Calibri" pitchFamily="34" charset="0"/>
              </a:rPr>
              <a:t>- (model B &gt; A by +0.002)</a:t>
            </a:r>
          </a:p>
          <a:p>
            <a:pPr marL="228600" indent="-228600">
              <a:buChar char="✓"/>
            </a:pPr>
            <a:r>
              <a:rPr lang="en-US" sz="1100" b="1" dirty="0">
                <a:solidFill>
                  <a:srgbClr val="028090"/>
                </a:solidFill>
                <a:latin typeface="Calibri" pitchFamily="34" charset="0"/>
              </a:rPr>
              <a:t>Soft ensemble C+E</a:t>
            </a:r>
          </a:p>
          <a:p>
            <a:pPr lvl="1"/>
            <a:r>
              <a:rPr lang="en-US" sz="1000" dirty="0">
                <a:solidFill>
                  <a:srgbClr val="1A2B3C"/>
                </a:solidFill>
                <a:latin typeface="Calibri" pitchFamily="34" charset="0"/>
              </a:rPr>
              <a:t>- +0.003 over best solo; </a:t>
            </a:r>
          </a:p>
          <a:p>
            <a:pPr lvl="1"/>
            <a:r>
              <a:rPr lang="en-US" sz="1000" dirty="0">
                <a:solidFill>
                  <a:srgbClr val="1A2B3C"/>
                </a:solidFill>
                <a:latin typeface="Calibri" pitchFamily="34" charset="0"/>
              </a:rPr>
              <a:t>- diversity of error correction wins over strength</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rtlCol="0" anchor="t"/>
          <a:lstStyle/>
          <a:p>
            <a:pPr>
              <a:buNone/>
            </a:pPr>
            <a:r>
              <a:rPr lang="en-US" sz="1400" b="1" dirty="0">
                <a:solidFill>
                  <a:srgbClr val="C0392B"/>
                </a:solidFill>
                <a:latin typeface="Trebuchet MS" pitchFamily="34" charset="0"/>
              </a:rPr>
              <a:t>What Did Not Work</a:t>
            </a:r>
          </a:p>
          <a:p>
            <a:pPr marL="228600" indent="-228600">
              <a:buChar char="✗"/>
            </a:pPr>
            <a:r>
              <a:rPr lang="en-US" sz="1100" b="1" dirty="0">
                <a:solidFill>
                  <a:srgbClr val="C0392B"/>
                </a:solidFill>
                <a:latin typeface="Calibri" pitchFamily="34" charset="0"/>
              </a:rPr>
              <a:t>Augmentation (flip/jitter/rotate)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0.047 F1; MLP has no spatial invariance, flipped images = different vectors</a:t>
            </a:r>
          </a:p>
          <a:p>
            <a:pPr marL="228600" indent="-228600">
              <a:buChar char="✗"/>
            </a:pPr>
            <a:r>
              <a:rPr lang="en-US" sz="1100" b="1" dirty="0">
                <a:solidFill>
                  <a:srgbClr val="C0392B"/>
                </a:solidFill>
                <a:latin typeface="Calibri" pitchFamily="34" charset="0"/>
              </a:rPr>
              <a:t>Wider first layer (1024)</a:t>
            </a:r>
          </a:p>
          <a:p>
            <a:pPr lvl="1"/>
            <a:r>
              <a:rPr lang="en-US" sz="1000" dirty="0">
                <a:solidFill>
                  <a:srgbClr val="1A2B3C"/>
                </a:solidFill>
                <a:latin typeface="Calibri" pitchFamily="34" charset="0"/>
              </a:rPr>
              <a:t>- L=0.220;  more capacity = more memorisation on 2 880 samples (doesn’t generalize well)</a:t>
            </a:r>
          </a:p>
          <a:p>
            <a:pPr marL="228600" indent="-228600">
              <a:buChar char="✗"/>
            </a:pPr>
            <a:r>
              <a:rPr lang="en-US" sz="1100" b="1" dirty="0">
                <a:solidFill>
                  <a:srgbClr val="C0392B"/>
                </a:solidFill>
                <a:latin typeface="Calibri" pitchFamily="34" charset="0"/>
              </a:rPr>
              <a:t>Deeper net (4 layers) </a:t>
            </a:r>
          </a:p>
          <a:p>
            <a:pPr lvl="1"/>
            <a:r>
              <a:rPr lang="en-US" sz="1000" dirty="0">
                <a:solidFill>
                  <a:srgbClr val="1A2B3C"/>
                </a:solidFill>
                <a:latin typeface="Calibri" pitchFamily="34" charset="0"/>
              </a:rPr>
              <a:t>- S=0.191; extra depth can not be regularised effectively on small data</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0.136; colour is the primary discriminative signal, removing it destroys performance</a:t>
            </a:r>
          </a:p>
          <a:p>
            <a:pPr marL="228600" indent="-228600">
              <a:buChar char="✗"/>
            </a:pPr>
            <a:r>
              <a:rPr lang="en-US" sz="1100" b="1" dirty="0">
                <a:solidFill>
                  <a:srgbClr val="C0392B"/>
                </a:solidFill>
                <a:latin typeface="Calibri" pitchFamily="34" charset="0"/>
              </a:rPr>
              <a:t>Sampler + CW together (model O)</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0.192; double-compensating imbalance over-corrects</a:t>
            </a:r>
          </a:p>
          <a:p>
            <a:pPr marL="228600" indent="-228600">
              <a:buChar char="✗"/>
            </a:pPr>
            <a:r>
              <a:rPr lang="en-US" sz="1100" b="1" dirty="0">
                <a:solidFill>
                  <a:srgbClr val="C0392B"/>
                </a:solidFill>
                <a:latin typeface="Calibri" pitchFamily="34" charset="0"/>
              </a:rPr>
              <a:t>Strong weight decay (1e-4)</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D=0.186; combined with LS + dropout = too many simultaneous constraints</a:t>
            </a:r>
          </a:p>
        </p:txBody>
      </p:sp>
      <p:sp>
        <p:nvSpPr>
          <p:cNvPr id="7" name="Badge">
            <a:extLst>
              <a:ext uri="{FF2B5EF4-FFF2-40B4-BE49-F238E27FC236}">
                <a16:creationId xmlns:a16="http://schemas.microsoft.com/office/drawing/2014/main" id="{752BFE2C-D8F5-E274-6157-BBD3C79E1135}"/>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9" name="NumCircle">
            <a:extLst>
              <a:ext uri="{FF2B5EF4-FFF2-40B4-BE49-F238E27FC236}">
                <a16:creationId xmlns:a16="http://schemas.microsoft.com/office/drawing/2014/main" id="{BFA36BE3-31DC-A21B-B5EC-94DE09B320B6}"/>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Ceiling ~0.24</a:t>
            </a:r>
          </a:p>
        </p:txBody>
      </p:sp>
      <p:pic>
        <p:nvPicPr>
          <p:cNvPr id="7" name="Picture 6">
            <a:extLst>
              <a:ext uri="{FF2B5EF4-FFF2-40B4-BE49-F238E27FC236}">
                <a16:creationId xmlns:a16="http://schemas.microsoft.com/office/drawing/2014/main" id="{F4E8ABD3-4087-6919-0590-2915AFA9C878}"/>
              </a:ext>
            </a:extLst>
          </p:cNvPr>
          <p:cNvPicPr>
            <a:picLocks noChangeAspect="1"/>
          </p:cNvPicPr>
          <p:nvPr/>
        </p:nvPicPr>
        <p:blipFill>
          <a:blip r:embed="rId2"/>
          <a:srcRect b="49653"/>
          <a:stretch>
            <a:fillRect/>
          </a:stretch>
        </p:blipFill>
        <p:spPr>
          <a:xfrm>
            <a:off x="104989" y="714241"/>
            <a:ext cx="8950723" cy="2030640"/>
          </a:xfrm>
          <a:prstGeom prst="rect">
            <a:avLst/>
          </a:prstGeom>
          <a:effectLst>
            <a:outerShdw blurRad="50800" dist="38100" dir="5400000" algn="t" rotWithShape="0">
              <a:prstClr val="black">
                <a:alpha val="40000"/>
              </a:prstClr>
            </a:outerShdw>
          </a:effectLst>
        </p:spPr>
      </p:pic>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best </a:t>
            </a:r>
            <a:r>
              <a:rPr lang="en-US" sz="1000" dirty="0" err="1">
                <a:solidFill>
                  <a:srgbClr val="AACCD8"/>
                </a:solidFill>
                <a:latin typeface="Calibri" pitchFamily="34" charset="0"/>
              </a:rPr>
              <a:t>val</a:t>
            </a:r>
            <a:r>
              <a:rPr lang="en-US" sz="1000" dirty="0">
                <a:solidFill>
                  <a:srgbClr val="AACCD8"/>
                </a:solidFill>
                <a:latin typeface="Calibri" pitchFamily="34" charset="0"/>
              </a:rPr>
              <a:t> macro-F1 (ensemble C+E)</a:t>
            </a:r>
          </a:p>
          <a:p>
            <a:r>
              <a:rPr lang="en-US" sz="2800" b="1" dirty="0">
                <a:solidFill>
                  <a:srgbClr val="FFFFFF"/>
                </a:solidFill>
                <a:latin typeface="Trebuchet MS" pitchFamily="34" charset="0"/>
              </a:rPr>
              <a:t>0.2428</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dirty="0">
                <a:solidFill>
                  <a:srgbClr val="FFFFFF"/>
                </a:solidFill>
                <a:latin typeface="Trebuchet MS" pitchFamily="34" charset="0"/>
              </a:rPr>
              <a:t>0.2288</a:t>
            </a: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73200" y="3077292"/>
            <a:ext cx="4465810" cy="1956480"/>
          </a:xfrm>
          <a:prstGeom prst="rect">
            <a:avLst/>
          </a:prstGeom>
          <a:noFill/>
          <a:ln/>
        </p:spPr>
        <p:txBody>
          <a:bodyPr wrap="square" rtlCol="0" anchor="t"/>
          <a:lstStyle/>
          <a:p>
            <a:pPr>
              <a:buNone/>
            </a:pPr>
            <a:r>
              <a:rPr lang="en-US" sz="1300" b="1" dirty="0">
                <a:solidFill>
                  <a:srgbClr val="00A896"/>
                </a:solidFill>
                <a:latin typeface="Trebuchet MS" pitchFamily="34" charset="0"/>
              </a:rPr>
              <a:t>Why ~0.24 is the MLP wall</a:t>
            </a:r>
          </a:p>
          <a:p>
            <a:pPr marL="228600" indent="-228600">
              <a:buChar char="•"/>
            </a:pPr>
            <a:r>
              <a:rPr lang="en-US" sz="1100" dirty="0">
                <a:solidFill>
                  <a:schemeClr val="bg1"/>
                </a:solidFill>
                <a:latin typeface="Calibri" pitchFamily="34" charset="0"/>
              </a:rPr>
              <a:t>Feature-to-sample ratio d/n = 4.27 (want &lt;= 1)</a:t>
            </a:r>
          </a:p>
          <a:p>
            <a:pPr marL="228600" indent="-228600">
              <a:buChar char="•"/>
            </a:pPr>
            <a:r>
              <a:rPr lang="en-US" sz="1100" dirty="0">
                <a:solidFill>
                  <a:schemeClr val="bg1"/>
                </a:solidFill>
                <a:latin typeface="Calibri" pitchFamily="34" charset="0"/>
              </a:rPr>
              <a:t>12 288 features, only 2 880 training samples — extremely sparse space</a:t>
            </a:r>
          </a:p>
          <a:p>
            <a:pPr marL="228600" indent="-228600">
              <a:buChar char="•"/>
            </a:pPr>
            <a:r>
              <a:rPr lang="en-US" sz="1100" dirty="0">
                <a:solidFill>
                  <a:schemeClr val="bg1"/>
                </a:solidFill>
                <a:latin typeface="Calibri" pitchFamily="34" charset="0"/>
              </a:rPr>
              <a:t>No spatial inductive bias — MLP is essentially a colour histogram classifier</a:t>
            </a:r>
          </a:p>
          <a:p>
            <a:pPr marL="228600" indent="-228600">
              <a:buChar char="•"/>
            </a:pPr>
            <a:r>
              <a:rPr lang="en-US" sz="1100" dirty="0">
                <a:solidFill>
                  <a:schemeClr val="bg1"/>
                </a:solidFill>
                <a:latin typeface="Calibri" pitchFamily="34" charset="0"/>
              </a:rPr>
              <a:t>All top-6 models within 0.004 F1 — search is saturated</a:t>
            </a:r>
          </a:p>
          <a:p>
            <a:pPr>
              <a:buNone/>
            </a:pPr>
            <a:r>
              <a:rPr lang="en-US" sz="1100" b="1" dirty="0">
                <a:solidFill>
                  <a:schemeClr val="accent2">
                    <a:lumMod val="40000"/>
                    <a:lumOff val="60000"/>
                  </a:schemeClr>
                </a:solidFill>
                <a:latin typeface="Calibri" pitchFamily="34" charset="0"/>
              </a:rPr>
              <a:t>Next: CNN (Task 2) — spatial inductive bias will break this ceiling</a:t>
            </a:r>
          </a:p>
        </p:txBody>
      </p:sp>
      <p:sp>
        <p:nvSpPr>
          <p:cNvPr id="10" name="Badge">
            <a:extLst>
              <a:ext uri="{FF2B5EF4-FFF2-40B4-BE49-F238E27FC236}">
                <a16:creationId xmlns:a16="http://schemas.microsoft.com/office/drawing/2014/main" id="{6C2A9BDC-14E1-7F94-9693-6BF1C143CEE7}"/>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2" name="NumCircle">
            <a:extLst>
              <a:ext uri="{FF2B5EF4-FFF2-40B4-BE49-F238E27FC236}">
                <a16:creationId xmlns:a16="http://schemas.microsoft.com/office/drawing/2014/main" id="{BA8DC492-28E8-3290-4012-84E1A7167D62}"/>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1.3</a:t>
            </a:r>
            <a:endParaRPr lang="pt-PT" b="1" dirty="0"/>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252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44 min</a:t>
            </a:r>
            <a:endParaRPr lang="en-US" sz="2200" dirty="0"/>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total wall-clock (19 solo runs)</a:t>
            </a:r>
            <a:endParaRPr lang="en-US" sz="1000" dirty="0"/>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marL="0" indent="0" algn="ctr">
              <a:buNone/>
            </a:pPr>
            <a:r>
              <a:rPr lang="en-US" sz="2200" b="1" dirty="0">
                <a:solidFill>
                  <a:srgbClr val="27AE60"/>
                </a:solidFill>
                <a:latin typeface="Trebuchet MS" pitchFamily="34" charset="0"/>
                <a:ea typeface="Trebuchet MS" pitchFamily="34" charset="-122"/>
                <a:cs typeface="Trebuchet MS" pitchFamily="34" charset="-120"/>
              </a:rPr>
              <a:t>&lt; 100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GPU memory peak (MLP is tiny)</a:t>
            </a:r>
            <a:endParaRPr lang="en-US" sz="1000" dirty="0"/>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dirty="0">
                <a:solidFill>
                  <a:srgbClr val="E97C35"/>
                </a:solidFill>
                <a:latin typeface="Trebuchet MS" pitchFamily="34" charset="0"/>
                <a:ea typeface="Trebuchet MS" pitchFamily="34" charset="-122"/>
                <a:cs typeface="Trebuchet MS" pitchFamily="34" charset="-120"/>
              </a:rPr>
              <a:t>73%</a:t>
            </a:r>
            <a:endParaRPr lang="en-US" sz="2200" dirty="0"/>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4177813593"/>
              </p:ext>
            </p:extLst>
          </p:nvPr>
        </p:nvGraphicFramePr>
        <p:xfrm>
          <a:off x="347472" y="1910715"/>
          <a:ext cx="8449056" cy="2139696"/>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K_v2_wd1e5  —  58.6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Stopped at epoch 13 (light reg → fast plateau)</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Q_wider_sampler  —  172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37 epochs; wider model + sampler slows convergence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00000"/>
                          </a:solidFill>
                          <a:latin typeface="Calibri" pitchFamily="34" charset="0"/>
                          <a:ea typeface="Calibri" pitchFamily="34" charset="-122"/>
                          <a:cs typeface="Calibri" pitchFamily="34" charset="-120"/>
                        </a:rPr>
                        <a:t>~108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Across 19 solo runs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144 s  —  32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EarlyStopping saved best at epoch 21</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Smoke-test mode: 5 epochs, 100 samples — used for debugging</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5-fold CV × 19 experiments ≈ 95 training runs ≈ 144 min — exceeds the 1h Colab budget. Stratified 80/20 with fixed seed is the correct trade-off: relative experiment ranking is valid even if absolute F1 has ±0.02 noise from a single split.</a:t>
            </a:r>
            <a:endParaRPr lang="en-US" sz="1200" dirty="0"/>
          </a:p>
        </p:txBody>
      </p:sp>
      <p:sp>
        <p:nvSpPr>
          <p:cNvPr id="29" name="Badge">
            <a:extLst>
              <a:ext uri="{FF2B5EF4-FFF2-40B4-BE49-F238E27FC236}">
                <a16:creationId xmlns:a16="http://schemas.microsoft.com/office/drawing/2014/main" id="{871B0D03-B6CB-9097-6275-1FE197223E9F}"/>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31" name="NumCircle">
            <a:extLst>
              <a:ext uri="{FF2B5EF4-FFF2-40B4-BE49-F238E27FC236}">
                <a16:creationId xmlns:a16="http://schemas.microsoft.com/office/drawing/2014/main" id="{A56715A4-2190-5688-98FC-74A5E2A2E815}"/>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426465843"/>
              </p:ext>
            </p:extLst>
          </p:nvPr>
        </p:nvGraphicFramePr>
        <p:xfrm>
          <a:off x="347472" y="644652"/>
          <a:ext cx="8449056" cy="412394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74904">
                <a:tc>
                  <a:txBody>
                    <a:bodyPr/>
                    <a:lstStyle/>
                    <a:p>
                      <a:pPr marL="0" indent="0">
                        <a:buNone/>
                      </a:pPr>
                      <a:r>
                        <a:rPr lang="en-US" sz="1400" dirty="0">
                          <a:solidFill>
                            <a:srgbClr val="000000"/>
                          </a:solidFill>
                        </a:rPr>
                        <a:t>A_vanilla</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21/30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Simple model finds plateau quickly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400" dirty="0">
                          <a:solidFill>
                            <a:srgbClr val="000000"/>
                          </a:solidFill>
                        </a:rPr>
                        <a:t>B_mlp_base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Heavy dropout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400" dirty="0">
                          <a:solidFill>
                            <a:srgbClr val="000000"/>
                          </a:solidFill>
                        </a:rPr>
                        <a:t>C_ls01_drop03</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LS adds noise → peak at ep21, patience exhausted ep28</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400" dirty="0">
                          <a:solidFill>
                            <a:srgbClr val="000000"/>
                          </a:solidFill>
                        </a:rPr>
                        <a:t>D_wd1e4</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L2 + LS + Dropout = too many constraints, never converges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400" dirty="0">
                          <a:solidFill>
                            <a:srgbClr val="000000"/>
                          </a:solidFill>
                        </a:rPr>
                        <a:t>E_sampler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23/30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Sampler + LS converges cleanly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400" dirty="0">
                          <a:solidFill>
                            <a:srgbClr val="000000"/>
                          </a:solidFill>
                        </a:rPr>
                        <a:t>F_narrow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Barely</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Narrow arch is the bottleneck — very slow to plateau</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400" dirty="0">
                          <a:solidFill>
                            <a:srgbClr val="000000"/>
                          </a:solidFill>
                        </a:rPr>
                        <a:t>G_bottleneck</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Wide bottleneck still slowly improving — needs more epochs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400" dirty="0">
                          <a:solidFill>
                            <a:srgbClr val="000000"/>
                          </a:solidFill>
                        </a:rPr>
                        <a:t>O_c_sampler_cw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Double-compensation confuses the optimiser — never peaks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400" dirty="0">
                          <a:solidFill>
                            <a:srgbClr val="000000"/>
                          </a:solidFill>
                        </a:rPr>
                        <a:t>Q_wider_sampler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Patience=7 allows &gt;30 epochs when plateau is very slow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74904">
                <a:tc>
                  <a:txBody>
                    <a:bodyPr/>
                    <a:lstStyle/>
                    <a:p>
                      <a:pPr marL="0" indent="0">
                        <a:buNone/>
                      </a:pPr>
                      <a:r>
                        <a:rPr lang="en-US" sz="1400" dirty="0">
                          <a:solidFill>
                            <a:srgbClr val="000000"/>
                          </a:solidFill>
                        </a:rPr>
                        <a:t>R_ls015_drop03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Best checkpoint at ep21; patience runs out at ep32</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14" name="Badge">
            <a:extLst>
              <a:ext uri="{FF2B5EF4-FFF2-40B4-BE49-F238E27FC236}">
                <a16:creationId xmlns:a16="http://schemas.microsoft.com/office/drawing/2014/main" id="{EA485D6D-D7DF-2891-FAF0-D5AF03732C4D}"/>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16" name="NumCircle">
            <a:extLst>
              <a:ext uri="{FF2B5EF4-FFF2-40B4-BE49-F238E27FC236}">
                <a16:creationId xmlns:a16="http://schemas.microsoft.com/office/drawing/2014/main" id="{4D5E2B77-88A3-6C72-CCB6-36C66F42DA85}"/>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dirty="0">
                <a:solidFill>
                  <a:srgbClr val="1A2B3C"/>
                </a:solidFill>
                <a:latin typeface="Calibri"/>
              </a:rPr>
              <a:t>1      2.319          2.254          0.106          0.085</a:t>
            </a:r>
          </a:p>
          <a:p>
            <a:pPr>
              <a:buNone/>
            </a:pPr>
            <a:r>
              <a:rPr lang="en-US" sz="1000" dirty="0">
                <a:solidFill>
                  <a:srgbClr val="1A2B3C"/>
                </a:solidFill>
                <a:latin typeface="Calibri"/>
              </a:rPr>
              <a:t>5      2.169          2.167          0.207          0.137</a:t>
            </a:r>
          </a:p>
          <a:p>
            <a:pPr>
              <a:buNone/>
            </a:pPr>
            <a:r>
              <a:rPr lang="en-US" sz="1000" dirty="0">
                <a:solidFill>
                  <a:srgbClr val="1A2B3C"/>
                </a:solidFill>
                <a:latin typeface="Calibri"/>
              </a:rPr>
              <a:t>10    1.948          2.150          0.437          0.209</a:t>
            </a:r>
          </a:p>
          <a:p>
            <a:pPr>
              <a:buNone/>
            </a:pPr>
            <a:r>
              <a:rPr lang="en-US" sz="1000" dirty="0">
                <a:solidFill>
                  <a:srgbClr val="1A2B3C"/>
                </a:solidFill>
                <a:latin typeface="Calibri"/>
              </a:rPr>
              <a:t>15    1.534          2.181          0.674          0.224</a:t>
            </a:r>
          </a:p>
          <a:p>
            <a:pPr>
              <a:buNone/>
            </a:pPr>
            <a:r>
              <a:rPr lang="en-US" sz="1000" dirty="0">
                <a:solidFill>
                  <a:srgbClr val="1A2B3C"/>
                </a:solidFill>
                <a:latin typeface="Calibri"/>
              </a:rPr>
              <a:t>20    1.362          2.225          0.783          0.234</a:t>
            </a:r>
          </a:p>
          <a:p>
            <a:pPr>
              <a:buNone/>
            </a:pPr>
            <a:r>
              <a:rPr lang="en-US" sz="1000" b="1" dirty="0">
                <a:solidFill>
                  <a:srgbClr val="00A896"/>
                </a:solidFill>
                <a:latin typeface="Calibri"/>
              </a:rPr>
              <a:t>25 *  1.202          2.252          0.873          0.240  ← checkpoint</a:t>
            </a:r>
          </a:p>
          <a:p>
            <a:pPr>
              <a:buNone/>
            </a:pPr>
            <a:r>
              <a:rPr lang="en-US" sz="1000" dirty="0">
                <a:solidFill>
                  <a:srgbClr val="1A2B3C"/>
                </a:solidFill>
                <a:latin typeface="Calibri"/>
              </a:rPr>
              <a:t>30    1.172          2.256          0.899          0.231</a:t>
            </a:r>
          </a:p>
          <a:p>
            <a:pPr>
              <a:buNone/>
            </a:pPr>
            <a:r>
              <a:rPr lang="en-US" sz="1000" dirty="0">
                <a:solidFill>
                  <a:srgbClr val="1A2B3C"/>
                </a:solidFill>
                <a:latin typeface="Calibri"/>
              </a:rPr>
              <a:t>32    1.142          2.256          0.913          0.225</a:t>
            </a:r>
          </a:p>
        </p:txBody>
      </p:sp>
      <p:pic>
        <p:nvPicPr>
          <p:cNvPr id="13" name="Picture 12">
            <a:extLst>
              <a:ext uri="{FF2B5EF4-FFF2-40B4-BE49-F238E27FC236}">
                <a16:creationId xmlns:a16="http://schemas.microsoft.com/office/drawing/2014/main" id="{6764680F-6E4D-0A7B-3716-7F38FCB545BC}"/>
              </a:ext>
            </a:extLst>
          </p:cNvPr>
          <p:cNvPicPr>
            <a:picLocks noChangeAspect="1"/>
          </p:cNvPicPr>
          <p:nvPr/>
        </p:nvPicPr>
        <p:blipFill>
          <a:blip r:embed="rId2"/>
          <a:stretch>
            <a:fillRect/>
          </a:stretch>
        </p:blipFill>
        <p:spPr>
          <a:xfrm>
            <a:off x="537037" y="2612390"/>
            <a:ext cx="7694855" cy="2520078"/>
          </a:xfrm>
          <a:prstGeom prst="rect">
            <a:avLst/>
          </a:prstGeom>
        </p:spPr>
      </p:pic>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Saves best checkpoint .pth per run</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Allows &gt;30 epochs when plateau is slow (Q ran 37)</a:t>
            </a:r>
            <a:endParaRPr lang="en-US" sz="1200" dirty="0"/>
          </a:p>
        </p:txBody>
      </p:sp>
      <p:sp>
        <p:nvSpPr>
          <p:cNvPr id="7" name="Badge">
            <a:extLst>
              <a:ext uri="{FF2B5EF4-FFF2-40B4-BE49-F238E27FC236}">
                <a16:creationId xmlns:a16="http://schemas.microsoft.com/office/drawing/2014/main" id="{D9A61A09-C6DC-3BCE-EFB4-15F9DCA74F66}"/>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9" name="NumCircle">
            <a:extLst>
              <a:ext uri="{FF2B5EF4-FFF2-40B4-BE49-F238E27FC236}">
                <a16:creationId xmlns:a16="http://schemas.microsoft.com/office/drawing/2014/main" id="{03F3AAF3-57CD-D28C-97E4-4014D3BF1ED8}"/>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1.4</a:t>
            </a:r>
            <a:endParaRPr lang="pt-PT"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3772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274320" y="2436880"/>
            <a:ext cx="5151120" cy="245256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dirty="0">
                <a:solidFill>
                  <a:srgbClr val="00A896"/>
                </a:solidFill>
                <a:latin typeface="Trebuchet MS" pitchFamily="34" charset="0"/>
                <a:ea typeface="Trebuchet MS" pitchFamily="34" charset="-122"/>
                <a:cs typeface="Trebuchet MS" pitchFamily="34" charset="-120"/>
              </a:rPr>
              <a:t>0.2428</a:t>
            </a:r>
            <a:endParaRPr lang="en-US" sz="3200" dirty="0"/>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val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(ensemble C+E)</a:t>
            </a:r>
            <a:endParaRPr lang="en-US" sz="1100" dirty="0"/>
          </a:p>
        </p:txBody>
      </p:sp>
      <p:sp>
        <p:nvSpPr>
          <p:cNvPr id="10" name="Shape 8"/>
          <p:cNvSpPr/>
          <p:nvPr/>
        </p:nvSpPr>
        <p:spPr>
          <a:xfrm>
            <a:off x="2523744"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dirty="0">
                <a:solidFill>
                  <a:srgbClr val="02C39A"/>
                </a:solidFill>
                <a:latin typeface="Trebuchet MS" pitchFamily="34" charset="0"/>
                <a:ea typeface="Trebuchet MS" pitchFamily="34" charset="-122"/>
                <a:cs typeface="Trebuchet MS" pitchFamily="34" charset="-120"/>
              </a:rPr>
              <a:t>0.2396</a:t>
            </a:r>
            <a:endParaRPr lang="en-US" sz="3200" dirty="0"/>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(R_ls015_drop03)</a:t>
            </a:r>
            <a:endParaRPr lang="en-US" sz="1100" dirty="0"/>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dirty="0">
                <a:solidFill>
                  <a:srgbClr val="E97C35"/>
                </a:solidFill>
                <a:latin typeface="Trebuchet MS" pitchFamily="34" charset="0"/>
                <a:ea typeface="Trebuchet MS" pitchFamily="34" charset="-122"/>
                <a:cs typeface="Trebuchet MS" pitchFamily="34" charset="-120"/>
              </a:rPr>
              <a:t>0.2288</a:t>
            </a:r>
            <a:endParaRPr lang="en-US" sz="3200" dirty="0"/>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dirty="0">
                <a:solidFill>
                  <a:srgbClr val="FFC000"/>
                </a:solidFill>
                <a:latin typeface="Calibri" pitchFamily="34" charset="0"/>
                <a:ea typeface="Calibri" pitchFamily="34" charset="-122"/>
                <a:cs typeface="Calibri" pitchFamily="34" charset="-120"/>
              </a:rPr>
              <a:t>Kaggle public score</a:t>
            </a:r>
            <a:endParaRPr lang="en-US" sz="1100" b="1" dirty="0">
              <a:solidFill>
                <a:srgbClr val="FFC000"/>
              </a:solidFill>
            </a:endParaRPr>
          </a:p>
          <a:p>
            <a:pPr marL="0" indent="0" algn="ctr">
              <a:buNone/>
            </a:pPr>
            <a:r>
              <a:rPr lang="en-US" sz="1100" dirty="0">
                <a:solidFill>
                  <a:srgbClr val="FFFFFF"/>
                </a:solidFill>
                <a:latin typeface="Calibri" pitchFamily="34" charset="0"/>
                <a:ea typeface="Calibri" pitchFamily="34" charset="-122"/>
                <a:cs typeface="Calibri" pitchFamily="34" charset="-120"/>
              </a:rPr>
              <a:t>(submitted ENS_C_E)</a:t>
            </a:r>
            <a:endParaRPr lang="en-US" sz="1100" dirty="0"/>
          </a:p>
        </p:txBody>
      </p:sp>
      <p:sp>
        <p:nvSpPr>
          <p:cNvPr id="18" name="Shape 16"/>
          <p:cNvSpPr/>
          <p:nvPr/>
        </p:nvSpPr>
        <p:spPr>
          <a:xfrm>
            <a:off x="6876288"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FFFF00"/>
          </a:solidFill>
          <a:ln w="12700">
            <a:noFill/>
            <a:prstDash val="solid"/>
          </a:ln>
        </p:spPr>
        <p:txBody>
          <a:bodyPr/>
          <a:lstStyle/>
          <a:p>
            <a:endParaRPr lang="pt-PT"/>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pPr>
              <a:buNone/>
            </a:pPr>
            <a:r>
              <a:rPr lang="en-US" dirty="0">
                <a:solidFill>
                  <a:srgbClr val="888888"/>
                </a:solidFill>
                <a:latin typeface="Calibri"/>
              </a:rPr>
              <a:t>Always-Water              		0.021      		18.7%</a:t>
            </a:r>
          </a:p>
          <a:p>
            <a:pPr>
              <a:buNone/>
            </a:pPr>
            <a:r>
              <a:rPr lang="en-US" dirty="0">
                <a:solidFill>
                  <a:srgbClr val="028090"/>
                </a:solidFill>
                <a:latin typeface="Calibri"/>
              </a:rPr>
              <a:t>R_ls015_drop03 (solo)    	0.2396     		25.8%</a:t>
            </a:r>
          </a:p>
          <a:p>
            <a:pPr>
              <a:buNone/>
            </a:pPr>
            <a:r>
              <a:rPr lang="en-US" b="1" dirty="0">
                <a:solidFill>
                  <a:srgbClr val="00A896"/>
                </a:solidFill>
                <a:latin typeface="Calibri"/>
              </a:rPr>
              <a:t>ENS_C+E (submitted) ★		0.2428     		26.7%</a:t>
            </a:r>
          </a:p>
          <a:p>
            <a:pPr>
              <a:buNone/>
            </a:pPr>
            <a:r>
              <a:rPr lang="en-US" dirty="0">
                <a:solidFill>
                  <a:srgbClr val="1C3A52"/>
                </a:solidFill>
                <a:latin typeface="Calibri"/>
              </a:rPr>
              <a:t>Kaggle public test        		0.2288     		  —  </a:t>
            </a: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452560"/>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574040"/>
            <a:ext cx="3414141" cy="2315400"/>
          </a:xfrm>
          <a:prstGeom prst="rect">
            <a:avLst/>
          </a:prstGeom>
          <a:noFill/>
          <a:ln/>
        </p:spPr>
        <p:txBody>
          <a:bodyPr wrap="square" rtlCol="0" anchor="t"/>
          <a:lstStyle/>
          <a:p>
            <a:pPr>
              <a:buNone/>
            </a:pPr>
            <a:r>
              <a:rPr lang="en-US" b="1" dirty="0">
                <a:solidFill>
                  <a:srgbClr val="00A896"/>
                </a:solidFill>
                <a:latin typeface="Trebuchet MS"/>
              </a:rPr>
              <a:t>Our Model learned something</a:t>
            </a:r>
          </a:p>
          <a:p>
            <a:pPr marL="228600" indent="-228600">
              <a:buChar char="•"/>
            </a:pPr>
            <a:r>
              <a:rPr lang="en-US" sz="1600" b="1" dirty="0">
                <a:solidFill>
                  <a:srgbClr val="00A896"/>
                </a:solidFill>
                <a:latin typeface="Calibri"/>
              </a:rPr>
              <a:t>2.18x better than random guess</a:t>
            </a:r>
          </a:p>
          <a:p>
            <a:pPr marL="228600" indent="-228600">
              <a:buChar char="•"/>
            </a:pPr>
            <a:endParaRPr lang="en-US" sz="1600" b="1" dirty="0">
              <a:solidFill>
                <a:srgbClr val="00A896"/>
              </a:solidFill>
              <a:latin typeface="Calibri"/>
            </a:endParaRPr>
          </a:p>
          <a:p>
            <a:pPr>
              <a:buNone/>
            </a:pPr>
            <a:r>
              <a:rPr lang="en-US" sz="1600" b="1" dirty="0">
                <a:solidFill>
                  <a:srgbClr val="00A896"/>
                </a:solidFill>
                <a:latin typeface="Trebuchet MS"/>
              </a:rPr>
              <a:t>Note: </a:t>
            </a:r>
            <a:r>
              <a:rPr lang="en-US" sz="1600" b="1" dirty="0">
                <a:solidFill>
                  <a:srgbClr val="00A896"/>
                </a:solidFill>
                <a:latin typeface="Calibri"/>
              </a:rPr>
              <a:t>We didn’t select the best local model in Kaggle to be chosen for the private score. The best local model got </a:t>
            </a:r>
            <a:r>
              <a:rPr lang="en-US" sz="1600" b="1" dirty="0">
                <a:solidFill>
                  <a:srgbClr val="EF4F0F"/>
                </a:solidFill>
                <a:latin typeface="Calibri"/>
              </a:rPr>
              <a:t>Kaggle private score:</a:t>
            </a:r>
          </a:p>
          <a:p>
            <a:r>
              <a:rPr lang="en-US" sz="1600" b="1" dirty="0">
                <a:solidFill>
                  <a:srgbClr val="EF4F0F"/>
                </a:solidFill>
                <a:latin typeface="Calibri"/>
              </a:rPr>
              <a:t>	</a:t>
            </a:r>
            <a:r>
              <a:rPr lang="en-US" sz="2400" b="1" dirty="0">
                <a:solidFill>
                  <a:srgbClr val="EF4F0F"/>
                </a:solidFill>
                <a:latin typeface="Calibri"/>
              </a:rPr>
              <a:t>0.2431</a:t>
            </a: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dirty="0">
                <a:solidFill>
                  <a:srgbClr val="FFFF00"/>
                </a:solidFill>
                <a:latin typeface="Trebuchet MS" pitchFamily="34" charset="0"/>
                <a:ea typeface="Trebuchet MS" pitchFamily="34" charset="-122"/>
                <a:cs typeface="Trebuchet MS" pitchFamily="34" charset="-120"/>
              </a:rPr>
              <a:t>0.2239</a:t>
            </a:r>
            <a:endParaRPr lang="en-US" sz="3200" dirty="0">
              <a:solidFill>
                <a:srgbClr val="FFFF00"/>
              </a:solidFill>
            </a:endParaRP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dirty="0">
                <a:solidFill>
                  <a:srgbClr val="FFFF00"/>
                </a:solidFill>
                <a:latin typeface="Calibri" pitchFamily="34" charset="0"/>
                <a:ea typeface="Calibri" pitchFamily="34" charset="-122"/>
                <a:cs typeface="Calibri" pitchFamily="34" charset="-120"/>
              </a:rPr>
              <a:t>Kaggle private score</a:t>
            </a:r>
            <a:endParaRPr lang="en-US" sz="1100" b="1" dirty="0">
              <a:solidFill>
                <a:srgbClr val="FFFF00"/>
              </a:solidFill>
            </a:endParaRPr>
          </a:p>
          <a:p>
            <a:pPr marL="0" indent="0" algn="ctr">
              <a:buNone/>
            </a:pPr>
            <a:r>
              <a:rPr lang="en-US" sz="1100" dirty="0">
                <a:solidFill>
                  <a:srgbClr val="FFFFFF"/>
                </a:solidFill>
                <a:latin typeface="Calibri" pitchFamily="34" charset="0"/>
                <a:ea typeface="Calibri" pitchFamily="34" charset="-122"/>
                <a:cs typeface="Calibri" pitchFamily="34" charset="-120"/>
              </a:rPr>
              <a:t>(submitted ENS_C_E)</a:t>
            </a:r>
            <a:endParaRPr lang="en-US" sz="1100" dirty="0"/>
          </a:p>
        </p:txBody>
      </p:sp>
      <p:sp>
        <p:nvSpPr>
          <p:cNvPr id="34" name="Badge">
            <a:extLst>
              <a:ext uri="{FF2B5EF4-FFF2-40B4-BE49-F238E27FC236}">
                <a16:creationId xmlns:a16="http://schemas.microsoft.com/office/drawing/2014/main" id="{E968F274-A2C0-8BAF-D3D9-613D3A061480}"/>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36" name="NumCircle">
            <a:extLst>
              <a:ext uri="{FF2B5EF4-FFF2-40B4-BE49-F238E27FC236}">
                <a16:creationId xmlns:a16="http://schemas.microsoft.com/office/drawing/2014/main" id="{B42604D6-D497-B4D2-5BEB-C6E366435DA8}"/>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199" y="109728"/>
            <a:ext cx="6880671"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Per-Class F1</a:t>
            </a:r>
          </a:p>
        </p:txBody>
      </p:sp>
      <p:sp>
        <p:nvSpPr>
          <p:cNvPr id="20" name="ClassBG"/>
          <p:cNvSpPr/>
          <p:nvPr/>
        </p:nvSpPr>
        <p:spPr>
          <a:xfrm>
            <a:off x="4350994" y="740160"/>
            <a:ext cx="46639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0" name="Bar1fill"/>
          <p:cNvSpPr/>
          <p:nvPr/>
        </p:nvSpPr>
        <p:spPr>
          <a:xfrm>
            <a:off x="4443154" y="740160"/>
            <a:ext cx="2194560" cy="357120"/>
          </a:xfrm>
          <a:prstGeom prst="rect">
            <a:avLst/>
          </a:prstGeom>
          <a:solidFill>
            <a:srgbClr val="00A896"/>
          </a:solidFill>
          <a:ln w="0">
            <a:noFill/>
          </a:ln>
        </p:spPr>
        <p:txBody>
          <a:bodyPr/>
          <a:lstStyle/>
          <a:p>
            <a:endParaRPr lang="en-US"/>
          </a:p>
        </p:txBody>
      </p:sp>
      <p:sp>
        <p:nvSpPr>
          <p:cNvPr id="31" name="Bar1txt"/>
          <p:cNvSpPr/>
          <p:nvPr/>
        </p:nvSpPr>
        <p:spPr>
          <a:xfrm>
            <a:off x="4443154" y="740160"/>
            <a:ext cx="4480560" cy="357120"/>
          </a:xfrm>
          <a:prstGeom prst="rect">
            <a:avLst/>
          </a:prstGeom>
          <a:noFill/>
          <a:ln/>
        </p:spPr>
        <p:txBody>
          <a:bodyPr wrap="square" lIns="91440" tIns="0" rIns="0" bIns="0" rtlCol="0" anchor="ctr"/>
          <a:lstStyle/>
          <a:p>
            <a:pPr>
              <a:buNone/>
            </a:pPr>
            <a:r>
              <a:rPr lang="en-US" sz="1100" b="1" dirty="0">
                <a:solidFill>
                  <a:srgbClr val="FFFFFF"/>
                </a:solidFill>
                <a:latin typeface="Calibri"/>
              </a:rPr>
              <a:t>🔥 Fire    0.457  		           </a:t>
            </a:r>
            <a:r>
              <a:rPr lang="en-US" sz="900" dirty="0">
                <a:latin typeface="Calibri"/>
              </a:rPr>
              <a:t>distinctive orange palette</a:t>
            </a:r>
          </a:p>
        </p:txBody>
      </p:sp>
      <p:sp>
        <p:nvSpPr>
          <p:cNvPr id="32" name="Bar2fill"/>
          <p:cNvSpPr/>
          <p:nvPr/>
        </p:nvSpPr>
        <p:spPr>
          <a:xfrm>
            <a:off x="4443154" y="1133280"/>
            <a:ext cx="1737360" cy="329184"/>
          </a:xfrm>
          <a:prstGeom prst="rect">
            <a:avLst/>
          </a:prstGeom>
          <a:solidFill>
            <a:srgbClr val="028090"/>
          </a:solidFill>
          <a:ln w="0">
            <a:noFill/>
          </a:ln>
        </p:spPr>
        <p:txBody>
          <a:bodyPr/>
          <a:lstStyle/>
          <a:p>
            <a:endParaRPr lang="en-US"/>
          </a:p>
        </p:txBody>
      </p:sp>
      <p:sp>
        <p:nvSpPr>
          <p:cNvPr id="33" name="Bar2txt"/>
          <p:cNvSpPr/>
          <p:nvPr/>
        </p:nvSpPr>
        <p:spPr>
          <a:xfrm>
            <a:off x="4443154" y="113328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Poison  0.359                       </a:t>
            </a:r>
            <a:r>
              <a:rPr lang="en-US" sz="900" dirty="0">
                <a:solidFill>
                  <a:srgbClr val="1A2B3C"/>
                </a:solidFill>
                <a:latin typeface="Calibri"/>
              </a:rPr>
              <a:t>unique purple; LS prevents overconfidence</a:t>
            </a:r>
          </a:p>
        </p:txBody>
      </p:sp>
      <p:sp>
        <p:nvSpPr>
          <p:cNvPr id="34" name="Bar3fill"/>
          <p:cNvSpPr/>
          <p:nvPr/>
        </p:nvSpPr>
        <p:spPr>
          <a:xfrm>
            <a:off x="4443154" y="1517904"/>
            <a:ext cx="1600200" cy="329184"/>
          </a:xfrm>
          <a:prstGeom prst="rect">
            <a:avLst/>
          </a:prstGeom>
          <a:solidFill>
            <a:srgbClr val="028090"/>
          </a:solidFill>
          <a:ln w="0">
            <a:noFill/>
          </a:ln>
        </p:spPr>
        <p:txBody>
          <a:bodyPr/>
          <a:lstStyle/>
          <a:p>
            <a:endParaRPr lang="en-US"/>
          </a:p>
        </p:txBody>
      </p:sp>
      <p:sp>
        <p:nvSpPr>
          <p:cNvPr id="35" name="Bar3txt"/>
          <p:cNvSpPr/>
          <p:nvPr/>
        </p:nvSpPr>
        <p:spPr>
          <a:xfrm>
            <a:off x="4443154" y="151790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Water   0.332                  </a:t>
            </a:r>
            <a:r>
              <a:rPr lang="en-US" sz="900" dirty="0">
                <a:solidFill>
                  <a:srgbClr val="1A2B3C"/>
                </a:solidFill>
                <a:latin typeface="Calibri"/>
              </a:rPr>
              <a:t>blue palette helps; confused with Normal</a:t>
            </a:r>
          </a:p>
        </p:txBody>
      </p:sp>
      <p:sp>
        <p:nvSpPr>
          <p:cNvPr id="36" name="Bar4fill"/>
          <p:cNvSpPr/>
          <p:nvPr/>
        </p:nvSpPr>
        <p:spPr>
          <a:xfrm>
            <a:off x="4443154" y="1902528"/>
            <a:ext cx="1371600" cy="329184"/>
          </a:xfrm>
          <a:prstGeom prst="rect">
            <a:avLst/>
          </a:prstGeom>
          <a:solidFill>
            <a:srgbClr val="1C3A52"/>
          </a:solidFill>
          <a:ln w="0">
            <a:noFill/>
          </a:ln>
        </p:spPr>
        <p:txBody>
          <a:bodyPr/>
          <a:lstStyle/>
          <a:p>
            <a:endParaRPr lang="en-US"/>
          </a:p>
        </p:txBody>
      </p:sp>
      <p:sp>
        <p:nvSpPr>
          <p:cNvPr id="37" name="Bar4txt"/>
          <p:cNvSpPr/>
          <p:nvPr/>
        </p:nvSpPr>
        <p:spPr>
          <a:xfrm>
            <a:off x="4443154" y="190252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Grass   0.286            </a:t>
            </a:r>
            <a:r>
              <a:rPr lang="en-US" sz="900" dirty="0">
                <a:solidFill>
                  <a:srgbClr val="1A2B3C"/>
                </a:solidFill>
                <a:latin typeface="Calibri"/>
              </a:rPr>
              <a:t>green palette; confused with Bug</a:t>
            </a:r>
          </a:p>
        </p:txBody>
      </p:sp>
      <p:sp>
        <p:nvSpPr>
          <p:cNvPr id="38" name="Bar5fill"/>
          <p:cNvSpPr/>
          <p:nvPr/>
        </p:nvSpPr>
        <p:spPr>
          <a:xfrm>
            <a:off x="4443154" y="2287152"/>
            <a:ext cx="1028160" cy="329184"/>
          </a:xfrm>
          <a:prstGeom prst="rect">
            <a:avLst/>
          </a:prstGeom>
          <a:solidFill>
            <a:srgbClr val="1C3A52"/>
          </a:solidFill>
          <a:ln w="0">
            <a:noFill/>
          </a:ln>
        </p:spPr>
        <p:txBody>
          <a:bodyPr/>
          <a:lstStyle/>
          <a:p>
            <a:endParaRPr lang="en-US"/>
          </a:p>
        </p:txBody>
      </p:sp>
      <p:sp>
        <p:nvSpPr>
          <p:cNvPr id="39" name="Bar5txt"/>
          <p:cNvSpPr/>
          <p:nvPr/>
        </p:nvSpPr>
        <p:spPr>
          <a:xfrm>
            <a:off x="4443154" y="2287152"/>
            <a:ext cx="4480560" cy="329184"/>
          </a:xfrm>
          <a:prstGeom prst="rect">
            <a:avLst/>
          </a:prstGeom>
          <a:noFill/>
          <a:ln/>
        </p:spPr>
        <p:txBody>
          <a:bodyPr wrap="square" lIns="91440" tIns="0" rIns="0" bIns="0" rtlCol="0" anchor="ctr"/>
          <a:lstStyle/>
          <a:p>
            <a:pPr>
              <a:buNone/>
            </a:pPr>
            <a:r>
              <a:rPr lang="en-US" sz="1100" b="1" dirty="0">
                <a:solidFill>
                  <a:schemeClr val="bg1"/>
                </a:solidFill>
                <a:latin typeface="Calibri"/>
              </a:rPr>
              <a:t>😐 Normal  0.2</a:t>
            </a:r>
            <a:r>
              <a:rPr lang="en-US" sz="1100" b="1" dirty="0">
                <a:latin typeface="Calibri"/>
              </a:rPr>
              <a:t>15</a:t>
            </a:r>
            <a:r>
              <a:rPr lang="en-US" sz="1100" b="1" dirty="0">
                <a:solidFill>
                  <a:schemeClr val="bg1"/>
                </a:solidFill>
                <a:latin typeface="Calibri"/>
              </a:rPr>
              <a:t> </a:t>
            </a:r>
            <a:r>
              <a:rPr lang="en-US" sz="1100" b="1" dirty="0">
                <a:solidFill>
                  <a:srgbClr val="1C3A52"/>
                </a:solidFill>
                <a:latin typeface="Calibri"/>
              </a:rPr>
              <a:t> </a:t>
            </a:r>
            <a:r>
              <a:rPr lang="en-US" sz="900" dirty="0">
                <a:solidFill>
                  <a:srgbClr val="1A2B3C"/>
                </a:solidFill>
                <a:latin typeface="Calibri"/>
              </a:rPr>
              <a:t>most diverse; no distinctive colour</a:t>
            </a:r>
          </a:p>
        </p:txBody>
      </p:sp>
      <p:sp>
        <p:nvSpPr>
          <p:cNvPr id="40" name="Bar6fill"/>
          <p:cNvSpPr/>
          <p:nvPr/>
        </p:nvSpPr>
        <p:spPr>
          <a:xfrm>
            <a:off x="4443154" y="2671776"/>
            <a:ext cx="668880" cy="329184"/>
          </a:xfrm>
          <a:prstGeom prst="rect">
            <a:avLst/>
          </a:prstGeom>
          <a:solidFill>
            <a:srgbClr val="C0392B"/>
          </a:solidFill>
          <a:ln w="0">
            <a:noFill/>
          </a:ln>
        </p:spPr>
        <p:txBody>
          <a:bodyPr/>
          <a:lstStyle/>
          <a:p>
            <a:endParaRPr lang="en-US"/>
          </a:p>
        </p:txBody>
      </p:sp>
      <p:sp>
        <p:nvSpPr>
          <p:cNvPr id="41" name="Bar6txt"/>
          <p:cNvSpPr/>
          <p:nvPr/>
        </p:nvSpPr>
        <p:spPr>
          <a:xfrm>
            <a:off x="4443154" y="2671776"/>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Bug  </a:t>
            </a:r>
            <a:r>
              <a:rPr lang="en-US" sz="1100" b="1" dirty="0">
                <a:latin typeface="Calibri"/>
              </a:rPr>
              <a:t>   0.140  </a:t>
            </a:r>
            <a:r>
              <a:rPr lang="en-US" sz="900" dirty="0">
                <a:solidFill>
                  <a:srgbClr val="1A2B3C"/>
                </a:solidFill>
                <a:latin typeface="Calibri"/>
              </a:rPr>
              <a:t>green overlaps Grass; confused with Normal</a:t>
            </a:r>
          </a:p>
        </p:txBody>
      </p:sp>
      <p:sp>
        <p:nvSpPr>
          <p:cNvPr id="42" name="Bar7fill"/>
          <p:cNvSpPr/>
          <p:nvPr/>
        </p:nvSpPr>
        <p:spPr>
          <a:xfrm>
            <a:off x="4443154" y="3056400"/>
            <a:ext cx="640080" cy="329184"/>
          </a:xfrm>
          <a:prstGeom prst="rect">
            <a:avLst/>
          </a:prstGeom>
          <a:solidFill>
            <a:srgbClr val="C0392B"/>
          </a:solidFill>
          <a:ln w="0">
            <a:noFill/>
          </a:ln>
        </p:spPr>
        <p:txBody>
          <a:bodyPr/>
          <a:lstStyle/>
          <a:p>
            <a:endParaRPr lang="en-US"/>
          </a:p>
        </p:txBody>
      </p:sp>
      <p:sp>
        <p:nvSpPr>
          <p:cNvPr id="43" name="Bar7txt"/>
          <p:cNvSpPr/>
          <p:nvPr/>
        </p:nvSpPr>
        <p:spPr>
          <a:xfrm>
            <a:off x="4443154" y="305640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Rock</a:t>
            </a:r>
            <a:r>
              <a:rPr lang="en-US" sz="1100" b="1" dirty="0">
                <a:latin typeface="Calibri"/>
              </a:rPr>
              <a:t>    0.134  </a:t>
            </a:r>
            <a:r>
              <a:rPr lang="en-US" sz="900" dirty="0">
                <a:solidFill>
                  <a:srgbClr val="1A2B3C"/>
                </a:solidFill>
                <a:latin typeface="Calibri"/>
              </a:rPr>
              <a:t>grey/brown shared with Ground and Fighting</a:t>
            </a:r>
          </a:p>
        </p:txBody>
      </p:sp>
      <p:sp>
        <p:nvSpPr>
          <p:cNvPr id="44" name="Bar8fill"/>
          <p:cNvSpPr/>
          <p:nvPr/>
        </p:nvSpPr>
        <p:spPr>
          <a:xfrm>
            <a:off x="4443154" y="3441024"/>
            <a:ext cx="602640" cy="329184"/>
          </a:xfrm>
          <a:prstGeom prst="rect">
            <a:avLst/>
          </a:prstGeom>
          <a:solidFill>
            <a:srgbClr val="C0392B"/>
          </a:solidFill>
          <a:ln w="0">
            <a:noFill/>
          </a:ln>
        </p:spPr>
        <p:txBody>
          <a:bodyPr/>
          <a:lstStyle/>
          <a:p>
            <a:endParaRPr lang="en-US"/>
          </a:p>
        </p:txBody>
      </p:sp>
      <p:sp>
        <p:nvSpPr>
          <p:cNvPr id="45" name="Bar8txt"/>
          <p:cNvSpPr/>
          <p:nvPr/>
        </p:nvSpPr>
        <p:spPr>
          <a:xfrm>
            <a:off x="4443154" y="344102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Fight </a:t>
            </a:r>
            <a:r>
              <a:rPr lang="en-US" sz="1100" b="1" dirty="0">
                <a:latin typeface="Calibri"/>
              </a:rPr>
              <a:t> 0.126  </a:t>
            </a:r>
            <a:r>
              <a:rPr lang="en-US" sz="900" dirty="0">
                <a:solidFill>
                  <a:srgbClr val="1A2B3C"/>
                </a:solidFill>
                <a:latin typeface="Calibri"/>
              </a:rPr>
              <a:t>humanoid silhouette = same as Normal for MLP</a:t>
            </a:r>
          </a:p>
        </p:txBody>
      </p:sp>
      <p:sp>
        <p:nvSpPr>
          <p:cNvPr id="46" name="Bar9fill"/>
          <p:cNvSpPr/>
          <p:nvPr/>
        </p:nvSpPr>
        <p:spPr>
          <a:xfrm>
            <a:off x="4443154" y="3825648"/>
            <a:ext cx="511200" cy="329184"/>
          </a:xfrm>
          <a:prstGeom prst="rect">
            <a:avLst/>
          </a:prstGeom>
          <a:solidFill>
            <a:srgbClr val="C0392B"/>
          </a:solidFill>
          <a:ln w="0">
            <a:noFill/>
          </a:ln>
        </p:spPr>
        <p:txBody>
          <a:bodyPr/>
          <a:lstStyle/>
          <a:p>
            <a:endParaRPr lang="en-US"/>
          </a:p>
        </p:txBody>
      </p:sp>
      <p:sp>
        <p:nvSpPr>
          <p:cNvPr id="47" name="Bar9txt"/>
          <p:cNvSpPr/>
          <p:nvPr/>
        </p:nvSpPr>
        <p:spPr>
          <a:xfrm>
            <a:off x="4443154" y="382564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Gro</a:t>
            </a:r>
            <a:r>
              <a:rPr lang="en-US" sz="1100" b="1" dirty="0">
                <a:latin typeface="Calibri"/>
              </a:rPr>
              <a:t>und 0.107  </a:t>
            </a:r>
            <a:r>
              <a:rPr lang="en-US" sz="900" dirty="0">
                <a:solidFill>
                  <a:srgbClr val="1A2B3C"/>
                </a:solidFill>
                <a:latin typeface="Calibri"/>
              </a:rPr>
              <a:t>fewest samples (244) + brown/grey overlap</a:t>
            </a:r>
          </a:p>
        </p:txBody>
      </p:sp>
      <p:sp>
        <p:nvSpPr>
          <p:cNvPr id="50" name="InsightBG"/>
          <p:cNvSpPr/>
          <p:nvPr/>
        </p:nvSpPr>
        <p:spPr>
          <a:xfrm>
            <a:off x="274320" y="4628400"/>
            <a:ext cx="8595360" cy="457200"/>
          </a:xfrm>
          <a:prstGeom prst="rect">
            <a:avLst/>
          </a:prstGeom>
          <a:solidFill>
            <a:srgbClr val="1C3A52"/>
          </a:solidFill>
          <a:ln w="0">
            <a:noFill/>
          </a:ln>
        </p:spPr>
        <p:txBody>
          <a:bodyPr/>
          <a:lstStyle/>
          <a:p>
            <a:endParaRPr lang="en-US"/>
          </a:p>
        </p:txBody>
      </p:sp>
      <p:sp>
        <p:nvSpPr>
          <p:cNvPr id="51" name="InsightText"/>
          <p:cNvSpPr/>
          <p:nvPr/>
        </p:nvSpPr>
        <p:spPr>
          <a:xfrm>
            <a:off x="457200" y="4665480"/>
            <a:ext cx="8228160" cy="384840"/>
          </a:xfrm>
          <a:prstGeom prst="rect">
            <a:avLst/>
          </a:prstGeom>
          <a:noFill/>
          <a:ln/>
        </p:spPr>
        <p:txBody>
          <a:bodyPr wrap="square" rtlCol="0" anchor="ctr"/>
          <a:lstStyle/>
          <a:p>
            <a:pPr>
              <a:buNone/>
            </a:pPr>
            <a:r>
              <a:rPr lang="en-US" sz="1100" b="1" dirty="0">
                <a:solidFill>
                  <a:schemeClr val="accent2">
                    <a:lumMod val="40000"/>
                    <a:lumOff val="60000"/>
                  </a:schemeClr>
                </a:solidFill>
                <a:latin typeface="Trebuchet MS"/>
              </a:rPr>
              <a:t>Pattern: Color Palette Drives Performance - </a:t>
            </a:r>
            <a:r>
              <a:rPr lang="en-US" sz="1200" dirty="0">
                <a:solidFill>
                  <a:srgbClr val="AACCD8"/>
                </a:solidFill>
                <a:latin typeface="Calibri"/>
              </a:rPr>
              <a:t>distinctive colour = high F1 (Fire/Poison/Water); shared palette or humanoid shape = low F1 (Bug/Rock/Fighting/Ground). MLP on flat pixels is essentially a colour histogram classifier.</a:t>
            </a:r>
          </a:p>
        </p:txBody>
      </p:sp>
      <p:grpSp>
        <p:nvGrpSpPr>
          <p:cNvPr id="14" name="Group 13">
            <a:extLst>
              <a:ext uri="{FF2B5EF4-FFF2-40B4-BE49-F238E27FC236}">
                <a16:creationId xmlns:a16="http://schemas.microsoft.com/office/drawing/2014/main" id="{D7D7BD19-8433-4220-0326-4A5E6E9DD5F1}"/>
              </a:ext>
            </a:extLst>
          </p:cNvPr>
          <p:cNvGrpSpPr/>
          <p:nvPr/>
        </p:nvGrpSpPr>
        <p:grpSpPr>
          <a:xfrm>
            <a:off x="62346" y="704400"/>
            <a:ext cx="4159440" cy="3812241"/>
            <a:chOff x="328275" y="1078992"/>
            <a:chExt cx="5948798" cy="5452234"/>
          </a:xfrm>
        </p:grpSpPr>
        <p:pic>
          <p:nvPicPr>
            <p:cNvPr id="8" name="Picture 7">
              <a:extLst>
                <a:ext uri="{FF2B5EF4-FFF2-40B4-BE49-F238E27FC236}">
                  <a16:creationId xmlns:a16="http://schemas.microsoft.com/office/drawing/2014/main" id="{521649CF-B41C-41B2-9BCE-27EF28A8079C}"/>
                </a:ext>
              </a:extLst>
            </p:cNvPr>
            <p:cNvPicPr>
              <a:picLocks noChangeAspect="1"/>
            </p:cNvPicPr>
            <p:nvPr/>
          </p:nvPicPr>
          <p:blipFill>
            <a:blip r:embed="rId2"/>
            <a:srcRect l="7907" b="32403"/>
            <a:stretch>
              <a:fillRect/>
            </a:stretch>
          </p:blipFill>
          <p:spPr>
            <a:xfrm>
              <a:off x="328275" y="1078992"/>
              <a:ext cx="5894723" cy="5232293"/>
            </a:xfrm>
            <a:prstGeom prst="rect">
              <a:avLst/>
            </a:prstGeom>
          </p:spPr>
        </p:pic>
        <p:pic>
          <p:nvPicPr>
            <p:cNvPr id="9" name="Picture 8">
              <a:extLst>
                <a:ext uri="{FF2B5EF4-FFF2-40B4-BE49-F238E27FC236}">
                  <a16:creationId xmlns:a16="http://schemas.microsoft.com/office/drawing/2014/main" id="{A4C3F6E0-4B22-02B8-7D33-E48BFF2088EE}"/>
                </a:ext>
              </a:extLst>
            </p:cNvPr>
            <p:cNvPicPr>
              <a:picLocks noChangeAspect="1"/>
            </p:cNvPicPr>
            <p:nvPr/>
          </p:nvPicPr>
          <p:blipFill>
            <a:blip r:embed="rId2"/>
            <a:srcRect l="7907" t="93501"/>
            <a:stretch>
              <a:fillRect/>
            </a:stretch>
          </p:blipFill>
          <p:spPr>
            <a:xfrm>
              <a:off x="382349" y="6028195"/>
              <a:ext cx="5894724" cy="503031"/>
            </a:xfrm>
            <a:prstGeom prst="rect">
              <a:avLst/>
            </a:prstGeom>
          </p:spPr>
        </p:pic>
        <p:sp>
          <p:nvSpPr>
            <p:cNvPr id="12" name="Rectangle 11">
              <a:extLst>
                <a:ext uri="{FF2B5EF4-FFF2-40B4-BE49-F238E27FC236}">
                  <a16:creationId xmlns:a16="http://schemas.microsoft.com/office/drawing/2014/main" id="{CF15CF4F-F84D-2F98-42DC-4C7FCC704E0E}"/>
                </a:ext>
              </a:extLst>
            </p:cNvPr>
            <p:cNvSpPr/>
            <p:nvPr/>
          </p:nvSpPr>
          <p:spPr>
            <a:xfrm>
              <a:off x="484106" y="5453535"/>
              <a:ext cx="5351533" cy="574659"/>
            </a:xfrm>
            <a:prstGeom prst="rect">
              <a:avLst/>
            </a:prstGeom>
            <a:gradFill flip="none" rotWithShape="1">
              <a:gsLst>
                <a:gs pos="0">
                  <a:schemeClr val="bg1">
                    <a:alpha val="0"/>
                  </a:schemeClr>
                </a:gs>
                <a:gs pos="76000">
                  <a:schemeClr val="bg1"/>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PT"/>
            </a:p>
          </p:txBody>
        </p:sp>
        <p:sp>
          <p:nvSpPr>
            <p:cNvPr id="13" name="TextBox 12">
              <a:extLst>
                <a:ext uri="{FF2B5EF4-FFF2-40B4-BE49-F238E27FC236}">
                  <a16:creationId xmlns:a16="http://schemas.microsoft.com/office/drawing/2014/main" id="{12A7E1E9-F967-D1E3-186E-9C912BC32AB9}"/>
                </a:ext>
              </a:extLst>
            </p:cNvPr>
            <p:cNvSpPr txBox="1"/>
            <p:nvPr/>
          </p:nvSpPr>
          <p:spPr>
            <a:xfrm>
              <a:off x="1197893" y="5754481"/>
              <a:ext cx="4769552" cy="370577"/>
            </a:xfrm>
            <a:prstGeom prst="rect">
              <a:avLst/>
            </a:prstGeom>
            <a:noFill/>
          </p:spPr>
          <p:txBody>
            <a:bodyPr wrap="square">
              <a:spAutoFit/>
            </a:bodyPr>
            <a:lstStyle/>
            <a:p>
              <a:pPr>
                <a:lnSpc>
                  <a:spcPts val="1425"/>
                </a:lnSpc>
              </a:pPr>
              <a:r>
                <a:rPr lang="pt-PT" sz="1000" dirty="0">
                  <a:solidFill>
                    <a:schemeClr val="bg1"/>
                  </a:solidFill>
                  <a:latin typeface="Consolas" panose="020B0609020204030204" pitchFamily="49" charset="0"/>
                </a:rPr>
                <a:t>🐛u⚔️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a:t>
              </a:r>
              <a:r>
                <a:rPr lang="pt-PT" sz="800" b="1" dirty="0">
                  <a:latin typeface="Consolas" panose="020B0609020204030204" pitchFamily="49" charset="0"/>
                </a:rPr>
                <a:t>  </a:t>
              </a:r>
              <a:r>
                <a:rPr lang="pt-PT" sz="800" b="1" dirty="0" err="1">
                  <a:latin typeface="Consolas" panose="020B0609020204030204" pitchFamily="49" charset="0"/>
                </a:rPr>
                <a:t>avg</a:t>
              </a:r>
              <a:endParaRPr lang="pt-PT" sz="1000" b="1" dirty="0">
                <a:effectLst/>
                <a:latin typeface="Consolas" panose="020B0609020204030204" pitchFamily="49" charset="0"/>
              </a:endParaRPr>
            </a:p>
          </p:txBody>
        </p:sp>
      </p:grpSp>
      <p:sp>
        <p:nvSpPr>
          <p:cNvPr id="7" name="Badge">
            <a:extLst>
              <a:ext uri="{FF2B5EF4-FFF2-40B4-BE49-F238E27FC236}">
                <a16:creationId xmlns:a16="http://schemas.microsoft.com/office/drawing/2014/main" id="{93D710F0-BEAB-83F4-E494-57409811619E}"/>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11" name="NumCircle">
            <a:extLst>
              <a:ext uri="{FF2B5EF4-FFF2-40B4-BE49-F238E27FC236}">
                <a16:creationId xmlns:a16="http://schemas.microsoft.com/office/drawing/2014/main" id="{CCD2872F-4762-3FBD-9567-74F10AC7D432}"/>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6435"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90237" y="3980347"/>
            <a:ext cx="4205520" cy="954705"/>
          </a:xfrm>
          <a:prstGeom prst="rect">
            <a:avLst/>
          </a:prstGeom>
          <a:solidFill>
            <a:srgbClr val="0D1B2A"/>
          </a:solidFill>
          <a:ln w="0">
            <a:noFill/>
          </a:ln>
        </p:spPr>
        <p:txBody>
          <a:bodyPr/>
          <a:lstStyle/>
          <a:p>
            <a:endParaRPr lang="en-US"/>
          </a:p>
        </p:txBody>
      </p:sp>
      <p:sp>
        <p:nvSpPr>
          <p:cNvPr id="31" name="CatchText"/>
          <p:cNvSpPr/>
          <p:nvPr/>
        </p:nvSpPr>
        <p:spPr>
          <a:xfrm>
            <a:off x="373117" y="3941304"/>
            <a:ext cx="4022640" cy="1324344"/>
          </a:xfrm>
          <a:prstGeom prst="rect">
            <a:avLst/>
          </a:prstGeom>
          <a:noFill/>
          <a:ln/>
        </p:spPr>
        <p:txBody>
          <a:bodyPr wrap="square" rtlCol="0" anchor="t"/>
          <a:lstStyle/>
          <a:p>
            <a:pPr>
              <a:buNone/>
            </a:pPr>
            <a:r>
              <a:rPr lang="en-US" sz="1200" b="1" dirty="0">
                <a:solidFill>
                  <a:srgbClr val="00A896"/>
                </a:solidFill>
                <a:latin typeface="Trebuchet MS"/>
              </a:rPr>
              <a:t>Why Normal is the catch-all</a:t>
            </a:r>
          </a:p>
          <a:p>
            <a:pPr marL="228600" indent="-228600">
              <a:buChar char="•"/>
            </a:pPr>
            <a:r>
              <a:rPr lang="en-US" sz="1100" dirty="0">
                <a:solidFill>
                  <a:schemeClr val="bg1"/>
                </a:solidFill>
                <a:latin typeface="Calibri"/>
              </a:rPr>
              <a:t>Normal = most diverse class: humanoids of every shape and size, no dominant colour</a:t>
            </a:r>
          </a:p>
          <a:p>
            <a:pPr marL="228600" indent="-228600">
              <a:buChar char="•"/>
            </a:pPr>
            <a:r>
              <a:rPr lang="en-US" sz="1100" dirty="0">
                <a:solidFill>
                  <a:schemeClr val="bg1"/>
                </a:solidFill>
                <a:latin typeface="Calibri"/>
              </a:rPr>
              <a:t>Bug, Fighting and Ground all lack distinctive palettes — the MLP falls back to predicting Normal</a:t>
            </a:r>
          </a:p>
        </p:txBody>
      </p:sp>
      <p:graphicFrame>
        <p:nvGraphicFramePr>
          <p:cNvPr id="8" name="Table 0"/>
          <p:cNvGraphicFramePr>
            <a:graphicFrameLocks noGrp="1"/>
          </p:cNvGraphicFramePr>
          <p:nvPr>
            <p:extLst>
              <p:ext uri="{D42A27DB-BD31-4B8C-83A1-F6EECF244321}">
                <p14:modId xmlns:p14="http://schemas.microsoft.com/office/powerpoint/2010/main" val="4165694185"/>
              </p:ext>
            </p:extLst>
          </p:nvPr>
        </p:nvGraphicFramePr>
        <p:xfrm>
          <a:off x="4782312" y="679680"/>
          <a:ext cx="4171451" cy="4367808"/>
        </p:xfrm>
        <a:graphic>
          <a:graphicData uri="http://schemas.openxmlformats.org/drawingml/2006/table">
            <a:tbl>
              <a:tblPr/>
              <a:tblGrid>
                <a:gridCol w="844851">
                  <a:extLst>
                    <a:ext uri="{9D8B030D-6E8A-4147-A177-3AD203B41FA5}">
                      <a16:colId xmlns:a16="http://schemas.microsoft.com/office/drawing/2014/main" val="20000"/>
                    </a:ext>
                  </a:extLst>
                </a:gridCol>
                <a:gridCol w="580835">
                  <a:extLst>
                    <a:ext uri="{9D8B030D-6E8A-4147-A177-3AD203B41FA5}">
                      <a16:colId xmlns:a16="http://schemas.microsoft.com/office/drawing/2014/main" val="20001"/>
                    </a:ext>
                  </a:extLst>
                </a:gridCol>
                <a:gridCol w="2745765">
                  <a:extLst>
                    <a:ext uri="{9D8B030D-6E8A-4147-A177-3AD203B41FA5}">
                      <a16:colId xmlns:a16="http://schemas.microsoft.com/office/drawing/2014/main" val="20002"/>
                    </a:ext>
                  </a:extLst>
                </a:gridCol>
              </a:tblGrid>
              <a:tr h="27954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Main confusion</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E97C35"/>
                          </a:solidFill>
                          <a:latin typeface="Calibri" pitchFamily="34" charset="0"/>
                          <a:ea typeface="Calibri" pitchFamily="34" charset="-122"/>
                          <a:cs typeface="Calibri" pitchFamily="34" charset="-120"/>
                        </a:rPr>
                        <a:t>0.49</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Gets 49% of own class right — warm orange unique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0A896"/>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40% correct; confused with Water (purple→blue)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Water</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0.33</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High precision, low recall — confused with Normal</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35% correct; confused with Bug (green palette)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Diverse humanoids — confused with Fire, Bug, Poison</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0.13</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Only 13% correct — near-identical to Grass</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Humanoid; 16% sent to Normal, 12% to Bug</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0.17</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Grey/brown; 17% sent to Normal, 15% to Poison</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Worst class; 24% sent to Normal (fewest samples)</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pic>
        <p:nvPicPr>
          <p:cNvPr id="12" name="Picture 11">
            <a:extLst>
              <a:ext uri="{FF2B5EF4-FFF2-40B4-BE49-F238E27FC236}">
                <a16:creationId xmlns:a16="http://schemas.microsoft.com/office/drawing/2014/main" id="{CB407761-126A-8F2A-3A5B-4FDECE90D6C9}"/>
              </a:ext>
            </a:extLst>
          </p:cNvPr>
          <p:cNvPicPr>
            <a:picLocks noChangeAspect="1"/>
          </p:cNvPicPr>
          <p:nvPr/>
        </p:nvPicPr>
        <p:blipFill>
          <a:blip r:embed="rId2"/>
          <a:stretch>
            <a:fillRect/>
          </a:stretch>
        </p:blipFill>
        <p:spPr>
          <a:xfrm>
            <a:off x="248960" y="685800"/>
            <a:ext cx="4102764" cy="3255504"/>
          </a:xfrm>
          <a:prstGeom prst="rect">
            <a:avLst/>
          </a:prstGeom>
        </p:spPr>
      </p:pic>
      <p:sp>
        <p:nvSpPr>
          <p:cNvPr id="7" name="Badge">
            <a:extLst>
              <a:ext uri="{FF2B5EF4-FFF2-40B4-BE49-F238E27FC236}">
                <a16:creationId xmlns:a16="http://schemas.microsoft.com/office/drawing/2014/main" id="{D5715E4D-5C13-5FEE-4E15-E6D8F9B9AF90}"/>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10" name="NumCircle">
            <a:extLst>
              <a:ext uri="{FF2B5EF4-FFF2-40B4-BE49-F238E27FC236}">
                <a16:creationId xmlns:a16="http://schemas.microsoft.com/office/drawing/2014/main" id="{94E539C8-335B-99D7-C3A5-F32698484E26}"/>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pPr>
              <a:buNone/>
            </a:pPr>
            <a:r>
              <a:rPr lang="en-US" sz="1000" b="1" dirty="0">
                <a:solidFill>
                  <a:srgbClr val="00A896"/>
                </a:solidFill>
                <a:latin typeface="Calibri"/>
              </a:rPr>
              <a:t>ENS_C+E ★  F1=0.2428  acc=26.7%   </a:t>
            </a:r>
            <a:r>
              <a:rPr lang="en-US" sz="1000" dirty="0">
                <a:solidFill>
                  <a:srgbClr val="1A2B3C"/>
                </a:solidFill>
                <a:latin typeface="Calibri"/>
              </a:rPr>
              <a:t>SUBMITTED — C (class weights) + E (sampler) = complementary error patterns</a:t>
            </a:r>
          </a:p>
        </p:txBody>
      </p:sp>
      <p:sp>
        <p:nvSpPr>
          <p:cNvPr id="13" name="E2"/>
          <p:cNvSpPr/>
          <p:nvPr/>
        </p:nvSpPr>
        <p:spPr>
          <a:xfrm>
            <a:off x="274320" y="1198260"/>
            <a:ext cx="8595360" cy="219960"/>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0"/>
            <a:ext cx="8595360" cy="219960"/>
          </a:xfrm>
          <a:prstGeom prst="rect">
            <a:avLst/>
          </a:prstGeom>
          <a:noFill/>
          <a:ln/>
        </p:spPr>
        <p:txBody>
          <a:bodyPr wrap="square" lIns="91440" tIns="0" rIns="0" bIns="0" rtlCol="0" anchor="ctr"/>
          <a:lstStyle/>
          <a:p>
            <a:pPr>
              <a:buNone/>
            </a:pPr>
            <a:r>
              <a:rPr lang="en-US" sz="1000" b="1" dirty="0">
                <a:solidFill>
                  <a:srgbClr val="028090"/>
                </a:solidFill>
                <a:latin typeface="Calibri"/>
              </a:rPr>
              <a:t>ENS_R+E+P       F1=0.2427  acc=26.3%   </a:t>
            </a:r>
            <a:r>
              <a:rPr lang="en-US" sz="1000" dirty="0">
                <a:solidFill>
                  <a:srgbClr val="1A2B3C"/>
                </a:solidFill>
                <a:latin typeface="Calibri"/>
              </a:rPr>
              <a:t>Near-identical to C+E; 3-model ensemble</a:t>
            </a:r>
          </a:p>
        </p:txBody>
      </p:sp>
      <p:sp>
        <p:nvSpPr>
          <p:cNvPr id="15" name="E3"/>
          <p:cNvSpPr/>
          <p:nvPr/>
        </p:nvSpPr>
        <p:spPr>
          <a:xfrm>
            <a:off x="274320" y="1418220"/>
            <a:ext cx="8595360" cy="219960"/>
          </a:xfrm>
          <a:prstGeom prst="rect">
            <a:avLst/>
          </a:prstGeom>
          <a:solidFill>
            <a:srgbClr val="F4F7F9"/>
          </a:solidFill>
          <a:ln w="3175">
            <a:solidFill>
              <a:srgbClr val="E0ECF4"/>
            </a:solidFill>
          </a:ln>
        </p:spPr>
        <p:txBody>
          <a:bodyPr/>
          <a:lstStyle/>
          <a:p>
            <a:endParaRPr lang="en-US"/>
          </a:p>
        </p:txBody>
      </p:sp>
      <p:sp>
        <p:nvSpPr>
          <p:cNvPr id="16" name="E3t"/>
          <p:cNvSpPr/>
          <p:nvPr/>
        </p:nvSpPr>
        <p:spPr>
          <a:xfrm>
            <a:off x="274320" y="1418220"/>
            <a:ext cx="8595360" cy="219960"/>
          </a:xfrm>
          <a:prstGeom prst="rect">
            <a:avLst/>
          </a:prstGeom>
          <a:noFill/>
          <a:ln/>
        </p:spPr>
        <p:txBody>
          <a:bodyPr wrap="square" lIns="91440" tIns="0" rIns="0" bIns="0" rtlCol="0" anchor="ctr"/>
          <a:lstStyle/>
          <a:p>
            <a:pPr>
              <a:buNone/>
            </a:pPr>
            <a:r>
              <a:rPr lang="en-US" sz="1000" b="1" dirty="0">
                <a:solidFill>
                  <a:srgbClr val="1C3A52"/>
                </a:solidFill>
                <a:latin typeface="Calibri"/>
              </a:rPr>
              <a:t>ENS_C+E+P       F1=0.2405  acc=26.3%   </a:t>
            </a:r>
            <a:r>
              <a:rPr lang="en-US" sz="1000" dirty="0">
                <a:solidFill>
                  <a:srgbClr val="1A2B3C"/>
                </a:solidFill>
                <a:latin typeface="Calibri"/>
              </a:rPr>
              <a:t>P drags down slightly — weak model adds noise</a:t>
            </a:r>
          </a:p>
        </p:txBody>
      </p:sp>
      <p:sp>
        <p:nvSpPr>
          <p:cNvPr id="17" name="E4"/>
          <p:cNvSpPr/>
          <p:nvPr/>
        </p:nvSpPr>
        <p:spPr>
          <a:xfrm>
            <a:off x="274320" y="1638180"/>
            <a:ext cx="8595360" cy="219960"/>
          </a:xfrm>
          <a:prstGeom prst="rect">
            <a:avLst/>
          </a:prstGeom>
          <a:solidFill>
            <a:srgbClr val="FDF8F0"/>
          </a:solidFill>
          <a:ln w="3175">
            <a:solidFill>
              <a:srgbClr val="E8D8B8"/>
            </a:solidFill>
          </a:ln>
        </p:spPr>
        <p:txBody>
          <a:bodyPr/>
          <a:lstStyle/>
          <a:p>
            <a:endParaRPr lang="en-US"/>
          </a:p>
        </p:txBody>
      </p:sp>
      <p:sp>
        <p:nvSpPr>
          <p:cNvPr id="18" name="E4t"/>
          <p:cNvSpPr/>
          <p:nvPr/>
        </p:nvSpPr>
        <p:spPr>
          <a:xfrm>
            <a:off x="274320" y="163818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ENS_C+R         F1=0.2339  acc=25.6%   </a:t>
            </a:r>
            <a:r>
              <a:rPr lang="en-US" sz="1000" dirty="0">
                <a:solidFill>
                  <a:srgbClr val="1A2B3C"/>
                </a:solidFill>
                <a:latin typeface="Calibri"/>
              </a:rPr>
              <a:t>Both use CW — same error patterns, no diversity benefit</a:t>
            </a:r>
          </a:p>
        </p:txBody>
      </p:sp>
      <p:sp>
        <p:nvSpPr>
          <p:cNvPr id="19" name="E567"/>
          <p:cNvSpPr/>
          <p:nvPr/>
        </p:nvSpPr>
        <p:spPr>
          <a:xfrm>
            <a:off x="274320" y="1858140"/>
            <a:ext cx="8595360" cy="219960"/>
          </a:xfrm>
          <a:prstGeom prst="rect">
            <a:avLst/>
          </a:prstGeom>
          <a:solidFill>
            <a:srgbClr val="FDF3F0"/>
          </a:solidFill>
          <a:ln w="3175">
            <a:solidFill>
              <a:srgbClr val="E8C4B8"/>
            </a:solidFill>
          </a:ln>
        </p:spPr>
        <p:txBody>
          <a:bodyPr/>
          <a:lstStyle/>
          <a:p>
            <a:endParaRPr lang="en-US"/>
          </a:p>
        </p:txBody>
      </p:sp>
      <p:sp>
        <p:nvSpPr>
          <p:cNvPr id="6" name="E567t"/>
          <p:cNvSpPr/>
          <p:nvPr/>
        </p:nvSpPr>
        <p:spPr>
          <a:xfrm>
            <a:off x="274320" y="185814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ENS_R+E / ENS_C+R+M / ENS_R+P   </a:t>
            </a:r>
            <a:r>
              <a:rPr lang="en-US" sz="1000" dirty="0">
                <a:solidFill>
                  <a:srgbClr val="1A2B3C"/>
                </a:solidFill>
                <a:latin typeface="Calibri"/>
              </a:rPr>
              <a:t>F1=0.224–0.229  Too similar models or too weak — no diversity gain</a:t>
            </a:r>
          </a:p>
        </p:txBody>
      </p:sp>
      <p:sp>
        <p:nvSpPr>
          <p:cNvPr id="40" name="LBG"/>
          <p:cNvSpPr/>
          <p:nvPr/>
        </p:nvSpPr>
        <p:spPr>
          <a:xfrm>
            <a:off x="274320" y="2169540"/>
            <a:ext cx="4205520" cy="23947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57200" y="2243700"/>
            <a:ext cx="3840480" cy="2286000"/>
          </a:xfrm>
          <a:prstGeom prst="rect">
            <a:avLst/>
          </a:prstGeom>
          <a:noFill/>
          <a:ln/>
        </p:spPr>
        <p:txBody>
          <a:bodyPr wrap="square" rtlCol="0" anchor="t"/>
          <a:lstStyle/>
          <a:p>
            <a:pPr>
              <a:buNone/>
            </a:pPr>
            <a:r>
              <a:rPr lang="en-US" sz="1200" b="1" dirty="0">
                <a:solidFill>
                  <a:srgbClr val="028090"/>
                </a:solidFill>
                <a:latin typeface="Trebuchet MS"/>
              </a:rPr>
              <a:t>Why C+E wins over any solo</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dirty="0">
                <a:solidFill>
                  <a:srgbClr val="1A2B3C"/>
                </a:solidFill>
                <a:latin typeface="Calibri"/>
              </a:rPr>
              <a:t>E uses sampler — adjusts data frequency</a:t>
            </a:r>
          </a:p>
          <a:p>
            <a:pPr marL="228600" indent="-228600">
              <a:buChar char="•"/>
            </a:pPr>
            <a:r>
              <a:rPr lang="en-US" sz="1100" dirty="0">
                <a:solidFill>
                  <a:srgbClr val="1A2B3C"/>
                </a:solidFill>
                <a:latin typeface="Calibri"/>
              </a:rPr>
              <a:t>Different mechanisms = different mistakes = soft-average compensates</a:t>
            </a:r>
          </a:p>
          <a:p>
            <a:pPr marL="228600" indent="-228600">
              <a:buChar char="•"/>
            </a:pPr>
            <a:r>
              <a:rPr lang="en-US" sz="1100" b="1" dirty="0">
                <a:solidFill>
                  <a:srgbClr val="028090"/>
                </a:solidFill>
                <a:latin typeface="Calibri"/>
              </a:rPr>
              <a:t>+0.003 F1 over best solo</a:t>
            </a:r>
            <a:r>
              <a:rPr lang="en-US" sz="1100" dirty="0">
                <a:solidFill>
                  <a:srgbClr val="1A2B3C"/>
                </a:solidFill>
                <a:latin typeface="Calibri"/>
              </a:rPr>
              <a:t> — small but consistent</a:t>
            </a:r>
          </a:p>
          <a:p>
            <a:pPr marL="228600" indent="-228600">
              <a:buChar char="•"/>
            </a:pPr>
            <a:r>
              <a:rPr lang="en-US" sz="1100" dirty="0">
                <a:solidFill>
                  <a:srgbClr val="1A2B3C"/>
                </a:solidFill>
                <a:latin typeface="Calibri"/>
              </a:rPr>
              <a:t>C+R fails (0.234): both use CW — too similar, no error diversity</a:t>
            </a:r>
          </a:p>
        </p:txBody>
      </p:sp>
      <p:sp>
        <p:nvSpPr>
          <p:cNvPr id="50" name="RBG"/>
          <p:cNvSpPr/>
          <p:nvPr/>
        </p:nvSpPr>
        <p:spPr>
          <a:xfrm>
            <a:off x="4663920" y="2169540"/>
            <a:ext cx="4205520" cy="2394720"/>
          </a:xfrm>
          <a:prstGeom prst="rect">
            <a:avLst/>
          </a:prstGeom>
          <a:solidFill>
            <a:srgbClr val="0D1B2A"/>
          </a:solidFill>
          <a:ln w="0">
            <a:noFill/>
          </a:ln>
        </p:spPr>
        <p:txBody>
          <a:bodyPr/>
          <a:lstStyle/>
          <a:p>
            <a:endParaRPr lang="en-US"/>
          </a:p>
        </p:txBody>
      </p:sp>
      <p:sp>
        <p:nvSpPr>
          <p:cNvPr id="51" name="RText"/>
          <p:cNvSpPr/>
          <p:nvPr/>
        </p:nvSpPr>
        <p:spPr>
          <a:xfrm>
            <a:off x="4846800" y="2243700"/>
            <a:ext cx="3840480" cy="2286000"/>
          </a:xfrm>
          <a:prstGeom prst="rect">
            <a:avLst/>
          </a:prstGeom>
          <a:noFill/>
          <a:ln/>
        </p:spPr>
        <p:txBody>
          <a:bodyPr wrap="square" rtlCol="0" anchor="t"/>
          <a:lstStyle/>
          <a:p>
            <a:pPr>
              <a:buNone/>
            </a:pPr>
            <a:r>
              <a:rPr lang="en-US" sz="1200" b="1" dirty="0">
                <a:solidFill>
                  <a:srgbClr val="00A896"/>
                </a:solidFill>
                <a:latin typeface="Trebuchet MS"/>
              </a:rPr>
              <a:t>Kaggle validation gap</a:t>
            </a:r>
          </a:p>
          <a:p>
            <a:pPr>
              <a:buNone/>
            </a:pPr>
            <a:r>
              <a:rPr lang="en-US" sz="1200" b="1" dirty="0">
                <a:solidFill>
                  <a:srgbClr val="00A896"/>
                </a:solidFill>
                <a:latin typeface="Trebuchet MS"/>
              </a:rPr>
              <a:t>	</a:t>
            </a:r>
            <a:r>
              <a:rPr lang="en-US" sz="1200" b="1" dirty="0" err="1">
                <a:solidFill>
                  <a:srgbClr val="00A896"/>
                </a:solidFill>
                <a:latin typeface="Trebuchet MS"/>
              </a:rPr>
              <a:t>val</a:t>
            </a:r>
            <a:r>
              <a:rPr lang="en-US" sz="1200" b="1" dirty="0">
                <a:solidFill>
                  <a:srgbClr val="00A896"/>
                </a:solidFill>
                <a:latin typeface="Trebuchet MS"/>
              </a:rPr>
              <a:t> - 0.2428</a:t>
            </a:r>
          </a:p>
          <a:p>
            <a:pPr>
              <a:buNone/>
            </a:pPr>
            <a:r>
              <a:rPr lang="en-US" sz="1200" b="1" dirty="0">
                <a:solidFill>
                  <a:srgbClr val="00A896"/>
                </a:solidFill>
                <a:latin typeface="Trebuchet MS"/>
              </a:rPr>
              <a:t>	</a:t>
            </a:r>
            <a:r>
              <a:rPr lang="en-US" sz="1200" b="1" dirty="0" err="1">
                <a:solidFill>
                  <a:srgbClr val="00A896"/>
                </a:solidFill>
                <a:latin typeface="Trebuchet MS"/>
              </a:rPr>
              <a:t>kaggle</a:t>
            </a:r>
            <a:r>
              <a:rPr lang="en-US" sz="1200" b="1" dirty="0">
                <a:solidFill>
                  <a:srgbClr val="00A896"/>
                </a:solidFill>
                <a:latin typeface="Trebuchet MS"/>
              </a:rPr>
              <a:t> - 0.2288</a:t>
            </a:r>
          </a:p>
          <a:p>
            <a:pPr>
              <a:buNone/>
            </a:pPr>
            <a:r>
              <a:rPr lang="en-US" sz="2000" b="1" dirty="0">
                <a:solidFill>
                  <a:srgbClr val="FFFFFF"/>
                </a:solidFill>
                <a:latin typeface="Trebuchet MS"/>
              </a:rPr>
              <a:t>	−0.014</a:t>
            </a:r>
          </a:p>
          <a:p>
            <a:pPr>
              <a:buNone/>
            </a:pPr>
            <a:endParaRPr lang="en-US" sz="1000" b="1" dirty="0">
              <a:solidFill>
                <a:srgbClr val="00A896"/>
              </a:solidFill>
              <a:latin typeface="Calibri"/>
            </a:endParaRPr>
          </a:p>
          <a:p>
            <a:pPr>
              <a:buNone/>
            </a:pPr>
            <a:r>
              <a:rPr lang="en-US" sz="1000" b="1" dirty="0">
                <a:solidFill>
                  <a:srgbClr val="00A896"/>
                </a:solidFill>
                <a:latin typeface="Calibri"/>
              </a:rPr>
              <a:t>Why this gap is expected, not a pipeline bug:</a:t>
            </a:r>
          </a:p>
          <a:p>
            <a:pPr marL="228600" indent="-228600">
              <a:buChar char="•"/>
            </a:pPr>
            <a:r>
              <a:rPr lang="en-US" sz="1100" dirty="0">
                <a:solidFill>
                  <a:srgbClr val="AACCD8"/>
                </a:solidFill>
                <a:latin typeface="Calibri"/>
              </a:rPr>
              <a:t>Kaggle test may include harder or out-of-distribution sprites</a:t>
            </a:r>
          </a:p>
          <a:p>
            <a:pPr marL="228600" indent="-228600">
              <a:buChar char="•"/>
            </a:pPr>
            <a:r>
              <a:rPr lang="en-US" sz="1100" dirty="0">
                <a:solidFill>
                  <a:srgbClr val="AACCD8"/>
                </a:solidFill>
                <a:latin typeface="Calibri"/>
              </a:rPr>
              <a:t>It helps to, AFTER SELECTING A MODEL,</a:t>
            </a:r>
            <a:br>
              <a:rPr lang="en-US" sz="1100" dirty="0">
                <a:solidFill>
                  <a:srgbClr val="AACCD8"/>
                </a:solidFill>
                <a:latin typeface="Calibri"/>
              </a:rPr>
            </a:br>
            <a:r>
              <a:rPr lang="en-US" sz="1100" dirty="0">
                <a:solidFill>
                  <a:srgbClr val="AACCD8"/>
                </a:solidFill>
                <a:latin typeface="Calibri"/>
              </a:rPr>
              <a:t>to train it again with the full dataset</a:t>
            </a:r>
          </a:p>
        </p:txBody>
      </p:sp>
      <p:sp>
        <p:nvSpPr>
          <p:cNvPr id="8" name="Badge">
            <a:extLst>
              <a:ext uri="{FF2B5EF4-FFF2-40B4-BE49-F238E27FC236}">
                <a16:creationId xmlns:a16="http://schemas.microsoft.com/office/drawing/2014/main" id="{3769227C-AFC0-3099-1156-F91DC37D8D78}"/>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20" name="NumCircle">
            <a:extLst>
              <a:ext uri="{FF2B5EF4-FFF2-40B4-BE49-F238E27FC236}">
                <a16:creationId xmlns:a16="http://schemas.microsoft.com/office/drawing/2014/main" id="{C46AEF4E-0B8A-BB74-4410-5C9EF996A14D}"/>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Why MLP Has a Hard Ceiling on This Data</a:t>
            </a:r>
            <a:endParaRPr lang="en-US" sz="22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No spatial inductive bias</a:t>
            </a:r>
            <a:endParaRPr lang="en-US" sz="1200" dirty="0"/>
          </a:p>
        </p:txBody>
      </p:sp>
      <p:sp>
        <p:nvSpPr>
          <p:cNvPr id="11" name="Text 9"/>
          <p:cNvSpPr/>
          <p:nvPr/>
        </p:nvSpPr>
        <p:spPr>
          <a:xfrm>
            <a:off x="493776"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 sprite at top-left and bottom-right = completely different 12 288-vector. MLP can't learn 'flame exists somewhere'.</a:t>
            </a:r>
            <a:endParaRPr lang="en-US" sz="1100" dirty="0"/>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Feature-to-sample ratio: 4.26:1</a:t>
            </a:r>
            <a:endParaRPr lang="en-US" sz="1200" dirty="0"/>
          </a:p>
        </p:txBody>
      </p:sp>
      <p:sp>
        <p:nvSpPr>
          <p:cNvPr id="15" name="Text 13"/>
          <p:cNvSpPr/>
          <p:nvPr/>
        </p:nvSpPr>
        <p:spPr>
          <a:xfrm>
            <a:off x="493776"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12 288 features vs 2 880 samples. Even with Dropout + BN, MLP memorises noise rather than learning patterns.</a:t>
            </a:r>
            <a:endParaRPr lang="en-US" sz="1100" dirty="0"/>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High intra-class variance</a:t>
            </a:r>
            <a:endParaRPr lang="en-US" sz="1200" dirty="0"/>
          </a:p>
        </p:txBody>
      </p:sp>
      <p:sp>
        <p:nvSpPr>
          <p:cNvPr id="19" name="Text 17"/>
          <p:cNvSpPr/>
          <p:nvPr/>
        </p:nvSpPr>
        <p:spPr>
          <a:xfrm>
            <a:off x="493776"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Blastoise and Vaporeon are both Water-type but look nothing alike. MLP can only learn average colour histograms.</a:t>
            </a:r>
            <a:endParaRPr lang="en-US" sz="1100" dirty="0"/>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Augmentation −0.047 F1</a:t>
            </a:r>
            <a:endParaRPr lang="en-US" sz="1200" dirty="0"/>
          </a:p>
        </p:txBody>
      </p:sp>
      <p:sp>
        <p:nvSpPr>
          <p:cNvPr id="25" name="Text 23"/>
          <p:cNvSpPr/>
          <p:nvPr/>
        </p:nvSpPr>
        <p:spPr>
          <a:xfrm>
            <a:off x="4828032"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Random flips/jitter/rotation break the pixel vector. CNN will benefit from the same augmentation because filters are position-invariant.</a:t>
            </a:r>
            <a:endParaRPr lang="en-US" sz="1100" dirty="0"/>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Grayscale −0.103 F1</a:t>
            </a:r>
            <a:endParaRPr lang="en-US" sz="1200" dirty="0"/>
          </a:p>
        </p:txBody>
      </p:sp>
      <p:sp>
        <p:nvSpPr>
          <p:cNvPr id="29" name="Text 27"/>
          <p:cNvSpPr/>
          <p:nvPr/>
        </p:nvSpPr>
        <p:spPr>
          <a:xfrm>
            <a:off x="4828032"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Removing colour channels reduces dimensionality 3x, but loses the main discriminative signal. Colour is king for Pokémon types.</a:t>
            </a:r>
            <a:endParaRPr lang="en-US" sz="1100" dirty="0"/>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val_loss ≈ random (2.197)</a:t>
            </a:r>
            <a:endParaRPr lang="en-US" sz="1200" dirty="0"/>
          </a:p>
        </p:txBody>
      </p:sp>
      <p:sp>
        <p:nvSpPr>
          <p:cNvPr id="33" name="Text 31"/>
          <p:cNvSpPr/>
          <p:nvPr/>
        </p:nvSpPr>
        <p:spPr>
          <a:xfrm>
            <a:off x="4828032"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Even the best model's val_loss hovers at ~2.22 — barely above log(9). The model discriminates but isn't confident.</a:t>
            </a:r>
            <a:endParaRPr lang="en-US" sz="1100" dirty="0"/>
          </a:p>
        </p:txBody>
      </p:sp>
      <p:sp>
        <p:nvSpPr>
          <p:cNvPr id="49" name="Badge">
            <a:extLst>
              <a:ext uri="{FF2B5EF4-FFF2-40B4-BE49-F238E27FC236}">
                <a16:creationId xmlns:a16="http://schemas.microsoft.com/office/drawing/2014/main" id="{4B9390E2-4D06-8DC7-1595-30634F1E5D32}"/>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51" name="NumCircle">
            <a:extLst>
              <a:ext uri="{FF2B5EF4-FFF2-40B4-BE49-F238E27FC236}">
                <a16:creationId xmlns:a16="http://schemas.microsoft.com/office/drawing/2014/main" id="{E2D1AAAA-0B4C-08A6-5BB0-FBE7576B708D}"/>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Best MLP result: 0.2428 val F1 (ensemble C+E), 0.2288 Kaggle</a:t>
            </a:r>
            <a:endParaRPr lang="en-US" sz="1100" dirty="0"/>
          </a:p>
        </p:txBody>
      </p:sp>
      <p:sp>
        <p:nvSpPr>
          <p:cNvPr id="9" name="Text 7"/>
          <p:cNvSpPr/>
          <p:nvPr/>
        </p:nvSpPr>
        <p:spPr>
          <a:xfrm>
            <a:off x="493776" y="115214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2.18x above random baseline. All 19 solo + 7 ensemble experiments are above random.</a:t>
            </a:r>
            <a:endParaRPr lang="en-US" sz="1050" dirty="0">
              <a:solidFill>
                <a:schemeClr val="accent2">
                  <a:lumMod val="40000"/>
                  <a:lumOff val="60000"/>
                </a:schemeClr>
              </a:solidFill>
            </a:endParaRP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Label smoothing = most impactful technique</a:t>
            </a:r>
            <a:endParaRPr lang="en-US" sz="1100" dirty="0"/>
          </a:p>
        </p:txBody>
      </p:sp>
      <p:sp>
        <p:nvSpPr>
          <p:cNvPr id="13" name="Text 11"/>
          <p:cNvSpPr/>
          <p:nvPr/>
        </p:nvSpPr>
        <p:spPr>
          <a:xfrm>
            <a:off x="493776" y="197510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LS=0.15 rescued Rock from F1=0.000. All top-6 solo experiments use LS ≥ 0.1.</a:t>
            </a:r>
            <a:endParaRPr lang="en-US" sz="1050" dirty="0">
              <a:solidFill>
                <a:schemeClr val="accent2">
                  <a:lumMod val="40000"/>
                  <a:lumOff val="60000"/>
                </a:schemeClr>
              </a:solidFill>
            </a:endParaRPr>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sz="200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Augmentation and depth both hurt</a:t>
            </a:r>
            <a:endParaRPr lang="en-US" sz="1100" dirty="0"/>
          </a:p>
        </p:txBody>
      </p:sp>
      <p:sp>
        <p:nvSpPr>
          <p:cNvPr id="17" name="Text 15"/>
          <p:cNvSpPr/>
          <p:nvPr/>
        </p:nvSpPr>
        <p:spPr>
          <a:xfrm>
            <a:off x="493776" y="279806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Confirmed empirically: MLP has no spatial invariance, and small data can't regularise deeper nets.</a:t>
            </a:r>
            <a:endParaRPr lang="en-US" sz="1050" dirty="0">
              <a:solidFill>
                <a:schemeClr val="accent2">
                  <a:lumMod val="40000"/>
                  <a:lumOff val="60000"/>
                </a:schemeClr>
              </a:solidFill>
            </a:endParaRP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MLP ceiling is real and confirmed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val_loss ≈ log(9) = random. Feature-to-sample ratio 4.26:1 = no amount of tuning fixes this.</a:t>
            </a:r>
            <a:endParaRPr lang="en-US" sz="1050" dirty="0">
              <a:solidFill>
                <a:schemeClr val="accent2">
                  <a:lumMod val="40000"/>
                  <a:lumOff val="60000"/>
                </a:schemeClr>
              </a:solidFill>
            </a:endParaRP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Ensemble diversity &gt; ensemble quality</a:t>
            </a:r>
            <a:endParaRPr lang="en-US" sz="1100" dirty="0"/>
          </a:p>
        </p:txBody>
      </p:sp>
      <p:sp>
        <p:nvSpPr>
          <p:cNvPr id="25" name="Text 23"/>
          <p:cNvSpPr/>
          <p:nvPr/>
        </p:nvSpPr>
        <p:spPr>
          <a:xfrm>
            <a:off x="493776" y="444398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C+E (0.2428) beats two top solos (C=0.2395, R=0.2396) because different imbalance mechanisms produce complementary errors.</a:t>
            </a:r>
            <a:endParaRPr lang="en-US" sz="1050" dirty="0">
              <a:solidFill>
                <a:schemeClr val="accent2">
                  <a:lumMod val="40000"/>
                  <a:lumOff val="60000"/>
                </a:schemeClr>
              </a:solidFill>
            </a:endParaRPr>
          </a:p>
        </p:txBody>
      </p:sp>
      <p:sp>
        <p:nvSpPr>
          <p:cNvPr id="26" name="Shape 24"/>
          <p:cNvSpPr/>
          <p:nvPr/>
        </p:nvSpPr>
        <p:spPr>
          <a:xfrm>
            <a:off x="6565392" y="804672"/>
            <a:ext cx="2331720" cy="3950208"/>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Next: Task 2</a:t>
            </a:r>
            <a:endParaRPr lang="en-US" sz="1500" dirty="0"/>
          </a:p>
        </p:txBody>
      </p:sp>
      <p:sp>
        <p:nvSpPr>
          <p:cNvPr id="28" name="Text 26"/>
          <p:cNvSpPr/>
          <p:nvPr/>
        </p:nvSpPr>
        <p:spPr>
          <a:xfrm>
            <a:off x="6565392" y="1298448"/>
            <a:ext cx="2331720" cy="914400"/>
          </a:xfrm>
          <a:prstGeom prst="rect">
            <a:avLst/>
          </a:prstGeom>
          <a:noFill/>
          <a:ln/>
        </p:spPr>
        <p:txBody>
          <a:bodyPr wrap="square" rtlCol="0" anchor="ctr"/>
          <a:lstStyle/>
          <a:p>
            <a:pPr marL="0" indent="0" algn="ctr">
              <a:buNone/>
            </a:pPr>
            <a:r>
              <a:rPr lang="en-US" sz="2000" b="1" dirty="0">
                <a:solidFill>
                  <a:srgbClr val="FFFFFF"/>
                </a:solidFill>
                <a:latin typeface="Trebuchet MS" pitchFamily="34" charset="0"/>
                <a:ea typeface="Trebuchet MS" pitchFamily="34" charset="-122"/>
                <a:cs typeface="Trebuchet MS" pitchFamily="34" charset="-120"/>
              </a:rPr>
              <a:t>CNN</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Convolutional</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Neural Network</a:t>
            </a:r>
            <a:endParaRPr lang="en-US" sz="2000" dirty="0"/>
          </a:p>
        </p:txBody>
      </p:sp>
      <p:sp>
        <p:nvSpPr>
          <p:cNvPr id="29" name="Text 27"/>
          <p:cNvSpPr/>
          <p:nvPr/>
        </p:nvSpPr>
        <p:spPr>
          <a:xfrm>
            <a:off x="6629400" y="2304288"/>
            <a:ext cx="2212848" cy="2286000"/>
          </a:xfrm>
          <a:prstGeom prst="rect">
            <a:avLst/>
          </a:prstGeom>
          <a:noFill/>
          <a:ln/>
        </p:spPr>
        <p:txBody>
          <a:bodyPr wrap="square" rtlCol="0" anchor="ctr"/>
          <a:lstStyle/>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Spatial inductive bias — same filters at every position</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3×3 conv = 27 params vs 12 288 per MLP node</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Augmentation will HELP (not hurt)</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Target F1: 0.55 – 0.70</a:t>
            </a:r>
            <a:endParaRPr lang="en-US" sz="1000" dirty="0"/>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Task 1 complete  ·  Kaggle score: 0.2288  ·  22 experiments  ·  ~44 min on T4</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70555-57EC-4E35-5048-823A2DEFE64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FB102AD-A2D7-3936-D7A6-04426D3643AD}"/>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BB423936-36F1-D113-3DE6-5ABBB1D2EE5C}"/>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a:extLst>
              <a:ext uri="{FF2B5EF4-FFF2-40B4-BE49-F238E27FC236}">
                <a16:creationId xmlns:a16="http://schemas.microsoft.com/office/drawing/2014/main" id="{97924F36-4650-876C-64EC-5FD675153D5D}"/>
              </a:ext>
            </a:extLst>
          </p:cNvPr>
          <p:cNvSpPr/>
          <p:nvPr/>
        </p:nvSpPr>
        <p:spPr>
          <a:xfrm>
            <a:off x="347472" y="502920"/>
            <a:ext cx="6858000" cy="292608"/>
          </a:xfrm>
          <a:prstGeom prst="rect">
            <a:avLst/>
          </a:prstGeom>
          <a:noFill/>
          <a:ln/>
        </p:spPr>
        <p:txBody>
          <a:bodyPr wrap="square" lIns="0" tIns="0" rIns="0" bIns="0" rtlCol="0" anchor="ctr"/>
          <a:lstStyle/>
          <a:p>
            <a:r>
              <a:rPr lang="en-US" sz="1000" b="1" kern="0" spc="200" dirty="0">
                <a:solidFill>
                  <a:srgbClr val="02C39A"/>
                </a:solidFill>
                <a:latin typeface="Calibri"/>
                <a:ea typeface="Calibri"/>
                <a:cs typeface="Calibri"/>
              </a:rPr>
              <a:t>DEEP LEARNING  ·  ASSIGNMENT 1  ·  TASK 1</a:t>
            </a:r>
            <a:endParaRPr lang="en-US" sz="1000">
              <a:latin typeface="Corbel"/>
              <a:ea typeface="Calibri"/>
              <a:cs typeface="Calibri"/>
            </a:endParaRPr>
          </a:p>
        </p:txBody>
      </p:sp>
      <p:sp>
        <p:nvSpPr>
          <p:cNvPr id="6" name="Text 4">
            <a:extLst>
              <a:ext uri="{FF2B5EF4-FFF2-40B4-BE49-F238E27FC236}">
                <a16:creationId xmlns:a16="http://schemas.microsoft.com/office/drawing/2014/main" id="{E29C7CFC-1327-6781-BDBC-2455C958B608}"/>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a:extLst>
              <a:ext uri="{FF2B5EF4-FFF2-40B4-BE49-F238E27FC236}">
                <a16:creationId xmlns:a16="http://schemas.microsoft.com/office/drawing/2014/main" id="{947BC29D-0119-742E-B479-E6D99C580F5E}"/>
              </a:ext>
            </a:extLst>
          </p:cNvPr>
          <p:cNvSpPr/>
          <p:nvPr/>
        </p:nvSpPr>
        <p:spPr>
          <a:xfrm>
            <a:off x="347472" y="1719072"/>
            <a:ext cx="6583680" cy="438912"/>
          </a:xfrm>
          <a:prstGeom prst="rect">
            <a:avLst/>
          </a:prstGeom>
          <a:noFill/>
          <a:ln/>
        </p:spPr>
        <p:txBody>
          <a:bodyPr wrap="square" lIns="0" tIns="0" rIns="0" bIns="0" rtlCol="0" anchor="ctr"/>
          <a:lstStyle/>
          <a:p>
            <a:r>
              <a:rPr lang="en-US" sz="1600">
                <a:solidFill>
                  <a:srgbClr val="7AADCC"/>
                </a:solidFill>
                <a:latin typeface="Calibri"/>
                <a:ea typeface="Calibri"/>
                <a:cs typeface="Calibri"/>
              </a:rPr>
              <a:t>TASK 1 - Multi-Layer Perceptron</a:t>
            </a:r>
          </a:p>
          <a:p>
            <a:r>
              <a:rPr lang="en-US" sz="1600">
                <a:solidFill>
                  <a:srgbClr val="7AADCC"/>
                </a:solidFill>
                <a:latin typeface="Calibri"/>
                <a:ea typeface="Calibri"/>
                <a:cs typeface="Calibri"/>
              </a:rPr>
              <a:t>TASK 2 - Convolutional Neural Network</a:t>
            </a:r>
            <a:endParaRPr lang="en-US" sz="1600" dirty="0">
              <a:solidFill>
                <a:srgbClr val="7AADCC"/>
              </a:solidFill>
              <a:latin typeface="Calibri"/>
              <a:ea typeface="Calibri"/>
              <a:cs typeface="Calibri"/>
            </a:endParaRPr>
          </a:p>
        </p:txBody>
      </p:sp>
      <p:sp>
        <p:nvSpPr>
          <p:cNvPr id="8" name="Shape 6">
            <a:extLst>
              <a:ext uri="{FF2B5EF4-FFF2-40B4-BE49-F238E27FC236}">
                <a16:creationId xmlns:a16="http://schemas.microsoft.com/office/drawing/2014/main" id="{AC89F985-F493-5CA9-B6A5-08BA6D32CAA8}"/>
              </a:ext>
            </a:extLst>
          </p:cNvPr>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a:extLst>
              <a:ext uri="{FF2B5EF4-FFF2-40B4-BE49-F238E27FC236}">
                <a16:creationId xmlns:a16="http://schemas.microsoft.com/office/drawing/2014/main" id="{F5F674C6-1E3F-AC7B-2B6A-E96DFE19657C}"/>
              </a:ext>
            </a:extLst>
          </p:cNvPr>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p:txBody>
      </p:sp>
      <p:pic>
        <p:nvPicPr>
          <p:cNvPr id="1026" name="Picture 2" descr="Quais os principais tipos de Pokémon que existem no anime e filmes  animados? - Olhar Digital">
            <a:extLst>
              <a:ext uri="{FF2B5EF4-FFF2-40B4-BE49-F238E27FC236}">
                <a16:creationId xmlns:a16="http://schemas.microsoft.com/office/drawing/2014/main" id="{823F5CCF-ED72-A15A-EF86-1D993A0B121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6549E42C-BAD7-D06C-8CBF-7F1BA5902D18}"/>
              </a:ext>
            </a:extLst>
          </p:cNvPr>
          <p:cNvPicPr>
            <a:picLocks noChangeAspect="1" noChangeArrowheads="1"/>
          </p:cNvPicPr>
          <p:nvPr/>
        </p:nvPicPr>
        <p:blipFill rotWithShape="1">
          <a:blip r:embed="rId5">
            <a:extLst>
              <a:ext uri="{BEBA8EAE-BF5A-486C-A8C5-ECC9F3942E4B}">
                <a14:imgProps xmlns:a14="http://schemas.microsoft.com/office/drawing/2010/main">
                  <a14:imgLayer r:embed="rId6">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Brick Wall Speech Bubble Thank You Design Presentation Template">
            <a:extLst>
              <a:ext uri="{FF2B5EF4-FFF2-40B4-BE49-F238E27FC236}">
                <a16:creationId xmlns:a16="http://schemas.microsoft.com/office/drawing/2014/main" id="{96078CA1-7000-0C4A-46C3-970B1FE9EFE5}"/>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10000" b="90000" l="10000" r="90000">
                        <a14:foregroundMark x1="21979" y1="30417" x2="29896" y2="35139"/>
                        <a14:foregroundMark x1="29896" y1="35139" x2="41146" y2="33056"/>
                        <a14:foregroundMark x1="41146" y1="33056" x2="56458" y2="33750"/>
                        <a14:foregroundMark x1="48125" y1="63194" x2="77500" y2="66667"/>
                        <a14:foregroundMark x1="77500" y1="66667" x2="79063" y2="66667"/>
                        <a14:foregroundMark x1="78229" y1="58472" x2="76979" y2="64861"/>
                      </a14:backgroundRemoval>
                    </a14:imgEffect>
                  </a14:imgLayer>
                </a14:imgProps>
              </a:ext>
              <a:ext uri="{28A0092B-C50C-407E-A947-70E740481C1C}">
                <a14:useLocalDpi xmlns:a14="http://schemas.microsoft.com/office/drawing/2010/main" val="0"/>
              </a:ext>
            </a:extLst>
          </a:blip>
          <a:srcRect/>
          <a:stretch>
            <a:fillRect/>
          </a:stretch>
        </p:blipFill>
        <p:spPr bwMode="auto">
          <a:xfrm>
            <a:off x="3923792" y="1164859"/>
            <a:ext cx="3460537" cy="25954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2527038"/>
      </p:ext>
    </p:extLst>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TM04033925[[fn=Droplet]]</Template>
  <TotalTime>455</TotalTime>
  <Words>3917</Words>
  <Application>Microsoft Office PowerPoint</Application>
  <PresentationFormat>On-screen Show (16:9)</PresentationFormat>
  <Paragraphs>694</Paragraphs>
  <Slides>32</Slides>
  <Notes>20</Notes>
  <HiddenSlides>0</HiddenSlides>
  <MMClips>0</MMClips>
  <ScaleCrop>false</ScaleCrop>
  <HeadingPairs>
    <vt:vector size="4" baseType="variant">
      <vt:variant>
        <vt:lpstr>Theme</vt:lpstr>
      </vt:variant>
      <vt:variant>
        <vt:i4>2</vt:i4>
      </vt:variant>
      <vt:variant>
        <vt:lpstr>Slide Titles</vt:lpstr>
      </vt:variant>
      <vt:variant>
        <vt:i4>32</vt:i4>
      </vt:variant>
    </vt:vector>
  </HeadingPairs>
  <TitlesOfParts>
    <vt:vector size="34" baseType="lpstr">
      <vt:lpstr>Depth</vt:lpstr>
      <vt:lpstr>Droplet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MLP Pokémon Classification</dc:title>
  <dc:subject>PptxGenJS Presentation</dc:subject>
  <dc:creator>PptxGenJS</dc:creator>
  <cp:lastModifiedBy>Francisco Silva</cp:lastModifiedBy>
  <cp:revision>140</cp:revision>
  <dcterms:created xsi:type="dcterms:W3CDTF">2026-03-07T01:48:48Z</dcterms:created>
  <dcterms:modified xsi:type="dcterms:W3CDTF">2026-03-31T12:59:13Z</dcterms:modified>
</cp:coreProperties>
</file>