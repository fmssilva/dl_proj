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4"/>
  </p:notesMasterIdLst>
  <p:sldIdLst>
    <p:sldId id="256" r:id="rId3"/>
    <p:sldId id="304" r:id="rId4"/>
    <p:sldId id="302" r:id="rId5"/>
    <p:sldId id="303" r:id="rId6"/>
    <p:sldId id="281" r:id="rId7"/>
    <p:sldId id="258" r:id="rId8"/>
    <p:sldId id="259" r:id="rId9"/>
    <p:sldId id="260" r:id="rId10"/>
    <p:sldId id="261" r:id="rId11"/>
    <p:sldId id="262" r:id="rId12"/>
    <p:sldId id="263" r:id="rId13"/>
    <p:sldId id="282" r:id="rId14"/>
    <p:sldId id="288" r:id="rId15"/>
    <p:sldId id="295" r:id="rId16"/>
    <p:sldId id="285" r:id="rId17"/>
    <p:sldId id="286" r:id="rId18"/>
    <p:sldId id="287" r:id="rId19"/>
    <p:sldId id="296" r:id="rId20"/>
    <p:sldId id="289" r:id="rId21"/>
    <p:sldId id="290" r:id="rId22"/>
    <p:sldId id="283" r:id="rId23"/>
    <p:sldId id="271" r:id="rId24"/>
    <p:sldId id="273" r:id="rId25"/>
    <p:sldId id="293" r:id="rId26"/>
    <p:sldId id="284" r:id="rId27"/>
    <p:sldId id="275" r:id="rId28"/>
    <p:sldId id="297" r:id="rId29"/>
    <p:sldId id="298" r:id="rId30"/>
    <p:sldId id="299" r:id="rId31"/>
    <p:sldId id="278" r:id="rId32"/>
    <p:sldId id="279" r:id="rId33"/>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4F0F"/>
    <a:srgbClr val="61B2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8D82EB-2A8A-3F88-C693-0BA1CD23B96F}" v="2" dt="2026-03-31T09:47:39.982"/>
    <p1510:client id="{A26457FE-A9C8-4E11-46D0-5012F7351370}" v="180" dt="2026-03-31T13:16:48.175"/>
    <p1510:client id="{FA7A8606-5183-1373-B595-25755B932D02}" v="553" dt="2026-03-31T12:52:55.54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6" d="100"/>
          <a:sy n="66" d="100"/>
        </p:scale>
        <p:origin x="1930"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microsoft.com/office/2015/10/relationships/revisionInfo" Target="revisionInfo.xml"/><Relationship Id="rId21" Type="http://schemas.openxmlformats.org/officeDocument/2006/relationships/slide" Target="slides/slide19.xml"/><Relationship Id="rId34"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AC9F-9936-7C6E-A819-DB47219C5F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51D3E-D52D-FF59-D11E-281D469E7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F6B4-167B-8A42-9620-B1EDEF1A68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539C54-05B7-D9F9-397F-A65B8088A1D4}"/>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517330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2ABCA-9518-0045-5444-B76CB3DD40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C0CA0B-5281-281A-8E0D-E5D0CCB41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0D672-9E2E-F6CB-CD83-829CBF72AA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1310D-4636-F8A2-C428-80E772902E1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10576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6.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6.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6.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a:latin typeface="Calibri"/>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1 - Multi-Layer Perceptron</a:t>
            </a:r>
          </a:p>
          <a:p>
            <a:r>
              <a:rPr lang="en-US" sz="1600">
                <a:solidFill>
                  <a:srgbClr val="7AADCC"/>
                </a:solidFill>
                <a:latin typeface="Calibri"/>
                <a:ea typeface="Calibri"/>
                <a:cs typeface="Calibri"/>
              </a:rPr>
              <a:t>TASK 2 - Convolutional Neural Network</a:t>
            </a:r>
            <a:endParaRPr lang="en-US" sz="1600" dirty="0">
              <a:solidFill>
                <a:srgbClr val="7AADCC"/>
              </a:solidFill>
              <a:latin typeface="Calibri"/>
              <a:ea typeface="Calibri"/>
              <a:cs typeface="Calibri"/>
            </a:endParaRP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5568F482-FA2E-E043-E1B7-895335605896}"/>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9DE5AB91-C0E5-27C9-AF60-E8745DE77E28}"/>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a:t>
            </a:r>
            <a:endParaRPr lang="en-US" sz="2200" dirty="0"/>
          </a:p>
        </p:txBody>
      </p:sp>
      <p:sp>
        <p:nvSpPr>
          <p:cNvPr id="4" name="Shape 2">
            <a:extLst>
              <a:ext uri="{FF2B5EF4-FFF2-40B4-BE49-F238E27FC236}">
                <a16:creationId xmlns:a16="http://schemas.microsoft.com/office/drawing/2014/main" id="{BCDB373C-68EC-2A02-1B20-C6E3EC15F50E}"/>
              </a:ext>
            </a:extLst>
          </p:cNvPr>
          <p:cNvSpPr/>
          <p:nvPr/>
        </p:nvSpPr>
        <p:spPr>
          <a:xfrm>
            <a:off x="2419285" y="1597876"/>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37EA9330-1775-1220-60DD-7166C260D041}"/>
              </a:ext>
            </a:extLst>
          </p:cNvPr>
          <p:cNvSpPr/>
          <p:nvPr/>
        </p:nvSpPr>
        <p:spPr>
          <a:xfrm>
            <a:off x="2390226" y="1597876"/>
            <a:ext cx="82296" cy="71331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6B2A9046-7C9D-986B-B22B-3CBFA8E64CDD}"/>
              </a:ext>
            </a:extLst>
          </p:cNvPr>
          <p:cNvSpPr/>
          <p:nvPr/>
        </p:nvSpPr>
        <p:spPr>
          <a:xfrm>
            <a:off x="2710344" y="1707604"/>
            <a:ext cx="950124" cy="475488"/>
          </a:xfrm>
          <a:prstGeom prst="rect">
            <a:avLst/>
          </a:prstGeom>
          <a:noFill/>
          <a:ln/>
        </p:spPr>
        <p:txBody>
          <a:bodyPr wrap="square" lIns="0" tIns="0" rIns="0" bIns="0" rtlCol="0" anchor="ctr"/>
          <a:lstStyle/>
          <a:p>
            <a:r>
              <a:rPr lang="en-US" sz="2200" b="1">
                <a:solidFill>
                  <a:srgbClr val="00A896"/>
                </a:solidFill>
                <a:latin typeface="Trebuchet MS"/>
              </a:rPr>
              <a:t>Task 1</a:t>
            </a:r>
            <a:endParaRPr lang="en-US" sz="2200" b="1" dirty="0">
              <a:solidFill>
                <a:srgbClr val="00A896"/>
              </a:solidFill>
              <a:latin typeface="Trebuchet MS"/>
            </a:endParaRPr>
          </a:p>
        </p:txBody>
      </p:sp>
      <p:sp>
        <p:nvSpPr>
          <p:cNvPr id="9" name="Text 7">
            <a:extLst>
              <a:ext uri="{FF2B5EF4-FFF2-40B4-BE49-F238E27FC236}">
                <a16:creationId xmlns:a16="http://schemas.microsoft.com/office/drawing/2014/main" id="{5F29795B-AC25-77F4-DDE3-E966AE4287D6}"/>
              </a:ext>
            </a:extLst>
          </p:cNvPr>
          <p:cNvSpPr/>
          <p:nvPr/>
        </p:nvSpPr>
        <p:spPr>
          <a:xfrm>
            <a:off x="3599095" y="1736663"/>
            <a:ext cx="2706391" cy="450226"/>
          </a:xfrm>
          <a:prstGeom prst="rect">
            <a:avLst/>
          </a:prstGeom>
          <a:noFill/>
          <a:ln/>
        </p:spPr>
        <p:txBody>
          <a:bodyPr wrap="square" lIns="0" tIns="0" rIns="0" bIns="0" rtlCol="0" anchor="ctr"/>
          <a:lstStyle/>
          <a:p>
            <a:r>
              <a:rPr lang="en-US" sz="1400" b="1">
                <a:solidFill>
                  <a:srgbClr val="FFFFFF"/>
                </a:solidFill>
                <a:latin typeface="Trebuchet MS"/>
              </a:rPr>
              <a:t>............................... Slide </a:t>
            </a:r>
            <a:r>
              <a:rPr lang="en-US" sz="1400" b="1" dirty="0">
                <a:solidFill>
                  <a:srgbClr val="FFFFFF"/>
                </a:solidFill>
                <a:latin typeface="Trebuchet MS"/>
              </a:rPr>
              <a:t>3</a:t>
            </a:r>
            <a:endParaRPr lang="en-US" dirty="0"/>
          </a:p>
        </p:txBody>
      </p:sp>
      <p:pic>
        <p:nvPicPr>
          <p:cNvPr id="7" name="Picture 8" descr="NOSSA™ | NOVA School of Science &amp; Technology">
            <a:extLst>
              <a:ext uri="{FF2B5EF4-FFF2-40B4-BE49-F238E27FC236}">
                <a16:creationId xmlns:a16="http://schemas.microsoft.com/office/drawing/2014/main" id="{4FE20FB4-711C-4D2C-8AA3-A587288446AE}"/>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Shape 2">
            <a:extLst>
              <a:ext uri="{FF2B5EF4-FFF2-40B4-BE49-F238E27FC236}">
                <a16:creationId xmlns:a16="http://schemas.microsoft.com/office/drawing/2014/main" id="{F8B975BA-0D8B-0CDC-DD24-3872A3652522}"/>
              </a:ext>
            </a:extLst>
          </p:cNvPr>
          <p:cNvSpPr/>
          <p:nvPr/>
        </p:nvSpPr>
        <p:spPr>
          <a:xfrm>
            <a:off x="2419284" y="2847425"/>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3">
            <a:extLst>
              <a:ext uri="{FF2B5EF4-FFF2-40B4-BE49-F238E27FC236}">
                <a16:creationId xmlns:a16="http://schemas.microsoft.com/office/drawing/2014/main" id="{C3B01079-FE5E-D05E-B6EE-3BC955D805F6}"/>
              </a:ext>
            </a:extLst>
          </p:cNvPr>
          <p:cNvSpPr/>
          <p:nvPr/>
        </p:nvSpPr>
        <p:spPr>
          <a:xfrm>
            <a:off x="2390225" y="2847425"/>
            <a:ext cx="82296" cy="713310"/>
          </a:xfrm>
          <a:prstGeom prst="rect">
            <a:avLst/>
          </a:prstGeom>
          <a:solidFill>
            <a:srgbClr val="00A896"/>
          </a:solidFill>
          <a:ln w="12700">
            <a:solidFill>
              <a:srgbClr val="00A896"/>
            </a:solidFill>
            <a:prstDash val="solid"/>
          </a:ln>
        </p:spPr>
        <p:txBody>
          <a:bodyPr/>
          <a:lstStyle/>
          <a:p>
            <a:endParaRPr lang="pt-PT"/>
          </a:p>
        </p:txBody>
      </p:sp>
      <p:sp>
        <p:nvSpPr>
          <p:cNvPr id="14" name="Text 4">
            <a:extLst>
              <a:ext uri="{FF2B5EF4-FFF2-40B4-BE49-F238E27FC236}">
                <a16:creationId xmlns:a16="http://schemas.microsoft.com/office/drawing/2014/main" id="{5C5E3ABA-3B01-4C5B-8256-F04082DB9D63}"/>
              </a:ext>
            </a:extLst>
          </p:cNvPr>
          <p:cNvSpPr/>
          <p:nvPr/>
        </p:nvSpPr>
        <p:spPr>
          <a:xfrm>
            <a:off x="2710343" y="2957153"/>
            <a:ext cx="950124" cy="475488"/>
          </a:xfrm>
          <a:prstGeom prst="rect">
            <a:avLst/>
          </a:prstGeom>
          <a:noFill/>
          <a:ln/>
        </p:spPr>
        <p:txBody>
          <a:bodyPr wrap="square" lIns="0" tIns="0" rIns="0" bIns="0" rtlCol="0" anchor="ctr"/>
          <a:lstStyle/>
          <a:p>
            <a:r>
              <a:rPr lang="en-US" sz="2200" b="1">
                <a:solidFill>
                  <a:srgbClr val="00A896"/>
                </a:solidFill>
                <a:latin typeface="Trebuchet MS"/>
              </a:rPr>
              <a:t>Task 2</a:t>
            </a:r>
            <a:endParaRPr lang="en-US" sz="2200" b="1" dirty="0">
              <a:solidFill>
                <a:srgbClr val="00A896"/>
              </a:solidFill>
              <a:latin typeface="Trebuchet MS"/>
            </a:endParaRPr>
          </a:p>
        </p:txBody>
      </p:sp>
      <p:sp>
        <p:nvSpPr>
          <p:cNvPr id="15" name="Text 7">
            <a:extLst>
              <a:ext uri="{FF2B5EF4-FFF2-40B4-BE49-F238E27FC236}">
                <a16:creationId xmlns:a16="http://schemas.microsoft.com/office/drawing/2014/main" id="{3C4615D6-8492-84FD-E74F-DB76854025BA}"/>
              </a:ext>
            </a:extLst>
          </p:cNvPr>
          <p:cNvSpPr/>
          <p:nvPr/>
        </p:nvSpPr>
        <p:spPr>
          <a:xfrm>
            <a:off x="3657212" y="2957154"/>
            <a:ext cx="2754823" cy="469599"/>
          </a:xfrm>
          <a:prstGeom prst="rect">
            <a:avLst/>
          </a:prstGeom>
          <a:noFill/>
          <a:ln/>
        </p:spPr>
        <p:txBody>
          <a:bodyPr wrap="square" lIns="0" tIns="0" rIns="0" bIns="0" rtlCol="0" anchor="ctr"/>
          <a:lstStyle/>
          <a:p>
            <a:r>
              <a:rPr lang="en-US" sz="1400" b="1">
                <a:solidFill>
                  <a:srgbClr val="FFFFFF"/>
                </a:solidFill>
                <a:latin typeface="Trebuchet MS"/>
              </a:rPr>
              <a:t>............................... Slide 32</a:t>
            </a:r>
            <a:endParaRPr lang="en-US" dirty="0"/>
          </a:p>
        </p:txBody>
      </p:sp>
    </p:spTree>
    <p:extLst>
      <p:ext uri="{BB962C8B-B14F-4D97-AF65-F5344CB8AC3E}">
        <p14:creationId xmlns:p14="http://schemas.microsoft.com/office/powerpoint/2010/main" val="19913958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r>
              <a:rPr lang="en-US" sz="1000" b="1" kern="0" spc="200">
                <a:solidFill>
                  <a:srgbClr val="02C39A"/>
                </a:solidFill>
                <a:latin typeface="Calibri"/>
                <a:ea typeface="Calibri"/>
                <a:cs typeface="Calibri"/>
              </a:rPr>
              <a:t>DEEP LEARNING  ·  ASSIGNMENT 1  ·  TASK 1</a:t>
            </a:r>
            <a:endParaRPr lang="en-US" sz="1000">
              <a:latin typeface="Corbel" panose="020B0503020204020204"/>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1463532" y="2039329"/>
            <a:ext cx="5907749"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1 - Multi-Layer Perceptron</a:t>
            </a:r>
            <a:endParaRPr lang="en-US" sz="3600">
              <a:latin typeface="Calibri"/>
              <a:ea typeface="Calibri"/>
              <a:cs typeface="Calibri"/>
            </a:endParaRPr>
          </a:p>
        </p:txBody>
      </p:sp>
      <p:sp>
        <p:nvSpPr>
          <p:cNvPr id="8" name="Shape 6"/>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6556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6EDD42F0-8B83-ECDD-FFEF-06C1AE8276F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09EC63B1-7569-1988-093E-D22F38E3F0CB}"/>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1)</a:t>
            </a:r>
            <a:endParaRPr lang="en-US" sz="2200" dirty="0"/>
          </a:p>
        </p:txBody>
      </p:sp>
      <p:sp>
        <p:nvSpPr>
          <p:cNvPr id="4" name="Shape 2">
            <a:extLst>
              <a:ext uri="{FF2B5EF4-FFF2-40B4-BE49-F238E27FC236}">
                <a16:creationId xmlns:a16="http://schemas.microsoft.com/office/drawing/2014/main" id="{2ECE11D6-CA30-8E4B-9E52-FBD225EA1ACF}"/>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C46B83A8-5EE1-F1F3-C5E4-A399A326CDF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1CD1A0C3-D9AC-1BBF-A4B7-521A465D3F20}"/>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1.1</a:t>
            </a:r>
            <a:endParaRPr lang="en-US" sz="2200" dirty="0"/>
          </a:p>
        </p:txBody>
      </p:sp>
      <p:sp>
        <p:nvSpPr>
          <p:cNvPr id="9" name="Text 7">
            <a:extLst>
              <a:ext uri="{FF2B5EF4-FFF2-40B4-BE49-F238E27FC236}">
                <a16:creationId xmlns:a16="http://schemas.microsoft.com/office/drawing/2014/main" id="{9410365B-04AF-129D-51F0-0D29995A65A2}"/>
              </a:ext>
            </a:extLst>
          </p:cNvPr>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a:extLst>
              <a:ext uri="{FF2B5EF4-FFF2-40B4-BE49-F238E27FC236}">
                <a16:creationId xmlns:a16="http://schemas.microsoft.com/office/drawing/2014/main" id="{C6068FB8-0F2E-4592-8CE2-8CE205B9A4FE}"/>
              </a:ext>
            </a:extLst>
          </p:cNvPr>
          <p:cNvSpPr/>
          <p:nvPr/>
        </p:nvSpPr>
        <p:spPr>
          <a:xfrm>
            <a:off x="102717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EDA  ·  class imbalance  ·  pixel stats  ·  t-SNE</a:t>
            </a:r>
            <a:endParaRPr lang="en-US" sz="1400" dirty="0"/>
          </a:p>
        </p:txBody>
      </p:sp>
      <p:sp>
        <p:nvSpPr>
          <p:cNvPr id="11" name="Shape 9">
            <a:extLst>
              <a:ext uri="{FF2B5EF4-FFF2-40B4-BE49-F238E27FC236}">
                <a16:creationId xmlns:a16="http://schemas.microsoft.com/office/drawing/2014/main" id="{CC89E544-BFB6-71B5-5F20-351B6B37C613}"/>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0FB75B18-A729-1E34-F9FC-344460FF21F4}"/>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14ACD319-7E57-B480-A3AE-9BC7CFCB93B9}"/>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1.2</a:t>
            </a:r>
            <a:endParaRPr lang="en-US" sz="2200" dirty="0"/>
          </a:p>
        </p:txBody>
      </p:sp>
      <p:sp>
        <p:nvSpPr>
          <p:cNvPr id="16" name="Text 14">
            <a:extLst>
              <a:ext uri="{FF2B5EF4-FFF2-40B4-BE49-F238E27FC236}">
                <a16:creationId xmlns:a16="http://schemas.microsoft.com/office/drawing/2014/main" id="{CA28C14A-1848-C596-3E55-3449D6D57BE5}"/>
              </a:ext>
            </a:extLst>
          </p:cNvPr>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Model</a:t>
            </a:r>
            <a:r>
              <a:rPr lang="en-US" sz="1400" b="1" dirty="0">
                <a:solidFill>
                  <a:srgbClr val="FFFFFF"/>
                </a:solidFill>
                <a:latin typeface="Trebuchet MS"/>
                <a:ea typeface="Trebuchet MS" pitchFamily="34" charset="-122"/>
                <a:cs typeface="Trebuchet MS" pitchFamily="34" charset="-120"/>
              </a:rPr>
              <a:t> Development</a:t>
            </a:r>
            <a:endParaRPr lang="en-US" sz="1400" dirty="0">
              <a:latin typeface="Corbel"/>
            </a:endParaRPr>
          </a:p>
        </p:txBody>
      </p:sp>
      <p:sp>
        <p:nvSpPr>
          <p:cNvPr id="17" name="Text 15">
            <a:extLst>
              <a:ext uri="{FF2B5EF4-FFF2-40B4-BE49-F238E27FC236}">
                <a16:creationId xmlns:a16="http://schemas.microsoft.com/office/drawing/2014/main" id="{6B68DE6F-57BC-5F7A-CB18-54C7F59E564C}"/>
              </a:ext>
            </a:extLst>
          </p:cNvPr>
          <p:cNvSpPr/>
          <p:nvPr/>
        </p:nvSpPr>
        <p:spPr>
          <a:xfrm>
            <a:off x="541629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a:ea typeface="Calibri"/>
                <a:cs typeface="Calibri"/>
              </a:rPr>
              <a:t>Architecture  ·  19 experiments  ·  </a:t>
            </a:r>
            <a:r>
              <a:rPr lang="en-US" sz="1400">
                <a:solidFill>
                  <a:srgbClr val="7AADCC"/>
                </a:solidFill>
                <a:latin typeface="Calibri"/>
                <a:ea typeface="Calibri"/>
                <a:cs typeface="Calibri"/>
              </a:rPr>
              <a:t>regularization</a:t>
            </a:r>
            <a:endParaRPr lang="en-US" sz="1400" dirty="0"/>
          </a:p>
        </p:txBody>
      </p:sp>
      <p:sp>
        <p:nvSpPr>
          <p:cNvPr id="18" name="Shape 16">
            <a:extLst>
              <a:ext uri="{FF2B5EF4-FFF2-40B4-BE49-F238E27FC236}">
                <a16:creationId xmlns:a16="http://schemas.microsoft.com/office/drawing/2014/main" id="{747F5184-FF90-2575-0FAC-A3A0AEB23821}"/>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92A9AA02-5C81-A62D-E8CD-3AB88A15D44C}"/>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00BA9A67-D016-D398-6BB1-03B8028ECCF4}"/>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1.3</a:t>
            </a:r>
            <a:endParaRPr lang="en-US" sz="2200" dirty="0"/>
          </a:p>
        </p:txBody>
      </p:sp>
      <p:sp>
        <p:nvSpPr>
          <p:cNvPr id="23" name="Text 21">
            <a:extLst>
              <a:ext uri="{FF2B5EF4-FFF2-40B4-BE49-F238E27FC236}">
                <a16:creationId xmlns:a16="http://schemas.microsoft.com/office/drawing/2014/main" id="{02F399B8-765C-A63D-EA47-1CF795E95B56}"/>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Training Efficiency</a:t>
            </a:r>
            <a:endParaRPr lang="en-US" sz="1400">
              <a:latin typeface="Corbel"/>
            </a:endParaRPr>
          </a:p>
        </p:txBody>
      </p:sp>
      <p:sp>
        <p:nvSpPr>
          <p:cNvPr id="24" name="Text 22">
            <a:extLst>
              <a:ext uri="{FF2B5EF4-FFF2-40B4-BE49-F238E27FC236}">
                <a16:creationId xmlns:a16="http://schemas.microsoft.com/office/drawing/2014/main" id="{4AF1C975-0AFB-77E4-A2E5-F57A1392C7DC}"/>
              </a:ext>
            </a:extLst>
          </p:cNvPr>
          <p:cNvSpPr/>
          <p:nvPr/>
        </p:nvSpPr>
        <p:spPr>
          <a:xfrm>
            <a:off x="1027176" y="335584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Early stopping  ·  GPU budget  ·  checkpointing</a:t>
            </a:r>
            <a:endParaRPr lang="en-US" sz="1400" dirty="0"/>
          </a:p>
        </p:txBody>
      </p:sp>
      <p:sp>
        <p:nvSpPr>
          <p:cNvPr id="25" name="Shape 23">
            <a:extLst>
              <a:ext uri="{FF2B5EF4-FFF2-40B4-BE49-F238E27FC236}">
                <a16:creationId xmlns:a16="http://schemas.microsoft.com/office/drawing/2014/main" id="{2CA826F3-CEE3-C2CD-B805-1C406B5FA091}"/>
              </a:ext>
            </a:extLst>
          </p:cNvPr>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a:extLst>
              <a:ext uri="{FF2B5EF4-FFF2-40B4-BE49-F238E27FC236}">
                <a16:creationId xmlns:a16="http://schemas.microsoft.com/office/drawing/2014/main" id="{BFDF1308-A516-6478-8A18-7C4F05820347}"/>
              </a:ext>
            </a:extLst>
          </p:cNvPr>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a:extLst>
              <a:ext uri="{FF2B5EF4-FFF2-40B4-BE49-F238E27FC236}">
                <a16:creationId xmlns:a16="http://schemas.microsoft.com/office/drawing/2014/main" id="{400F658E-8104-F84A-C304-C7A531E41A68}"/>
              </a:ext>
            </a:extLst>
          </p:cNvPr>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1.4</a:t>
            </a:r>
            <a:endParaRPr lang="en-US" sz="2200" dirty="0"/>
          </a:p>
        </p:txBody>
      </p:sp>
      <p:sp>
        <p:nvSpPr>
          <p:cNvPr id="30" name="Text 28">
            <a:extLst>
              <a:ext uri="{FF2B5EF4-FFF2-40B4-BE49-F238E27FC236}">
                <a16:creationId xmlns:a16="http://schemas.microsoft.com/office/drawing/2014/main" id="{E22FB453-0D9F-7841-7E16-18741955E147}"/>
              </a:ext>
            </a:extLst>
          </p:cNvPr>
          <p:cNvSpPr/>
          <p:nvPr/>
        </p:nvSpPr>
        <p:spPr>
          <a:xfrm>
            <a:off x="544068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Performance Evaluation</a:t>
            </a:r>
            <a:endParaRPr lang="en-US" sz="1400">
              <a:latin typeface="Corbel"/>
            </a:endParaRPr>
          </a:p>
        </p:txBody>
      </p:sp>
      <p:sp>
        <p:nvSpPr>
          <p:cNvPr id="31" name="Text 29">
            <a:extLst>
              <a:ext uri="{FF2B5EF4-FFF2-40B4-BE49-F238E27FC236}">
                <a16:creationId xmlns:a16="http://schemas.microsoft.com/office/drawing/2014/main" id="{13A956D1-DDEE-EBA8-8FE7-C219777B111D}"/>
              </a:ext>
            </a:extLst>
          </p:cNvPr>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AD3B7977-F40B-75B4-E51F-F1D43EE49D61}"/>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07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345690298"/>
              </p:ext>
            </p:extLst>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Count</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 train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97C35"/>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97C35"/>
                          </a:solidFill>
                          <a:latin typeface="Calibri" pitchFamily="34" charset="0"/>
                          <a:ea typeface="Calibri" pitchFamily="34" charset="-122"/>
                          <a:cs typeface="Calibri" pitchFamily="34" charset="-120"/>
                        </a:rPr>
                        <a:t>18.7%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16.8%</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Poison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467</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Fire</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381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Bug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299</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Fighting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Rock</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7.3%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Ground</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74C3C"/>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74C3C"/>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
        <p:nvSpPr>
          <p:cNvPr id="28" name="TextBox 27">
            <a:extLst>
              <a:ext uri="{FF2B5EF4-FFF2-40B4-BE49-F238E27FC236}">
                <a16:creationId xmlns:a16="http://schemas.microsoft.com/office/drawing/2014/main" id="{00A481E2-A33B-89CB-9618-FA80712A9EAF}"/>
              </a:ext>
            </a:extLst>
          </p:cNvPr>
          <p:cNvSpPr txBox="1"/>
          <p:nvPr/>
        </p:nvSpPr>
        <p:spPr>
          <a:xfrm>
            <a:off x="78154" y="2095937"/>
            <a:ext cx="2173165" cy="2657266"/>
          </a:xfrm>
          <a:prstGeom prst="rect">
            <a:avLst/>
          </a:prstGeom>
          <a:noFill/>
        </p:spPr>
        <p:txBody>
          <a:bodyPr wrap="square">
            <a:spAutoFit/>
          </a:bodyPr>
          <a:lstStyle/>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buNone/>
            </a:pPr>
            <a:r>
              <a:rPr lang="pt-PT" sz="1250" dirty="0">
                <a:solidFill>
                  <a:schemeClr val="bg1"/>
                </a:solidFill>
                <a:latin typeface="Consolas" panose="020B0609020204030204" pitchFamily="49" charset="0"/>
              </a:rPr>
              <a:t>🗿</a:t>
            </a:r>
            <a:endParaRPr lang="pt-PT" sz="1250" b="0" dirty="0">
              <a:solidFill>
                <a:schemeClr val="bg1"/>
              </a:solidFill>
              <a:effectLst/>
              <a:latin typeface="Consolas" panose="020B0609020204030204" pitchFamily="49" charset="0"/>
            </a:endParaRPr>
          </a:p>
          <a:p>
            <a:pPr>
              <a:lnSpc>
                <a:spcPct val="150000"/>
              </a:lnSpc>
            </a:pPr>
            <a:r>
              <a:rPr lang="pt-PT" sz="1250" dirty="0">
                <a:solidFill>
                  <a:schemeClr val="bg1"/>
                </a:solidFill>
                <a:latin typeface="Consolas" panose="020B0609020204030204" pitchFamily="49"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 Ground imbalance ratio</a:t>
            </a:r>
            <a:endParaRPr lang="en-US" sz="14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(most common class)</a:t>
            </a:r>
            <a:endParaRPr lang="en-US" sz="14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Ground (rarest class)</a:t>
            </a:r>
            <a:endParaRPr lang="en-US" sz="14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Naive baseline: always predict Water</a:t>
            </a:r>
            <a:endParaRPr lang="en-US" sz="14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a:buSzPct val="100000"/>
            </a:pPr>
            <a:r>
              <a:rPr lang="en-US" sz="1400" dirty="0">
                <a:solidFill>
                  <a:srgbClr val="1A2B3C"/>
                </a:solidFill>
                <a:latin typeface="Calibri" pitchFamily="34" charset="0"/>
                <a:ea typeface="Calibri" pitchFamily="34" charset="-122"/>
                <a:cs typeface="Calibri" pitchFamily="34" charset="-120"/>
              </a:rPr>
              <a:t>- Inverse-frequency class weights in </a:t>
            </a:r>
            <a:r>
              <a:rPr lang="en-US" sz="1400" dirty="0" err="1">
                <a:solidFill>
                  <a:srgbClr val="1A2B3C"/>
                </a:solidFill>
                <a:latin typeface="Calibri" pitchFamily="34" charset="0"/>
                <a:ea typeface="Calibri" pitchFamily="34" charset="-122"/>
                <a:cs typeface="Calibri" pitchFamily="34" charset="-120"/>
              </a:rPr>
              <a:t>CrossEntropyLoss</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B, C, D, F, G, J, L, R, S,</a:t>
            </a:r>
          </a:p>
          <a:p>
            <a:pPr>
              <a:buSzPct val="100000"/>
            </a:pPr>
            <a:r>
              <a:rPr lang="en-US" sz="1400" dirty="0">
                <a:solidFill>
                  <a:srgbClr val="1A2B3C"/>
                </a:solidFill>
                <a:latin typeface="Calibri" pitchFamily="34" charset="0"/>
                <a:ea typeface="Calibri" pitchFamily="34" charset="-122"/>
                <a:cs typeface="Calibri" pitchFamily="34" charset="-120"/>
              </a:rPr>
              <a:t>- </a:t>
            </a:r>
            <a:r>
              <a:rPr lang="en-US" sz="1400" dirty="0" err="1">
                <a:solidFill>
                  <a:srgbClr val="1A2B3C"/>
                </a:solidFill>
                <a:latin typeface="Calibri" pitchFamily="34" charset="0"/>
                <a:ea typeface="Calibri" pitchFamily="34" charset="-122"/>
                <a:cs typeface="Calibri" pitchFamily="34" charset="-120"/>
              </a:rPr>
              <a:t>WeightedRandomSampler</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E, M, O, Q, </a:t>
            </a:r>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
        <p:nvSpPr>
          <p:cNvPr id="30" name="Shape 2">
            <a:extLst>
              <a:ext uri="{FF2B5EF4-FFF2-40B4-BE49-F238E27FC236}">
                <a16:creationId xmlns:a16="http://schemas.microsoft.com/office/drawing/2014/main" id="{C97CE7CB-555D-96D8-720C-C2A9DB9265D2}"/>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4" name="Rectangle: Rounded Corners 33">
            <a:extLst>
              <a:ext uri="{FF2B5EF4-FFF2-40B4-BE49-F238E27FC236}">
                <a16:creationId xmlns:a16="http://schemas.microsoft.com/office/drawing/2014/main" id="{3B2B809C-E84E-88F3-98EC-81813C3A8EB8}"/>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134112" y="615676"/>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4 samples per class (</a:t>
            </a:r>
            <a:r>
              <a:rPr lang="en-US" sz="1200" b="1" dirty="0" err="1">
                <a:solidFill>
                  <a:srgbClr val="3D5A73"/>
                </a:solidFill>
                <a:latin typeface="Calibri" pitchFamily="34" charset="0"/>
                <a:ea typeface="Calibri" pitchFamily="34" charset="-122"/>
                <a:cs typeface="Calibri" pitchFamily="34" charset="-120"/>
              </a:rPr>
              <a:t>pokemons</a:t>
            </a:r>
            <a:r>
              <a:rPr lang="en-US" sz="1200" b="1" dirty="0">
                <a:solidFill>
                  <a:srgbClr val="3D5A73"/>
                </a:solidFill>
                <a:latin typeface="Calibri" pitchFamily="34" charset="0"/>
                <a:ea typeface="Calibri" pitchFamily="34" charset="-122"/>
                <a:cs typeface="Calibri" pitchFamily="34" charset="-120"/>
              </a:rPr>
              <a:t> overlaid on real-world backgrounds)  »»»</a:t>
            </a:r>
            <a:endParaRPr lang="en-US" sz="1200" b="1"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Both dominated by green/yellow tones </a:t>
            </a:r>
          </a:p>
          <a:p>
            <a:pPr marL="0" indent="0">
              <a:buNone/>
            </a:pPr>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r>
              <a:rPr lang="en-US" sz="1200" dirty="0">
                <a:solidFill>
                  <a:srgbClr val="3D5A73"/>
                </a:solidFill>
                <a:latin typeface="Calibri" pitchFamily="34" charset="0"/>
                <a:ea typeface="Calibri" pitchFamily="34" charset="-122"/>
                <a:cs typeface="Calibri" pitchFamily="34" charset="-120"/>
              </a:rPr>
              <a:t>Both dominated by brown tones </a:t>
            </a:r>
          </a:p>
          <a:p>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Brown/grey palettes </a:t>
            </a:r>
          </a:p>
          <a:p>
            <a:pPr marL="0" indent="0">
              <a:buNone/>
            </a:pPr>
            <a:r>
              <a:rPr lang="en-US" sz="1200" dirty="0">
                <a:solidFill>
                  <a:srgbClr val="3D5A73"/>
                </a:solidFill>
                <a:latin typeface="Calibri" pitchFamily="34" charset="0"/>
                <a:ea typeface="Calibri" pitchFamily="34" charset="-122"/>
                <a:cs typeface="Calibri" pitchFamily="34" charset="-120"/>
              </a:rPr>
              <a:t>» hardest confusion pair in our results</a:t>
            </a:r>
            <a:endParaRPr lang="en-US" sz="12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Sprites on street photos </a:t>
            </a:r>
          </a:p>
          <a:p>
            <a:pPr marL="0" indent="0">
              <a:buNone/>
            </a:pPr>
            <a:r>
              <a:rPr lang="en-US" sz="1200" dirty="0">
                <a:solidFill>
                  <a:srgbClr val="3D5A73"/>
                </a:solidFill>
                <a:latin typeface="Calibri" pitchFamily="34" charset="0"/>
                <a:ea typeface="Calibri" pitchFamily="34" charset="-122"/>
                <a:cs typeface="Calibri" pitchFamily="34" charset="-120"/>
              </a:rPr>
              <a:t>» random background noise adds pixel variability</a:t>
            </a:r>
            <a:endParaRPr lang="en-US" sz="1200"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803648"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7114195" y="588305"/>
            <a:ext cx="2173165" cy="4593758"/>
          </a:xfrm>
          <a:prstGeom prst="rect">
            <a:avLst/>
          </a:prstGeom>
          <a:noFill/>
        </p:spPr>
        <p:txBody>
          <a:bodyPr wrap="square">
            <a:spAutoFit/>
          </a:bodyPr>
          <a:lstStyle/>
          <a:p>
            <a:pPr>
              <a:lnSpc>
                <a:spcPts val="1425"/>
              </a:lnSpc>
            </a:pPr>
            <a:r>
              <a:rPr lang="pt-PT" dirty="0">
                <a:solidFill>
                  <a:schemeClr val="bg1"/>
                </a:solidFill>
                <a:latin typeface="Bierstadt" panose="020B0004020202020204" pitchFamily="34" charset="0"/>
              </a:rPr>
              <a:t>🐛 Bug</a:t>
            </a:r>
          </a:p>
          <a:p>
            <a:pPr>
              <a:lnSpc>
                <a:spcPts val="1425"/>
              </a:lnSpc>
            </a:pPr>
            <a:r>
              <a:rPr lang="pt-PT" dirty="0">
                <a:solidFill>
                  <a:schemeClr val="bg1"/>
                </a:solidFill>
                <a:latin typeface="Bierstadt" panose="020B0004020202020204" pitchFamily="34" charset="0"/>
              </a:rPr>
              <a:t> </a:t>
            </a: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Fighting</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sz="4000"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a:t>
            </a:r>
            <a:r>
              <a:rPr lang="pt-PT" b="0" dirty="0" err="1">
                <a:solidFill>
                  <a:schemeClr val="bg1"/>
                </a:solidFill>
                <a:effectLst/>
                <a:latin typeface="Bierstadt" panose="020B0004020202020204" pitchFamily="34" charset="0"/>
              </a:rPr>
              <a:t>Fire</a:t>
            </a: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Grass</a:t>
            </a:r>
            <a:r>
              <a:rPr lang="pt-PT" dirty="0">
                <a:solidFill>
                  <a:schemeClr val="bg1"/>
                </a:solidFill>
                <a:latin typeface="Bierstadt" panose="020B0004020202020204" pitchFamily="34" charset="0"/>
              </a:rPr>
              <a:t> </a:t>
            </a:r>
          </a:p>
          <a:p>
            <a:pPr>
              <a:lnSpc>
                <a:spcPts val="1425"/>
              </a:lnSpc>
              <a:buNone/>
            </a:pPr>
            <a:endParaRPr lang="pt-PT" b="0" dirty="0">
              <a:solidFill>
                <a:schemeClr val="bg1"/>
              </a:solidFill>
              <a:effectLst/>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Ground</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b="0" dirty="0">
                <a:solidFill>
                  <a:schemeClr val="bg1"/>
                </a:solidFill>
                <a:effectLst/>
                <a:latin typeface="Bierstadt" panose="020B0004020202020204" pitchFamily="34" charset="0"/>
              </a:rPr>
              <a:t>😐 Normal </a:t>
            </a: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dirty="0">
              <a:solidFill>
                <a:schemeClr val="bg1"/>
              </a:solidFill>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a:t>
            </a:r>
            <a:r>
              <a:rPr lang="pt-PT" dirty="0" err="1">
                <a:solidFill>
                  <a:schemeClr val="bg1"/>
                </a:solidFill>
                <a:latin typeface="Bierstadt" panose="020B0004020202020204" pitchFamily="34" charset="0"/>
              </a:rPr>
              <a:t>Poison</a:t>
            </a:r>
            <a:endParaRPr lang="pt-PT" dirty="0">
              <a:solidFill>
                <a:schemeClr val="bg1"/>
              </a:solidFill>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endParaRPr lang="pt-PT" b="0" dirty="0">
              <a:solidFill>
                <a:schemeClr val="bg1"/>
              </a:solidFill>
              <a:effectLst/>
              <a:latin typeface="Bierstadt" panose="020B0004020202020204" pitchFamily="34" charset="0"/>
            </a:endParaRPr>
          </a:p>
          <a:p>
            <a:pPr>
              <a:lnSpc>
                <a:spcPts val="1425"/>
              </a:lnSpc>
              <a:buNone/>
            </a:pPr>
            <a:r>
              <a:rPr lang="pt-PT" dirty="0">
                <a:solidFill>
                  <a:schemeClr val="bg1"/>
                </a:solidFill>
                <a:latin typeface="Bierstadt" panose="020B0004020202020204" pitchFamily="34" charset="0"/>
              </a:rPr>
              <a:t> 🗿	</a:t>
            </a:r>
            <a:r>
              <a:rPr lang="pt-PT" b="0" dirty="0">
                <a:solidFill>
                  <a:schemeClr val="bg1"/>
                </a:solidFill>
                <a:effectLst/>
                <a:latin typeface="Bierstadt" panose="020B0004020202020204" pitchFamily="34" charset="0"/>
              </a:rPr>
              <a:t>Rock</a:t>
            </a:r>
          </a:p>
          <a:p>
            <a:pPr>
              <a:lnSpc>
                <a:spcPts val="1425"/>
              </a:lnSpc>
              <a:buNone/>
            </a:pPr>
            <a:endParaRPr lang="pt-PT" dirty="0">
              <a:solidFill>
                <a:schemeClr val="bg1"/>
              </a:solidFill>
              <a:latin typeface="Bierstadt" panose="020B0004020202020204" pitchFamily="34" charset="0"/>
            </a:endParaRPr>
          </a:p>
          <a:p>
            <a:pPr>
              <a:lnSpc>
                <a:spcPts val="1425"/>
              </a:lnSpc>
            </a:pPr>
            <a:endParaRPr lang="pt-PT" dirty="0">
              <a:solidFill>
                <a:schemeClr val="bg1"/>
              </a:solidFill>
              <a:latin typeface="Bierstadt" panose="020B0004020202020204" pitchFamily="34" charset="0"/>
            </a:endParaRPr>
          </a:p>
          <a:p>
            <a:pPr>
              <a:lnSpc>
                <a:spcPts val="1425"/>
              </a:lnSpc>
            </a:pPr>
            <a:r>
              <a:rPr lang="pt-PT" dirty="0">
                <a:solidFill>
                  <a:schemeClr val="bg1"/>
                </a:solidFill>
                <a:latin typeface="Bierstadt" panose="020B0004020202020204" pitchFamily="34" charset="0"/>
              </a:rPr>
              <a:t> 💧 </a:t>
            </a:r>
            <a:r>
              <a:rPr lang="pt-PT" dirty="0" err="1">
                <a:solidFill>
                  <a:schemeClr val="bg1"/>
                </a:solidFill>
                <a:latin typeface="Bierstadt" panose="020B0004020202020204" pitchFamily="34" charset="0"/>
              </a:rPr>
              <a:t>Water</a:t>
            </a:r>
            <a:r>
              <a:rPr lang="pt-PT" dirty="0">
                <a:solidFill>
                  <a:schemeClr val="bg1"/>
                </a:solidFill>
                <a:latin typeface="Bierstadt" panose="020B0004020202020204" pitchFamily="34" charset="0"/>
              </a:rPr>
              <a:t> </a:t>
            </a:r>
            <a:r>
              <a:rPr lang="pt-PT" b="0" dirty="0">
                <a:solidFill>
                  <a:schemeClr val="bg1"/>
                </a:solidFill>
                <a:effectLst/>
                <a:latin typeface="Bierstadt" panose="020B0004020202020204" pitchFamily="34" charset="0"/>
              </a:rPr>
              <a:t> </a:t>
            </a:r>
          </a:p>
        </p:txBody>
      </p:sp>
      <p:sp>
        <p:nvSpPr>
          <p:cNvPr id="26" name="Shape 2">
            <a:extLst>
              <a:ext uri="{FF2B5EF4-FFF2-40B4-BE49-F238E27FC236}">
                <a16:creationId xmlns:a16="http://schemas.microsoft.com/office/drawing/2014/main" id="{56D2C831-6AE7-5AE2-A165-DDA50D185E23}"/>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30" name="Rectangle: Rounded Corners 29">
            <a:extLst>
              <a:ext uri="{FF2B5EF4-FFF2-40B4-BE49-F238E27FC236}">
                <a16:creationId xmlns:a16="http://schemas.microsoft.com/office/drawing/2014/main" id="{CA3501BA-CB5C-AA52-8009-5EDE058CDD70}"/>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a:solidFill>
                  <a:srgbClr val="FFFFFF"/>
                </a:solidFill>
              </a:rPr>
              <a:t>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2869798500"/>
              </p:ext>
            </p:extLst>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Berlin Sans FB" panose="020E0602020502020306" pitchFamily="34" charset="0"/>
              </a:rPr>
              <a:t>🐛 Bug	 ⚔️ </a:t>
            </a:r>
            <a:r>
              <a:rPr lang="pt-PT" sz="1100" dirty="0" err="1">
                <a:solidFill>
                  <a:schemeClr val="bg1"/>
                </a:solidFill>
                <a:latin typeface="Berlin Sans FB" panose="020E0602020502020306" pitchFamily="34" charset="0"/>
              </a:rPr>
              <a:t>Fighting</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a:t>
            </a:r>
            <a:r>
              <a:rPr lang="pt-PT" sz="1100" b="0" dirty="0" err="1">
                <a:solidFill>
                  <a:schemeClr val="bg1"/>
                </a:solidFill>
                <a:effectLst/>
                <a:latin typeface="Berlin Sans FB" panose="020E0602020502020306" pitchFamily="34" charset="0"/>
              </a:rPr>
              <a:t>Fire</a:t>
            </a:r>
            <a:r>
              <a:rPr lang="pt-PT" sz="1100" b="0" dirty="0">
                <a:solidFill>
                  <a:schemeClr val="bg1"/>
                </a:solidFill>
                <a:effectLst/>
                <a:latin typeface="Berlin Sans FB" panose="020E0602020502020306" pitchFamily="34" charset="0"/>
              </a:rPr>
              <a:t>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Grass</a:t>
            </a:r>
            <a:r>
              <a:rPr lang="pt-PT" sz="1100" dirty="0">
                <a:solidFill>
                  <a:schemeClr val="bg1"/>
                </a:solidFill>
                <a:latin typeface="Berlin Sans FB" panose="020E0602020502020306" pitchFamily="34" charset="0"/>
              </a:rPr>
              <a:t>            🌍 </a:t>
            </a:r>
            <a:r>
              <a:rPr lang="pt-PT" sz="1100" dirty="0" err="1">
                <a:solidFill>
                  <a:schemeClr val="bg1"/>
                </a:solidFill>
                <a:latin typeface="Berlin Sans FB" panose="020E0602020502020306" pitchFamily="34" charset="0"/>
              </a:rPr>
              <a:t>Ground</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Normal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Poison</a:t>
            </a:r>
            <a:r>
              <a:rPr lang="pt-PT" sz="1100" dirty="0">
                <a:solidFill>
                  <a:schemeClr val="bg1"/>
                </a:solidFill>
                <a:latin typeface="Berlin Sans FB" panose="020E0602020502020306" pitchFamily="34" charset="0"/>
              </a:rPr>
              <a:t>           🗿 </a:t>
            </a:r>
            <a:r>
              <a:rPr lang="pt-PT" sz="1100" b="0" dirty="0">
                <a:solidFill>
                  <a:schemeClr val="bg1"/>
                </a:solidFill>
                <a:effectLst/>
                <a:latin typeface="Berlin Sans FB" panose="020E0602020502020306" pitchFamily="34" charset="0"/>
              </a:rPr>
              <a:t>Rock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Water</a:t>
            </a:r>
            <a:endParaRPr lang="pt-PT" sz="1100" b="0" dirty="0">
              <a:solidFill>
                <a:schemeClr val="bg1"/>
              </a:solidFill>
              <a:effectLst/>
              <a:latin typeface="Berlin Sans FB" panose="020E0602020502020306" pitchFamily="34" charset="0"/>
            </a:endParaRPr>
          </a:p>
        </p:txBody>
      </p:sp>
      <p:sp>
        <p:nvSpPr>
          <p:cNvPr id="21" name="Shape 2">
            <a:extLst>
              <a:ext uri="{FF2B5EF4-FFF2-40B4-BE49-F238E27FC236}">
                <a16:creationId xmlns:a16="http://schemas.microsoft.com/office/drawing/2014/main" id="{429B8A0B-72F7-44EC-A58B-A63B2167CC25}"/>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23" name="Rectangle: Rounded Corners 22">
            <a:extLst>
              <a:ext uri="{FF2B5EF4-FFF2-40B4-BE49-F238E27FC236}">
                <a16:creationId xmlns:a16="http://schemas.microsoft.com/office/drawing/2014/main" id="{C0A4E6B6-E510-51B8-CC9A-C1220A590D06}"/>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2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Blue channel spikes above R and G near value 200  — confirms blue bias (Water...)</a:t>
            </a:r>
            <a:endParaRPr lang="en-US" sz="1200"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
        <p:nvSpPr>
          <p:cNvPr id="15" name="Shape 2">
            <a:extLst>
              <a:ext uri="{FF2B5EF4-FFF2-40B4-BE49-F238E27FC236}">
                <a16:creationId xmlns:a16="http://schemas.microsoft.com/office/drawing/2014/main" id="{9A605828-3D8A-F68E-4712-67EC42EC219D}"/>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7" name="Rectangle: Rounded Corners 16">
            <a:extLst>
              <a:ext uri="{FF2B5EF4-FFF2-40B4-BE49-F238E27FC236}">
                <a16:creationId xmlns:a16="http://schemas.microsoft.com/office/drawing/2014/main" id="{270E14DA-4288-3076-76BC-692B4E3F7B3D}"/>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7F9"/>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2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2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2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200" dirty="0">
                <a:solidFill>
                  <a:srgbClr val="1A2B3C"/>
                </a:solidFill>
                <a:latin typeface="Calibri" pitchFamily="34" charset="0"/>
                <a:ea typeface="Calibri" pitchFamily="34" charset="-122"/>
                <a:cs typeface="Calibri" pitchFamily="34" charset="-120"/>
              </a:rPr>
              <a:t>   » MLP physically cannot.</a:t>
            </a:r>
            <a:endParaRPr lang="en-US" sz="1200" dirty="0"/>
          </a:p>
        </p:txBody>
      </p:sp>
      <p:sp>
        <p:nvSpPr>
          <p:cNvPr id="12" name="Shape 2">
            <a:extLst>
              <a:ext uri="{FF2B5EF4-FFF2-40B4-BE49-F238E27FC236}">
                <a16:creationId xmlns:a16="http://schemas.microsoft.com/office/drawing/2014/main" id="{5FB775F5-5D33-0E04-0D1B-CBE7DB899FC6}"/>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t>EDA</a:t>
            </a:r>
            <a:endParaRPr lang="pt-PT" b="1" dirty="0"/>
          </a:p>
        </p:txBody>
      </p:sp>
      <p:sp>
        <p:nvSpPr>
          <p:cNvPr id="14" name="Rectangle: Rounded Corners 13">
            <a:extLst>
              <a:ext uri="{FF2B5EF4-FFF2-40B4-BE49-F238E27FC236}">
                <a16:creationId xmlns:a16="http://schemas.microsoft.com/office/drawing/2014/main" id="{300FADC4-E5DA-A443-33C7-4B78BD9440DB}"/>
              </a:ext>
            </a:extLst>
          </p:cNvPr>
          <p:cNvSpPr/>
          <p:nvPr/>
        </p:nvSpPr>
        <p:spPr>
          <a:xfrm>
            <a:off x="6882794" y="4253"/>
            <a:ext cx="684434"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4" name="NumCircle"/>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503810305"/>
              </p:ext>
            </p:extLst>
          </p:nvPr>
        </p:nvGraphicFramePr>
        <p:xfrm>
          <a:off x="203982" y="1593556"/>
          <a:ext cx="8595360" cy="3396876"/>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1727151">
                  <a:extLst>
                    <a:ext uri="{9D8B030D-6E8A-4147-A177-3AD203B41FA5}">
                      <a16:colId xmlns:a16="http://schemas.microsoft.com/office/drawing/2014/main" val="2858452526"/>
                    </a:ext>
                  </a:extLst>
                </a:gridCol>
                <a:gridCol w="1807955">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484676">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Name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Model</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Criterion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loss</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function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Optimizer</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Purpose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vanilla</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MLP([128, 64], drop=0, no BN)</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True bare baseline — no regularisation at all</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B</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mlp_base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drop=0.4)</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class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weights</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First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Colab</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run result (~0.193)</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Softer targets + lighter dropout</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D</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weights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label_smoothing</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=0.1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 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L2 reg on top of C</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E</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used instead of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WeightedRandomSampler replaces class weights</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F</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narrow</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MLP([256, 128, 64, 32],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Fewer params per layer — less overfit?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bottleneck</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1024,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Wide middle captures more combinations?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M</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c_sampler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WeightedSampler</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replaces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Sampler on top of C — ~same as E (val_macro_f1=0.2361)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N</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cosine_lr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CosineAnnealing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 CosineAnnealingLR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 schedule, no improvement (val_macro_f1=0.2251)</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R</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ls015_drop03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label_smoothing=0.15</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Best</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solo — LS=0.15 &gt; LS=0.10 (val_macro_f1=0.2396)</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chemeClr val="bg1"/>
                </a:solidFill>
                <a:latin typeface="Calibri" pitchFamily="34" charset="0"/>
              </a:rPr>
              <a:t>Then, having a sense of the best models so we explored different small variations of them.</a:t>
            </a:r>
          </a:p>
          <a:p>
            <a:pPr>
              <a:buNone/>
            </a:pPr>
            <a:r>
              <a:rPr lang="en-US" sz="1200" dirty="0">
                <a:solidFill>
                  <a:schemeClr val="bg1"/>
                </a:solidFill>
                <a:latin typeface="Calibri" pitchFamily="34" charset="0"/>
              </a:rPr>
              <a:t>We explored over 20 different models. Here we present a small sample of them.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color-dependent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62835" cy="1410658"/>
          </a:xfrm>
          <a:prstGeom prst="rect">
            <a:avLst/>
          </a:prstGeom>
        </p:spPr>
      </p:pic>
      <p:sp>
        <p:nvSpPr>
          <p:cNvPr id="7" name="Badge">
            <a:extLst>
              <a:ext uri="{FF2B5EF4-FFF2-40B4-BE49-F238E27FC236}">
                <a16:creationId xmlns:a16="http://schemas.microsoft.com/office/drawing/2014/main" id="{5A5B2A81-691E-A679-9F5F-969EEF0BD4AC}"/>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EAFA10C9-1E9C-7508-54B4-6106E94654A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3772889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chemeClr val="accent2">
                    <a:lumMod val="40000"/>
                    <a:lumOff val="60000"/>
                  </a:schemeClr>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
        <p:nvSpPr>
          <p:cNvPr id="8" name="Badge">
            <a:extLst>
              <a:ext uri="{FF2B5EF4-FFF2-40B4-BE49-F238E27FC236}">
                <a16:creationId xmlns:a16="http://schemas.microsoft.com/office/drawing/2014/main" id="{C95928A0-326F-DF7D-1423-B428A0AFF4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0" name="NumCircle">
            <a:extLst>
              <a:ext uri="{FF2B5EF4-FFF2-40B4-BE49-F238E27FC236}">
                <a16:creationId xmlns:a16="http://schemas.microsoft.com/office/drawing/2014/main" id="{FA6BDE23-2C30-81F2-E74D-1AB06CEC699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8" name="Badge">
            <a:extLst>
              <a:ext uri="{FF2B5EF4-FFF2-40B4-BE49-F238E27FC236}">
                <a16:creationId xmlns:a16="http://schemas.microsoft.com/office/drawing/2014/main" id="{D06DF965-1775-427C-29A9-1D68602C43E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3" name="NumCircle">
            <a:extLst>
              <a:ext uri="{FF2B5EF4-FFF2-40B4-BE49-F238E27FC236}">
                <a16:creationId xmlns:a16="http://schemas.microsoft.com/office/drawing/2014/main" id="{2A58F658-5D1D-696C-65F4-5A6BA3A796E4}"/>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9" name="Badge">
            <a:extLst>
              <a:ext uri="{FF2B5EF4-FFF2-40B4-BE49-F238E27FC236}">
                <a16:creationId xmlns:a16="http://schemas.microsoft.com/office/drawing/2014/main" id="{59B33DDC-370B-CCFB-B224-AD5043795C8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5" name="NumCircle">
            <a:extLst>
              <a:ext uri="{FF2B5EF4-FFF2-40B4-BE49-F238E27FC236}">
                <a16:creationId xmlns:a16="http://schemas.microsoft.com/office/drawing/2014/main" id="{BD5D33FC-FABD-FED6-F415-D1C5B4575DFA}"/>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chemeClr val="bg1"/>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
        <p:nvSpPr>
          <p:cNvPr id="9" name="Badge">
            <a:extLst>
              <a:ext uri="{FF2B5EF4-FFF2-40B4-BE49-F238E27FC236}">
                <a16:creationId xmlns:a16="http://schemas.microsoft.com/office/drawing/2014/main" id="{D27BAA50-3721-B136-154F-384533ABA0B9}"/>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9" name="NumCircle">
            <a:extLst>
              <a:ext uri="{FF2B5EF4-FFF2-40B4-BE49-F238E27FC236}">
                <a16:creationId xmlns:a16="http://schemas.microsoft.com/office/drawing/2014/main" id="{94AEA59D-634C-B234-84B8-D8CA82E2926B}"/>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2389097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a:solidFill>
                  <a:srgbClr val="028090"/>
                </a:solidFill>
                <a:latin typeface="Calibri" pitchFamily="34" charset="0"/>
              </a:rPr>
              <a:t>BatchNorm1d</a:t>
            </a:r>
          </a:p>
          <a:p>
            <a:pPr lvl="1"/>
            <a:r>
              <a:rPr lang="en-US" sz="1000" dirty="0">
                <a:solidFill>
                  <a:srgbClr val="1A2B3C"/>
                </a:solidFill>
                <a:latin typeface="Calibri" pitchFamily="34" charset="0"/>
              </a:rPr>
              <a:t>- stabilizes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
        <p:nvSpPr>
          <p:cNvPr id="7" name="Badge">
            <a:extLst>
              <a:ext uri="{FF2B5EF4-FFF2-40B4-BE49-F238E27FC236}">
                <a16:creationId xmlns:a16="http://schemas.microsoft.com/office/drawing/2014/main" id="{752BFE2C-D8F5-E274-6157-BBD3C79E1135}"/>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9" name="NumCircle">
            <a:extLst>
              <a:ext uri="{FF2B5EF4-FFF2-40B4-BE49-F238E27FC236}">
                <a16:creationId xmlns:a16="http://schemas.microsoft.com/office/drawing/2014/main" id="{BFA36BE3-31DC-A21B-B5EC-94DE09B320B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chemeClr val="bg1"/>
                </a:solidFill>
                <a:latin typeface="Calibri" pitchFamily="34" charset="0"/>
              </a:rPr>
              <a:t>Feature-to-sample ratio d/n = 4.27 (want &lt;= 1)</a:t>
            </a:r>
          </a:p>
          <a:p>
            <a:pPr marL="228600" indent="-228600">
              <a:buChar char="•"/>
            </a:pPr>
            <a:r>
              <a:rPr lang="en-US" sz="1100" dirty="0">
                <a:solidFill>
                  <a:schemeClr val="bg1"/>
                </a:solidFill>
                <a:latin typeface="Calibri" pitchFamily="34" charset="0"/>
              </a:rPr>
              <a:t>12 288 features, only 2 880 training samples — extremely sparse space</a:t>
            </a:r>
          </a:p>
          <a:p>
            <a:pPr marL="228600" indent="-228600">
              <a:buChar char="•"/>
            </a:pPr>
            <a:r>
              <a:rPr lang="en-US" sz="1100" dirty="0">
                <a:solidFill>
                  <a:schemeClr val="bg1"/>
                </a:solidFill>
                <a:latin typeface="Calibri" pitchFamily="34" charset="0"/>
              </a:rPr>
              <a:t>No spatial inductive bias — MLP is essentially a colour histogram classifier</a:t>
            </a:r>
          </a:p>
          <a:p>
            <a:pPr marL="228600" indent="-228600">
              <a:buChar char="•"/>
            </a:pPr>
            <a:r>
              <a:rPr lang="en-US" sz="1100" dirty="0">
                <a:solidFill>
                  <a:schemeClr val="bg1"/>
                </a:solidFill>
                <a:latin typeface="Calibri" pitchFamily="34" charset="0"/>
              </a:rPr>
              <a:t>All top-6 models within 0.004 F1 — search is saturated</a:t>
            </a:r>
          </a:p>
          <a:p>
            <a:pPr>
              <a:buNone/>
            </a:pPr>
            <a:r>
              <a:rPr lang="en-US" sz="1100" b="1" dirty="0">
                <a:solidFill>
                  <a:schemeClr val="accent2">
                    <a:lumMod val="40000"/>
                    <a:lumOff val="60000"/>
                  </a:schemeClr>
                </a:solidFill>
                <a:latin typeface="Calibri" pitchFamily="34" charset="0"/>
              </a:rPr>
              <a:t>Next: CNN (Task 2) — spatial inductive bias will break this ceiling</a:t>
            </a:r>
          </a:p>
        </p:txBody>
      </p:sp>
      <p:sp>
        <p:nvSpPr>
          <p:cNvPr id="10" name="Badge">
            <a:extLst>
              <a:ext uri="{FF2B5EF4-FFF2-40B4-BE49-F238E27FC236}">
                <a16:creationId xmlns:a16="http://schemas.microsoft.com/office/drawing/2014/main" id="{6C2A9BDC-14E1-7F94-9693-6BF1C143CE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BA8DC492-28E8-3290-4012-84E1A7167D6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4177813593"/>
              </p:ext>
            </p:extLst>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200" dirty="0"/>
          </a:p>
        </p:txBody>
      </p:sp>
      <p:sp>
        <p:nvSpPr>
          <p:cNvPr id="29" name="Badge">
            <a:extLst>
              <a:ext uri="{FF2B5EF4-FFF2-40B4-BE49-F238E27FC236}">
                <a16:creationId xmlns:a16="http://schemas.microsoft.com/office/drawing/2014/main" id="{871B0D03-B6CB-9097-6275-1FE197223E9F}"/>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31" name="NumCircle">
            <a:extLst>
              <a:ext uri="{FF2B5EF4-FFF2-40B4-BE49-F238E27FC236}">
                <a16:creationId xmlns:a16="http://schemas.microsoft.com/office/drawing/2014/main" id="{A56715A4-2190-5688-98FC-74A5E2A2E81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426465843"/>
              </p:ext>
            </p:extLst>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4" name="Badge">
            <a:extLst>
              <a:ext uri="{FF2B5EF4-FFF2-40B4-BE49-F238E27FC236}">
                <a16:creationId xmlns:a16="http://schemas.microsoft.com/office/drawing/2014/main" id="{EA485D6D-D7DF-2891-FAF0-D5AF03732C4D}"/>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16" name="NumCircle">
            <a:extLst>
              <a:ext uri="{FF2B5EF4-FFF2-40B4-BE49-F238E27FC236}">
                <a16:creationId xmlns:a16="http://schemas.microsoft.com/office/drawing/2014/main" id="{4D5E2B77-88A3-6C72-CCB6-36C66F42DA8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
        <p:nvSpPr>
          <p:cNvPr id="7" name="Badge">
            <a:extLst>
              <a:ext uri="{FF2B5EF4-FFF2-40B4-BE49-F238E27FC236}">
                <a16:creationId xmlns:a16="http://schemas.microsoft.com/office/drawing/2014/main" id="{D9A61A09-C6DC-3BCE-EFB4-15F9DCA74F66}"/>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9" name="NumCircle">
            <a:extLst>
              <a:ext uri="{FF2B5EF4-FFF2-40B4-BE49-F238E27FC236}">
                <a16:creationId xmlns:a16="http://schemas.microsoft.com/office/drawing/2014/main" id="{03F3AAF3-57CD-D28C-97E4-4014D3BF1ED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rgbClr val="FFC000"/>
                </a:solidFill>
                <a:latin typeface="Calibri" pitchFamily="34" charset="0"/>
                <a:ea typeface="Calibri" pitchFamily="34" charset="-122"/>
                <a:cs typeface="Calibri" pitchFamily="34" charset="-120"/>
              </a:rPr>
              <a:t>Kaggle public score</a:t>
            </a:r>
            <a:endParaRPr lang="en-US" sz="1100" b="1" dirty="0">
              <a:solidFill>
                <a:srgbClr val="FFC0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FFFF00"/>
          </a:solidFill>
          <a:ln w="12700">
            <a:noFill/>
            <a:prstDash val="solid"/>
          </a:ln>
        </p:spPr>
        <p:txBody>
          <a:bodyPr/>
          <a:lstStyle/>
          <a:p>
            <a:endParaRPr lang="pt-PT"/>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414141" cy="2315400"/>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2.18x better than random guess</a:t>
            </a:r>
          </a:p>
          <a:p>
            <a:pPr marL="228600" indent="-228600">
              <a:buChar char="•"/>
            </a:pPr>
            <a:endParaRPr lang="en-US" sz="1600" b="1" dirty="0">
              <a:solidFill>
                <a:srgbClr val="00A896"/>
              </a:solidFill>
              <a:latin typeface="Calibri"/>
            </a:endParaRPr>
          </a:p>
          <a:p>
            <a:pPr>
              <a:buNone/>
            </a:pPr>
            <a:r>
              <a:rPr lang="en-US" sz="1600" b="1" dirty="0">
                <a:solidFill>
                  <a:srgbClr val="00A896"/>
                </a:solidFill>
                <a:latin typeface="Trebuchet MS"/>
              </a:rPr>
              <a:t>Note: </a:t>
            </a:r>
            <a:r>
              <a:rPr lang="en-US" sz="1600" b="1" dirty="0">
                <a:solidFill>
                  <a:srgbClr val="00A896"/>
                </a:solidFill>
                <a:latin typeface="Calibri"/>
              </a:rPr>
              <a:t>We didn’t select the best local model in Kaggle to be chosen for the private score. The best local model got </a:t>
            </a:r>
            <a:r>
              <a:rPr lang="en-US" sz="1600" b="1" dirty="0">
                <a:solidFill>
                  <a:srgbClr val="EF4F0F"/>
                </a:solidFill>
                <a:latin typeface="Calibri"/>
              </a:rPr>
              <a:t>Kaggle private score:</a:t>
            </a:r>
          </a:p>
          <a:p>
            <a:r>
              <a:rPr lang="en-US" sz="1600" b="1" dirty="0">
                <a:solidFill>
                  <a:srgbClr val="EF4F0F"/>
                </a:solidFill>
                <a:latin typeface="Calibri"/>
              </a:rPr>
              <a:t>	</a:t>
            </a:r>
            <a:r>
              <a:rPr lang="en-US" sz="2400" b="1" dirty="0">
                <a:solidFill>
                  <a:srgbClr val="EF4F0F"/>
                </a:solidFill>
                <a:latin typeface="Calibri"/>
              </a:rPr>
              <a:t>0.2431</a:t>
            </a: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dirty="0">
                <a:solidFill>
                  <a:srgbClr val="FFFF00"/>
                </a:solidFill>
                <a:latin typeface="Trebuchet MS" pitchFamily="34" charset="0"/>
                <a:ea typeface="Trebuchet MS" pitchFamily="34" charset="-122"/>
                <a:cs typeface="Trebuchet MS" pitchFamily="34" charset="-120"/>
              </a:rPr>
              <a:t>0.2239</a:t>
            </a:r>
            <a:endParaRPr lang="en-US" sz="3200" dirty="0">
              <a:solidFill>
                <a:srgbClr val="FFFF00"/>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rgbClr val="FFFF00"/>
                </a:solidFill>
                <a:latin typeface="Calibri" pitchFamily="34" charset="0"/>
                <a:ea typeface="Calibri" pitchFamily="34" charset="-122"/>
                <a:cs typeface="Calibri" pitchFamily="34" charset="-120"/>
              </a:rPr>
              <a:t>Kaggle private score</a:t>
            </a:r>
            <a:endParaRPr lang="en-US" sz="1100" b="1" dirty="0">
              <a:solidFill>
                <a:srgbClr val="FFFF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34" name="Badge">
            <a:extLst>
              <a:ext uri="{FF2B5EF4-FFF2-40B4-BE49-F238E27FC236}">
                <a16:creationId xmlns:a16="http://schemas.microsoft.com/office/drawing/2014/main" id="{E968F274-A2C0-8BAF-D3D9-613D3A06148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36" name="NumCircle">
            <a:extLst>
              <a:ext uri="{FF2B5EF4-FFF2-40B4-BE49-F238E27FC236}">
                <a16:creationId xmlns:a16="http://schemas.microsoft.com/office/drawing/2014/main" id="{B42604D6-D497-B4D2-5BEB-C6E366435DA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chemeClr val="accent2">
                    <a:lumMod val="40000"/>
                    <a:lumOff val="60000"/>
                  </a:schemeClr>
                </a:solidFill>
                <a:latin typeface="Trebuchet MS"/>
              </a:rPr>
              <a:t>Pattern: Color Palette Drives Performance - </a:t>
            </a:r>
            <a:r>
              <a:rPr lang="en-US" sz="1200" dirty="0">
                <a:solidFill>
                  <a:srgbClr val="AACCD8"/>
                </a:solidFill>
                <a:latin typeface="Calibri"/>
              </a:rPr>
              <a:t>distinctive colour = high F1 (Fire/Poison/Water); shared palette or humanoid shape = low F1 (Bug/Rock/Fighting/Ground).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
        <p:nvSpPr>
          <p:cNvPr id="7" name="Badge">
            <a:extLst>
              <a:ext uri="{FF2B5EF4-FFF2-40B4-BE49-F238E27FC236}">
                <a16:creationId xmlns:a16="http://schemas.microsoft.com/office/drawing/2014/main" id="{93D710F0-BEAB-83F4-E494-57409811619E}"/>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1" name="NumCircle">
            <a:extLst>
              <a:ext uri="{FF2B5EF4-FFF2-40B4-BE49-F238E27FC236}">
                <a16:creationId xmlns:a16="http://schemas.microsoft.com/office/drawing/2014/main" id="{CCD2872F-4762-3FBD-9567-74F10AC7D43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6435"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chemeClr val="bg1"/>
                </a:solidFill>
                <a:latin typeface="Calibri"/>
              </a:rPr>
              <a:t>Normal = most diverse class: humanoids of every shape and size, no dominant colour</a:t>
            </a:r>
          </a:p>
          <a:p>
            <a:pPr marL="228600" indent="-228600">
              <a:buChar char="•"/>
            </a:pPr>
            <a:r>
              <a:rPr lang="en-US" sz="1100" dirty="0">
                <a:solidFill>
                  <a:schemeClr val="bg1"/>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extLst>
              <p:ext uri="{D42A27DB-BD31-4B8C-83A1-F6EECF244321}">
                <p14:modId xmlns:p14="http://schemas.microsoft.com/office/powerpoint/2010/main" val="4165694185"/>
              </p:ext>
            </p:extLst>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
        <p:nvSpPr>
          <p:cNvPr id="7" name="Badge">
            <a:extLst>
              <a:ext uri="{FF2B5EF4-FFF2-40B4-BE49-F238E27FC236}">
                <a16:creationId xmlns:a16="http://schemas.microsoft.com/office/drawing/2014/main" id="{D5715E4D-5C13-5FEE-4E15-E6D8F9B9AF9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0" name="NumCircle">
            <a:extLst>
              <a:ext uri="{FF2B5EF4-FFF2-40B4-BE49-F238E27FC236}">
                <a16:creationId xmlns:a16="http://schemas.microsoft.com/office/drawing/2014/main" id="{94E539C8-335B-99D7-C3A5-F32698484E2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validation gap</a:t>
            </a:r>
          </a:p>
          <a:p>
            <a:pPr>
              <a:buNone/>
            </a:pPr>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- 0.2428</a:t>
            </a:r>
          </a:p>
          <a:p>
            <a:pPr>
              <a:buNone/>
            </a:pPr>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- 0.2288</a:t>
            </a:r>
          </a:p>
          <a:p>
            <a:pPr>
              <a:buNone/>
            </a:pPr>
            <a:r>
              <a:rPr lang="en-US" sz="2000" b="1" dirty="0">
                <a:solidFill>
                  <a:srgbClr val="FFFFFF"/>
                </a:solidFill>
                <a:latin typeface="Trebuchet MS"/>
              </a:rPr>
              <a:t>	−0.014</a:t>
            </a:r>
          </a:p>
          <a:p>
            <a:pPr>
              <a:buNone/>
            </a:pPr>
            <a:endParaRPr lang="en-US" sz="1000" b="1" dirty="0">
              <a:solidFill>
                <a:srgbClr val="00A896"/>
              </a:solidFill>
              <a:latin typeface="Calibri"/>
            </a:endParaRP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It helps to, AFTER SELECTING A MODEL,</a:t>
            </a:r>
            <a:br>
              <a:rPr lang="en-US" sz="1100" dirty="0">
                <a:solidFill>
                  <a:srgbClr val="AACCD8"/>
                </a:solidFill>
                <a:latin typeface="Calibri"/>
              </a:rPr>
            </a:br>
            <a:r>
              <a:rPr lang="en-US" sz="1100" dirty="0">
                <a:solidFill>
                  <a:srgbClr val="AACCD8"/>
                </a:solidFill>
                <a:latin typeface="Calibri"/>
              </a:rPr>
              <a:t>to train it again with the full dataset</a:t>
            </a:r>
          </a:p>
        </p:txBody>
      </p:sp>
      <p:sp>
        <p:nvSpPr>
          <p:cNvPr id="8" name="Badge">
            <a:extLst>
              <a:ext uri="{FF2B5EF4-FFF2-40B4-BE49-F238E27FC236}">
                <a16:creationId xmlns:a16="http://schemas.microsoft.com/office/drawing/2014/main" id="{3769227C-AFC0-3099-1156-F91DC37D8D78}"/>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20" name="NumCircle">
            <a:extLst>
              <a:ext uri="{FF2B5EF4-FFF2-40B4-BE49-F238E27FC236}">
                <a16:creationId xmlns:a16="http://schemas.microsoft.com/office/drawing/2014/main" id="{C46AEF4E-0B8A-BB74-4410-5C9EF996A14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49" name="Badge">
            <a:extLst>
              <a:ext uri="{FF2B5EF4-FFF2-40B4-BE49-F238E27FC236}">
                <a16:creationId xmlns:a16="http://schemas.microsoft.com/office/drawing/2014/main" id="{4B9390E2-4D06-8DC7-1595-30634F1E5D32}"/>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51" name="NumCircle">
            <a:extLst>
              <a:ext uri="{FF2B5EF4-FFF2-40B4-BE49-F238E27FC236}">
                <a16:creationId xmlns:a16="http://schemas.microsoft.com/office/drawing/2014/main" id="{E2D1AAAA-0B4C-08A6-5BB0-FBE7576B708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2.18x above random baseline. All 19 solo + 7 ensemble experiments are above random.</a:t>
            </a:r>
            <a:endParaRPr lang="en-US" sz="1050" dirty="0">
              <a:solidFill>
                <a:schemeClr val="accent2">
                  <a:lumMod val="40000"/>
                  <a:lumOff val="60000"/>
                </a:schemeClr>
              </a:solidFill>
            </a:endParaRP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LS=0.15 rescued Rock from F1=0.000. All top-6 solo experiments use LS ≥ 0.1.</a:t>
            </a:r>
            <a:endParaRPr lang="en-US" sz="1050" dirty="0">
              <a:solidFill>
                <a:schemeClr val="accent2">
                  <a:lumMod val="40000"/>
                  <a:lumOff val="60000"/>
                </a:schemeClr>
              </a:solidFill>
            </a:endParaRP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50" dirty="0">
              <a:solidFill>
                <a:schemeClr val="accent2">
                  <a:lumMod val="40000"/>
                  <a:lumOff val="60000"/>
                </a:schemeClr>
              </a:solidFill>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val_loss ≈ log(9) = random. Feature-to-sample ratio 4.26:1 = no amount of tuning fixes this.</a:t>
            </a:r>
            <a:endParaRPr lang="en-US" sz="1050" dirty="0">
              <a:solidFill>
                <a:schemeClr val="accent2">
                  <a:lumMod val="40000"/>
                  <a:lumOff val="60000"/>
                </a:schemeClr>
              </a:solidFill>
            </a:endParaRP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50" dirty="0">
              <a:solidFill>
                <a:schemeClr val="accent2">
                  <a:lumMod val="40000"/>
                  <a:lumOff val="60000"/>
                </a:schemeClr>
              </a:solidFill>
            </a:endParaRP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455</TotalTime>
  <Words>3917</Words>
  <Application>Microsoft Office PowerPoint</Application>
  <PresentationFormat>On-screen Show (16:9)</PresentationFormat>
  <Paragraphs>694</Paragraphs>
  <Slides>31</Slides>
  <Notes>19</Notes>
  <HiddenSlides>0</HiddenSlides>
  <MMClips>0</MMClips>
  <ScaleCrop>false</ScaleCrop>
  <HeadingPairs>
    <vt:vector size="4" baseType="variant">
      <vt:variant>
        <vt:lpstr>Theme</vt:lpstr>
      </vt:variant>
      <vt:variant>
        <vt:i4>2</vt:i4>
      </vt:variant>
      <vt:variant>
        <vt:lpstr>Slide Titles</vt:lpstr>
      </vt:variant>
      <vt:variant>
        <vt:i4>31</vt:i4>
      </vt:variant>
    </vt:vector>
  </HeadingPairs>
  <TitlesOfParts>
    <vt:vector size="33" baseType="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Francisco Silva</cp:lastModifiedBy>
  <cp:revision>177</cp:revision>
  <dcterms:created xsi:type="dcterms:W3CDTF">2026-03-07T01:48:48Z</dcterms:created>
  <dcterms:modified xsi:type="dcterms:W3CDTF">2026-03-31T13:17:08Z</dcterms:modified>
</cp:coreProperties>
</file>